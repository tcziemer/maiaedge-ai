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iaEdge_Logo_Horizontal_Rev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2801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Pipeline Dashboard  |  Weekly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May 4, 2026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MaiaEdge  |  Carrier Infrastructure for Federated Private Networking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2103120" cy="685800"/>
          </a:xfrm>
          <a:prstGeom prst="rect">
            <a:avLst/>
          </a:prstGeom>
          <a:solidFill>
            <a:srgbClr val="2A1E0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5A623"/>
                </a:solidFill>
              </a:rPr>
              <a:t>$1.6M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Total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822960"/>
            <a:ext cx="2103120" cy="68580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19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Open Deals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822960"/>
            <a:ext cx="2103120" cy="68580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9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Pre-POC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822960"/>
            <a:ext cx="2103120" cy="68580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9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Active POCs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822960"/>
            <a:ext cx="2103120" cy="685800"/>
          </a:xfrm>
          <a:prstGeom prst="rect">
            <a:avLst/>
          </a:prstGeom>
          <a:solidFill>
            <a:srgbClr val="1A1F2B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Expansion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9235440" cy="32004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COLUMN 1: ACCOUNTS TO POC</a:t>
            </a:r>
            <a:r>
              <a:rPr sz="800">
                <a:solidFill>
                  <a:srgbClr val="E0E0E0"/>
                </a:solidFill>
              </a:rPr>
              <a:t>  (9 accounts)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39112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039112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039112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39112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039112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03911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39112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Last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3911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240280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RocNet - Lab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240280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Lieto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240280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40280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Quote Provided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240280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4028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May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240280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24028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28748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41448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Nexus Data Centers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441448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2441448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$1.0M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441448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441448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DC Colo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44144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Sep 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441448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44144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29916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642616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CyrusOne DFW1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2642616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Ken Cunningham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2642616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$60K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42616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Discovery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2642616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DC Colo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264261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Sep 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642616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264261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831084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43784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Momentum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2843784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2843784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2843784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Discovery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2843784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Enterprise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84378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Jun 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2843784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284378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032252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3044952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Flo Networks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440" y="3044952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40" y="3044952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3044952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Discovery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3044952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Network 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304495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Aug 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3044952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304495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233420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246120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Venunet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3246120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49040" y="3246120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$30K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0560" y="3246120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Appt Scheduled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3246120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Network 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324612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Dec 31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3246120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8240" y="324612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EA580C"/>
                </a:solidFill>
              </a:rPr>
              <a:t>AT RISK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3434588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3447288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Alasconnect Local Azure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77440" y="3447288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49040" y="3447288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$73K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60" y="3447288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Appt Scheduled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52160" y="3447288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Enterprise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344728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May 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3447288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Mar 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0" y="344728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EA580C"/>
                </a:solidFill>
              </a:rPr>
              <a:t>AT RISK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3635756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3648456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Ark Datacenter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77440" y="3648456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49040" y="3648456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$200K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0560" y="3648456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Discovery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60" y="3648456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--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49440" y="364845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Sep 15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3648456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Mar 09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78240" y="364845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EA580C"/>
                </a:solidFill>
              </a:rPr>
              <a:t>AT RISK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3836924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3849624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Verizon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7440" y="3849624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49040" y="3849624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80560" y="3849624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Appt Scheduled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52160" y="3849624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--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9440" y="384962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Dec 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72400" y="3849624"/>
            <a:ext cx="10058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Nov 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78240" y="384962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DEAD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4038092"/>
            <a:ext cx="923544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84080" y="169164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C2626"/>
                </a:solidFill>
              </a:rPr>
              <a:t>ALERTS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Venunet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AT RISK: 33d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Alasconnect Local Azure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AT RISK: 45d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Ark Datacenter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AT RISK: 56d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DC2626"/>
                </a:solidFill>
              </a:rPr>
              <a:t>Verizon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DEAD: 164d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DC2626"/>
                </a:solidFill>
              </a:rPr>
              <a:t>HDCO Group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OVERDUE: Close date passed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DC2626"/>
                </a:solidFill>
              </a:rPr>
              <a:t>Acuutech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OVERDUE: Close date passed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DC2626"/>
                </a:solidFill>
              </a:rPr>
              <a:t>Centra POC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OVERDUE: Close date passed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Ocean Networks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POC GAP: 70d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Arvig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POC GAP: 67d silent</a:t>
            </a:r>
          </a:p>
          <a:p>
            <a:pPr>
              <a:spcBef>
                <a:spcPts val="400"/>
              </a:spcBef>
            </a:pPr>
            <a:r>
              <a:rPr sz="800" b="1">
                <a:solidFill>
                  <a:srgbClr val="EA580C"/>
                </a:solidFill>
              </a:rPr>
              <a:t>Datum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CCCCCC"/>
                </a:solidFill>
              </a:rPr>
              <a:t>POC GAP: 31d silent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iaEdge_Logo_Horizontal_Rev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2801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Pipeline Dashboard  |  POC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May 4, 2026 |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MaiaEdge  |  Carrier Infrastructure for Federated Private Networking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9601200" cy="320040"/>
          </a:xfrm>
          <a:prstGeom prst="rect">
            <a:avLst/>
          </a:prstGeom>
          <a:solidFill>
            <a:srgbClr val="4DD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COLUMN 2: POCs TO PURCHASE ORDERS</a:t>
            </a:r>
            <a:r>
              <a:rPr sz="800">
                <a:solidFill>
                  <a:srgbClr val="E0E0E0"/>
                </a:solidFill>
              </a:rPr>
              <a:t>  (9 active POCs)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170432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Sales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70432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POC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70432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170432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POC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170432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17043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17043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Last 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17043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371600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HDCO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1371600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Lieto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371600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371600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$29K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371600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Customer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371600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371600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Apr 15 OVD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371600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560068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572768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Ecotel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572768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1572768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572768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1572768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Customer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1572768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572768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Jun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572768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57276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1761236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1773936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Acuutech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1773936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1773936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773936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1773936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Shipped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1773936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1773936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Apr 30 OVD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773936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177393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1962404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1975104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Centra POC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1975104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Lieto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1975104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1975104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1975104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Config Locked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975104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197510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May 01 OVD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197510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197510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163572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2176272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RevNet Alasconnect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2176272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Lieto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2176272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2176272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--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2176272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Criteria Approved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2176272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217627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Jul 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17627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2176272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2364740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2377440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Ocean Networks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0" y="2377440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2377440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2377440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$50K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0" y="2377440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POC Requested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2377440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2377440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Sep 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2377440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Feb 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2377440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DEAD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2565908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2578608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Arvig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2578608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Unassigned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2578608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Kyle Blackwell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0" y="2578608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2578608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POC Requested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2578608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2578608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May 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2578608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Feb 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2578608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C2626"/>
                </a:solidFill>
              </a:rPr>
              <a:t>DEAD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2767076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2779776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NextHop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94560" y="2779776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2779776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Woody Acosta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0" y="2779776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$105K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03520" y="2779776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POC Requested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66560" y="2779776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2779776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Sep 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2779776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2779776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D97706"/>
                </a:solidFill>
              </a:rPr>
              <a:t>WATCH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2968244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2980944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Datum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4560" y="2980944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Lieto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83280" y="2980944"/>
            <a:ext cx="11887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Woody Acosta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0" y="2980944"/>
            <a:ext cx="73152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$50K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03520" y="2980944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6366F1"/>
                </a:solidFill>
              </a:rPr>
              <a:t>POC Requested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66560" y="2980944"/>
            <a:ext cx="5486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15200" y="298094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Jul 15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298094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Apr 03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0" y="2980944"/>
            <a:ext cx="8229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EA580C"/>
                </a:solidFill>
              </a:rPr>
              <a:t>AT RISK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3169412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5760" y="3456432"/>
            <a:ext cx="9601200" cy="320040"/>
          </a:xfrm>
          <a:prstGeom prst="rect">
            <a:avLst/>
          </a:prstGeom>
          <a:solidFill>
            <a:srgbClr val="DA6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COLUMN 3: EXPANSION</a:t>
            </a:r>
            <a:r>
              <a:rPr sz="800">
                <a:solidFill>
                  <a:srgbClr val="E0E0E0"/>
                </a:solidFill>
              </a:rPr>
              <a:t>  (1 customers)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" y="3803904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Account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28800" y="3803904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Owner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26080" y="380390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Initial Deal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40480" y="3803904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Won 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54880" y="3803904"/>
            <a:ext cx="12801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POC Status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35040" y="3803904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Expansion Deal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3803904"/>
            <a:ext cx="19202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Signals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4005072"/>
            <a:ext cx="14630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IENTC Telecom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28800" y="4005072"/>
            <a:ext cx="10972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Tim Ziemer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26080" y="400507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$60K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40480" y="4005072"/>
            <a:ext cx="9144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Dec 2025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54880" y="4005072"/>
            <a:ext cx="128016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059669"/>
                </a:solidFill>
              </a:rPr>
              <a:t>POC Successful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5040" y="4005072"/>
            <a:ext cx="201168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Expansion $19K (Quote)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46720" y="4005072"/>
            <a:ext cx="192024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Guatemala online. 10G pricing pending.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4193540"/>
            <a:ext cx="96012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5760" y="4480560"/>
            <a:ext cx="548640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PIPELINE BY OWNER</a:t>
            </a:r>
            <a:r>
              <a:rPr sz="800">
                <a:solidFill>
                  <a:srgbClr val="E0E0E0"/>
                </a:solidFill>
              </a:rPr>
              <a:t> 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60" y="4828032"/>
            <a:ext cx="22860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Owner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51760" y="4828032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Open Deals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23360" y="4828032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999999"/>
                </a:solidFill>
              </a:rPr>
              <a:t>Pipeline Value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5760" y="5029200"/>
            <a:ext cx="22860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Tim Ziemer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51760" y="5029200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23360" y="5029200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$1.5M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17668"/>
            <a:ext cx="54864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30368"/>
            <a:ext cx="22860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Tim Lieto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51760" y="5230368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23360" y="5230368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$89K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418836"/>
            <a:ext cx="54864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60" y="5431536"/>
            <a:ext cx="22860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Ken Cunningham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51760" y="5431536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23360" y="5431536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$60K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65760" y="5620004"/>
            <a:ext cx="54864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65760" y="5632704"/>
            <a:ext cx="22860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5A623"/>
                </a:solidFill>
              </a:rPr>
              <a:t>Unassigned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51760" y="5632704"/>
            <a:ext cx="13716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0">
                <a:solidFill>
                  <a:srgbClr val="CCCCCC"/>
                </a:solidFill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23360" y="5632704"/>
            <a:ext cx="1828800" cy="201168"/>
          </a:xfrm>
          <a:prstGeom prst="rect">
            <a:avLst/>
          </a:prstGeom>
          <a:noFill/>
        </p:spPr>
        <p:txBody>
          <a:bodyPr wrap="none" lIns="50800" tIns="12700" bIns="12700">
            <a:spAutoFit/>
          </a:bodyPr>
          <a:lstStyle/>
          <a:p>
            <a:r>
              <a:rPr sz="700" b="1">
                <a:solidFill>
                  <a:srgbClr val="FFFFFF"/>
                </a:solidFill>
              </a:rPr>
              <a:t>$15K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65760" y="5821172"/>
            <a:ext cx="5486400" cy="635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