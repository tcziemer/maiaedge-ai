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1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370"/>
    <p:restoredTop sz="96723"/>
  </p:normalViewPr>
  <p:slideViewPr>
    <p:cSldViewPr snapToGrid="0" snapToObjects="1">
      <p:cViewPr varScale="1">
        <p:scale>
          <a:sx n="145" d="100"/>
          <a:sy n="145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7820A-7B5B-9FA8-2947-BC2C6CDD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217">
            <a:extLst>
              <a:ext uri="{FF2B5EF4-FFF2-40B4-BE49-F238E27FC236}">
                <a16:creationId xmlns:a16="http://schemas.microsoft.com/office/drawing/2014/main" id="{82D9DB4C-E0B5-EC19-E4BF-3A58592CEE62}"/>
              </a:ext>
            </a:extLst>
          </p:cNvPr>
          <p:cNvSpPr/>
          <p:nvPr/>
        </p:nvSpPr>
        <p:spPr>
          <a:xfrm>
            <a:off x="5577840" y="4267436"/>
            <a:ext cx="2743200" cy="1505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D2532941-E19D-8C19-FE07-8C975E4FE37E}"/>
              </a:ext>
            </a:extLst>
          </p:cNvPr>
          <p:cNvSpPr/>
          <p:nvPr/>
        </p:nvSpPr>
        <p:spPr>
          <a:xfrm>
            <a:off x="7498079" y="4306824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i="0" dirty="0">
                <a:solidFill>
                  <a:srgbClr val="111111"/>
                </a:solidFill>
                <a:latin typeface="Calibri"/>
              </a:rPr>
              <a:t>Charlotte</a:t>
            </a:r>
            <a:endParaRPr sz="1000" b="1" i="0" dirty="0">
              <a:solidFill>
                <a:srgbClr val="111111"/>
              </a:solidFill>
              <a:latin typeface="Calibri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1E87DB46-B1D2-E2FF-A778-460921A3B507}"/>
              </a:ext>
            </a:extLst>
          </p:cNvPr>
          <p:cNvSpPr txBox="1"/>
          <p:nvPr/>
        </p:nvSpPr>
        <p:spPr>
          <a:xfrm>
            <a:off x="7651640" y="4946544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cxnSp>
        <p:nvCxnSpPr>
          <p:cNvPr id="221" name="Connector 62">
            <a:extLst>
              <a:ext uri="{FF2B5EF4-FFF2-40B4-BE49-F238E27FC236}">
                <a16:creationId xmlns:a16="http://schemas.microsoft.com/office/drawing/2014/main" id="{35BCC380-E946-38EB-1A63-1EA7146DCF57}"/>
              </a:ext>
            </a:extLst>
          </p:cNvPr>
          <p:cNvCxnSpPr>
            <a:cxnSpLocks/>
            <a:stCxn id="226" idx="1"/>
            <a:endCxn id="224" idx="3"/>
          </p:cNvCxnSpPr>
          <p:nvPr/>
        </p:nvCxnSpPr>
        <p:spPr>
          <a:xfrm flipH="1" flipV="1">
            <a:off x="7434071" y="4979127"/>
            <a:ext cx="353161" cy="278837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63">
            <a:extLst>
              <a:ext uri="{FF2B5EF4-FFF2-40B4-BE49-F238E27FC236}">
                <a16:creationId xmlns:a16="http://schemas.microsoft.com/office/drawing/2014/main" id="{69A5D0A6-4651-E923-240D-F95F01086ECD}"/>
              </a:ext>
            </a:extLst>
          </p:cNvPr>
          <p:cNvCxnSpPr>
            <a:cxnSpLocks/>
            <a:stCxn id="224" idx="1"/>
            <a:endCxn id="227" idx="3"/>
          </p:cNvCxnSpPr>
          <p:nvPr/>
        </p:nvCxnSpPr>
        <p:spPr>
          <a:xfrm flipH="1" flipV="1">
            <a:off x="6281403" y="4976645"/>
            <a:ext cx="146828" cy="2482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4" name="Picture 223">
            <a:extLst>
              <a:ext uri="{FF2B5EF4-FFF2-40B4-BE49-F238E27FC236}">
                <a16:creationId xmlns:a16="http://schemas.microsoft.com/office/drawing/2014/main" id="{C38FAD2B-F09E-31BC-7AE4-20B2E97A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1" y="4876380"/>
            <a:ext cx="1005840" cy="205494"/>
          </a:xfrm>
          <a:prstGeom prst="rect">
            <a:avLst/>
          </a:prstGeom>
        </p:spPr>
      </p:pic>
      <p:pic>
        <p:nvPicPr>
          <p:cNvPr id="225" name="Picture 224">
            <a:extLst>
              <a:ext uri="{FF2B5EF4-FFF2-40B4-BE49-F238E27FC236}">
                <a16:creationId xmlns:a16="http://schemas.microsoft.com/office/drawing/2014/main" id="{922E6BE6-46ED-297C-675B-B72BD2988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1" y="4658925"/>
            <a:ext cx="1005840" cy="205494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36E27C4A-A881-099A-30A9-E2E4E3EE2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232" y="5075084"/>
            <a:ext cx="365760" cy="365760"/>
          </a:xfrm>
          <a:prstGeom prst="rect">
            <a:avLst/>
          </a:prstGeom>
        </p:spPr>
      </p:pic>
      <p:pic>
        <p:nvPicPr>
          <p:cNvPr id="228" name="Picture 227">
            <a:extLst>
              <a:ext uri="{FF2B5EF4-FFF2-40B4-BE49-F238E27FC236}">
                <a16:creationId xmlns:a16="http://schemas.microsoft.com/office/drawing/2014/main" id="{C9B79D5B-4F23-88E2-140E-A2466C1CD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1" y="5417169"/>
            <a:ext cx="1005840" cy="205494"/>
          </a:xfrm>
          <a:prstGeom prst="rect">
            <a:avLst/>
          </a:prstGeom>
        </p:spPr>
      </p:pic>
      <p:pic>
        <p:nvPicPr>
          <p:cNvPr id="229" name="Picture 228">
            <a:extLst>
              <a:ext uri="{FF2B5EF4-FFF2-40B4-BE49-F238E27FC236}">
                <a16:creationId xmlns:a16="http://schemas.microsoft.com/office/drawing/2014/main" id="{B3F37FDA-516E-D136-239C-E77A47998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1" y="5199714"/>
            <a:ext cx="1005840" cy="205494"/>
          </a:xfrm>
          <a:prstGeom prst="rect">
            <a:avLst/>
          </a:prstGeom>
        </p:spPr>
      </p:pic>
      <p:cxnSp>
        <p:nvCxnSpPr>
          <p:cNvPr id="230" name="Connector 62">
            <a:extLst>
              <a:ext uri="{FF2B5EF4-FFF2-40B4-BE49-F238E27FC236}">
                <a16:creationId xmlns:a16="http://schemas.microsoft.com/office/drawing/2014/main" id="{EA8DD223-3FBF-6C7F-9299-1041F2798527}"/>
              </a:ext>
            </a:extLst>
          </p:cNvPr>
          <p:cNvCxnSpPr>
            <a:cxnSpLocks/>
            <a:stCxn id="226" idx="1"/>
            <a:endCxn id="228" idx="3"/>
          </p:cNvCxnSpPr>
          <p:nvPr/>
        </p:nvCxnSpPr>
        <p:spPr>
          <a:xfrm flipH="1">
            <a:off x="7434071" y="5257964"/>
            <a:ext cx="353161" cy="261952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63">
            <a:extLst>
              <a:ext uri="{FF2B5EF4-FFF2-40B4-BE49-F238E27FC236}">
                <a16:creationId xmlns:a16="http://schemas.microsoft.com/office/drawing/2014/main" id="{39FE60A2-EC7C-244B-D1D5-10440E407C04}"/>
              </a:ext>
            </a:extLst>
          </p:cNvPr>
          <p:cNvCxnSpPr>
            <a:cxnSpLocks/>
            <a:endCxn id="232" idx="3"/>
          </p:cNvCxnSpPr>
          <p:nvPr/>
        </p:nvCxnSpPr>
        <p:spPr>
          <a:xfrm flipH="1" flipV="1">
            <a:off x="6126479" y="5507500"/>
            <a:ext cx="313880" cy="2482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>
            <a:extLst>
              <a:ext uri="{FF2B5EF4-FFF2-40B4-BE49-F238E27FC236}">
                <a16:creationId xmlns:a16="http://schemas.microsoft.com/office/drawing/2014/main" id="{C387D717-397B-063A-FE8F-3F28EFBC3A4F}"/>
              </a:ext>
            </a:extLst>
          </p:cNvPr>
          <p:cNvCxnSpPr>
            <a:cxnSpLocks/>
            <a:stCxn id="130" idx="0"/>
          </p:cNvCxnSpPr>
          <p:nvPr/>
        </p:nvCxnSpPr>
        <p:spPr>
          <a:xfrm flipV="1">
            <a:off x="11081852" y="1172779"/>
            <a:ext cx="0" cy="1199389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FCC60391-BB5D-4494-71F6-3CC10A73664D}"/>
              </a:ext>
            </a:extLst>
          </p:cNvPr>
          <p:cNvSpPr/>
          <p:nvPr/>
        </p:nvSpPr>
        <p:spPr>
          <a:xfrm>
            <a:off x="3506721" y="756634"/>
            <a:ext cx="2743200" cy="1470583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C18C5B-3B0F-269A-4797-F518ED9ABC4A}"/>
              </a:ext>
            </a:extLst>
          </p:cNvPr>
          <p:cNvSpPr/>
          <p:nvPr/>
        </p:nvSpPr>
        <p:spPr>
          <a:xfrm>
            <a:off x="1600199" y="4293908"/>
            <a:ext cx="2743200" cy="1470583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300F5F0-9E69-8B76-D87E-04A1C8F8B2CA}"/>
              </a:ext>
            </a:extLst>
          </p:cNvPr>
          <p:cNvSpPr/>
          <p:nvPr/>
        </p:nvSpPr>
        <p:spPr>
          <a:xfrm>
            <a:off x="1639823" y="4344565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 dirty="0">
                <a:solidFill>
                  <a:srgbClr val="111111"/>
                </a:solidFill>
                <a:latin typeface="Calibri"/>
              </a:rPr>
              <a:t>Reno-</a:t>
            </a:r>
            <a:r>
              <a:rPr lang="en-US" sz="1000" b="1" i="0" dirty="0">
                <a:solidFill>
                  <a:srgbClr val="111111"/>
                </a:solidFill>
                <a:latin typeface="Calibri"/>
              </a:rPr>
              <a:t>2</a:t>
            </a:r>
            <a:endParaRPr sz="1000" b="1" i="0" dirty="0">
              <a:solidFill>
                <a:srgbClr val="111111"/>
              </a:solidFill>
              <a:latin typeface="Calibri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54A648-A91D-9A12-E686-B2D22F50B56D}"/>
              </a:ext>
            </a:extLst>
          </p:cNvPr>
          <p:cNvSpPr txBox="1"/>
          <p:nvPr/>
        </p:nvSpPr>
        <p:spPr>
          <a:xfrm>
            <a:off x="1632203" y="5365189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cxnSp>
        <p:nvCxnSpPr>
          <p:cNvPr id="55" name="Connector 42">
            <a:extLst>
              <a:ext uri="{FF2B5EF4-FFF2-40B4-BE49-F238E27FC236}">
                <a16:creationId xmlns:a16="http://schemas.microsoft.com/office/drawing/2014/main" id="{E0A5C613-E043-87FD-FB79-15559380C7AE}"/>
              </a:ext>
            </a:extLst>
          </p:cNvPr>
          <p:cNvCxnSpPr>
            <a:cxnSpLocks/>
          </p:cNvCxnSpPr>
          <p:nvPr/>
        </p:nvCxnSpPr>
        <p:spPr>
          <a:xfrm flipV="1">
            <a:off x="2147249" y="4948421"/>
            <a:ext cx="353634" cy="169881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43">
            <a:extLst>
              <a:ext uri="{FF2B5EF4-FFF2-40B4-BE49-F238E27FC236}">
                <a16:creationId xmlns:a16="http://schemas.microsoft.com/office/drawing/2014/main" id="{0AD8A8A1-F741-8F12-D2C9-505A65C48EA7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>
            <a:off x="3506721" y="4980425"/>
            <a:ext cx="260250" cy="2814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Picture 56">
            <a:extLst>
              <a:ext uri="{FF2B5EF4-FFF2-40B4-BE49-F238E27FC236}">
                <a16:creationId xmlns:a16="http://schemas.microsoft.com/office/drawing/2014/main" id="{B5A295BE-4A03-61B3-4449-C3A566DB3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881" y="4877678"/>
            <a:ext cx="1005840" cy="20549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7CE7375-61E4-94FC-BC4C-0BB1EC053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377" y="4672184"/>
            <a:ext cx="1005840" cy="205494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EB5EC35-0384-981F-75D6-7B34DC947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4132" y="4976842"/>
            <a:ext cx="365760" cy="36576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8D39FC0D-A9BA-3A89-12A0-ABF30A054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881" y="5380932"/>
            <a:ext cx="1005840" cy="205494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5B4FAA8A-0084-03B8-B725-DDC024159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377" y="5175438"/>
            <a:ext cx="1005840" cy="205494"/>
          </a:xfrm>
          <a:prstGeom prst="rect">
            <a:avLst/>
          </a:prstGeom>
        </p:spPr>
      </p:pic>
      <p:cxnSp>
        <p:nvCxnSpPr>
          <p:cNvPr id="70" name="Connector 43">
            <a:extLst>
              <a:ext uri="{FF2B5EF4-FFF2-40B4-BE49-F238E27FC236}">
                <a16:creationId xmlns:a16="http://schemas.microsoft.com/office/drawing/2014/main" id="{ADCDEDD8-FBBF-9324-65B4-5D2811B7F490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3506721" y="5483679"/>
            <a:ext cx="260250" cy="330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42">
            <a:extLst>
              <a:ext uri="{FF2B5EF4-FFF2-40B4-BE49-F238E27FC236}">
                <a16:creationId xmlns:a16="http://schemas.microsoft.com/office/drawing/2014/main" id="{D3598193-33A2-CBB4-06BF-14F2BA80F6A7}"/>
              </a:ext>
            </a:extLst>
          </p:cNvPr>
          <p:cNvCxnSpPr>
            <a:cxnSpLocks/>
            <a:stCxn id="60" idx="3"/>
            <a:endCxn id="67" idx="1"/>
          </p:cNvCxnSpPr>
          <p:nvPr/>
        </p:nvCxnSpPr>
        <p:spPr>
          <a:xfrm>
            <a:off x="2149892" y="5159722"/>
            <a:ext cx="350989" cy="323957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397A7F2-7712-3458-42E8-09E9DEA131F0}"/>
              </a:ext>
            </a:extLst>
          </p:cNvPr>
          <p:cNvSpPr txBox="1"/>
          <p:nvPr/>
        </p:nvSpPr>
        <p:spPr>
          <a:xfrm>
            <a:off x="274320" y="59323"/>
            <a:ext cx="114300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111111"/>
                </a:solidFill>
                <a:latin typeface="Calibri"/>
              </a:rPr>
              <a:t>MaiaEdge</a:t>
            </a:r>
            <a:r>
              <a:rPr sz="2200" b="1" i="0" dirty="0">
                <a:solidFill>
                  <a:srgbClr val="111111"/>
                </a:solidFill>
                <a:latin typeface="Calibri"/>
              </a:rPr>
              <a:t> Architecture for Centr</a:t>
            </a:r>
            <a:r>
              <a:rPr lang="en-US" sz="2200" b="1" i="0" dirty="0">
                <a:solidFill>
                  <a:srgbClr val="111111"/>
                </a:solidFill>
                <a:latin typeface="Calibri"/>
              </a:rPr>
              <a:t>a</a:t>
            </a:r>
            <a:endParaRPr sz="2200" b="1" i="0" dirty="0">
              <a:solidFill>
                <a:srgbClr val="111111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56E08B-E2A0-E447-D55E-35C75BF662D8}"/>
              </a:ext>
            </a:extLst>
          </p:cNvPr>
          <p:cNvSpPr/>
          <p:nvPr/>
        </p:nvSpPr>
        <p:spPr>
          <a:xfrm>
            <a:off x="7119312" y="1418152"/>
            <a:ext cx="2871216" cy="2678360"/>
          </a:xfrm>
          <a:prstGeom prst="rect">
            <a:avLst/>
          </a:prstGeom>
          <a:noFill/>
          <a:ln w="31750">
            <a:solidFill>
              <a:srgbClr val="6A1B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52DF3A-9E22-688A-A367-06E72FAD264A}"/>
              </a:ext>
            </a:extLst>
          </p:cNvPr>
          <p:cNvSpPr/>
          <p:nvPr/>
        </p:nvSpPr>
        <p:spPr>
          <a:xfrm>
            <a:off x="134876" y="1960686"/>
            <a:ext cx="2743200" cy="213682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982857-2DF2-A366-28ED-38FA6B8A6812}"/>
              </a:ext>
            </a:extLst>
          </p:cNvPr>
          <p:cNvSpPr/>
          <p:nvPr/>
        </p:nvSpPr>
        <p:spPr>
          <a:xfrm>
            <a:off x="2045092" y="2027497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111111"/>
                </a:solidFill>
                <a:latin typeface="Calibri"/>
              </a:rPr>
              <a:t>Reno-1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6ABEA1-2D55-187E-D3EF-D33EA26A185F}"/>
              </a:ext>
            </a:extLst>
          </p:cNvPr>
          <p:cNvSpPr txBox="1"/>
          <p:nvPr/>
        </p:nvSpPr>
        <p:spPr>
          <a:xfrm>
            <a:off x="166880" y="3698211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702DA9B3-6536-954F-237A-5BD44BA9FF39}"/>
              </a:ext>
            </a:extLst>
          </p:cNvPr>
          <p:cNvCxnSpPr>
            <a:cxnSpLocks/>
            <a:stCxn id="209" idx="3"/>
          </p:cNvCxnSpPr>
          <p:nvPr/>
        </p:nvCxnSpPr>
        <p:spPr>
          <a:xfrm flipV="1">
            <a:off x="684569" y="3281443"/>
            <a:ext cx="350991" cy="211301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762BA705-C062-33E4-01A6-9EE90E03095F}"/>
              </a:ext>
            </a:extLst>
          </p:cNvPr>
          <p:cNvCxnSpPr>
            <a:cxnSpLocks/>
            <a:stCxn id="189" idx="3"/>
            <a:endCxn id="208" idx="1"/>
          </p:cNvCxnSpPr>
          <p:nvPr/>
        </p:nvCxnSpPr>
        <p:spPr>
          <a:xfrm>
            <a:off x="2041398" y="3313447"/>
            <a:ext cx="260250" cy="2814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04AEC94-8E68-9224-0A78-AA9739F960BD}"/>
              </a:ext>
            </a:extLst>
          </p:cNvPr>
          <p:cNvSpPr/>
          <p:nvPr/>
        </p:nvSpPr>
        <p:spPr>
          <a:xfrm>
            <a:off x="7183320" y="1452792"/>
            <a:ext cx="2743200" cy="257971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58B14D-C60F-CA3A-D506-5E02F72B36BF}"/>
              </a:ext>
            </a:extLst>
          </p:cNvPr>
          <p:cNvSpPr/>
          <p:nvPr/>
        </p:nvSpPr>
        <p:spPr>
          <a:xfrm>
            <a:off x="9084180" y="1490337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0">
                <a:solidFill>
                  <a:srgbClr val="111111"/>
                </a:solidFill>
                <a:latin typeface="Calibri"/>
              </a:rPr>
              <a:t>Portland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AA4F58-6D17-B10C-A05C-9186D6388B73}"/>
              </a:ext>
            </a:extLst>
          </p:cNvPr>
          <p:cNvSpPr txBox="1"/>
          <p:nvPr/>
        </p:nvSpPr>
        <p:spPr>
          <a:xfrm>
            <a:off x="9257120" y="3158247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CC548ADF-9CF2-95FE-7449-912D1165644C}"/>
              </a:ext>
            </a:extLst>
          </p:cNvPr>
          <p:cNvCxnSpPr>
            <a:cxnSpLocks/>
            <a:stCxn id="215" idx="1"/>
            <a:endCxn id="202" idx="3"/>
          </p:cNvCxnSpPr>
          <p:nvPr/>
        </p:nvCxnSpPr>
        <p:spPr>
          <a:xfrm flipH="1" flipV="1">
            <a:off x="9039551" y="3238955"/>
            <a:ext cx="353161" cy="240337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59BEE374-6106-5D62-6081-8A15171FD2AB}"/>
              </a:ext>
            </a:extLst>
          </p:cNvPr>
          <p:cNvCxnSpPr>
            <a:cxnSpLocks/>
            <a:stCxn id="202" idx="1"/>
            <a:endCxn id="216" idx="3"/>
          </p:cNvCxnSpPr>
          <p:nvPr/>
        </p:nvCxnSpPr>
        <p:spPr>
          <a:xfrm flipH="1" flipV="1">
            <a:off x="7719831" y="3236473"/>
            <a:ext cx="313880" cy="2482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>
            <a:extLst>
              <a:ext uri="{FF2B5EF4-FFF2-40B4-BE49-F238E27FC236}">
                <a16:creationId xmlns:a16="http://schemas.microsoft.com/office/drawing/2014/main" id="{B892DDFC-AD12-55F7-5F18-E02AFD029DC0}"/>
              </a:ext>
            </a:extLst>
          </p:cNvPr>
          <p:cNvCxnSpPr>
            <a:cxnSpLocks/>
          </p:cNvCxnSpPr>
          <p:nvPr/>
        </p:nvCxnSpPr>
        <p:spPr>
          <a:xfrm flipH="1">
            <a:off x="5029200" y="1947333"/>
            <a:ext cx="731519" cy="1134750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>
            <a:extLst>
              <a:ext uri="{FF2B5EF4-FFF2-40B4-BE49-F238E27FC236}">
                <a16:creationId xmlns:a16="http://schemas.microsoft.com/office/drawing/2014/main" id="{8CF701A6-904C-EB58-35E8-65408E614119}"/>
              </a:ext>
            </a:extLst>
          </p:cNvPr>
          <p:cNvCxnSpPr>
            <a:cxnSpLocks/>
            <a:stCxn id="88" idx="2"/>
          </p:cNvCxnSpPr>
          <p:nvPr/>
        </p:nvCxnSpPr>
        <p:spPr>
          <a:xfrm>
            <a:off x="6005840" y="1628845"/>
            <a:ext cx="212080" cy="2003355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>
            <a:extLst>
              <a:ext uri="{FF2B5EF4-FFF2-40B4-BE49-F238E27FC236}">
                <a16:creationId xmlns:a16="http://schemas.microsoft.com/office/drawing/2014/main" id="{6D83CD6B-7C1C-D696-8493-B069E83914FC}"/>
              </a:ext>
            </a:extLst>
          </p:cNvPr>
          <p:cNvCxnSpPr>
            <a:cxnSpLocks/>
            <a:stCxn id="208" idx="3"/>
          </p:cNvCxnSpPr>
          <p:nvPr/>
        </p:nvCxnSpPr>
        <p:spPr>
          <a:xfrm flipV="1">
            <a:off x="2667408" y="3082083"/>
            <a:ext cx="2361792" cy="234178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>
            <a:extLst>
              <a:ext uri="{FF2B5EF4-FFF2-40B4-BE49-F238E27FC236}">
                <a16:creationId xmlns:a16="http://schemas.microsoft.com/office/drawing/2014/main" id="{F3A02D7B-4111-6CCF-83F1-9E9AEE34CD1B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667408" y="3723368"/>
            <a:ext cx="3550512" cy="93663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>
            <a:extLst>
              <a:ext uri="{FF2B5EF4-FFF2-40B4-BE49-F238E27FC236}">
                <a16:creationId xmlns:a16="http://schemas.microsoft.com/office/drawing/2014/main" id="{F16E590A-FFF5-3CB1-F887-D486DADDD46F}"/>
              </a:ext>
            </a:extLst>
          </p:cNvPr>
          <p:cNvCxnSpPr>
            <a:cxnSpLocks/>
          </p:cNvCxnSpPr>
          <p:nvPr/>
        </p:nvCxnSpPr>
        <p:spPr>
          <a:xfrm flipH="1">
            <a:off x="6096000" y="3723368"/>
            <a:ext cx="121920" cy="1253277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>
            <a:extLst>
              <a:ext uri="{FF2B5EF4-FFF2-40B4-BE49-F238E27FC236}">
                <a16:creationId xmlns:a16="http://schemas.microsoft.com/office/drawing/2014/main" id="{F08B73AC-415F-13D0-86B5-F5757345BD2E}"/>
              </a:ext>
            </a:extLst>
          </p:cNvPr>
          <p:cNvCxnSpPr>
            <a:cxnSpLocks/>
          </p:cNvCxnSpPr>
          <p:nvPr/>
        </p:nvCxnSpPr>
        <p:spPr>
          <a:xfrm flipH="1" flipV="1">
            <a:off x="6217920" y="3723368"/>
            <a:ext cx="1433720" cy="40034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>
            <a:extLst>
              <a:ext uri="{FF2B5EF4-FFF2-40B4-BE49-F238E27FC236}">
                <a16:creationId xmlns:a16="http://schemas.microsoft.com/office/drawing/2014/main" id="{ED358DB6-DBFF-0961-12FC-4B2DE89B5B51}"/>
              </a:ext>
            </a:extLst>
          </p:cNvPr>
          <p:cNvCxnSpPr>
            <a:cxnSpLocks/>
          </p:cNvCxnSpPr>
          <p:nvPr/>
        </p:nvCxnSpPr>
        <p:spPr>
          <a:xfrm flipV="1">
            <a:off x="3949851" y="3134632"/>
            <a:ext cx="1079349" cy="1813789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>
            <a:extLst>
              <a:ext uri="{FF2B5EF4-FFF2-40B4-BE49-F238E27FC236}">
                <a16:creationId xmlns:a16="http://schemas.microsoft.com/office/drawing/2014/main" id="{853F995A-BD8C-41A7-E843-D61158071657}"/>
              </a:ext>
            </a:extLst>
          </p:cNvPr>
          <p:cNvCxnSpPr>
            <a:cxnSpLocks/>
          </p:cNvCxnSpPr>
          <p:nvPr/>
        </p:nvCxnSpPr>
        <p:spPr>
          <a:xfrm flipH="1" flipV="1">
            <a:off x="5029200" y="3134632"/>
            <a:ext cx="881398" cy="2367717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>
            <a:extLst>
              <a:ext uri="{FF2B5EF4-FFF2-40B4-BE49-F238E27FC236}">
                <a16:creationId xmlns:a16="http://schemas.microsoft.com/office/drawing/2014/main" id="{EF7B68F4-4EB4-1AC4-0CA1-8218C8040DBC}"/>
              </a:ext>
            </a:extLst>
          </p:cNvPr>
          <p:cNvCxnSpPr>
            <a:cxnSpLocks/>
          </p:cNvCxnSpPr>
          <p:nvPr/>
        </p:nvCxnSpPr>
        <p:spPr>
          <a:xfrm>
            <a:off x="5122333" y="3082083"/>
            <a:ext cx="2529307" cy="154390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FF68A630-F820-026D-E95D-E5F36C999BF1}"/>
              </a:ext>
            </a:extLst>
          </p:cNvPr>
          <p:cNvSpPr/>
          <p:nvPr/>
        </p:nvSpPr>
        <p:spPr>
          <a:xfrm>
            <a:off x="4389120" y="2697480"/>
            <a:ext cx="1280160" cy="777240"/>
          </a:xfrm>
          <a:prstGeom prst="ellipse">
            <a:avLst/>
          </a:prstGeom>
          <a:solidFill>
            <a:srgbClr val="EF6C0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893FFBE-67E6-33FA-59FF-BB1CC36FE877}"/>
              </a:ext>
            </a:extLst>
          </p:cNvPr>
          <p:cNvSpPr/>
          <p:nvPr/>
        </p:nvSpPr>
        <p:spPr>
          <a:xfrm>
            <a:off x="10172696" y="114301"/>
            <a:ext cx="1920240" cy="1691640"/>
          </a:xfrm>
          <a:prstGeom prst="rect">
            <a:avLst/>
          </a:prstGeom>
          <a:solidFill>
            <a:srgbClr val="F5F5F5"/>
          </a:solidFill>
          <a:ln w="25400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5427871-30F9-F2A0-CBAB-03D48E3B8A6F}"/>
              </a:ext>
            </a:extLst>
          </p:cNvPr>
          <p:cNvSpPr/>
          <p:nvPr/>
        </p:nvSpPr>
        <p:spPr>
          <a:xfrm>
            <a:off x="10245848" y="178309"/>
            <a:ext cx="1325880" cy="228600"/>
          </a:xfrm>
          <a:prstGeom prst="rect">
            <a:avLst/>
          </a:prstGeom>
          <a:solidFill>
            <a:srgbClr val="BBDEFB"/>
          </a:solidFill>
          <a:ln w="1270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0D47A1"/>
                </a:solidFill>
                <a:latin typeface="Calibri"/>
              </a:rPr>
              <a:t>External Fabrics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D4C1C978-8281-8142-EF75-F28A6AEE0C1E}"/>
              </a:ext>
            </a:extLst>
          </p:cNvPr>
          <p:cNvSpPr/>
          <p:nvPr/>
        </p:nvSpPr>
        <p:spPr>
          <a:xfrm>
            <a:off x="10355576" y="983540"/>
            <a:ext cx="1554480" cy="713232"/>
          </a:xfrm>
          <a:prstGeom prst="ellipse">
            <a:avLst/>
          </a:prstGeom>
          <a:solidFill>
            <a:srgbClr val="1976D2"/>
          </a:solidFill>
          <a:ln w="1905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F24205E-1C29-749D-10AF-3EC620416654}"/>
              </a:ext>
            </a:extLst>
          </p:cNvPr>
          <p:cNvSpPr txBox="1"/>
          <p:nvPr/>
        </p:nvSpPr>
        <p:spPr>
          <a:xfrm>
            <a:off x="10355576" y="1153906"/>
            <a:ext cx="1554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Equinix</a:t>
            </a:r>
            <a:endParaRPr lang="en-US" sz="12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Fabric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388B004-D9FF-17E8-730B-40E96ADB450E}"/>
              </a:ext>
            </a:extLst>
          </p:cNvPr>
          <p:cNvSpPr/>
          <p:nvPr/>
        </p:nvSpPr>
        <p:spPr>
          <a:xfrm>
            <a:off x="10336917" y="723032"/>
            <a:ext cx="502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0D47A1"/>
                </a:solidFill>
                <a:latin typeface="Calibri"/>
              </a:rPr>
              <a:t>AWS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E76BB92-FA87-648E-A34F-1AD54C62B33B}"/>
              </a:ext>
            </a:extLst>
          </p:cNvPr>
          <p:cNvSpPr/>
          <p:nvPr/>
        </p:nvSpPr>
        <p:spPr>
          <a:xfrm>
            <a:off x="10885557" y="723032"/>
            <a:ext cx="502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0D47A1"/>
                </a:solidFill>
                <a:latin typeface="Calibri"/>
              </a:rPr>
              <a:t>Azure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5A0FEF6-3F0B-BDB3-0C78-22A00589ADB7}"/>
              </a:ext>
            </a:extLst>
          </p:cNvPr>
          <p:cNvSpPr/>
          <p:nvPr/>
        </p:nvSpPr>
        <p:spPr>
          <a:xfrm>
            <a:off x="11434197" y="723032"/>
            <a:ext cx="502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0D47A1"/>
                </a:solidFill>
                <a:latin typeface="Calibri"/>
              </a:rPr>
              <a:t>GCP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AA1BFD5-C83E-FDAD-ED17-41B620C06DBF}"/>
              </a:ext>
            </a:extLst>
          </p:cNvPr>
          <p:cNvSpPr/>
          <p:nvPr/>
        </p:nvSpPr>
        <p:spPr>
          <a:xfrm>
            <a:off x="10542657" y="475394"/>
            <a:ext cx="11887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>
                <a:solidFill>
                  <a:srgbClr val="0D47A1"/>
                </a:solidFill>
                <a:latin typeface="Calibri"/>
              </a:rPr>
              <a:t>SaaS / Partners</a:t>
            </a:r>
          </a:p>
        </p:txBody>
      </p:sp>
      <p:cxnSp>
        <p:nvCxnSpPr>
          <p:cNvPr id="128" name="Connector 127">
            <a:extLst>
              <a:ext uri="{FF2B5EF4-FFF2-40B4-BE49-F238E27FC236}">
                <a16:creationId xmlns:a16="http://schemas.microsoft.com/office/drawing/2014/main" id="{AFFCE026-A581-814D-299E-4318E37534A8}"/>
              </a:ext>
            </a:extLst>
          </p:cNvPr>
          <p:cNvCxnSpPr>
            <a:cxnSpLocks/>
            <a:stCxn id="202" idx="3"/>
            <a:endCxn id="130" idx="0"/>
          </p:cNvCxnSpPr>
          <p:nvPr/>
        </p:nvCxnSpPr>
        <p:spPr>
          <a:xfrm flipV="1">
            <a:off x="9039551" y="2372168"/>
            <a:ext cx="2042301" cy="866787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3085A09-F261-0553-8024-45770B6EF8DE}"/>
              </a:ext>
            </a:extLst>
          </p:cNvPr>
          <p:cNvSpPr/>
          <p:nvPr/>
        </p:nvSpPr>
        <p:spPr>
          <a:xfrm>
            <a:off x="10770575" y="2372168"/>
            <a:ext cx="622554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i="0" dirty="0">
                <a:solidFill>
                  <a:srgbClr val="6A1B9A"/>
                </a:solidFill>
                <a:latin typeface="Calibri"/>
              </a:rPr>
              <a:t>Wave-1</a:t>
            </a:r>
            <a:endParaRPr sz="900" b="1" i="0" dirty="0">
              <a:solidFill>
                <a:srgbClr val="6A1B9A"/>
              </a:solidFill>
              <a:latin typeface="Calibri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CD4CD3F9-F8C3-ECB2-B2F0-417F861D741B}"/>
              </a:ext>
            </a:extLst>
          </p:cNvPr>
          <p:cNvSpPr/>
          <p:nvPr/>
        </p:nvSpPr>
        <p:spPr>
          <a:xfrm>
            <a:off x="7229040" y="1508161"/>
            <a:ext cx="682803" cy="528624"/>
          </a:xfrm>
          <a:prstGeom prst="rect">
            <a:avLst/>
          </a:prstGeom>
          <a:solidFill>
            <a:srgbClr val="6A1B9A"/>
          </a:solidFill>
          <a:ln w="19050"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EXTERNAL</a:t>
            </a:r>
            <a:endParaRPr lang="en-US" sz="9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FABRIC</a:t>
            </a:r>
            <a:endParaRPr lang="en-US" sz="9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HUB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99EC0FCA-BFFD-974A-E17D-B8DB522F4C50}"/>
              </a:ext>
            </a:extLst>
          </p:cNvPr>
          <p:cNvSpPr/>
          <p:nvPr/>
        </p:nvSpPr>
        <p:spPr>
          <a:xfrm>
            <a:off x="274320" y="6013936"/>
            <a:ext cx="11640312" cy="630030"/>
          </a:xfrm>
          <a:prstGeom prst="rect">
            <a:avLst/>
          </a:prstGeom>
          <a:solidFill>
            <a:srgbClr val="FAFAFA"/>
          </a:solidFill>
          <a:ln w="635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4BEFDE9-3DDA-9388-8FB6-6E87B1B4B149}"/>
              </a:ext>
            </a:extLst>
          </p:cNvPr>
          <p:cNvSpPr txBox="1"/>
          <p:nvPr/>
        </p:nvSpPr>
        <p:spPr>
          <a:xfrm>
            <a:off x="365760" y="6059656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111111"/>
                </a:solidFill>
                <a:latin typeface="Calibri"/>
              </a:rPr>
              <a:t>Legend</a:t>
            </a:r>
          </a:p>
        </p:txBody>
      </p:sp>
      <p:cxnSp>
        <p:nvCxnSpPr>
          <p:cNvPr id="134" name="Connector 133">
            <a:extLst>
              <a:ext uri="{FF2B5EF4-FFF2-40B4-BE49-F238E27FC236}">
                <a16:creationId xmlns:a16="http://schemas.microsoft.com/office/drawing/2014/main" id="{55B7DD44-A8EE-209C-3BB8-192D508F71CC}"/>
              </a:ext>
            </a:extLst>
          </p:cNvPr>
          <p:cNvCxnSpPr/>
          <p:nvPr/>
        </p:nvCxnSpPr>
        <p:spPr>
          <a:xfrm>
            <a:off x="1412395" y="6176066"/>
            <a:ext cx="320040" cy="0"/>
          </a:xfrm>
          <a:prstGeom prst="line">
            <a:avLst/>
          </a:prstGeom>
          <a:ln w="3175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6CD2E733-A5F5-83CE-25CD-BF6AE047A9A4}"/>
              </a:ext>
            </a:extLst>
          </p:cNvPr>
          <p:cNvSpPr txBox="1"/>
          <p:nvPr/>
        </p:nvSpPr>
        <p:spPr>
          <a:xfrm>
            <a:off x="1783080" y="608708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111111"/>
                </a:solidFill>
                <a:latin typeface="Calibri"/>
              </a:rPr>
              <a:t>Primary DIA mesh path</a:t>
            </a:r>
          </a:p>
        </p:txBody>
      </p:sp>
      <p:cxnSp>
        <p:nvCxnSpPr>
          <p:cNvPr id="136" name="Connector 135">
            <a:extLst>
              <a:ext uri="{FF2B5EF4-FFF2-40B4-BE49-F238E27FC236}">
                <a16:creationId xmlns:a16="http://schemas.microsoft.com/office/drawing/2014/main" id="{84ABBBDA-2BED-A6C6-21B4-F8BF712745B4}"/>
              </a:ext>
            </a:extLst>
          </p:cNvPr>
          <p:cNvCxnSpPr/>
          <p:nvPr/>
        </p:nvCxnSpPr>
        <p:spPr>
          <a:xfrm>
            <a:off x="3949851" y="6178528"/>
            <a:ext cx="320040" cy="0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DFCC5A1B-5E1F-2DC5-FBDC-5500649802ED}"/>
              </a:ext>
            </a:extLst>
          </p:cNvPr>
          <p:cNvSpPr txBox="1"/>
          <p:nvPr/>
        </p:nvSpPr>
        <p:spPr>
          <a:xfrm>
            <a:off x="4297680" y="608708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Secondary DIA mesh path</a:t>
            </a:r>
          </a:p>
        </p:txBody>
      </p:sp>
      <p:cxnSp>
        <p:nvCxnSpPr>
          <p:cNvPr id="138" name="Connector 137">
            <a:extLst>
              <a:ext uri="{FF2B5EF4-FFF2-40B4-BE49-F238E27FC236}">
                <a16:creationId xmlns:a16="http://schemas.microsoft.com/office/drawing/2014/main" id="{090B8D6D-F76B-BED7-4DEA-30983442E5BA}"/>
              </a:ext>
            </a:extLst>
          </p:cNvPr>
          <p:cNvCxnSpPr/>
          <p:nvPr/>
        </p:nvCxnSpPr>
        <p:spPr>
          <a:xfrm>
            <a:off x="6675824" y="6178528"/>
            <a:ext cx="320040" cy="0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86F99C92-7A8A-9055-01D1-8E4514FA222B}"/>
              </a:ext>
            </a:extLst>
          </p:cNvPr>
          <p:cNvSpPr txBox="1"/>
          <p:nvPr/>
        </p:nvSpPr>
        <p:spPr>
          <a:xfrm>
            <a:off x="7040880" y="6116424"/>
            <a:ext cx="1839351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 dirty="0">
                <a:solidFill>
                  <a:srgbClr val="111111"/>
                </a:solidFill>
                <a:latin typeface="Calibri"/>
              </a:rPr>
              <a:t>Wave from Portland to Equinix Fabric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1DCAAF0-4D96-0A1E-BBD5-CE6E6C582982}"/>
              </a:ext>
            </a:extLst>
          </p:cNvPr>
          <p:cNvSpPr/>
          <p:nvPr/>
        </p:nvSpPr>
        <p:spPr>
          <a:xfrm>
            <a:off x="3979333" y="6322402"/>
            <a:ext cx="228600" cy="164592"/>
          </a:xfrm>
          <a:prstGeom prst="rect">
            <a:avLst/>
          </a:prstGeom>
          <a:solidFill>
            <a:srgbClr val="6A1B9A"/>
          </a:solidFill>
          <a:ln w="9525">
            <a:solidFill>
              <a:srgbClr val="4A1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4E797E8-687B-DB50-5B5D-2F1B2462590F}"/>
              </a:ext>
            </a:extLst>
          </p:cNvPr>
          <p:cNvSpPr txBox="1"/>
          <p:nvPr/>
        </p:nvSpPr>
        <p:spPr>
          <a:xfrm>
            <a:off x="4299373" y="632240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Hub site (Portland)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FC87C63-3A8E-76D9-77DC-7D7E18B54F11}"/>
              </a:ext>
            </a:extLst>
          </p:cNvPr>
          <p:cNvSpPr/>
          <p:nvPr/>
        </p:nvSpPr>
        <p:spPr>
          <a:xfrm>
            <a:off x="1464737" y="6317719"/>
            <a:ext cx="228600" cy="164592"/>
          </a:xfrm>
          <a:prstGeom prst="rect">
            <a:avLst/>
          </a:prstGeom>
          <a:solidFill>
            <a:srgbClr val="F5F5F5"/>
          </a:solidFill>
          <a:ln w="95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1549F0-26C2-FCF3-E9C3-88FBB96C0703}"/>
              </a:ext>
            </a:extLst>
          </p:cNvPr>
          <p:cNvSpPr txBox="1"/>
          <p:nvPr/>
        </p:nvSpPr>
        <p:spPr>
          <a:xfrm>
            <a:off x="1784777" y="6317719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Calibri"/>
              </a:rPr>
              <a:t>External Fabric (Equinix)</a:t>
            </a:r>
          </a:p>
        </p:txBody>
      </p:sp>
      <p:cxnSp>
        <p:nvCxnSpPr>
          <p:cNvPr id="180" name="Connector 108">
            <a:extLst>
              <a:ext uri="{FF2B5EF4-FFF2-40B4-BE49-F238E27FC236}">
                <a16:creationId xmlns:a16="http://schemas.microsoft.com/office/drawing/2014/main" id="{E081457F-D301-5C1F-38CC-C076EB9DB448}"/>
              </a:ext>
            </a:extLst>
          </p:cNvPr>
          <p:cNvCxnSpPr>
            <a:cxnSpLocks/>
          </p:cNvCxnSpPr>
          <p:nvPr/>
        </p:nvCxnSpPr>
        <p:spPr>
          <a:xfrm flipH="1">
            <a:off x="3949851" y="3723368"/>
            <a:ext cx="2268069" cy="1760311"/>
          </a:xfrm>
          <a:prstGeom prst="line">
            <a:avLst/>
          </a:prstGeom>
          <a:ln w="3175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9" name="Picture 188">
            <a:extLst>
              <a:ext uri="{FF2B5EF4-FFF2-40B4-BE49-F238E27FC236}">
                <a16:creationId xmlns:a16="http://schemas.microsoft.com/office/drawing/2014/main" id="{C1F4E76E-F399-ABCC-B9C9-12C173908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58" y="3210700"/>
            <a:ext cx="1005840" cy="205494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5560923E-699D-4A49-8173-8C3E98E4B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54" y="3005206"/>
            <a:ext cx="1005840" cy="205494"/>
          </a:xfrm>
          <a:prstGeom prst="rect">
            <a:avLst/>
          </a:prstGeom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0FB17671-F55A-9F51-1F22-30EA6DC23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711" y="3136208"/>
            <a:ext cx="1005840" cy="205494"/>
          </a:xfrm>
          <a:prstGeom prst="rect">
            <a:avLst/>
          </a:prstGeom>
        </p:spPr>
      </p:pic>
      <p:pic>
        <p:nvPicPr>
          <p:cNvPr id="203" name="Picture 202">
            <a:extLst>
              <a:ext uri="{FF2B5EF4-FFF2-40B4-BE49-F238E27FC236}">
                <a16:creationId xmlns:a16="http://schemas.microsoft.com/office/drawing/2014/main" id="{5D434948-D4B8-AA0C-430E-47D61DFE2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711" y="2918753"/>
            <a:ext cx="1005840" cy="205494"/>
          </a:xfrm>
          <a:prstGeom prst="rect">
            <a:avLst/>
          </a:prstGeom>
        </p:spPr>
      </p:pic>
      <p:pic>
        <p:nvPicPr>
          <p:cNvPr id="208" name="Picture 207">
            <a:extLst>
              <a:ext uri="{FF2B5EF4-FFF2-40B4-BE49-F238E27FC236}">
                <a16:creationId xmlns:a16="http://schemas.microsoft.com/office/drawing/2014/main" id="{217AC6D9-362B-3D90-9F0D-D73DF2423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648" y="3133381"/>
            <a:ext cx="365760" cy="365760"/>
          </a:xfrm>
          <a:prstGeom prst="rect">
            <a:avLst/>
          </a:prstGeom>
        </p:spPr>
      </p:pic>
      <p:pic>
        <p:nvPicPr>
          <p:cNvPr id="209" name="Picture 208">
            <a:extLst>
              <a:ext uri="{FF2B5EF4-FFF2-40B4-BE49-F238E27FC236}">
                <a16:creationId xmlns:a16="http://schemas.microsoft.com/office/drawing/2014/main" id="{012C9DE9-453A-5E96-2E79-A62EDEA1A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09" y="3309864"/>
            <a:ext cx="365760" cy="365760"/>
          </a:xfrm>
          <a:prstGeom prst="rect">
            <a:avLst/>
          </a:prstGeom>
        </p:spPr>
      </p:pic>
      <p:pic>
        <p:nvPicPr>
          <p:cNvPr id="215" name="Picture 214">
            <a:extLst>
              <a:ext uri="{FF2B5EF4-FFF2-40B4-BE49-F238E27FC236}">
                <a16:creationId xmlns:a16="http://schemas.microsoft.com/office/drawing/2014/main" id="{93691F41-B785-92B9-753A-246A9E944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712" y="3296412"/>
            <a:ext cx="365760" cy="365760"/>
          </a:xfrm>
          <a:prstGeom prst="rect">
            <a:avLst/>
          </a:prstGeom>
        </p:spPr>
      </p:pic>
      <p:pic>
        <p:nvPicPr>
          <p:cNvPr id="216" name="Picture 215">
            <a:extLst>
              <a:ext uri="{FF2B5EF4-FFF2-40B4-BE49-F238E27FC236}">
                <a16:creationId xmlns:a16="http://schemas.microsoft.com/office/drawing/2014/main" id="{BBD80F6B-5751-7634-8529-FC7275694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071" y="3053593"/>
            <a:ext cx="365760" cy="365760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0657D157-C531-66A9-277D-C6D06817ACB8}"/>
              </a:ext>
            </a:extLst>
          </p:cNvPr>
          <p:cNvSpPr txBox="1"/>
          <p:nvPr/>
        </p:nvSpPr>
        <p:spPr>
          <a:xfrm>
            <a:off x="4389120" y="269748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DIA-1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93BF34-52DE-CC48-4AA9-8FA6CD326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58" y="3713954"/>
            <a:ext cx="1005840" cy="2054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418744-8A5D-8B87-5C58-EBE347367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54" y="3508460"/>
            <a:ext cx="1005840" cy="2054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B179D1-C348-D13E-2143-D3B5D12E0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648" y="3634151"/>
            <a:ext cx="365760" cy="365760"/>
          </a:xfrm>
          <a:prstGeom prst="rect">
            <a:avLst/>
          </a:prstGeom>
        </p:spPr>
      </p:pic>
      <p:cxnSp>
        <p:nvCxnSpPr>
          <p:cNvPr id="16" name="Connector 43">
            <a:extLst>
              <a:ext uri="{FF2B5EF4-FFF2-40B4-BE49-F238E27FC236}">
                <a16:creationId xmlns:a16="http://schemas.microsoft.com/office/drawing/2014/main" id="{48413B18-0F2C-58E8-8606-E30E88F72C57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>
            <a:off x="2041398" y="3816701"/>
            <a:ext cx="260250" cy="330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42">
            <a:extLst>
              <a:ext uri="{FF2B5EF4-FFF2-40B4-BE49-F238E27FC236}">
                <a16:creationId xmlns:a16="http://schemas.microsoft.com/office/drawing/2014/main" id="{33E8F1DC-BB88-E521-2676-141B015711A9}"/>
              </a:ext>
            </a:extLst>
          </p:cNvPr>
          <p:cNvCxnSpPr>
            <a:cxnSpLocks/>
            <a:stCxn id="209" idx="3"/>
            <a:endCxn id="7" idx="1"/>
          </p:cNvCxnSpPr>
          <p:nvPr/>
        </p:nvCxnSpPr>
        <p:spPr>
          <a:xfrm>
            <a:off x="684569" y="3492744"/>
            <a:ext cx="350989" cy="323957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06F2DCF8-E680-3B02-4E71-155494A2CC2E}"/>
              </a:ext>
            </a:extLst>
          </p:cNvPr>
          <p:cNvSpPr/>
          <p:nvPr/>
        </p:nvSpPr>
        <p:spPr>
          <a:xfrm>
            <a:off x="3546345" y="807291"/>
            <a:ext cx="777240" cy="201168"/>
          </a:xfrm>
          <a:prstGeom prst="rect">
            <a:avLst/>
          </a:prstGeom>
          <a:solidFill>
            <a:srgbClr val="FFF59D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i="0" dirty="0">
                <a:solidFill>
                  <a:srgbClr val="111111"/>
                </a:solidFill>
                <a:latin typeface="Calibri"/>
              </a:rPr>
              <a:t>Minneapolis</a:t>
            </a:r>
            <a:endParaRPr sz="1000" b="1" i="0" dirty="0">
              <a:solidFill>
                <a:srgbClr val="111111"/>
              </a:solidFill>
              <a:latin typeface="Calibri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2DE7F7F-B9CD-41E6-F0FA-50C79930A36D}"/>
              </a:ext>
            </a:extLst>
          </p:cNvPr>
          <p:cNvSpPr txBox="1"/>
          <p:nvPr/>
        </p:nvSpPr>
        <p:spPr>
          <a:xfrm>
            <a:off x="3538725" y="1827915"/>
            <a:ext cx="6400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11111"/>
                </a:solidFill>
                <a:latin typeface="Calibri"/>
              </a:rPr>
              <a:t>DC Router</a:t>
            </a:r>
          </a:p>
        </p:txBody>
      </p:sp>
      <p:cxnSp>
        <p:nvCxnSpPr>
          <p:cNvPr id="78" name="Connector 42">
            <a:extLst>
              <a:ext uri="{FF2B5EF4-FFF2-40B4-BE49-F238E27FC236}">
                <a16:creationId xmlns:a16="http://schemas.microsoft.com/office/drawing/2014/main" id="{4091937D-CBD2-C940-06EC-45DA2DF9E094}"/>
              </a:ext>
            </a:extLst>
          </p:cNvPr>
          <p:cNvCxnSpPr>
            <a:cxnSpLocks/>
          </p:cNvCxnSpPr>
          <p:nvPr/>
        </p:nvCxnSpPr>
        <p:spPr>
          <a:xfrm flipV="1">
            <a:off x="4053771" y="1411147"/>
            <a:ext cx="353634" cy="169881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43">
            <a:extLst>
              <a:ext uri="{FF2B5EF4-FFF2-40B4-BE49-F238E27FC236}">
                <a16:creationId xmlns:a16="http://schemas.microsoft.com/office/drawing/2014/main" id="{7B0CBAD4-08B3-272A-CB2F-96B73502D0D7}"/>
              </a:ext>
            </a:extLst>
          </p:cNvPr>
          <p:cNvCxnSpPr>
            <a:cxnSpLocks/>
            <a:stCxn id="80" idx="3"/>
            <a:endCxn id="88" idx="1"/>
          </p:cNvCxnSpPr>
          <p:nvPr/>
        </p:nvCxnSpPr>
        <p:spPr>
          <a:xfrm>
            <a:off x="5413243" y="1443151"/>
            <a:ext cx="409717" cy="2814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0" name="Picture 79">
            <a:extLst>
              <a:ext uri="{FF2B5EF4-FFF2-40B4-BE49-F238E27FC236}">
                <a16:creationId xmlns:a16="http://schemas.microsoft.com/office/drawing/2014/main" id="{609DAC5A-DE00-C38B-7CAF-8E351C3A2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3" y="1340404"/>
            <a:ext cx="1005840" cy="205494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6957ABDE-54FD-0DD8-282C-135D61B65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899" y="1134910"/>
            <a:ext cx="1005840" cy="205494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DB0682F4-E809-4034-C680-411B5C037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960" y="1263085"/>
            <a:ext cx="365760" cy="36576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E896FD71-C8D3-4FCD-5777-635FF7165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654" y="1439568"/>
            <a:ext cx="365760" cy="36576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29E6386C-2A6C-38DB-266A-9A9EB83AB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3" y="1843658"/>
            <a:ext cx="1005840" cy="205494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48BB0155-BD86-A47F-EA9B-12C15A26C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899" y="1638164"/>
            <a:ext cx="1005840" cy="205494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8EDB2FC4-16E2-F9AC-4872-EE1C688A1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6775" y="1763855"/>
            <a:ext cx="365760" cy="365760"/>
          </a:xfrm>
          <a:prstGeom prst="rect">
            <a:avLst/>
          </a:prstGeom>
        </p:spPr>
      </p:pic>
      <p:cxnSp>
        <p:nvCxnSpPr>
          <p:cNvPr id="93" name="Connector 43">
            <a:extLst>
              <a:ext uri="{FF2B5EF4-FFF2-40B4-BE49-F238E27FC236}">
                <a16:creationId xmlns:a16="http://schemas.microsoft.com/office/drawing/2014/main" id="{005DA56D-6D3A-EAFE-4BDA-14D905E16B8F}"/>
              </a:ext>
            </a:extLst>
          </p:cNvPr>
          <p:cNvCxnSpPr>
            <a:cxnSpLocks/>
            <a:stCxn id="90" idx="3"/>
            <a:endCxn id="92" idx="1"/>
          </p:cNvCxnSpPr>
          <p:nvPr/>
        </p:nvCxnSpPr>
        <p:spPr>
          <a:xfrm>
            <a:off x="5413243" y="1946405"/>
            <a:ext cx="163532" cy="330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42">
            <a:extLst>
              <a:ext uri="{FF2B5EF4-FFF2-40B4-BE49-F238E27FC236}">
                <a16:creationId xmlns:a16="http://schemas.microsoft.com/office/drawing/2014/main" id="{151C088D-4B59-6BBD-D386-A893015073C1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4056414" y="1622448"/>
            <a:ext cx="350989" cy="323957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8" name="Picture 97">
            <a:extLst>
              <a:ext uri="{FF2B5EF4-FFF2-40B4-BE49-F238E27FC236}">
                <a16:creationId xmlns:a16="http://schemas.microsoft.com/office/drawing/2014/main" id="{2CF09979-9FDE-2C2A-CACF-B44FE11BB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711" y="3676997"/>
            <a:ext cx="1005840" cy="205494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E372C90-7571-542C-98A3-106D35F09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711" y="3459542"/>
            <a:ext cx="1005840" cy="205494"/>
          </a:xfrm>
          <a:prstGeom prst="rect">
            <a:avLst/>
          </a:prstGeom>
        </p:spPr>
      </p:pic>
      <p:cxnSp>
        <p:nvCxnSpPr>
          <p:cNvPr id="100" name="Connector 62">
            <a:extLst>
              <a:ext uri="{FF2B5EF4-FFF2-40B4-BE49-F238E27FC236}">
                <a16:creationId xmlns:a16="http://schemas.microsoft.com/office/drawing/2014/main" id="{A2B1E64B-80BB-9C31-4692-79FA295111DD}"/>
              </a:ext>
            </a:extLst>
          </p:cNvPr>
          <p:cNvCxnSpPr>
            <a:cxnSpLocks/>
            <a:stCxn id="215" idx="1"/>
          </p:cNvCxnSpPr>
          <p:nvPr/>
        </p:nvCxnSpPr>
        <p:spPr>
          <a:xfrm flipH="1">
            <a:off x="9039551" y="3479292"/>
            <a:ext cx="353161" cy="284110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28">
            <a:extLst>
              <a:ext uri="{FF2B5EF4-FFF2-40B4-BE49-F238E27FC236}">
                <a16:creationId xmlns:a16="http://schemas.microsoft.com/office/drawing/2014/main" id="{3DC73665-555F-5244-4601-6CF369896AC9}"/>
              </a:ext>
            </a:extLst>
          </p:cNvPr>
          <p:cNvCxnSpPr>
            <a:cxnSpLocks/>
          </p:cNvCxnSpPr>
          <p:nvPr/>
        </p:nvCxnSpPr>
        <p:spPr>
          <a:xfrm flipV="1">
            <a:off x="11739458" y="1805941"/>
            <a:ext cx="0" cy="1957461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27">
            <a:extLst>
              <a:ext uri="{FF2B5EF4-FFF2-40B4-BE49-F238E27FC236}">
                <a16:creationId xmlns:a16="http://schemas.microsoft.com/office/drawing/2014/main" id="{FD865C96-B3ED-BBD4-19C8-93D187D3C294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9039551" y="3779744"/>
            <a:ext cx="2286001" cy="686"/>
          </a:xfrm>
          <a:prstGeom prst="line">
            <a:avLst/>
          </a:prstGeom>
          <a:ln w="508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55FE5E27-0DE5-030C-11D3-4405FF32ADFE}"/>
              </a:ext>
            </a:extLst>
          </p:cNvPr>
          <p:cNvSpPr/>
          <p:nvPr/>
        </p:nvSpPr>
        <p:spPr>
          <a:xfrm>
            <a:off x="11428181" y="3658152"/>
            <a:ext cx="622554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i="0" dirty="0">
                <a:solidFill>
                  <a:srgbClr val="6A1B9A"/>
                </a:solidFill>
                <a:latin typeface="Calibri"/>
              </a:rPr>
              <a:t>Wave-2</a:t>
            </a:r>
            <a:endParaRPr sz="900" b="1" i="0" dirty="0">
              <a:solidFill>
                <a:srgbClr val="6A1B9A"/>
              </a:solidFill>
              <a:latin typeface="Calibri"/>
            </a:endParaRPr>
          </a:p>
        </p:txBody>
      </p:sp>
      <p:cxnSp>
        <p:nvCxnSpPr>
          <p:cNvPr id="166" name="Connector 63">
            <a:extLst>
              <a:ext uri="{FF2B5EF4-FFF2-40B4-BE49-F238E27FC236}">
                <a16:creationId xmlns:a16="http://schemas.microsoft.com/office/drawing/2014/main" id="{9B300D58-FC9E-3479-DBB3-B0AF9232D152}"/>
              </a:ext>
            </a:extLst>
          </p:cNvPr>
          <p:cNvCxnSpPr>
            <a:cxnSpLocks/>
            <a:endCxn id="167" idx="3"/>
          </p:cNvCxnSpPr>
          <p:nvPr/>
        </p:nvCxnSpPr>
        <p:spPr>
          <a:xfrm flipH="1" flipV="1">
            <a:off x="7731959" y="3767328"/>
            <a:ext cx="313880" cy="2482"/>
          </a:xfrm>
          <a:prstGeom prst="line">
            <a:avLst/>
          </a:prstGeom>
          <a:ln w="12700">
            <a:solidFill>
              <a:srgbClr val="027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7" name="Picture 166">
            <a:extLst>
              <a:ext uri="{FF2B5EF4-FFF2-40B4-BE49-F238E27FC236}">
                <a16:creationId xmlns:a16="http://schemas.microsoft.com/office/drawing/2014/main" id="{442DE255-94B6-2BFF-6F87-39E25209E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199" y="3584448"/>
            <a:ext cx="365760" cy="36576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EE8A47D-7AFB-E8E9-13F6-F54418CD3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971" y="4800359"/>
            <a:ext cx="365760" cy="36576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9DA973E-D15D-F057-C1F2-8F709D05F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971" y="5301129"/>
            <a:ext cx="365760" cy="365760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08789BFC-F1E1-5116-0584-6C1D2FBE8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19" y="5324620"/>
            <a:ext cx="365760" cy="365760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70F4ED1F-B294-96FF-AE66-B182F7D9E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643" y="4793765"/>
            <a:ext cx="365760" cy="365760"/>
          </a:xfrm>
          <a:prstGeom prst="rect">
            <a:avLst/>
          </a:prstGeom>
        </p:spPr>
      </p:pic>
      <p:sp>
        <p:nvSpPr>
          <p:cNvPr id="117" name="Oval 116">
            <a:extLst>
              <a:ext uri="{FF2B5EF4-FFF2-40B4-BE49-F238E27FC236}">
                <a16:creationId xmlns:a16="http://schemas.microsoft.com/office/drawing/2014/main" id="{521DF0FD-C368-C95C-295A-6682D18BC2C5}"/>
              </a:ext>
            </a:extLst>
          </p:cNvPr>
          <p:cNvSpPr/>
          <p:nvPr/>
        </p:nvSpPr>
        <p:spPr>
          <a:xfrm>
            <a:off x="5577840" y="3334748"/>
            <a:ext cx="1280160" cy="777240"/>
          </a:xfrm>
          <a:prstGeom prst="ellipse">
            <a:avLst/>
          </a:prstGeom>
          <a:solidFill>
            <a:srgbClr val="FFB300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DIA-2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7C35C-D164-E64C-3CF5-36BFEFF50A33}"/>
              </a:ext>
            </a:extLst>
          </p:cNvPr>
          <p:cNvCxnSpPr>
            <a:cxnSpLocks/>
          </p:cNvCxnSpPr>
          <p:nvPr/>
        </p:nvCxnSpPr>
        <p:spPr>
          <a:xfrm>
            <a:off x="1927798" y="1470486"/>
            <a:ext cx="0" cy="230257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1C50E3-B867-BE1A-2355-CCC41099F1F7}"/>
              </a:ext>
            </a:extLst>
          </p:cNvPr>
          <p:cNvCxnSpPr>
            <a:cxnSpLocks/>
          </p:cNvCxnSpPr>
          <p:nvPr/>
        </p:nvCxnSpPr>
        <p:spPr>
          <a:xfrm>
            <a:off x="1724073" y="1470486"/>
            <a:ext cx="0" cy="179899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Building Icon Vector ...">
            <a:extLst>
              <a:ext uri="{FF2B5EF4-FFF2-40B4-BE49-F238E27FC236}">
                <a16:creationId xmlns:a16="http://schemas.microsoft.com/office/drawing/2014/main" id="{AD1FB3E6-FD7E-4614-A119-AC4D86A037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046" t="7771" r="7265" b="5277"/>
          <a:stretch>
            <a:fillRect/>
          </a:stretch>
        </p:blipFill>
        <p:spPr>
          <a:xfrm>
            <a:off x="1354526" y="652075"/>
            <a:ext cx="971455" cy="1009329"/>
          </a:xfrm>
          <a:prstGeom prst="ellipse">
            <a:avLst/>
          </a:prstGeom>
        </p:spPr>
      </p:pic>
      <p:cxnSp>
        <p:nvCxnSpPr>
          <p:cNvPr id="10" name="Connector 42">
            <a:extLst>
              <a:ext uri="{FF2B5EF4-FFF2-40B4-BE49-F238E27FC236}">
                <a16:creationId xmlns:a16="http://schemas.microsoft.com/office/drawing/2014/main" id="{1B43AC20-B306-BF94-DF31-EB0CEB096346}"/>
              </a:ext>
            </a:extLst>
          </p:cNvPr>
          <p:cNvCxnSpPr>
            <a:cxnSpLocks/>
          </p:cNvCxnSpPr>
          <p:nvPr/>
        </p:nvCxnSpPr>
        <p:spPr>
          <a:xfrm>
            <a:off x="617479" y="2313896"/>
            <a:ext cx="845561" cy="552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42">
            <a:extLst>
              <a:ext uri="{FF2B5EF4-FFF2-40B4-BE49-F238E27FC236}">
                <a16:creationId xmlns:a16="http://schemas.microsoft.com/office/drawing/2014/main" id="{26C6E26D-1F30-BB0C-7931-809F7CD4F7D7}"/>
              </a:ext>
            </a:extLst>
          </p:cNvPr>
          <p:cNvCxnSpPr>
            <a:cxnSpLocks/>
          </p:cNvCxnSpPr>
          <p:nvPr/>
        </p:nvCxnSpPr>
        <p:spPr>
          <a:xfrm>
            <a:off x="617477" y="2849154"/>
            <a:ext cx="578277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5C51AC8-E756-40DD-9BAC-8CAC0CE3BB3A}"/>
              </a:ext>
            </a:extLst>
          </p:cNvPr>
          <p:cNvSpPr/>
          <p:nvPr/>
        </p:nvSpPr>
        <p:spPr>
          <a:xfrm>
            <a:off x="199528" y="2090318"/>
            <a:ext cx="760706" cy="93054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9DC951-2C83-1AB4-6677-E9A0DA14CD4C}"/>
              </a:ext>
            </a:extLst>
          </p:cNvPr>
          <p:cNvSpPr txBox="1"/>
          <p:nvPr/>
        </p:nvSpPr>
        <p:spPr>
          <a:xfrm>
            <a:off x="203928" y="1994694"/>
            <a:ext cx="759967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800" b="1" i="0" dirty="0">
                <a:solidFill>
                  <a:srgbClr val="111111"/>
                </a:solidFill>
                <a:highlight>
                  <a:srgbClr val="FFFF00"/>
                </a:highlight>
                <a:latin typeface="Calibri"/>
              </a:rPr>
              <a:t>Carrier </a:t>
            </a:r>
            <a:r>
              <a:rPr lang="en-US" sz="800" b="1" dirty="0">
                <a:solidFill>
                  <a:srgbClr val="111111"/>
                </a:solidFill>
                <a:highlight>
                  <a:srgbClr val="FFFF00"/>
                </a:highlight>
                <a:latin typeface="Calibri"/>
              </a:rPr>
              <a:t>Cage</a:t>
            </a:r>
            <a:endParaRPr sz="800" b="1" i="0" dirty="0">
              <a:solidFill>
                <a:srgbClr val="111111"/>
              </a:solidFill>
              <a:highlight>
                <a:srgbClr val="FFFF00"/>
              </a:highlight>
              <a:latin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81F4A7-59F4-8D05-7885-58695DDD2BB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186" r="34697"/>
          <a:stretch>
            <a:fillRect/>
          </a:stretch>
        </p:blipFill>
        <p:spPr>
          <a:xfrm>
            <a:off x="229530" y="2120012"/>
            <a:ext cx="442605" cy="8928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65DA5D1-E222-1E6D-BD1C-12A8EFE53A14}"/>
              </a:ext>
            </a:extLst>
          </p:cNvPr>
          <p:cNvSpPr txBox="1"/>
          <p:nvPr/>
        </p:nvSpPr>
        <p:spPr>
          <a:xfrm>
            <a:off x="408157" y="2316082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highlight>
                  <a:srgbClr val="FFFF00"/>
                </a:highlight>
              </a:rPr>
              <a:t>strand-1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481038-EA5C-A9FD-5A20-9CBEE1A740BC}"/>
              </a:ext>
            </a:extLst>
          </p:cNvPr>
          <p:cNvSpPr txBox="1"/>
          <p:nvPr/>
        </p:nvSpPr>
        <p:spPr>
          <a:xfrm>
            <a:off x="414641" y="2623190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highlight>
                  <a:srgbClr val="FFFF00"/>
                </a:highlight>
              </a:rPr>
              <a:t>strand-2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205645-1CC6-F02C-D2EC-5BB3F0A75640}"/>
              </a:ext>
            </a:extLst>
          </p:cNvPr>
          <p:cNvSpPr txBox="1"/>
          <p:nvPr/>
        </p:nvSpPr>
        <p:spPr>
          <a:xfrm>
            <a:off x="461961" y="947507"/>
            <a:ext cx="979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Customer</a:t>
            </a:r>
          </a:p>
        </p:txBody>
      </p:sp>
      <p:cxnSp>
        <p:nvCxnSpPr>
          <p:cNvPr id="33" name="Connector 42">
            <a:extLst>
              <a:ext uri="{FF2B5EF4-FFF2-40B4-BE49-F238E27FC236}">
                <a16:creationId xmlns:a16="http://schemas.microsoft.com/office/drawing/2014/main" id="{BF02EF96-088D-25F6-2E72-D4A0E48CDAF8}"/>
              </a:ext>
            </a:extLst>
          </p:cNvPr>
          <p:cNvCxnSpPr>
            <a:cxnSpLocks/>
          </p:cNvCxnSpPr>
          <p:nvPr/>
        </p:nvCxnSpPr>
        <p:spPr>
          <a:xfrm>
            <a:off x="1463040" y="2319416"/>
            <a:ext cx="0" cy="994031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2">
            <a:extLst>
              <a:ext uri="{FF2B5EF4-FFF2-40B4-BE49-F238E27FC236}">
                <a16:creationId xmlns:a16="http://schemas.microsoft.com/office/drawing/2014/main" id="{ED64FC57-1E50-4E16-D1BB-FB73F3101D69}"/>
              </a:ext>
            </a:extLst>
          </p:cNvPr>
          <p:cNvCxnSpPr>
            <a:cxnSpLocks/>
          </p:cNvCxnSpPr>
          <p:nvPr/>
        </p:nvCxnSpPr>
        <p:spPr>
          <a:xfrm>
            <a:off x="1202202" y="2841340"/>
            <a:ext cx="0" cy="994031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D9D912A-FFB4-A553-B4E0-20A142BDBF9D}"/>
              </a:ext>
            </a:extLst>
          </p:cNvPr>
          <p:cNvSpPr txBox="1"/>
          <p:nvPr/>
        </p:nvSpPr>
        <p:spPr>
          <a:xfrm>
            <a:off x="10245848" y="6096174"/>
            <a:ext cx="1115568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b="0" i="0" dirty="0">
                <a:solidFill>
                  <a:srgbClr val="111111"/>
                </a:solidFill>
                <a:latin typeface="Calibri"/>
              </a:rPr>
              <a:t>Carrier Fiber Strands</a:t>
            </a:r>
          </a:p>
          <a:p>
            <a:pPr algn="l"/>
            <a:endParaRPr lang="en-US" sz="900" dirty="0">
              <a:solidFill>
                <a:srgbClr val="111111"/>
              </a:solidFill>
              <a:latin typeface="Calibri"/>
            </a:endParaRPr>
          </a:p>
          <a:p>
            <a:pPr algn="l"/>
            <a:r>
              <a:rPr lang="en-US" sz="900" b="0" i="0" dirty="0">
                <a:solidFill>
                  <a:srgbClr val="111111"/>
                </a:solidFill>
                <a:latin typeface="Calibri"/>
              </a:rPr>
              <a:t>Customer Fiber Strands</a:t>
            </a:r>
            <a:endParaRPr sz="900" b="0" i="0" dirty="0">
              <a:solidFill>
                <a:srgbClr val="111111"/>
              </a:solidFill>
              <a:latin typeface="Calibri"/>
            </a:endParaRPr>
          </a:p>
        </p:txBody>
      </p:sp>
      <p:cxnSp>
        <p:nvCxnSpPr>
          <p:cNvPr id="48" name="Connector 42">
            <a:extLst>
              <a:ext uri="{FF2B5EF4-FFF2-40B4-BE49-F238E27FC236}">
                <a16:creationId xmlns:a16="http://schemas.microsoft.com/office/drawing/2014/main" id="{9952DA5B-524D-308D-4B1E-0A48488E1A34}"/>
              </a:ext>
            </a:extLst>
          </p:cNvPr>
          <p:cNvCxnSpPr>
            <a:cxnSpLocks/>
          </p:cNvCxnSpPr>
          <p:nvPr/>
        </p:nvCxnSpPr>
        <p:spPr>
          <a:xfrm>
            <a:off x="9708908" y="6144316"/>
            <a:ext cx="451900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2">
            <a:extLst>
              <a:ext uri="{FF2B5EF4-FFF2-40B4-BE49-F238E27FC236}">
                <a16:creationId xmlns:a16="http://schemas.microsoft.com/office/drawing/2014/main" id="{CCE2C4F0-8CFF-91F7-79E1-A89D25B7F05C}"/>
              </a:ext>
            </a:extLst>
          </p:cNvPr>
          <p:cNvCxnSpPr>
            <a:cxnSpLocks/>
          </p:cNvCxnSpPr>
          <p:nvPr/>
        </p:nvCxnSpPr>
        <p:spPr>
          <a:xfrm>
            <a:off x="9713080" y="6438894"/>
            <a:ext cx="451900" cy="0"/>
          </a:xfrm>
          <a:prstGeom prst="line">
            <a:avLst/>
          </a:prstGeom>
          <a:ln w="254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42">
            <a:extLst>
              <a:ext uri="{FF2B5EF4-FFF2-40B4-BE49-F238E27FC236}">
                <a16:creationId xmlns:a16="http://schemas.microsoft.com/office/drawing/2014/main" id="{BC5092EE-38AD-FA84-FD37-5E56C094FAB5}"/>
              </a:ext>
            </a:extLst>
          </p:cNvPr>
          <p:cNvCxnSpPr>
            <a:cxnSpLocks/>
          </p:cNvCxnSpPr>
          <p:nvPr/>
        </p:nvCxnSpPr>
        <p:spPr>
          <a:xfrm>
            <a:off x="8678008" y="2079793"/>
            <a:ext cx="759224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42">
            <a:extLst>
              <a:ext uri="{FF2B5EF4-FFF2-40B4-BE49-F238E27FC236}">
                <a16:creationId xmlns:a16="http://schemas.microsoft.com/office/drawing/2014/main" id="{53B07FA1-8146-C43C-B7FD-DFCA7CF10AB1}"/>
              </a:ext>
            </a:extLst>
          </p:cNvPr>
          <p:cNvCxnSpPr>
            <a:cxnSpLocks/>
          </p:cNvCxnSpPr>
          <p:nvPr/>
        </p:nvCxnSpPr>
        <p:spPr>
          <a:xfrm>
            <a:off x="8809892" y="2600768"/>
            <a:ext cx="627338" cy="14283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32A6CD0-AA94-B4D6-25A3-55356CFD3FA5}"/>
              </a:ext>
            </a:extLst>
          </p:cNvPr>
          <p:cNvSpPr/>
          <p:nvPr/>
        </p:nvSpPr>
        <p:spPr>
          <a:xfrm>
            <a:off x="9086126" y="1856215"/>
            <a:ext cx="760706" cy="93054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354FDA-8480-B03F-B106-9B76651D2B4E}"/>
              </a:ext>
            </a:extLst>
          </p:cNvPr>
          <p:cNvSpPr txBox="1"/>
          <p:nvPr/>
        </p:nvSpPr>
        <p:spPr>
          <a:xfrm>
            <a:off x="9090526" y="1760591"/>
            <a:ext cx="759967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800" b="1" i="0" dirty="0">
                <a:solidFill>
                  <a:srgbClr val="111111"/>
                </a:solidFill>
                <a:highlight>
                  <a:srgbClr val="FFFF00"/>
                </a:highlight>
                <a:latin typeface="Calibri"/>
              </a:rPr>
              <a:t>Carrier </a:t>
            </a:r>
            <a:r>
              <a:rPr lang="en-US" sz="800" b="1" dirty="0">
                <a:solidFill>
                  <a:srgbClr val="111111"/>
                </a:solidFill>
                <a:highlight>
                  <a:srgbClr val="FFFF00"/>
                </a:highlight>
                <a:latin typeface="Calibri"/>
              </a:rPr>
              <a:t>Cage</a:t>
            </a:r>
            <a:endParaRPr sz="800" b="1" i="0" dirty="0">
              <a:solidFill>
                <a:srgbClr val="111111"/>
              </a:solidFill>
              <a:highlight>
                <a:srgbClr val="FFFF00"/>
              </a:highlight>
              <a:latin typeface="Calibri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4DC430C-1223-E969-1825-6CD50EB2DB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186" r="34697"/>
          <a:stretch>
            <a:fillRect/>
          </a:stretch>
        </p:blipFill>
        <p:spPr>
          <a:xfrm>
            <a:off x="9335935" y="1885909"/>
            <a:ext cx="442605" cy="89282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5D04202-B3B8-584C-55FB-23CAC0ECFB18}"/>
              </a:ext>
            </a:extLst>
          </p:cNvPr>
          <p:cNvSpPr txBox="1"/>
          <p:nvPr/>
        </p:nvSpPr>
        <p:spPr>
          <a:xfrm>
            <a:off x="9092535" y="2081979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highlight>
                  <a:srgbClr val="FFFF00"/>
                </a:highlight>
              </a:rPr>
              <a:t>strand-1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7DFEE9-414A-0AE0-D0B8-2F2DB4805004}"/>
              </a:ext>
            </a:extLst>
          </p:cNvPr>
          <p:cNvSpPr txBox="1"/>
          <p:nvPr/>
        </p:nvSpPr>
        <p:spPr>
          <a:xfrm>
            <a:off x="9099019" y="2389087"/>
            <a:ext cx="5886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highlight>
                  <a:srgbClr val="FFFF00"/>
                </a:highlight>
              </a:rPr>
              <a:t>strand-2</a:t>
            </a:r>
          </a:p>
        </p:txBody>
      </p:sp>
      <p:cxnSp>
        <p:nvCxnSpPr>
          <p:cNvPr id="31" name="Connector 42">
            <a:extLst>
              <a:ext uri="{FF2B5EF4-FFF2-40B4-BE49-F238E27FC236}">
                <a16:creationId xmlns:a16="http://schemas.microsoft.com/office/drawing/2014/main" id="{3FA4CC4E-86BF-3380-842E-8090F26BA196}"/>
              </a:ext>
            </a:extLst>
          </p:cNvPr>
          <p:cNvCxnSpPr>
            <a:cxnSpLocks/>
          </p:cNvCxnSpPr>
          <p:nvPr/>
        </p:nvCxnSpPr>
        <p:spPr>
          <a:xfrm flipV="1">
            <a:off x="8679764" y="2087852"/>
            <a:ext cx="0" cy="167555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42">
            <a:extLst>
              <a:ext uri="{FF2B5EF4-FFF2-40B4-BE49-F238E27FC236}">
                <a16:creationId xmlns:a16="http://schemas.microsoft.com/office/drawing/2014/main" id="{36A599A0-6799-CEFC-805C-355AB2ED0E2C}"/>
              </a:ext>
            </a:extLst>
          </p:cNvPr>
          <p:cNvCxnSpPr>
            <a:cxnSpLocks/>
          </p:cNvCxnSpPr>
          <p:nvPr/>
        </p:nvCxnSpPr>
        <p:spPr>
          <a:xfrm flipV="1">
            <a:off x="8814577" y="2600768"/>
            <a:ext cx="0" cy="618121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C435EE4-8414-8BEE-0B3C-261072ED96E3}"/>
              </a:ext>
            </a:extLst>
          </p:cNvPr>
          <p:cNvCxnSpPr>
            <a:cxnSpLocks/>
          </p:cNvCxnSpPr>
          <p:nvPr/>
        </p:nvCxnSpPr>
        <p:spPr>
          <a:xfrm>
            <a:off x="8441855" y="867415"/>
            <a:ext cx="0" cy="2895987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09E68CC-A002-E5B5-6BE3-AC91BB1C4886}"/>
              </a:ext>
            </a:extLst>
          </p:cNvPr>
          <p:cNvCxnSpPr>
            <a:cxnSpLocks/>
          </p:cNvCxnSpPr>
          <p:nvPr/>
        </p:nvCxnSpPr>
        <p:spPr>
          <a:xfrm>
            <a:off x="8238130" y="867415"/>
            <a:ext cx="0" cy="234328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Picture 64" descr="Building Icon Vector ...">
            <a:extLst>
              <a:ext uri="{FF2B5EF4-FFF2-40B4-BE49-F238E27FC236}">
                <a16:creationId xmlns:a16="http://schemas.microsoft.com/office/drawing/2014/main" id="{43D74652-56DA-C629-4118-0E245AA12C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046" t="7771" r="7265" b="5277"/>
          <a:stretch>
            <a:fillRect/>
          </a:stretch>
        </p:blipFill>
        <p:spPr>
          <a:xfrm>
            <a:off x="7868583" y="49004"/>
            <a:ext cx="971455" cy="1009329"/>
          </a:xfrm>
          <a:prstGeom prst="ellipse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82AC8E65-58C6-B5EF-BABA-58E12CA60B1C}"/>
              </a:ext>
            </a:extLst>
          </p:cNvPr>
          <p:cNvSpPr txBox="1"/>
          <p:nvPr/>
        </p:nvSpPr>
        <p:spPr>
          <a:xfrm>
            <a:off x="6964212" y="399802"/>
            <a:ext cx="979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Customer</a:t>
            </a:r>
          </a:p>
        </p:txBody>
      </p:sp>
      <p:cxnSp>
        <p:nvCxnSpPr>
          <p:cNvPr id="74" name="Connector 137">
            <a:extLst>
              <a:ext uri="{FF2B5EF4-FFF2-40B4-BE49-F238E27FC236}">
                <a16:creationId xmlns:a16="http://schemas.microsoft.com/office/drawing/2014/main" id="{782CF5C9-DFF4-7CE6-E8AE-93BB88110898}"/>
              </a:ext>
            </a:extLst>
          </p:cNvPr>
          <p:cNvCxnSpPr/>
          <p:nvPr/>
        </p:nvCxnSpPr>
        <p:spPr>
          <a:xfrm>
            <a:off x="6675824" y="6482311"/>
            <a:ext cx="320040" cy="0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DEE33148-E383-9BC9-C154-56E8BD4E9D66}"/>
              </a:ext>
            </a:extLst>
          </p:cNvPr>
          <p:cNvSpPr txBox="1"/>
          <p:nvPr/>
        </p:nvSpPr>
        <p:spPr>
          <a:xfrm>
            <a:off x="7040880" y="6418303"/>
            <a:ext cx="1839351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b="0" i="0" dirty="0">
                <a:solidFill>
                  <a:srgbClr val="111111"/>
                </a:solidFill>
                <a:latin typeface="Calibri"/>
              </a:rPr>
              <a:t>Wave between Portland and Charlotte</a:t>
            </a:r>
            <a:endParaRPr sz="900" b="0" i="0" dirty="0">
              <a:solidFill>
                <a:srgbClr val="111111"/>
              </a:solidFill>
              <a:latin typeface="Calibri"/>
            </a:endParaRPr>
          </a:p>
        </p:txBody>
      </p:sp>
      <p:cxnSp>
        <p:nvCxnSpPr>
          <p:cNvPr id="82" name="Connector 137">
            <a:extLst>
              <a:ext uri="{FF2B5EF4-FFF2-40B4-BE49-F238E27FC236}">
                <a16:creationId xmlns:a16="http://schemas.microsoft.com/office/drawing/2014/main" id="{F6212931-629A-842A-91D8-CE05CEF17265}"/>
              </a:ext>
            </a:extLst>
          </p:cNvPr>
          <p:cNvCxnSpPr>
            <a:cxnSpLocks/>
            <a:stCxn id="228" idx="3"/>
          </p:cNvCxnSpPr>
          <p:nvPr/>
        </p:nvCxnSpPr>
        <p:spPr>
          <a:xfrm flipV="1">
            <a:off x="7434071" y="5517792"/>
            <a:ext cx="1435608" cy="2124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137">
            <a:extLst>
              <a:ext uri="{FF2B5EF4-FFF2-40B4-BE49-F238E27FC236}">
                <a16:creationId xmlns:a16="http://schemas.microsoft.com/office/drawing/2014/main" id="{32BE7892-B6EC-11D1-8341-0D6873347EAB}"/>
              </a:ext>
            </a:extLst>
          </p:cNvPr>
          <p:cNvCxnSpPr>
            <a:cxnSpLocks/>
          </p:cNvCxnSpPr>
          <p:nvPr/>
        </p:nvCxnSpPr>
        <p:spPr>
          <a:xfrm>
            <a:off x="8889856" y="3788462"/>
            <a:ext cx="0" cy="1750704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137">
            <a:extLst>
              <a:ext uri="{FF2B5EF4-FFF2-40B4-BE49-F238E27FC236}">
                <a16:creationId xmlns:a16="http://schemas.microsoft.com/office/drawing/2014/main" id="{A870F32B-2191-4D05-D7ED-F69628734506}"/>
              </a:ext>
            </a:extLst>
          </p:cNvPr>
          <p:cNvCxnSpPr>
            <a:cxnSpLocks/>
          </p:cNvCxnSpPr>
          <p:nvPr/>
        </p:nvCxnSpPr>
        <p:spPr>
          <a:xfrm flipH="1">
            <a:off x="8554920" y="3191450"/>
            <a:ext cx="9625" cy="1735844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137">
            <a:extLst>
              <a:ext uri="{FF2B5EF4-FFF2-40B4-BE49-F238E27FC236}">
                <a16:creationId xmlns:a16="http://schemas.microsoft.com/office/drawing/2014/main" id="{9519A0B5-2C20-229D-FBB0-86D41DE6203A}"/>
              </a:ext>
            </a:extLst>
          </p:cNvPr>
          <p:cNvCxnSpPr>
            <a:cxnSpLocks/>
          </p:cNvCxnSpPr>
          <p:nvPr/>
        </p:nvCxnSpPr>
        <p:spPr>
          <a:xfrm flipH="1" flipV="1">
            <a:off x="7434071" y="4904556"/>
            <a:ext cx="1120849" cy="3372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968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7BA18-DA15-D369-83C6-3DE113211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AD9E2A-7BBD-B68D-5776-6D0CB4F9C939}"/>
              </a:ext>
            </a:extLst>
          </p:cNvPr>
          <p:cNvSpPr txBox="1"/>
          <p:nvPr/>
        </p:nvSpPr>
        <p:spPr>
          <a:xfrm>
            <a:off x="381000" y="518548"/>
            <a:ext cx="11430000" cy="473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00" dirty="0" err="1"/>
              <a:t>MaiaEdge</a:t>
            </a:r>
            <a:r>
              <a:rPr lang="en-US" sz="2800" dirty="0"/>
              <a:t> Architecture for Centra:</a:t>
            </a:r>
          </a:p>
          <a:p>
            <a:endParaRPr lang="en-US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latin typeface="Calibri"/>
              </a:rPr>
              <a:t>Redundant </a:t>
            </a:r>
            <a:r>
              <a:rPr lang="en-US" sz="2800" b="0" i="0" dirty="0" err="1">
                <a:latin typeface="Calibri"/>
              </a:rPr>
              <a:t>MaiaEdge</a:t>
            </a:r>
            <a:r>
              <a:rPr lang="en-US" sz="2800" b="0" i="0" dirty="0">
                <a:latin typeface="Calibri"/>
              </a:rPr>
              <a:t> PBCs and Port Extenders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latin typeface="Calibri"/>
              </a:rPr>
              <a:t>Redundant DIAs for diverse</a:t>
            </a:r>
            <a:r>
              <a:rPr lang="en-US" sz="2800" dirty="0">
                <a:latin typeface="Calibri"/>
              </a:rPr>
              <a:t> </a:t>
            </a:r>
            <a:r>
              <a:rPr lang="en-US" sz="2800" b="0" i="0" dirty="0">
                <a:latin typeface="Calibri"/>
              </a:rPr>
              <a:t>L2 meshed paths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Termination of carrier fibers into </a:t>
            </a:r>
            <a:r>
              <a:rPr lang="en-US" sz="2800" dirty="0" err="1"/>
              <a:t>MaiaEdge</a:t>
            </a:r>
            <a:r>
              <a:rPr lang="en-US" sz="2800" dirty="0"/>
              <a:t> PBCs serving as a MMR with automated and dynamic cross connect functionality</a:t>
            </a:r>
            <a:endParaRPr lang="en-US" sz="2800" b="0" i="0" dirty="0">
              <a:latin typeface="Calibri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Encrypted and authenticated L2 paths</a:t>
            </a:r>
            <a:endParaRPr lang="en-US" sz="2800" b="0" i="0" dirty="0">
              <a:latin typeface="Calibri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latin typeface="Calibri"/>
              </a:rPr>
              <a:t>Portland, ME datacenter is the Equinix fabric hub providing cloud onramp services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Calibri"/>
              </a:rPr>
              <a:t>Advertise and sell cloud onramp services to customers and partner providers in the </a:t>
            </a:r>
            <a:r>
              <a:rPr lang="en-US" sz="2800" dirty="0" err="1">
                <a:latin typeface="Calibri"/>
              </a:rPr>
              <a:t>MaiaEdge</a:t>
            </a:r>
            <a:r>
              <a:rPr lang="en-US" sz="2800" dirty="0">
                <a:latin typeface="Calibri"/>
              </a:rPr>
              <a:t> Marketplace</a:t>
            </a:r>
          </a:p>
        </p:txBody>
      </p:sp>
    </p:spTree>
    <p:extLst>
      <p:ext uri="{BB962C8B-B14F-4D97-AF65-F5344CB8AC3E}">
        <p14:creationId xmlns:p14="http://schemas.microsoft.com/office/powerpoint/2010/main" val="3935350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153</Words>
  <Application>Microsoft Macintosh PowerPoint</Application>
  <PresentationFormat>Widescreen</PresentationFormat>
  <Paragraphs>51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Woody Acosta</cp:lastModifiedBy>
  <cp:revision>34</cp:revision>
  <dcterms:created xsi:type="dcterms:W3CDTF">2013-01-27T09:14:16Z</dcterms:created>
  <dcterms:modified xsi:type="dcterms:W3CDTF">2026-05-06T19:47:57Z</dcterms:modified>
  <cp:category/>
</cp:coreProperties>
</file>