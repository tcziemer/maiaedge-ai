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723"/>
  </p:normalViewPr>
  <p:slideViewPr>
    <p:cSldViewPr snapToGrid="0" snapToObjects="1">
      <p:cViewPr>
        <p:scale>
          <a:sx n="140" d="100"/>
          <a:sy n="140" d="100"/>
        </p:scale>
        <p:origin x="1152" y="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820A-7B5B-9FA8-2947-BC2C6CDD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217">
            <a:extLst>
              <a:ext uri="{FF2B5EF4-FFF2-40B4-BE49-F238E27FC236}">
                <a16:creationId xmlns:a16="http://schemas.microsoft.com/office/drawing/2014/main" id="{82D9DB4C-E0B5-EC19-E4BF-3A58592CEE62}"/>
              </a:ext>
            </a:extLst>
          </p:cNvPr>
          <p:cNvSpPr/>
          <p:nvPr/>
        </p:nvSpPr>
        <p:spPr>
          <a:xfrm>
            <a:off x="5669280" y="4781927"/>
            <a:ext cx="2743200" cy="1505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2532941-E19D-8C19-FE07-8C975E4FE37E}"/>
              </a:ext>
            </a:extLst>
          </p:cNvPr>
          <p:cNvSpPr/>
          <p:nvPr/>
        </p:nvSpPr>
        <p:spPr>
          <a:xfrm>
            <a:off x="7589519" y="4821315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Charlotte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E87DB46-B1D2-E2FF-A778-460921A3B507}"/>
              </a:ext>
            </a:extLst>
          </p:cNvPr>
          <p:cNvSpPr txBox="1"/>
          <p:nvPr/>
        </p:nvSpPr>
        <p:spPr>
          <a:xfrm>
            <a:off x="7743080" y="5461035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221" name="Connector 62">
            <a:extLst>
              <a:ext uri="{FF2B5EF4-FFF2-40B4-BE49-F238E27FC236}">
                <a16:creationId xmlns:a16="http://schemas.microsoft.com/office/drawing/2014/main" id="{35BCC380-E946-38EB-1A63-1EA7146DCF57}"/>
              </a:ext>
            </a:extLst>
          </p:cNvPr>
          <p:cNvCxnSpPr>
            <a:cxnSpLocks/>
            <a:stCxn id="226" idx="1"/>
            <a:endCxn id="224" idx="3"/>
          </p:cNvCxnSpPr>
          <p:nvPr/>
        </p:nvCxnSpPr>
        <p:spPr>
          <a:xfrm flipH="1" flipV="1">
            <a:off x="7525511" y="5493618"/>
            <a:ext cx="353161" cy="27883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63">
            <a:extLst>
              <a:ext uri="{FF2B5EF4-FFF2-40B4-BE49-F238E27FC236}">
                <a16:creationId xmlns:a16="http://schemas.microsoft.com/office/drawing/2014/main" id="{69A5D0A6-4651-E923-240D-F95F01086ECD}"/>
              </a:ext>
            </a:extLst>
          </p:cNvPr>
          <p:cNvCxnSpPr>
            <a:cxnSpLocks/>
            <a:stCxn id="224" idx="1"/>
            <a:endCxn id="227" idx="3"/>
          </p:cNvCxnSpPr>
          <p:nvPr/>
        </p:nvCxnSpPr>
        <p:spPr>
          <a:xfrm flipH="1" flipV="1">
            <a:off x="6372843" y="5491136"/>
            <a:ext cx="146828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4" name="Picture 223">
            <a:extLst>
              <a:ext uri="{FF2B5EF4-FFF2-40B4-BE49-F238E27FC236}">
                <a16:creationId xmlns:a16="http://schemas.microsoft.com/office/drawing/2014/main" id="{C38FAD2B-F09E-31BC-7AE4-20B2E97A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1" y="5390871"/>
            <a:ext cx="1005840" cy="205494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922E6BE6-46ED-297C-675B-B72BD298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1" y="5173416"/>
            <a:ext cx="1005840" cy="205494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36E27C4A-A881-099A-30A9-E2E4E3EE2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8672" y="5589575"/>
            <a:ext cx="365760" cy="365760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C9B79D5B-4F23-88E2-140E-A2466C1CD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1" y="5931660"/>
            <a:ext cx="1005840" cy="205494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B3F37FDA-516E-D136-239C-E77A47998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1" y="5714205"/>
            <a:ext cx="1005840" cy="205494"/>
          </a:xfrm>
          <a:prstGeom prst="rect">
            <a:avLst/>
          </a:prstGeom>
        </p:spPr>
      </p:pic>
      <p:cxnSp>
        <p:nvCxnSpPr>
          <p:cNvPr id="230" name="Connector 62">
            <a:extLst>
              <a:ext uri="{FF2B5EF4-FFF2-40B4-BE49-F238E27FC236}">
                <a16:creationId xmlns:a16="http://schemas.microsoft.com/office/drawing/2014/main" id="{EA8DD223-3FBF-6C7F-9299-1041F2798527}"/>
              </a:ext>
            </a:extLst>
          </p:cNvPr>
          <p:cNvCxnSpPr>
            <a:cxnSpLocks/>
            <a:stCxn id="226" idx="1"/>
            <a:endCxn id="228" idx="3"/>
          </p:cNvCxnSpPr>
          <p:nvPr/>
        </p:nvCxnSpPr>
        <p:spPr>
          <a:xfrm flipH="1">
            <a:off x="7525511" y="5772455"/>
            <a:ext cx="353161" cy="26195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63">
            <a:extLst>
              <a:ext uri="{FF2B5EF4-FFF2-40B4-BE49-F238E27FC236}">
                <a16:creationId xmlns:a16="http://schemas.microsoft.com/office/drawing/2014/main" id="{39FE60A2-EC7C-244B-D1D5-10440E407C04}"/>
              </a:ext>
            </a:extLst>
          </p:cNvPr>
          <p:cNvCxnSpPr>
            <a:cxnSpLocks/>
            <a:endCxn id="232" idx="3"/>
          </p:cNvCxnSpPr>
          <p:nvPr/>
        </p:nvCxnSpPr>
        <p:spPr>
          <a:xfrm flipH="1" flipV="1">
            <a:off x="6217919" y="6021991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>
            <a:extLst>
              <a:ext uri="{FF2B5EF4-FFF2-40B4-BE49-F238E27FC236}">
                <a16:creationId xmlns:a16="http://schemas.microsoft.com/office/drawing/2014/main" id="{C387D717-397B-063A-FE8F-3F28EFBC3A4F}"/>
              </a:ext>
            </a:extLst>
          </p:cNvPr>
          <p:cNvCxnSpPr>
            <a:cxnSpLocks/>
          </p:cNvCxnSpPr>
          <p:nvPr/>
        </p:nvCxnSpPr>
        <p:spPr>
          <a:xfrm flipV="1">
            <a:off x="11081852" y="3449986"/>
            <a:ext cx="0" cy="1199389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CC60391-BB5D-4494-71F6-3CC10A73664D}"/>
              </a:ext>
            </a:extLst>
          </p:cNvPr>
          <p:cNvSpPr/>
          <p:nvPr/>
        </p:nvSpPr>
        <p:spPr>
          <a:xfrm>
            <a:off x="3506721" y="756634"/>
            <a:ext cx="2743200" cy="1470583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C18C5B-3B0F-269A-4797-F518ED9ABC4A}"/>
              </a:ext>
            </a:extLst>
          </p:cNvPr>
          <p:cNvSpPr/>
          <p:nvPr/>
        </p:nvSpPr>
        <p:spPr>
          <a:xfrm>
            <a:off x="1816614" y="4596117"/>
            <a:ext cx="2743200" cy="1470583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00F5F0-9E69-8B76-D87E-04A1C8F8B2CA}"/>
              </a:ext>
            </a:extLst>
          </p:cNvPr>
          <p:cNvSpPr/>
          <p:nvPr/>
        </p:nvSpPr>
        <p:spPr>
          <a:xfrm>
            <a:off x="1856238" y="4646774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 dirty="0">
                <a:solidFill>
                  <a:srgbClr val="111111"/>
                </a:solidFill>
                <a:latin typeface="Calibri"/>
              </a:rPr>
              <a:t>Reno-</a:t>
            </a:r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2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54A648-A91D-9A12-E686-B2D22F50B56D}"/>
              </a:ext>
            </a:extLst>
          </p:cNvPr>
          <p:cNvSpPr txBox="1"/>
          <p:nvPr/>
        </p:nvSpPr>
        <p:spPr>
          <a:xfrm>
            <a:off x="1848618" y="5667398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55" name="Connector 42">
            <a:extLst>
              <a:ext uri="{FF2B5EF4-FFF2-40B4-BE49-F238E27FC236}">
                <a16:creationId xmlns:a16="http://schemas.microsoft.com/office/drawing/2014/main" id="{E0A5C613-E043-87FD-FB79-15559380C7AE}"/>
              </a:ext>
            </a:extLst>
          </p:cNvPr>
          <p:cNvCxnSpPr>
            <a:cxnSpLocks/>
          </p:cNvCxnSpPr>
          <p:nvPr/>
        </p:nvCxnSpPr>
        <p:spPr>
          <a:xfrm flipV="1">
            <a:off x="2363664" y="5250630"/>
            <a:ext cx="353634" cy="16988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43">
            <a:extLst>
              <a:ext uri="{FF2B5EF4-FFF2-40B4-BE49-F238E27FC236}">
                <a16:creationId xmlns:a16="http://schemas.microsoft.com/office/drawing/2014/main" id="{0AD8A8A1-F741-8F12-D2C9-505A65C48EA7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3723136" y="5282634"/>
            <a:ext cx="260250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B5A295BE-4A03-61B3-4449-C3A566DB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96" y="5179887"/>
            <a:ext cx="1005840" cy="20549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7CE7375-61E4-94FC-BC4C-0BB1EC053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792" y="4974393"/>
            <a:ext cx="1005840" cy="20549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EB5EC35-0384-981F-75D6-7B34DC94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47" y="5279051"/>
            <a:ext cx="365760" cy="36576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D39FC0D-A9BA-3A89-12A0-ABF30A05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296" y="5683141"/>
            <a:ext cx="1005840" cy="20549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B4FAA8A-0084-03B8-B725-DDC024159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792" y="5477647"/>
            <a:ext cx="1005840" cy="205494"/>
          </a:xfrm>
          <a:prstGeom prst="rect">
            <a:avLst/>
          </a:prstGeom>
        </p:spPr>
      </p:pic>
      <p:cxnSp>
        <p:nvCxnSpPr>
          <p:cNvPr id="70" name="Connector 43">
            <a:extLst>
              <a:ext uri="{FF2B5EF4-FFF2-40B4-BE49-F238E27FC236}">
                <a16:creationId xmlns:a16="http://schemas.microsoft.com/office/drawing/2014/main" id="{ADCDEDD8-FBBF-9324-65B4-5D2811B7F490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3723136" y="5785888"/>
            <a:ext cx="260250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2">
            <a:extLst>
              <a:ext uri="{FF2B5EF4-FFF2-40B4-BE49-F238E27FC236}">
                <a16:creationId xmlns:a16="http://schemas.microsoft.com/office/drawing/2014/main" id="{D3598193-33A2-CBB4-06BF-14F2BA80F6A7}"/>
              </a:ext>
            </a:extLst>
          </p:cNvPr>
          <p:cNvCxnSpPr>
            <a:cxnSpLocks/>
            <a:stCxn id="60" idx="3"/>
            <a:endCxn id="67" idx="1"/>
          </p:cNvCxnSpPr>
          <p:nvPr/>
        </p:nvCxnSpPr>
        <p:spPr>
          <a:xfrm>
            <a:off x="2366307" y="5461931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552DF3A-9E22-688A-A367-06E72FAD264A}"/>
              </a:ext>
            </a:extLst>
          </p:cNvPr>
          <p:cNvSpPr/>
          <p:nvPr/>
        </p:nvSpPr>
        <p:spPr>
          <a:xfrm>
            <a:off x="134876" y="1960686"/>
            <a:ext cx="2743200" cy="21368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982857-2DF2-A366-28ED-38FA6B8A6812}"/>
              </a:ext>
            </a:extLst>
          </p:cNvPr>
          <p:cNvSpPr/>
          <p:nvPr/>
        </p:nvSpPr>
        <p:spPr>
          <a:xfrm>
            <a:off x="2045092" y="2027497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Reno-1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6ABEA1-2D55-187E-D3EF-D33EA26A185F}"/>
              </a:ext>
            </a:extLst>
          </p:cNvPr>
          <p:cNvSpPr txBox="1"/>
          <p:nvPr/>
        </p:nvSpPr>
        <p:spPr>
          <a:xfrm>
            <a:off x="166880" y="3698211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702DA9B3-6536-954F-237A-5BD44BA9FF39}"/>
              </a:ext>
            </a:extLst>
          </p:cNvPr>
          <p:cNvCxnSpPr>
            <a:cxnSpLocks/>
            <a:stCxn id="209" idx="3"/>
          </p:cNvCxnSpPr>
          <p:nvPr/>
        </p:nvCxnSpPr>
        <p:spPr>
          <a:xfrm flipV="1">
            <a:off x="684569" y="3281443"/>
            <a:ext cx="350991" cy="21130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762BA705-C062-33E4-01A6-9EE90E03095F}"/>
              </a:ext>
            </a:extLst>
          </p:cNvPr>
          <p:cNvCxnSpPr>
            <a:cxnSpLocks/>
            <a:stCxn id="189" idx="3"/>
            <a:endCxn id="208" idx="1"/>
          </p:cNvCxnSpPr>
          <p:nvPr/>
        </p:nvCxnSpPr>
        <p:spPr>
          <a:xfrm>
            <a:off x="2041398" y="3313447"/>
            <a:ext cx="260250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04AEC94-8E68-9224-0A78-AA9739F960BD}"/>
              </a:ext>
            </a:extLst>
          </p:cNvPr>
          <p:cNvSpPr/>
          <p:nvPr/>
        </p:nvSpPr>
        <p:spPr>
          <a:xfrm>
            <a:off x="7183320" y="1452792"/>
            <a:ext cx="2743200" cy="257971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58B14D-C60F-CA3A-D506-5E02F72B36BF}"/>
              </a:ext>
            </a:extLst>
          </p:cNvPr>
          <p:cNvSpPr/>
          <p:nvPr/>
        </p:nvSpPr>
        <p:spPr>
          <a:xfrm>
            <a:off x="9084180" y="1490337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Portland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A4F58-6D17-B10C-A05C-9186D6388B73}"/>
              </a:ext>
            </a:extLst>
          </p:cNvPr>
          <p:cNvSpPr txBox="1"/>
          <p:nvPr/>
        </p:nvSpPr>
        <p:spPr>
          <a:xfrm>
            <a:off x="9257120" y="3158247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CC548ADF-9CF2-95FE-7449-912D1165644C}"/>
              </a:ext>
            </a:extLst>
          </p:cNvPr>
          <p:cNvCxnSpPr>
            <a:cxnSpLocks/>
            <a:stCxn id="215" idx="1"/>
            <a:endCxn id="202" idx="3"/>
          </p:cNvCxnSpPr>
          <p:nvPr/>
        </p:nvCxnSpPr>
        <p:spPr>
          <a:xfrm flipH="1" flipV="1">
            <a:off x="9039551" y="3238955"/>
            <a:ext cx="353161" cy="24033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59BEE374-6106-5D62-6081-8A15171FD2AB}"/>
              </a:ext>
            </a:extLst>
          </p:cNvPr>
          <p:cNvCxnSpPr>
            <a:cxnSpLocks/>
            <a:stCxn id="202" idx="1"/>
            <a:endCxn id="216" idx="3"/>
          </p:cNvCxnSpPr>
          <p:nvPr/>
        </p:nvCxnSpPr>
        <p:spPr>
          <a:xfrm flipH="1" flipV="1">
            <a:off x="7719831" y="3236473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B892DDFC-AD12-55F7-5F18-E02AFD029DC0}"/>
              </a:ext>
            </a:extLst>
          </p:cNvPr>
          <p:cNvCxnSpPr>
            <a:cxnSpLocks/>
          </p:cNvCxnSpPr>
          <p:nvPr/>
        </p:nvCxnSpPr>
        <p:spPr>
          <a:xfrm flipH="1">
            <a:off x="4295745" y="1947333"/>
            <a:ext cx="1464974" cy="116062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>
            <a:extLst>
              <a:ext uri="{FF2B5EF4-FFF2-40B4-BE49-F238E27FC236}">
                <a16:creationId xmlns:a16="http://schemas.microsoft.com/office/drawing/2014/main" id="{8CF701A6-904C-EB58-35E8-65408E614119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5913643" y="1628845"/>
            <a:ext cx="92197" cy="2114540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6D83CD6B-7C1C-D696-8493-B069E83914FC}"/>
              </a:ext>
            </a:extLst>
          </p:cNvPr>
          <p:cNvCxnSpPr>
            <a:cxnSpLocks/>
            <a:stCxn id="208" idx="3"/>
          </p:cNvCxnSpPr>
          <p:nvPr/>
        </p:nvCxnSpPr>
        <p:spPr>
          <a:xfrm flipV="1">
            <a:off x="2667408" y="3089406"/>
            <a:ext cx="1646797" cy="226855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>
            <a:extLst>
              <a:ext uri="{FF2B5EF4-FFF2-40B4-BE49-F238E27FC236}">
                <a16:creationId xmlns:a16="http://schemas.microsoft.com/office/drawing/2014/main" id="{F3A02D7B-4111-6CCF-83F1-9E9AEE34CD1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667408" y="3772304"/>
            <a:ext cx="3246235" cy="44727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>
            <a:extLst>
              <a:ext uri="{FF2B5EF4-FFF2-40B4-BE49-F238E27FC236}">
                <a16:creationId xmlns:a16="http://schemas.microsoft.com/office/drawing/2014/main" id="{F16E590A-FFF5-3CB1-F887-D486DADDD46F}"/>
              </a:ext>
            </a:extLst>
          </p:cNvPr>
          <p:cNvCxnSpPr>
            <a:cxnSpLocks/>
            <a:endCxn id="227" idx="0"/>
          </p:cNvCxnSpPr>
          <p:nvPr/>
        </p:nvCxnSpPr>
        <p:spPr>
          <a:xfrm>
            <a:off x="5921624" y="3816701"/>
            <a:ext cx="268339" cy="1491555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>
            <a:extLst>
              <a:ext uri="{FF2B5EF4-FFF2-40B4-BE49-F238E27FC236}">
                <a16:creationId xmlns:a16="http://schemas.microsoft.com/office/drawing/2014/main" id="{F08B73AC-415F-13D0-86B5-F5757345BD2E}"/>
              </a:ext>
            </a:extLst>
          </p:cNvPr>
          <p:cNvCxnSpPr>
            <a:cxnSpLocks/>
          </p:cNvCxnSpPr>
          <p:nvPr/>
        </p:nvCxnSpPr>
        <p:spPr>
          <a:xfrm flipH="1">
            <a:off x="5942776" y="3763402"/>
            <a:ext cx="1708864" cy="0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ED358DB6-DBFF-0961-12FC-4B2DE89B5B51}"/>
              </a:ext>
            </a:extLst>
          </p:cNvPr>
          <p:cNvCxnSpPr>
            <a:cxnSpLocks/>
          </p:cNvCxnSpPr>
          <p:nvPr/>
        </p:nvCxnSpPr>
        <p:spPr>
          <a:xfrm flipV="1">
            <a:off x="4142821" y="3082083"/>
            <a:ext cx="173185" cy="2226173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853F995A-BD8C-41A7-E843-D61158071657}"/>
              </a:ext>
            </a:extLst>
          </p:cNvPr>
          <p:cNvCxnSpPr>
            <a:cxnSpLocks/>
          </p:cNvCxnSpPr>
          <p:nvPr/>
        </p:nvCxnSpPr>
        <p:spPr>
          <a:xfrm flipH="1" flipV="1">
            <a:off x="4326755" y="3089406"/>
            <a:ext cx="1688428" cy="2932585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EF7B68F4-4EB4-1AC4-0CA1-8218C8040DBC}"/>
              </a:ext>
            </a:extLst>
          </p:cNvPr>
          <p:cNvCxnSpPr>
            <a:cxnSpLocks/>
          </p:cNvCxnSpPr>
          <p:nvPr/>
        </p:nvCxnSpPr>
        <p:spPr>
          <a:xfrm>
            <a:off x="4281035" y="3099428"/>
            <a:ext cx="3370605" cy="137045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FF68A630-F820-026D-E95D-E5F36C999BF1}"/>
              </a:ext>
            </a:extLst>
          </p:cNvPr>
          <p:cNvSpPr/>
          <p:nvPr/>
        </p:nvSpPr>
        <p:spPr>
          <a:xfrm>
            <a:off x="3674125" y="2697304"/>
            <a:ext cx="1280160" cy="777240"/>
          </a:xfrm>
          <a:prstGeom prst="ellipse">
            <a:avLst/>
          </a:prstGeom>
          <a:solidFill>
            <a:srgbClr val="EF6C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DIA-1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893FFBE-67E6-33FA-59FF-BB1CC36FE877}"/>
              </a:ext>
            </a:extLst>
          </p:cNvPr>
          <p:cNvSpPr/>
          <p:nvPr/>
        </p:nvSpPr>
        <p:spPr>
          <a:xfrm>
            <a:off x="10172696" y="2417884"/>
            <a:ext cx="1920240" cy="1691640"/>
          </a:xfrm>
          <a:prstGeom prst="rect">
            <a:avLst/>
          </a:prstGeom>
          <a:solidFill>
            <a:srgbClr val="F5F5F5"/>
          </a:solidFill>
          <a:ln w="25400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5427871-30F9-F2A0-CBAB-03D48E3B8A6F}"/>
              </a:ext>
            </a:extLst>
          </p:cNvPr>
          <p:cNvSpPr/>
          <p:nvPr/>
        </p:nvSpPr>
        <p:spPr>
          <a:xfrm>
            <a:off x="10474447" y="2481892"/>
            <a:ext cx="1325880" cy="228600"/>
          </a:xfrm>
          <a:prstGeom prst="rect">
            <a:avLst/>
          </a:prstGeom>
          <a:solidFill>
            <a:srgbClr val="BBDEFB"/>
          </a:solidFill>
          <a:ln w="127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dirty="0">
                <a:solidFill>
                  <a:srgbClr val="0D47A1"/>
                </a:solidFill>
                <a:latin typeface="Calibri"/>
              </a:rPr>
              <a:t>External Fabric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4C1C978-8281-8142-EF75-F28A6AEE0C1E}"/>
              </a:ext>
            </a:extLst>
          </p:cNvPr>
          <p:cNvSpPr/>
          <p:nvPr/>
        </p:nvSpPr>
        <p:spPr>
          <a:xfrm>
            <a:off x="10355576" y="3287123"/>
            <a:ext cx="1554480" cy="713232"/>
          </a:xfrm>
          <a:prstGeom prst="ellipse">
            <a:avLst/>
          </a:prstGeom>
          <a:solidFill>
            <a:srgbClr val="1976D2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F24205E-1C29-749D-10AF-3EC620416654}"/>
              </a:ext>
            </a:extLst>
          </p:cNvPr>
          <p:cNvSpPr txBox="1"/>
          <p:nvPr/>
        </p:nvSpPr>
        <p:spPr>
          <a:xfrm>
            <a:off x="10355576" y="3457489"/>
            <a:ext cx="1554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Equinix</a:t>
            </a:r>
            <a:endParaRPr lang="en-US" sz="12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Fabric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388B004-D9FF-17E8-730B-40E96ADB450E}"/>
              </a:ext>
            </a:extLst>
          </p:cNvPr>
          <p:cNvSpPr/>
          <p:nvPr/>
        </p:nvSpPr>
        <p:spPr>
          <a:xfrm>
            <a:off x="10336917" y="3026615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AWS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E76BB92-FA87-648E-A34F-1AD54C62B33B}"/>
              </a:ext>
            </a:extLst>
          </p:cNvPr>
          <p:cNvSpPr/>
          <p:nvPr/>
        </p:nvSpPr>
        <p:spPr>
          <a:xfrm>
            <a:off x="10885557" y="3026615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Azure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5A0FEF6-3F0B-BDB3-0C78-22A00589ADB7}"/>
              </a:ext>
            </a:extLst>
          </p:cNvPr>
          <p:cNvSpPr/>
          <p:nvPr/>
        </p:nvSpPr>
        <p:spPr>
          <a:xfrm>
            <a:off x="11434197" y="3026615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GCP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AA1BFD5-C83E-FDAD-ED17-41B620C06DBF}"/>
              </a:ext>
            </a:extLst>
          </p:cNvPr>
          <p:cNvSpPr/>
          <p:nvPr/>
        </p:nvSpPr>
        <p:spPr>
          <a:xfrm>
            <a:off x="10542657" y="2778977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SaaS / Partners</a:t>
            </a:r>
          </a:p>
        </p:txBody>
      </p:sp>
      <p:cxnSp>
        <p:nvCxnSpPr>
          <p:cNvPr id="128" name="Connector 127">
            <a:extLst>
              <a:ext uri="{FF2B5EF4-FFF2-40B4-BE49-F238E27FC236}">
                <a16:creationId xmlns:a16="http://schemas.microsoft.com/office/drawing/2014/main" id="{AFFCE026-A581-814D-299E-4318E37534A8}"/>
              </a:ext>
            </a:extLst>
          </p:cNvPr>
          <p:cNvCxnSpPr>
            <a:cxnSpLocks/>
            <a:stCxn id="224" idx="3"/>
          </p:cNvCxnSpPr>
          <p:nvPr/>
        </p:nvCxnSpPr>
        <p:spPr>
          <a:xfrm flipV="1">
            <a:off x="7525511" y="4641235"/>
            <a:ext cx="3556341" cy="852383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D4CD3F9-F8C3-ECB2-B2F0-417F861D741B}"/>
              </a:ext>
            </a:extLst>
          </p:cNvPr>
          <p:cNvSpPr/>
          <p:nvPr/>
        </p:nvSpPr>
        <p:spPr>
          <a:xfrm>
            <a:off x="6392700" y="4463986"/>
            <a:ext cx="682803" cy="528624"/>
          </a:xfrm>
          <a:prstGeom prst="rect">
            <a:avLst/>
          </a:prstGeom>
          <a:solidFill>
            <a:srgbClr val="6A1B9A"/>
          </a:solidFill>
          <a:ln w="1905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EXTERNAL</a:t>
            </a:r>
            <a:endParaRPr lang="en-US" sz="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FABRIC</a:t>
            </a:r>
            <a:endParaRPr lang="en-US" sz="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cxnSp>
        <p:nvCxnSpPr>
          <p:cNvPr id="180" name="Connector 108">
            <a:extLst>
              <a:ext uri="{FF2B5EF4-FFF2-40B4-BE49-F238E27FC236}">
                <a16:creationId xmlns:a16="http://schemas.microsoft.com/office/drawing/2014/main" id="{E081457F-D301-5C1F-38CC-C076EB9DB448}"/>
              </a:ext>
            </a:extLst>
          </p:cNvPr>
          <p:cNvCxnSpPr>
            <a:cxnSpLocks/>
          </p:cNvCxnSpPr>
          <p:nvPr/>
        </p:nvCxnSpPr>
        <p:spPr>
          <a:xfrm flipH="1">
            <a:off x="4155685" y="3789220"/>
            <a:ext cx="1743805" cy="2015338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9" name="Picture 188">
            <a:extLst>
              <a:ext uri="{FF2B5EF4-FFF2-40B4-BE49-F238E27FC236}">
                <a16:creationId xmlns:a16="http://schemas.microsoft.com/office/drawing/2014/main" id="{C1F4E76E-F399-ABCC-B9C9-12C173908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3210700"/>
            <a:ext cx="1005840" cy="20549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5560923E-699D-4A49-8173-8C3E98E4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54" y="3005206"/>
            <a:ext cx="1005840" cy="205494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0FB17671-F55A-9F51-1F22-30EA6DC2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711" y="3136208"/>
            <a:ext cx="1005840" cy="20549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5D434948-D4B8-AA0C-430E-47D61DFE2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1" y="2918753"/>
            <a:ext cx="1005840" cy="205494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217AC6D9-362B-3D90-9F0D-D73DF2423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648" y="3133381"/>
            <a:ext cx="365760" cy="365760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012C9DE9-453A-5E96-2E79-A62EDEA1A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09" y="3309864"/>
            <a:ext cx="365760" cy="365760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93691F41-B785-92B9-753A-246A9E94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712" y="3296412"/>
            <a:ext cx="365760" cy="365760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BBD80F6B-5751-7634-8529-FC7275694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071" y="3053593"/>
            <a:ext cx="365760" cy="365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93BF34-52DE-CC48-4AA9-8FA6CD32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3713954"/>
            <a:ext cx="1005840" cy="205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18744-8A5D-8B87-5C58-EBE34736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54" y="3508460"/>
            <a:ext cx="1005840" cy="2054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B179D1-C348-D13E-2143-D3B5D12E0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648" y="3634151"/>
            <a:ext cx="365760" cy="365760"/>
          </a:xfrm>
          <a:prstGeom prst="rect">
            <a:avLst/>
          </a:prstGeom>
        </p:spPr>
      </p:pic>
      <p:cxnSp>
        <p:nvCxnSpPr>
          <p:cNvPr id="16" name="Connector 43">
            <a:extLst>
              <a:ext uri="{FF2B5EF4-FFF2-40B4-BE49-F238E27FC236}">
                <a16:creationId xmlns:a16="http://schemas.microsoft.com/office/drawing/2014/main" id="{48413B18-0F2C-58E8-8606-E30E88F72C57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041398" y="3816701"/>
            <a:ext cx="260250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42">
            <a:extLst>
              <a:ext uri="{FF2B5EF4-FFF2-40B4-BE49-F238E27FC236}">
                <a16:creationId xmlns:a16="http://schemas.microsoft.com/office/drawing/2014/main" id="{33E8F1DC-BB88-E521-2676-141B015711A9}"/>
              </a:ext>
            </a:extLst>
          </p:cNvPr>
          <p:cNvCxnSpPr>
            <a:cxnSpLocks/>
            <a:stCxn id="209" idx="3"/>
            <a:endCxn id="7" idx="1"/>
          </p:cNvCxnSpPr>
          <p:nvPr/>
        </p:nvCxnSpPr>
        <p:spPr>
          <a:xfrm>
            <a:off x="684569" y="3492744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6F2DCF8-E680-3B02-4E71-155494A2CC2E}"/>
              </a:ext>
            </a:extLst>
          </p:cNvPr>
          <p:cNvSpPr/>
          <p:nvPr/>
        </p:nvSpPr>
        <p:spPr>
          <a:xfrm>
            <a:off x="3546345" y="807291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Minneapolis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DE7F7F-B9CD-41E6-F0FA-50C79930A36D}"/>
              </a:ext>
            </a:extLst>
          </p:cNvPr>
          <p:cNvSpPr txBox="1"/>
          <p:nvPr/>
        </p:nvSpPr>
        <p:spPr>
          <a:xfrm>
            <a:off x="3538725" y="1827915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78" name="Connector 42">
            <a:extLst>
              <a:ext uri="{FF2B5EF4-FFF2-40B4-BE49-F238E27FC236}">
                <a16:creationId xmlns:a16="http://schemas.microsoft.com/office/drawing/2014/main" id="{4091937D-CBD2-C940-06EC-45DA2DF9E094}"/>
              </a:ext>
            </a:extLst>
          </p:cNvPr>
          <p:cNvCxnSpPr>
            <a:cxnSpLocks/>
          </p:cNvCxnSpPr>
          <p:nvPr/>
        </p:nvCxnSpPr>
        <p:spPr>
          <a:xfrm flipV="1">
            <a:off x="4053771" y="1411147"/>
            <a:ext cx="353634" cy="16988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43">
            <a:extLst>
              <a:ext uri="{FF2B5EF4-FFF2-40B4-BE49-F238E27FC236}">
                <a16:creationId xmlns:a16="http://schemas.microsoft.com/office/drawing/2014/main" id="{7B0CBAD4-08B3-272A-CB2F-96B73502D0D7}"/>
              </a:ext>
            </a:extLst>
          </p:cNvPr>
          <p:cNvCxnSpPr>
            <a:cxnSpLocks/>
            <a:stCxn id="80" idx="3"/>
            <a:endCxn id="88" idx="1"/>
          </p:cNvCxnSpPr>
          <p:nvPr/>
        </p:nvCxnSpPr>
        <p:spPr>
          <a:xfrm>
            <a:off x="5413243" y="1443151"/>
            <a:ext cx="409717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609DAC5A-DE00-C38B-7CAF-8E351C3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3" y="1340404"/>
            <a:ext cx="1005840" cy="20549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6957ABDE-54FD-0DD8-282C-135D61B6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99" y="1134910"/>
            <a:ext cx="1005840" cy="20549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B0682F4-E809-4034-C680-411B5C03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960" y="1263085"/>
            <a:ext cx="365760" cy="36576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896FD71-C8D3-4FCD-5777-635FF7165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654" y="1439568"/>
            <a:ext cx="365760" cy="36576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29E6386C-2A6C-38DB-266A-9A9EB83A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3" y="1843658"/>
            <a:ext cx="1005840" cy="20549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8BB0155-BD86-A47F-EA9B-12C15A26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99" y="1638164"/>
            <a:ext cx="1005840" cy="20549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8EDB2FC4-16E2-F9AC-4872-EE1C688A1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775" y="1763855"/>
            <a:ext cx="365760" cy="365760"/>
          </a:xfrm>
          <a:prstGeom prst="rect">
            <a:avLst/>
          </a:prstGeom>
        </p:spPr>
      </p:pic>
      <p:cxnSp>
        <p:nvCxnSpPr>
          <p:cNvPr id="93" name="Connector 43">
            <a:extLst>
              <a:ext uri="{FF2B5EF4-FFF2-40B4-BE49-F238E27FC236}">
                <a16:creationId xmlns:a16="http://schemas.microsoft.com/office/drawing/2014/main" id="{005DA56D-6D3A-EAFE-4BDA-14D905E16B8F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>
            <a:off x="5413243" y="1946405"/>
            <a:ext cx="163532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42">
            <a:extLst>
              <a:ext uri="{FF2B5EF4-FFF2-40B4-BE49-F238E27FC236}">
                <a16:creationId xmlns:a16="http://schemas.microsoft.com/office/drawing/2014/main" id="{151C088D-4B59-6BBD-D386-A893015073C1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4056414" y="1622448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>
            <a:extLst>
              <a:ext uri="{FF2B5EF4-FFF2-40B4-BE49-F238E27FC236}">
                <a16:creationId xmlns:a16="http://schemas.microsoft.com/office/drawing/2014/main" id="{2CF09979-9FDE-2C2A-CACF-B44FE11B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711" y="3676997"/>
            <a:ext cx="1005840" cy="205494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E372C90-7571-542C-98A3-106D35F09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1" y="3459542"/>
            <a:ext cx="1005840" cy="205494"/>
          </a:xfrm>
          <a:prstGeom prst="rect">
            <a:avLst/>
          </a:prstGeom>
        </p:spPr>
      </p:pic>
      <p:cxnSp>
        <p:nvCxnSpPr>
          <p:cNvPr id="100" name="Connector 62">
            <a:extLst>
              <a:ext uri="{FF2B5EF4-FFF2-40B4-BE49-F238E27FC236}">
                <a16:creationId xmlns:a16="http://schemas.microsoft.com/office/drawing/2014/main" id="{A2B1E64B-80BB-9C31-4692-79FA295111DD}"/>
              </a:ext>
            </a:extLst>
          </p:cNvPr>
          <p:cNvCxnSpPr>
            <a:cxnSpLocks/>
            <a:stCxn id="215" idx="1"/>
          </p:cNvCxnSpPr>
          <p:nvPr/>
        </p:nvCxnSpPr>
        <p:spPr>
          <a:xfrm flipH="1">
            <a:off x="9039551" y="3479292"/>
            <a:ext cx="353161" cy="28411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28">
            <a:extLst>
              <a:ext uri="{FF2B5EF4-FFF2-40B4-BE49-F238E27FC236}">
                <a16:creationId xmlns:a16="http://schemas.microsoft.com/office/drawing/2014/main" id="{3DC73665-555F-5244-4601-6CF369896AC9}"/>
              </a:ext>
            </a:extLst>
          </p:cNvPr>
          <p:cNvCxnSpPr>
            <a:cxnSpLocks/>
          </p:cNvCxnSpPr>
          <p:nvPr/>
        </p:nvCxnSpPr>
        <p:spPr>
          <a:xfrm flipV="1">
            <a:off x="11273114" y="4109524"/>
            <a:ext cx="0" cy="1957461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27">
            <a:extLst>
              <a:ext uri="{FF2B5EF4-FFF2-40B4-BE49-F238E27FC236}">
                <a16:creationId xmlns:a16="http://schemas.microsoft.com/office/drawing/2014/main" id="{FD865C96-B3ED-BBD4-19C8-93D187D3C294}"/>
              </a:ext>
            </a:extLst>
          </p:cNvPr>
          <p:cNvCxnSpPr>
            <a:cxnSpLocks/>
          </p:cNvCxnSpPr>
          <p:nvPr/>
        </p:nvCxnSpPr>
        <p:spPr>
          <a:xfrm>
            <a:off x="7521823" y="6074869"/>
            <a:ext cx="3771017" cy="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63">
            <a:extLst>
              <a:ext uri="{FF2B5EF4-FFF2-40B4-BE49-F238E27FC236}">
                <a16:creationId xmlns:a16="http://schemas.microsoft.com/office/drawing/2014/main" id="{9B300D58-FC9E-3479-DBB3-B0AF9232D152}"/>
              </a:ext>
            </a:extLst>
          </p:cNvPr>
          <p:cNvCxnSpPr>
            <a:cxnSpLocks/>
            <a:endCxn id="167" idx="3"/>
          </p:cNvCxnSpPr>
          <p:nvPr/>
        </p:nvCxnSpPr>
        <p:spPr>
          <a:xfrm flipH="1" flipV="1">
            <a:off x="7731959" y="3767328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442DE255-94B6-2BFF-6F87-39E25209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199" y="3584448"/>
            <a:ext cx="365760" cy="36576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EE8A47D-7AFB-E8E9-13F6-F54418CD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386" y="5102568"/>
            <a:ext cx="365760" cy="36576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9DA973E-D15D-F057-C1F2-8F709D05F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386" y="5603338"/>
            <a:ext cx="365760" cy="365760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08789BFC-F1E1-5116-0584-6C1D2FBE8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59" y="5839111"/>
            <a:ext cx="365760" cy="365760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70F4ED1F-B294-96FF-AE66-B182F7D9E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083" y="5308256"/>
            <a:ext cx="365760" cy="365760"/>
          </a:xfrm>
          <a:prstGeom prst="rect">
            <a:avLst/>
          </a:prstGeom>
        </p:spPr>
      </p:pic>
      <p:sp>
        <p:nvSpPr>
          <p:cNvPr id="117" name="Oval 116">
            <a:extLst>
              <a:ext uri="{FF2B5EF4-FFF2-40B4-BE49-F238E27FC236}">
                <a16:creationId xmlns:a16="http://schemas.microsoft.com/office/drawing/2014/main" id="{521DF0FD-C368-C95C-295A-6682D18BC2C5}"/>
              </a:ext>
            </a:extLst>
          </p:cNvPr>
          <p:cNvSpPr/>
          <p:nvPr/>
        </p:nvSpPr>
        <p:spPr>
          <a:xfrm>
            <a:off x="5293850" y="3396313"/>
            <a:ext cx="1280160" cy="777240"/>
          </a:xfrm>
          <a:prstGeom prst="ellipse">
            <a:avLst/>
          </a:prstGeom>
          <a:solidFill>
            <a:srgbClr val="FFB3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DIA-2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7C35C-D164-E64C-3CF5-36BFEFF50A33}"/>
              </a:ext>
            </a:extLst>
          </p:cNvPr>
          <p:cNvCxnSpPr>
            <a:cxnSpLocks/>
          </p:cNvCxnSpPr>
          <p:nvPr/>
        </p:nvCxnSpPr>
        <p:spPr>
          <a:xfrm>
            <a:off x="1927798" y="1470486"/>
            <a:ext cx="0" cy="230257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1C50E3-B867-BE1A-2355-CCC41099F1F7}"/>
              </a:ext>
            </a:extLst>
          </p:cNvPr>
          <p:cNvCxnSpPr>
            <a:cxnSpLocks/>
          </p:cNvCxnSpPr>
          <p:nvPr/>
        </p:nvCxnSpPr>
        <p:spPr>
          <a:xfrm>
            <a:off x="1724073" y="1470486"/>
            <a:ext cx="0" cy="179899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Building Icon Vector ...">
            <a:extLst>
              <a:ext uri="{FF2B5EF4-FFF2-40B4-BE49-F238E27FC236}">
                <a16:creationId xmlns:a16="http://schemas.microsoft.com/office/drawing/2014/main" id="{AD1FB3E6-FD7E-4614-A119-AC4D86A037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46" t="7771" r="7265" b="5277"/>
          <a:stretch>
            <a:fillRect/>
          </a:stretch>
        </p:blipFill>
        <p:spPr>
          <a:xfrm>
            <a:off x="1354526" y="652075"/>
            <a:ext cx="971455" cy="1009329"/>
          </a:xfrm>
          <a:prstGeom prst="ellipse">
            <a:avLst/>
          </a:prstGeom>
        </p:spPr>
      </p:pic>
      <p:cxnSp>
        <p:nvCxnSpPr>
          <p:cNvPr id="10" name="Connector 42">
            <a:extLst>
              <a:ext uri="{FF2B5EF4-FFF2-40B4-BE49-F238E27FC236}">
                <a16:creationId xmlns:a16="http://schemas.microsoft.com/office/drawing/2014/main" id="{1B43AC20-B306-BF94-DF31-EB0CEB096346}"/>
              </a:ext>
            </a:extLst>
          </p:cNvPr>
          <p:cNvCxnSpPr>
            <a:cxnSpLocks/>
          </p:cNvCxnSpPr>
          <p:nvPr/>
        </p:nvCxnSpPr>
        <p:spPr>
          <a:xfrm>
            <a:off x="617479" y="2313896"/>
            <a:ext cx="845561" cy="552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42">
            <a:extLst>
              <a:ext uri="{FF2B5EF4-FFF2-40B4-BE49-F238E27FC236}">
                <a16:creationId xmlns:a16="http://schemas.microsoft.com/office/drawing/2014/main" id="{26C6E26D-1F30-BB0C-7931-809F7CD4F7D7}"/>
              </a:ext>
            </a:extLst>
          </p:cNvPr>
          <p:cNvCxnSpPr>
            <a:cxnSpLocks/>
          </p:cNvCxnSpPr>
          <p:nvPr/>
        </p:nvCxnSpPr>
        <p:spPr>
          <a:xfrm>
            <a:off x="617477" y="2849154"/>
            <a:ext cx="578277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51AC8-E756-40DD-9BAC-8CAC0CE3BB3A}"/>
              </a:ext>
            </a:extLst>
          </p:cNvPr>
          <p:cNvSpPr/>
          <p:nvPr/>
        </p:nvSpPr>
        <p:spPr>
          <a:xfrm>
            <a:off x="199528" y="2090318"/>
            <a:ext cx="760706" cy="93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DC951-2C83-1AB4-6677-E9A0DA14CD4C}"/>
              </a:ext>
            </a:extLst>
          </p:cNvPr>
          <p:cNvSpPr txBox="1"/>
          <p:nvPr/>
        </p:nvSpPr>
        <p:spPr>
          <a:xfrm>
            <a:off x="203928" y="1994694"/>
            <a:ext cx="759967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00" b="1" i="0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Carrier </a:t>
            </a:r>
            <a:r>
              <a:rPr lang="en-US" sz="800" b="1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Cage</a:t>
            </a:r>
            <a:endParaRPr sz="800" b="1" i="0" dirty="0">
              <a:solidFill>
                <a:srgbClr val="111111"/>
              </a:solidFill>
              <a:highlight>
                <a:srgbClr val="FFFF00"/>
              </a:highlight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81F4A7-59F4-8D05-7885-58695DDD2B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6" r="34697"/>
          <a:stretch>
            <a:fillRect/>
          </a:stretch>
        </p:blipFill>
        <p:spPr>
          <a:xfrm>
            <a:off x="229530" y="2120012"/>
            <a:ext cx="442605" cy="8928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5DA5D1-E222-1E6D-BD1C-12A8EFE53A14}"/>
              </a:ext>
            </a:extLst>
          </p:cNvPr>
          <p:cNvSpPr txBox="1"/>
          <p:nvPr/>
        </p:nvSpPr>
        <p:spPr>
          <a:xfrm>
            <a:off x="408157" y="2316082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81038-EA5C-A9FD-5A20-9CBEE1A740BC}"/>
              </a:ext>
            </a:extLst>
          </p:cNvPr>
          <p:cNvSpPr txBox="1"/>
          <p:nvPr/>
        </p:nvSpPr>
        <p:spPr>
          <a:xfrm>
            <a:off x="414641" y="2623190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205645-1CC6-F02C-D2EC-5BB3F0A75640}"/>
              </a:ext>
            </a:extLst>
          </p:cNvPr>
          <p:cNvSpPr txBox="1"/>
          <p:nvPr/>
        </p:nvSpPr>
        <p:spPr>
          <a:xfrm>
            <a:off x="461961" y="947507"/>
            <a:ext cx="97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Customer</a:t>
            </a:r>
          </a:p>
        </p:txBody>
      </p:sp>
      <p:cxnSp>
        <p:nvCxnSpPr>
          <p:cNvPr id="33" name="Connector 42">
            <a:extLst>
              <a:ext uri="{FF2B5EF4-FFF2-40B4-BE49-F238E27FC236}">
                <a16:creationId xmlns:a16="http://schemas.microsoft.com/office/drawing/2014/main" id="{BF02EF96-088D-25F6-2E72-D4A0E48CDAF8}"/>
              </a:ext>
            </a:extLst>
          </p:cNvPr>
          <p:cNvCxnSpPr>
            <a:cxnSpLocks/>
          </p:cNvCxnSpPr>
          <p:nvPr/>
        </p:nvCxnSpPr>
        <p:spPr>
          <a:xfrm>
            <a:off x="1463040" y="2319416"/>
            <a:ext cx="0" cy="99403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2">
            <a:extLst>
              <a:ext uri="{FF2B5EF4-FFF2-40B4-BE49-F238E27FC236}">
                <a16:creationId xmlns:a16="http://schemas.microsoft.com/office/drawing/2014/main" id="{ED64FC57-1E50-4E16-D1BB-FB73F3101D69}"/>
              </a:ext>
            </a:extLst>
          </p:cNvPr>
          <p:cNvCxnSpPr>
            <a:cxnSpLocks/>
          </p:cNvCxnSpPr>
          <p:nvPr/>
        </p:nvCxnSpPr>
        <p:spPr>
          <a:xfrm>
            <a:off x="1202202" y="2841340"/>
            <a:ext cx="0" cy="99403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42">
            <a:extLst>
              <a:ext uri="{FF2B5EF4-FFF2-40B4-BE49-F238E27FC236}">
                <a16:creationId xmlns:a16="http://schemas.microsoft.com/office/drawing/2014/main" id="{BC5092EE-38AD-FA84-FD37-5E56C094FAB5}"/>
              </a:ext>
            </a:extLst>
          </p:cNvPr>
          <p:cNvCxnSpPr>
            <a:cxnSpLocks/>
          </p:cNvCxnSpPr>
          <p:nvPr/>
        </p:nvCxnSpPr>
        <p:spPr>
          <a:xfrm>
            <a:off x="8678008" y="2079793"/>
            <a:ext cx="75922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42">
            <a:extLst>
              <a:ext uri="{FF2B5EF4-FFF2-40B4-BE49-F238E27FC236}">
                <a16:creationId xmlns:a16="http://schemas.microsoft.com/office/drawing/2014/main" id="{53B07FA1-8146-C43C-B7FD-DFCA7CF10AB1}"/>
              </a:ext>
            </a:extLst>
          </p:cNvPr>
          <p:cNvCxnSpPr>
            <a:cxnSpLocks/>
          </p:cNvCxnSpPr>
          <p:nvPr/>
        </p:nvCxnSpPr>
        <p:spPr>
          <a:xfrm>
            <a:off x="8809892" y="2600768"/>
            <a:ext cx="627338" cy="1428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A6CD0-AA94-B4D6-25A3-55356CFD3FA5}"/>
              </a:ext>
            </a:extLst>
          </p:cNvPr>
          <p:cNvSpPr/>
          <p:nvPr/>
        </p:nvSpPr>
        <p:spPr>
          <a:xfrm>
            <a:off x="9086126" y="1856215"/>
            <a:ext cx="760706" cy="93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54FDA-8480-B03F-B106-9B76651D2B4E}"/>
              </a:ext>
            </a:extLst>
          </p:cNvPr>
          <p:cNvSpPr txBox="1"/>
          <p:nvPr/>
        </p:nvSpPr>
        <p:spPr>
          <a:xfrm>
            <a:off x="9090526" y="1760591"/>
            <a:ext cx="759967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00" b="1" i="0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Carrier </a:t>
            </a:r>
            <a:r>
              <a:rPr lang="en-US" sz="800" b="1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Cage</a:t>
            </a:r>
            <a:endParaRPr sz="800" b="1" i="0" dirty="0">
              <a:solidFill>
                <a:srgbClr val="111111"/>
              </a:solidFill>
              <a:highlight>
                <a:srgbClr val="FFFF00"/>
              </a:highlight>
              <a:latin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4DC430C-1223-E969-1825-6CD50EB2DB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6" r="34697"/>
          <a:stretch>
            <a:fillRect/>
          </a:stretch>
        </p:blipFill>
        <p:spPr>
          <a:xfrm>
            <a:off x="9335935" y="1885909"/>
            <a:ext cx="442605" cy="8928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D04202-B3B8-584C-55FB-23CAC0ECFB18}"/>
              </a:ext>
            </a:extLst>
          </p:cNvPr>
          <p:cNvSpPr txBox="1"/>
          <p:nvPr/>
        </p:nvSpPr>
        <p:spPr>
          <a:xfrm>
            <a:off x="9092535" y="2081979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7DFEE9-414A-0AE0-D0B8-2F2DB4805004}"/>
              </a:ext>
            </a:extLst>
          </p:cNvPr>
          <p:cNvSpPr txBox="1"/>
          <p:nvPr/>
        </p:nvSpPr>
        <p:spPr>
          <a:xfrm>
            <a:off x="9099019" y="2389087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strand-2</a:t>
            </a:r>
          </a:p>
        </p:txBody>
      </p:sp>
      <p:cxnSp>
        <p:nvCxnSpPr>
          <p:cNvPr id="31" name="Connector 42">
            <a:extLst>
              <a:ext uri="{FF2B5EF4-FFF2-40B4-BE49-F238E27FC236}">
                <a16:creationId xmlns:a16="http://schemas.microsoft.com/office/drawing/2014/main" id="{3FA4CC4E-86BF-3380-842E-8090F26BA196}"/>
              </a:ext>
            </a:extLst>
          </p:cNvPr>
          <p:cNvCxnSpPr>
            <a:cxnSpLocks/>
          </p:cNvCxnSpPr>
          <p:nvPr/>
        </p:nvCxnSpPr>
        <p:spPr>
          <a:xfrm flipV="1">
            <a:off x="8679764" y="2087852"/>
            <a:ext cx="0" cy="167555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42">
            <a:extLst>
              <a:ext uri="{FF2B5EF4-FFF2-40B4-BE49-F238E27FC236}">
                <a16:creationId xmlns:a16="http://schemas.microsoft.com/office/drawing/2014/main" id="{36A599A0-6799-CEFC-805C-355AB2ED0E2C}"/>
              </a:ext>
            </a:extLst>
          </p:cNvPr>
          <p:cNvCxnSpPr>
            <a:cxnSpLocks/>
          </p:cNvCxnSpPr>
          <p:nvPr/>
        </p:nvCxnSpPr>
        <p:spPr>
          <a:xfrm flipV="1">
            <a:off x="8814577" y="2600768"/>
            <a:ext cx="0" cy="61812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435EE4-8414-8BEE-0B3C-261072ED96E3}"/>
              </a:ext>
            </a:extLst>
          </p:cNvPr>
          <p:cNvCxnSpPr>
            <a:cxnSpLocks/>
          </p:cNvCxnSpPr>
          <p:nvPr/>
        </p:nvCxnSpPr>
        <p:spPr>
          <a:xfrm>
            <a:off x="8441855" y="867415"/>
            <a:ext cx="0" cy="289598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09E68CC-A002-E5B5-6BE3-AC91BB1C4886}"/>
              </a:ext>
            </a:extLst>
          </p:cNvPr>
          <p:cNvCxnSpPr>
            <a:cxnSpLocks/>
          </p:cNvCxnSpPr>
          <p:nvPr/>
        </p:nvCxnSpPr>
        <p:spPr>
          <a:xfrm>
            <a:off x="8238130" y="867415"/>
            <a:ext cx="0" cy="23432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Building Icon Vector ...">
            <a:extLst>
              <a:ext uri="{FF2B5EF4-FFF2-40B4-BE49-F238E27FC236}">
                <a16:creationId xmlns:a16="http://schemas.microsoft.com/office/drawing/2014/main" id="{43D74652-56DA-C629-4118-0E245AA12C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46" t="7771" r="7265" b="5277"/>
          <a:stretch>
            <a:fillRect/>
          </a:stretch>
        </p:blipFill>
        <p:spPr>
          <a:xfrm>
            <a:off x="7868583" y="49004"/>
            <a:ext cx="971455" cy="1009329"/>
          </a:xfrm>
          <a:prstGeom prst="ellipse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2AC8E65-58C6-B5EF-BABA-58E12CA60B1C}"/>
              </a:ext>
            </a:extLst>
          </p:cNvPr>
          <p:cNvSpPr txBox="1"/>
          <p:nvPr/>
        </p:nvSpPr>
        <p:spPr>
          <a:xfrm>
            <a:off x="6964212" y="399802"/>
            <a:ext cx="97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Customer</a:t>
            </a:r>
          </a:p>
        </p:txBody>
      </p:sp>
      <p:cxnSp>
        <p:nvCxnSpPr>
          <p:cNvPr id="82" name="Connector 137">
            <a:extLst>
              <a:ext uri="{FF2B5EF4-FFF2-40B4-BE49-F238E27FC236}">
                <a16:creationId xmlns:a16="http://schemas.microsoft.com/office/drawing/2014/main" id="{F6212931-629A-842A-91D8-CE05CEF17265}"/>
              </a:ext>
            </a:extLst>
          </p:cNvPr>
          <p:cNvCxnSpPr>
            <a:cxnSpLocks/>
          </p:cNvCxnSpPr>
          <p:nvPr/>
        </p:nvCxnSpPr>
        <p:spPr>
          <a:xfrm flipV="1">
            <a:off x="7411214" y="4599047"/>
            <a:ext cx="0" cy="143536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137">
            <a:extLst>
              <a:ext uri="{FF2B5EF4-FFF2-40B4-BE49-F238E27FC236}">
                <a16:creationId xmlns:a16="http://schemas.microsoft.com/office/drawing/2014/main" id="{32BE7892-B6EC-11D1-8341-0D6873347EAB}"/>
              </a:ext>
            </a:extLst>
          </p:cNvPr>
          <p:cNvCxnSpPr>
            <a:cxnSpLocks/>
          </p:cNvCxnSpPr>
          <p:nvPr/>
        </p:nvCxnSpPr>
        <p:spPr>
          <a:xfrm>
            <a:off x="8889856" y="3788462"/>
            <a:ext cx="0" cy="853876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137">
            <a:extLst>
              <a:ext uri="{FF2B5EF4-FFF2-40B4-BE49-F238E27FC236}">
                <a16:creationId xmlns:a16="http://schemas.microsoft.com/office/drawing/2014/main" id="{A870F32B-2191-4D05-D7ED-F69628734506}"/>
              </a:ext>
            </a:extLst>
          </p:cNvPr>
          <p:cNvCxnSpPr>
            <a:cxnSpLocks/>
          </p:cNvCxnSpPr>
          <p:nvPr/>
        </p:nvCxnSpPr>
        <p:spPr>
          <a:xfrm>
            <a:off x="8564545" y="3209034"/>
            <a:ext cx="0" cy="120470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137">
            <a:extLst>
              <a:ext uri="{FF2B5EF4-FFF2-40B4-BE49-F238E27FC236}">
                <a16:creationId xmlns:a16="http://schemas.microsoft.com/office/drawing/2014/main" id="{9519A0B5-2C20-229D-FBB0-86D41DE6203A}"/>
              </a:ext>
            </a:extLst>
          </p:cNvPr>
          <p:cNvCxnSpPr>
            <a:cxnSpLocks/>
          </p:cNvCxnSpPr>
          <p:nvPr/>
        </p:nvCxnSpPr>
        <p:spPr>
          <a:xfrm>
            <a:off x="7238184" y="4396154"/>
            <a:ext cx="0" cy="1091257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37">
            <a:extLst>
              <a:ext uri="{FF2B5EF4-FFF2-40B4-BE49-F238E27FC236}">
                <a16:creationId xmlns:a16="http://schemas.microsoft.com/office/drawing/2014/main" id="{357A0A01-0E9D-23A3-48B1-1F8E56D57457}"/>
              </a:ext>
            </a:extLst>
          </p:cNvPr>
          <p:cNvCxnSpPr>
            <a:cxnSpLocks/>
          </p:cNvCxnSpPr>
          <p:nvPr/>
        </p:nvCxnSpPr>
        <p:spPr>
          <a:xfrm>
            <a:off x="7229040" y="4403441"/>
            <a:ext cx="1319032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37">
            <a:extLst>
              <a:ext uri="{FF2B5EF4-FFF2-40B4-BE49-F238E27FC236}">
                <a16:creationId xmlns:a16="http://schemas.microsoft.com/office/drawing/2014/main" id="{DF044241-A1E0-BE39-8210-2F3EA58FC2E4}"/>
              </a:ext>
            </a:extLst>
          </p:cNvPr>
          <p:cNvCxnSpPr>
            <a:cxnSpLocks/>
          </p:cNvCxnSpPr>
          <p:nvPr/>
        </p:nvCxnSpPr>
        <p:spPr>
          <a:xfrm flipH="1">
            <a:off x="7402712" y="4621443"/>
            <a:ext cx="1477519" cy="2777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37">
            <a:extLst>
              <a:ext uri="{FF2B5EF4-FFF2-40B4-BE49-F238E27FC236}">
                <a16:creationId xmlns:a16="http://schemas.microsoft.com/office/drawing/2014/main" id="{677CCBE2-E9C3-D5E7-6EF2-295AA359E8B9}"/>
              </a:ext>
            </a:extLst>
          </p:cNvPr>
          <p:cNvCxnSpPr>
            <a:cxnSpLocks/>
          </p:cNvCxnSpPr>
          <p:nvPr/>
        </p:nvCxnSpPr>
        <p:spPr>
          <a:xfrm flipV="1">
            <a:off x="1312283" y="3283833"/>
            <a:ext cx="0" cy="3483462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37">
            <a:extLst>
              <a:ext uri="{FF2B5EF4-FFF2-40B4-BE49-F238E27FC236}">
                <a16:creationId xmlns:a16="http://schemas.microsoft.com/office/drawing/2014/main" id="{8F6FF3C2-98B4-93B5-0C38-0C8DC6A0F114}"/>
              </a:ext>
            </a:extLst>
          </p:cNvPr>
          <p:cNvCxnSpPr>
            <a:cxnSpLocks/>
          </p:cNvCxnSpPr>
          <p:nvPr/>
        </p:nvCxnSpPr>
        <p:spPr>
          <a:xfrm flipV="1">
            <a:off x="1438308" y="3773722"/>
            <a:ext cx="0" cy="286991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37">
            <a:extLst>
              <a:ext uri="{FF2B5EF4-FFF2-40B4-BE49-F238E27FC236}">
                <a16:creationId xmlns:a16="http://schemas.microsoft.com/office/drawing/2014/main" id="{DA04FBDB-4D8D-26C6-727D-004D919388EA}"/>
              </a:ext>
            </a:extLst>
          </p:cNvPr>
          <p:cNvCxnSpPr>
            <a:cxnSpLocks/>
          </p:cNvCxnSpPr>
          <p:nvPr/>
        </p:nvCxnSpPr>
        <p:spPr>
          <a:xfrm>
            <a:off x="1301262" y="6769454"/>
            <a:ext cx="5774241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37">
            <a:extLst>
              <a:ext uri="{FF2B5EF4-FFF2-40B4-BE49-F238E27FC236}">
                <a16:creationId xmlns:a16="http://schemas.microsoft.com/office/drawing/2014/main" id="{30808B96-8CE2-04E9-A2B6-8E3EBDE45D50}"/>
              </a:ext>
            </a:extLst>
          </p:cNvPr>
          <p:cNvCxnSpPr>
            <a:cxnSpLocks/>
          </p:cNvCxnSpPr>
          <p:nvPr/>
        </p:nvCxnSpPr>
        <p:spPr>
          <a:xfrm flipV="1">
            <a:off x="7085897" y="5489444"/>
            <a:ext cx="0" cy="1294832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37">
            <a:extLst>
              <a:ext uri="{FF2B5EF4-FFF2-40B4-BE49-F238E27FC236}">
                <a16:creationId xmlns:a16="http://schemas.microsoft.com/office/drawing/2014/main" id="{7D6889BA-9E7F-0268-722B-251888B30082}"/>
              </a:ext>
            </a:extLst>
          </p:cNvPr>
          <p:cNvCxnSpPr>
            <a:cxnSpLocks/>
          </p:cNvCxnSpPr>
          <p:nvPr/>
        </p:nvCxnSpPr>
        <p:spPr>
          <a:xfrm flipV="1">
            <a:off x="6948151" y="6010417"/>
            <a:ext cx="0" cy="657903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37">
            <a:extLst>
              <a:ext uri="{FF2B5EF4-FFF2-40B4-BE49-F238E27FC236}">
                <a16:creationId xmlns:a16="http://schemas.microsoft.com/office/drawing/2014/main" id="{104F8B04-622F-B017-6C81-57027A660128}"/>
              </a:ext>
            </a:extLst>
          </p:cNvPr>
          <p:cNvCxnSpPr>
            <a:cxnSpLocks/>
          </p:cNvCxnSpPr>
          <p:nvPr/>
        </p:nvCxnSpPr>
        <p:spPr>
          <a:xfrm>
            <a:off x="1433146" y="6633434"/>
            <a:ext cx="5512777" cy="22343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37">
            <a:extLst>
              <a:ext uri="{FF2B5EF4-FFF2-40B4-BE49-F238E27FC236}">
                <a16:creationId xmlns:a16="http://schemas.microsoft.com/office/drawing/2014/main" id="{51FEF743-2953-E93E-E007-B3B101504AD2}"/>
              </a:ext>
            </a:extLst>
          </p:cNvPr>
          <p:cNvCxnSpPr>
            <a:cxnSpLocks/>
          </p:cNvCxnSpPr>
          <p:nvPr/>
        </p:nvCxnSpPr>
        <p:spPr>
          <a:xfrm flipV="1">
            <a:off x="6827990" y="5488878"/>
            <a:ext cx="0" cy="105365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37">
            <a:extLst>
              <a:ext uri="{FF2B5EF4-FFF2-40B4-BE49-F238E27FC236}">
                <a16:creationId xmlns:a16="http://schemas.microsoft.com/office/drawing/2014/main" id="{2BDCDA91-38F5-A65A-C3B1-1D2CE55B7A78}"/>
              </a:ext>
            </a:extLst>
          </p:cNvPr>
          <p:cNvCxnSpPr>
            <a:cxnSpLocks/>
          </p:cNvCxnSpPr>
          <p:nvPr/>
        </p:nvCxnSpPr>
        <p:spPr>
          <a:xfrm flipV="1">
            <a:off x="6707828" y="6016204"/>
            <a:ext cx="0" cy="405186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37">
            <a:extLst>
              <a:ext uri="{FF2B5EF4-FFF2-40B4-BE49-F238E27FC236}">
                <a16:creationId xmlns:a16="http://schemas.microsoft.com/office/drawing/2014/main" id="{0CBEFAE6-8CFC-A4D3-44F6-A1159094A8A9}"/>
              </a:ext>
            </a:extLst>
          </p:cNvPr>
          <p:cNvCxnSpPr>
            <a:cxnSpLocks/>
          </p:cNvCxnSpPr>
          <p:nvPr/>
        </p:nvCxnSpPr>
        <p:spPr>
          <a:xfrm flipH="1">
            <a:off x="3220216" y="6532055"/>
            <a:ext cx="3585030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37">
            <a:extLst>
              <a:ext uri="{FF2B5EF4-FFF2-40B4-BE49-F238E27FC236}">
                <a16:creationId xmlns:a16="http://schemas.microsoft.com/office/drawing/2014/main" id="{17A2645B-95A5-C5A6-57D7-85572BEDEA3D}"/>
              </a:ext>
            </a:extLst>
          </p:cNvPr>
          <p:cNvCxnSpPr>
            <a:cxnSpLocks/>
          </p:cNvCxnSpPr>
          <p:nvPr/>
        </p:nvCxnSpPr>
        <p:spPr>
          <a:xfrm flipV="1">
            <a:off x="3242108" y="5271081"/>
            <a:ext cx="0" cy="1266879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37">
            <a:extLst>
              <a:ext uri="{FF2B5EF4-FFF2-40B4-BE49-F238E27FC236}">
                <a16:creationId xmlns:a16="http://schemas.microsoft.com/office/drawing/2014/main" id="{34DA8A37-E09A-C23C-8EBC-0778AC2135D4}"/>
              </a:ext>
            </a:extLst>
          </p:cNvPr>
          <p:cNvCxnSpPr>
            <a:cxnSpLocks/>
          </p:cNvCxnSpPr>
          <p:nvPr/>
        </p:nvCxnSpPr>
        <p:spPr>
          <a:xfrm flipV="1">
            <a:off x="3412724" y="5772455"/>
            <a:ext cx="0" cy="660349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137">
            <a:extLst>
              <a:ext uri="{FF2B5EF4-FFF2-40B4-BE49-F238E27FC236}">
                <a16:creationId xmlns:a16="http://schemas.microsoft.com/office/drawing/2014/main" id="{378137B3-EF45-0D0F-18F9-CFB75849A46E}"/>
              </a:ext>
            </a:extLst>
          </p:cNvPr>
          <p:cNvCxnSpPr>
            <a:cxnSpLocks/>
          </p:cNvCxnSpPr>
          <p:nvPr/>
        </p:nvCxnSpPr>
        <p:spPr>
          <a:xfrm flipH="1" flipV="1">
            <a:off x="3406140" y="6416351"/>
            <a:ext cx="3327961" cy="7682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7FF84EED-7FFF-8084-8914-8CF1F38662F6}"/>
              </a:ext>
            </a:extLst>
          </p:cNvPr>
          <p:cNvSpPr/>
          <p:nvPr/>
        </p:nvSpPr>
        <p:spPr>
          <a:xfrm>
            <a:off x="10030968" y="81283"/>
            <a:ext cx="2085969" cy="1691641"/>
          </a:xfrm>
          <a:prstGeom prst="rect">
            <a:avLst/>
          </a:prstGeom>
          <a:solidFill>
            <a:srgbClr val="FAFAF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D129AC6-404A-8AB9-1433-49A3FADF3BCC}"/>
              </a:ext>
            </a:extLst>
          </p:cNvPr>
          <p:cNvSpPr txBox="1"/>
          <p:nvPr/>
        </p:nvSpPr>
        <p:spPr>
          <a:xfrm>
            <a:off x="10120470" y="116113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11111"/>
                </a:solidFill>
                <a:latin typeface="Calibri"/>
              </a:rPr>
              <a:t>Legend</a:t>
            </a:r>
          </a:p>
        </p:txBody>
      </p:sp>
      <p:cxnSp>
        <p:nvCxnSpPr>
          <p:cNvPr id="238" name="Connector 133">
            <a:extLst>
              <a:ext uri="{FF2B5EF4-FFF2-40B4-BE49-F238E27FC236}">
                <a16:creationId xmlns:a16="http://schemas.microsoft.com/office/drawing/2014/main" id="{2EBCE420-DB09-F662-114B-358809E59559}"/>
              </a:ext>
            </a:extLst>
          </p:cNvPr>
          <p:cNvCxnSpPr>
            <a:cxnSpLocks/>
          </p:cNvCxnSpPr>
          <p:nvPr/>
        </p:nvCxnSpPr>
        <p:spPr>
          <a:xfrm>
            <a:off x="10103762" y="610374"/>
            <a:ext cx="257487" cy="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8B50B4A3-0AE4-6D2C-2D6B-C9AD18675DDE}"/>
              </a:ext>
            </a:extLst>
          </p:cNvPr>
          <p:cNvSpPr txBox="1"/>
          <p:nvPr/>
        </p:nvSpPr>
        <p:spPr>
          <a:xfrm>
            <a:off x="10474447" y="548648"/>
            <a:ext cx="161848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Primary DIA mesh path</a:t>
            </a:r>
          </a:p>
        </p:txBody>
      </p:sp>
      <p:cxnSp>
        <p:nvCxnSpPr>
          <p:cNvPr id="241" name="Connector 135">
            <a:extLst>
              <a:ext uri="{FF2B5EF4-FFF2-40B4-BE49-F238E27FC236}">
                <a16:creationId xmlns:a16="http://schemas.microsoft.com/office/drawing/2014/main" id="{7C903378-9FB0-3ABE-3A11-EBBECBB8B797}"/>
              </a:ext>
            </a:extLst>
          </p:cNvPr>
          <p:cNvCxnSpPr>
            <a:cxnSpLocks/>
          </p:cNvCxnSpPr>
          <p:nvPr/>
        </p:nvCxnSpPr>
        <p:spPr>
          <a:xfrm>
            <a:off x="10104120" y="802158"/>
            <a:ext cx="258528" cy="0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E307A401-2F6F-CA88-35C7-C06A00D40BF5}"/>
              </a:ext>
            </a:extLst>
          </p:cNvPr>
          <p:cNvSpPr txBox="1"/>
          <p:nvPr/>
        </p:nvSpPr>
        <p:spPr>
          <a:xfrm>
            <a:off x="10474447" y="739648"/>
            <a:ext cx="161848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Secondary DIA mesh path</a:t>
            </a:r>
          </a:p>
        </p:txBody>
      </p:sp>
      <p:cxnSp>
        <p:nvCxnSpPr>
          <p:cNvPr id="246" name="Connector 137">
            <a:extLst>
              <a:ext uri="{FF2B5EF4-FFF2-40B4-BE49-F238E27FC236}">
                <a16:creationId xmlns:a16="http://schemas.microsoft.com/office/drawing/2014/main" id="{0091F96B-EC72-991B-59CC-01AB8E9DADAD}"/>
              </a:ext>
            </a:extLst>
          </p:cNvPr>
          <p:cNvCxnSpPr>
            <a:cxnSpLocks/>
          </p:cNvCxnSpPr>
          <p:nvPr/>
        </p:nvCxnSpPr>
        <p:spPr>
          <a:xfrm>
            <a:off x="10109391" y="994968"/>
            <a:ext cx="246185" cy="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7F0A4938-0AD6-08B6-EDD9-7339F366EE72}"/>
              </a:ext>
            </a:extLst>
          </p:cNvPr>
          <p:cNvSpPr txBox="1"/>
          <p:nvPr/>
        </p:nvSpPr>
        <p:spPr>
          <a:xfrm>
            <a:off x="10474447" y="939726"/>
            <a:ext cx="1618489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Wave to Equinix Fabric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2616A5A9-B80F-B3B1-EF46-CD4A7922D727}"/>
              </a:ext>
            </a:extLst>
          </p:cNvPr>
          <p:cNvSpPr/>
          <p:nvPr/>
        </p:nvSpPr>
        <p:spPr>
          <a:xfrm>
            <a:off x="10117831" y="1163214"/>
            <a:ext cx="228600" cy="164592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03855F9-D05F-29DB-7D18-29FCBF5B6F21}"/>
              </a:ext>
            </a:extLst>
          </p:cNvPr>
          <p:cNvSpPr txBox="1"/>
          <p:nvPr/>
        </p:nvSpPr>
        <p:spPr>
          <a:xfrm>
            <a:off x="10474447" y="1194548"/>
            <a:ext cx="132588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External Fabric (Equinix)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FA3D245A-08E2-B475-6107-99EA4030DF54}"/>
              </a:ext>
            </a:extLst>
          </p:cNvPr>
          <p:cNvSpPr/>
          <p:nvPr/>
        </p:nvSpPr>
        <p:spPr>
          <a:xfrm>
            <a:off x="10126976" y="1459000"/>
            <a:ext cx="228600" cy="164592"/>
          </a:xfrm>
          <a:prstGeom prst="rect">
            <a:avLst/>
          </a:prstGeom>
          <a:solidFill>
            <a:srgbClr val="6A1B9A"/>
          </a:solidFill>
          <a:ln w="9525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6EDE4EC-AE79-9A6D-045D-AEB43725E0C3}"/>
              </a:ext>
            </a:extLst>
          </p:cNvPr>
          <p:cNvSpPr txBox="1"/>
          <p:nvPr/>
        </p:nvSpPr>
        <p:spPr>
          <a:xfrm>
            <a:off x="10465304" y="1488085"/>
            <a:ext cx="146304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Fabric </a:t>
            </a:r>
            <a:r>
              <a:rPr sz="900" b="0" i="0" dirty="0">
                <a:solidFill>
                  <a:srgbClr val="111111"/>
                </a:solidFill>
                <a:latin typeface="Calibri"/>
              </a:rPr>
              <a:t>Hub site</a:t>
            </a:r>
            <a:r>
              <a:rPr lang="en-US" sz="900" b="0" i="0" dirty="0">
                <a:solidFill>
                  <a:srgbClr val="111111"/>
                </a:solidFill>
                <a:latin typeface="Calibri"/>
              </a:rPr>
              <a:t> (Charlotte)</a:t>
            </a:r>
            <a:endParaRPr sz="900" b="0" i="0" dirty="0">
              <a:solidFill>
                <a:srgbClr val="111111"/>
              </a:solidFill>
              <a:latin typeface="Calibri"/>
            </a:endParaRPr>
          </a:p>
        </p:txBody>
      </p:sp>
      <p:cxnSp>
        <p:nvCxnSpPr>
          <p:cNvPr id="3" name="Connector 137">
            <a:extLst>
              <a:ext uri="{FF2B5EF4-FFF2-40B4-BE49-F238E27FC236}">
                <a16:creationId xmlns:a16="http://schemas.microsoft.com/office/drawing/2014/main" id="{F7EA5E02-8D72-961F-C978-BC95818FB1FD}"/>
              </a:ext>
            </a:extLst>
          </p:cNvPr>
          <p:cNvCxnSpPr>
            <a:cxnSpLocks/>
          </p:cNvCxnSpPr>
          <p:nvPr/>
        </p:nvCxnSpPr>
        <p:spPr>
          <a:xfrm>
            <a:off x="10109391" y="415871"/>
            <a:ext cx="246185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F6BD934-91FD-FBB6-BAF2-2DFBCF771931}"/>
              </a:ext>
            </a:extLst>
          </p:cNvPr>
          <p:cNvSpPr txBox="1"/>
          <p:nvPr/>
        </p:nvSpPr>
        <p:spPr>
          <a:xfrm>
            <a:off x="10474447" y="351863"/>
            <a:ext cx="18393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Wave between </a:t>
            </a:r>
            <a:r>
              <a:rPr lang="en-US" sz="900" dirty="0">
                <a:solidFill>
                  <a:srgbClr val="111111"/>
                </a:solidFill>
                <a:latin typeface="Calibri"/>
              </a:rPr>
              <a:t>Datacenters</a:t>
            </a:r>
            <a:endParaRPr sz="900" b="0" i="0" dirty="0">
              <a:solidFill>
                <a:srgbClr val="111111"/>
              </a:solidFill>
              <a:latin typeface="Calibri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A38257F-28D5-72DC-286A-3C377DF229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4114" y="1608128"/>
            <a:ext cx="440827" cy="4323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64784C-D824-F9D2-8638-B029223ED8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972" y="395906"/>
            <a:ext cx="440827" cy="43235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6D74BC7-9EE8-3965-0EFB-BC29A1D04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5178" y="1093993"/>
            <a:ext cx="440827" cy="4323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6375441-25E5-BDC5-C340-CE91DD4B9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5361" y="4711612"/>
            <a:ext cx="440827" cy="43235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649EE85-B7B1-B613-CA71-1D7A212CE4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1234" y="4239038"/>
            <a:ext cx="440827" cy="432350"/>
          </a:xfrm>
          <a:prstGeom prst="rect">
            <a:avLst/>
          </a:prstGeom>
        </p:spPr>
      </p:pic>
      <p:pic>
        <p:nvPicPr>
          <p:cNvPr id="39" name="Picture 38" descr="Equinix, Inc. | Redwood City CA">
            <a:extLst>
              <a:ext uri="{FF2B5EF4-FFF2-40B4-BE49-F238E27FC236}">
                <a16:creationId xmlns:a16="http://schemas.microsoft.com/office/drawing/2014/main" id="{B1EECCBD-B0AD-EAE4-E29B-FCE73BB974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685" t="26768" r="17639" b="26688"/>
          <a:stretch>
            <a:fillRect/>
          </a:stretch>
        </p:blipFill>
        <p:spPr>
          <a:xfrm>
            <a:off x="10828464" y="2075426"/>
            <a:ext cx="551072" cy="396573"/>
          </a:xfrm>
          <a:prstGeom prst="rect">
            <a:avLst/>
          </a:prstGeom>
        </p:spPr>
      </p:pic>
      <p:pic>
        <p:nvPicPr>
          <p:cNvPr id="256" name="Picture 255" descr="MaiaEdge_Logo_Horizontal_RG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91440"/>
            <a:ext cx="1463040" cy="420624"/>
          </a:xfrm>
          <a:prstGeom prst="rect">
            <a:avLst/>
          </a:prstGeom>
        </p:spPr>
      </p:pic>
      <p:sp>
        <p:nvSpPr>
          <p:cNvPr id="257" name="TextBox 256"/>
          <p:cNvSpPr txBox="1"/>
          <p:nvPr/>
        </p:nvSpPr>
        <p:spPr>
          <a:xfrm>
            <a:off x="1828800" y="146304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22F32"/>
                </a:solidFill>
                <a:latin typeface="Calibri"/>
              </a:rPr>
              <a:t>Architecture for CENTRA Digital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74320" y="6537960"/>
            <a:ext cx="1188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Calibri"/>
              </a:rPr>
              <a:t>MaiaEdge   ·   Reference Architecture for CENTRA Digital   ·   Confidential   ·   1 / 2</a:t>
            </a:r>
          </a:p>
        </p:txBody>
      </p:sp>
    </p:spTree>
    <p:extLst>
      <p:ext uri="{BB962C8B-B14F-4D97-AF65-F5344CB8AC3E}">
        <p14:creationId xmlns:p14="http://schemas.microsoft.com/office/powerpoint/2010/main" val="266396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7BA18-DA15-D369-83C6-3DE113211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322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iaEdge_Logo_Horizontal_Rev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40280" cy="6400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188720"/>
            <a:ext cx="121920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322F32"/>
                </a:solidFill>
                <a:latin typeface="Calibri"/>
              </a:rPr>
              <a:t>MaiaEdge Architecture for CENTRA — Key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Redundant MaiaEdge PBCs and Port Extenders at every CENTRA site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Redundant DIAs (DIA-1 / DIA-2) provide diverse, encrypted L2 mesh paths between all sites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Termination of carrier fibers into MaiaEdge PBCs serving as a software-defined MMR with automated, dynamic cross-connect functionality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Encrypted and authenticated L2 paths at line rate over both wave and DIA underlays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Charlotte datacenter is the Equinix Fabric hub providing cloud onramp services to AWS, Azure, GCP, and SaaS / partner providers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Dedicated waves connect Portland, Reno-1, and Reno-2 to the Charlotte hub for premium, deterministic transport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Minneapolis joins the same fabric without dedicated fiber — DIA mesh extends every service, including cloud onramp, to sites where waves are not yet available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End-to-end service visibility for CENTRA and its tenants — every customer service is observable path-by-path and hop-by-hop, eliminating colo / carrier / customer finger-pointing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F8C00"/>
                </a:solidFill>
                <a:latin typeface="Calibri"/>
              </a:rPr>
              <a:t>■  </a:t>
            </a:r>
            <a:r>
              <a:rPr sz="1500">
                <a:solidFill>
                  <a:srgbClr val="1A1A1A"/>
                </a:solidFill>
                <a:latin typeface="Calibri"/>
              </a:rPr>
              <a:t>Advertise and sell cross-site connectivity and cloud onramp services to customers and partner providers in the MaiaEdge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88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>
                <a:solidFill>
                  <a:srgbClr val="6A6A6A"/>
                </a:solidFill>
                <a:latin typeface="Calibri"/>
              </a:rPr>
              <a:t>MaiaEdge   ·   Reference Architecture for CENTRA Digital   ·   Confidential   ·   2 / 2</a:t>
            </a:r>
          </a:p>
        </p:txBody>
      </p:sp>
    </p:spTree>
    <p:extLst>
      <p:ext uri="{BB962C8B-B14F-4D97-AF65-F5344CB8AC3E}">
        <p14:creationId xmlns:p14="http://schemas.microsoft.com/office/powerpoint/2010/main" val="393535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142</Words>
  <Application>Microsoft Macintosh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Woody Acosta</cp:lastModifiedBy>
  <cp:revision>43</cp:revision>
  <dcterms:created xsi:type="dcterms:W3CDTF">2013-01-27T09:14:16Z</dcterms:created>
  <dcterms:modified xsi:type="dcterms:W3CDTF">2026-05-08T12:55:01Z</dcterms:modified>
  <cp:category/>
</cp:coreProperties>
</file>