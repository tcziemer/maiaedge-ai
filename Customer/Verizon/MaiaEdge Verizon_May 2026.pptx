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2.xml" ContentType="application/vnd.openxmlformats-officedocument.theme+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4.xml" ContentType="application/vnd.openxmlformats-officedocument.theme+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9.xml" ContentType="application/vnd.openxmlformats-officedocument.presentationml.tags+xml"/>
  <Override PartName="/ppt/notesSlides/notesSlide27.xml" ContentType="application/vnd.openxmlformats-officedocument.presentationml.notesSlide+xml"/>
  <Override PartName="/ppt/tags/tag1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2.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3.xml" ContentType="application/vnd.openxmlformats-officedocument.presentationml.tags+xml"/>
  <Override PartName="/ppt/notesSlides/notesSlide43.xml" ContentType="application/vnd.openxmlformats-officedocument.presentationml.notesSlide+xml"/>
  <Override PartName="/ppt/tags/tag14.xml" ContentType="application/vnd.openxmlformats-officedocument.presentationml.tags+xml"/>
  <Override PartName="/ppt/notesSlides/notesSlide44.xml" ContentType="application/vnd.openxmlformats-officedocument.presentationml.notesSlide+xml"/>
  <Override PartName="/ppt/tags/tag15.xml" ContentType="application/vnd.openxmlformats-officedocument.presentationml.tags+xml"/>
  <Override PartName="/ppt/notesSlides/notesSlide45.xml" ContentType="application/vnd.openxmlformats-officedocument.presentationml.notesSlide+xml"/>
  <Override PartName="/ppt/tags/tag16.xml" ContentType="application/vnd.openxmlformats-officedocument.presentationml.tags+xml"/>
  <Override PartName="/ppt/notesSlides/notesSlide46.xml" ContentType="application/vnd.openxmlformats-officedocument.presentationml.notesSlide+xml"/>
  <Override PartName="/ppt/tags/tag17.xml" ContentType="application/vnd.openxmlformats-officedocument.presentationml.tags+xml"/>
  <Override PartName="/ppt/notesSlides/notesSlide47.xml" ContentType="application/vnd.openxmlformats-officedocument.presentationml.notesSlide+xml"/>
  <Override PartName="/ppt/tags/tag18.xml" ContentType="application/vnd.openxmlformats-officedocument.presentationml.tags+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21" r:id="rId5"/>
    <p:sldMasterId id="2147483781" r:id="rId6"/>
    <p:sldMasterId id="2147483838" r:id="rId7"/>
    <p:sldMasterId id="2147483900" r:id="rId8"/>
  </p:sldMasterIdLst>
  <p:notesMasterIdLst>
    <p:notesMasterId r:id="rId57"/>
  </p:notesMasterIdLst>
  <p:sldIdLst>
    <p:sldId id="3706" r:id="rId9"/>
    <p:sldId id="3432" r:id="rId10"/>
    <p:sldId id="3633" r:id="rId11"/>
    <p:sldId id="3671" r:id="rId12"/>
    <p:sldId id="3672" r:id="rId13"/>
    <p:sldId id="3676" r:id="rId14"/>
    <p:sldId id="3625" r:id="rId15"/>
    <p:sldId id="3705" r:id="rId16"/>
    <p:sldId id="257" r:id="rId17"/>
    <p:sldId id="3666" r:id="rId18"/>
    <p:sldId id="3591" r:id="rId19"/>
    <p:sldId id="3626" r:id="rId20"/>
    <p:sldId id="3548" r:id="rId21"/>
    <p:sldId id="3707" r:id="rId22"/>
    <p:sldId id="3703" r:id="rId23"/>
    <p:sldId id="3724" r:id="rId24"/>
    <p:sldId id="3678" r:id="rId25"/>
    <p:sldId id="3547" r:id="rId26"/>
    <p:sldId id="3531" r:id="rId27"/>
    <p:sldId id="3679" r:id="rId28"/>
    <p:sldId id="3648" r:id="rId29"/>
    <p:sldId id="3697" r:id="rId30"/>
    <p:sldId id="3693" r:id="rId31"/>
    <p:sldId id="3699" r:id="rId32"/>
    <p:sldId id="3725" r:id="rId33"/>
    <p:sldId id="3726" r:id="rId34"/>
    <p:sldId id="3688" r:id="rId35"/>
    <p:sldId id="3698" r:id="rId36"/>
    <p:sldId id="3407" r:id="rId37"/>
    <p:sldId id="3708" r:id="rId38"/>
    <p:sldId id="3712" r:id="rId39"/>
    <p:sldId id="3727" r:id="rId40"/>
    <p:sldId id="3722" r:id="rId41"/>
    <p:sldId id="3723" r:id="rId42"/>
    <p:sldId id="3721" r:id="rId43"/>
    <p:sldId id="3711" r:id="rId44"/>
    <p:sldId id="3728" r:id="rId45"/>
    <p:sldId id="3729" r:id="rId46"/>
    <p:sldId id="3716" r:id="rId47"/>
    <p:sldId id="3717" r:id="rId48"/>
    <p:sldId id="3720" r:id="rId49"/>
    <p:sldId id="3541" r:id="rId50"/>
    <p:sldId id="3639" r:id="rId51"/>
    <p:sldId id="3640" r:id="rId52"/>
    <p:sldId id="3642" r:id="rId53"/>
    <p:sldId id="3534" r:id="rId54"/>
    <p:sldId id="3709" r:id="rId55"/>
    <p:sldId id="371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83B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60"/>
    <p:restoredTop sz="67466"/>
  </p:normalViewPr>
  <p:slideViewPr>
    <p:cSldViewPr snapToGrid="0">
      <p:cViewPr varScale="1">
        <p:scale>
          <a:sx n="83" d="100"/>
          <a:sy n="83" d="100"/>
        </p:scale>
        <p:origin x="175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notesMaster" Target="notesMasters/notesMaster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87C50-EFA8-434B-8300-AE90082C48C3}" type="datetimeFigureOut">
              <a:rPr lang="en-US" smtClean="0"/>
              <a:t>5/26/26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4395F-77C4-0745-BC4B-7679A3ABCE13}" type="slidenum">
              <a:rPr lang="en-US" smtClean="0"/>
              <a:t>‹#›</a:t>
            </a:fld>
            <a:endParaRPr lang="en-US"/>
          </a:p>
        </p:txBody>
      </p:sp>
    </p:spTree>
    <p:extLst>
      <p:ext uri="{BB962C8B-B14F-4D97-AF65-F5344CB8AC3E}">
        <p14:creationId xmlns:p14="http://schemas.microsoft.com/office/powerpoint/2010/main" val="1134609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nokia.com/artificial-intelligence/explainer-network-traffic-is-fundamentally-changing-in-the-ai-supercycle/"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www.deloitte.com/us/en/insights/industry/technology/technology-media-and-telecom-predictions/2026/compute-power-ai.html"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Questions: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How much engineering effort does it require to provision a new customer circuit? </a:t>
            </a:r>
          </a:p>
          <a:p>
            <a:pPr marL="171450" indent="-171450">
              <a:buFont typeface="Arial" panose="020B0604020202020204" pitchFamily="34" charset="0"/>
              <a:buChar char="•"/>
            </a:pPr>
            <a:r>
              <a:rPr lang="en-US" dirty="0"/>
              <a:t>How do you connect outside your footprint today?</a:t>
            </a:r>
          </a:p>
          <a:p>
            <a:pPr marL="171450" indent="-171450">
              <a:buFont typeface="Arial" panose="020B0604020202020204" pitchFamily="34" charset="0"/>
              <a:buChar char="•"/>
            </a:pPr>
            <a:r>
              <a:rPr lang="en-US" dirty="0"/>
              <a:t>How painful are NNIs across providers and cloud connectivity?</a:t>
            </a:r>
          </a:p>
          <a:p>
            <a:pPr marL="171450" indent="-171450">
              <a:buFont typeface="Arial" panose="020B0604020202020204" pitchFamily="34" charset="0"/>
              <a:buChar char="•"/>
            </a:pPr>
            <a:r>
              <a:rPr lang="en-US" dirty="0"/>
              <a:t>Are customers starting to ask for cloud connectivity services or AI infrastructure access? How are you handling those requests today?</a:t>
            </a: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1</a:t>
            </a:fld>
            <a:endParaRPr lang="en-US"/>
          </a:p>
        </p:txBody>
      </p:sp>
    </p:spTree>
    <p:extLst>
      <p:ext uri="{BB962C8B-B14F-4D97-AF65-F5344CB8AC3E}">
        <p14:creationId xmlns:p14="http://schemas.microsoft.com/office/powerpoint/2010/main" val="2070676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to programmable private paths. Build your own network fabric instantly. </a:t>
            </a:r>
          </a:p>
          <a:p>
            <a:pPr algn="l"/>
            <a:endParaRPr lang="en-US" b="0" i="0" u="none" strike="noStrike" dirty="0">
              <a:solidFill>
                <a:srgbClr val="000000"/>
              </a:solidFill>
              <a:effectLst/>
            </a:endParaRPr>
          </a:p>
          <a:p>
            <a:pPr algn="l"/>
            <a:r>
              <a:rPr lang="en-US" b="0" i="0" u="none" strike="noStrike" dirty="0">
                <a:solidFill>
                  <a:srgbClr val="000000"/>
                </a:solidFill>
                <a:effectLst/>
              </a:rPr>
              <a:t>Private connectivity, ready to sell, ready to scale. </a:t>
            </a:r>
          </a:p>
          <a:p>
            <a:pPr algn="l"/>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208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p:cNvSpPr>
            <a:spLocks noGrp="1"/>
          </p:cNvSpPr>
          <p:nvPr>
            <p:ph type="sldNum" sz="quarter" idx="5"/>
          </p:nvPr>
        </p:nvSpPr>
        <p:spPr/>
        <p:txBody>
          <a:bodyPr/>
          <a:lstStyle/>
          <a:p>
            <a:fld id="{C944395F-77C4-0745-BC4B-7679A3ABCE13}" type="slidenum">
              <a:rPr lang="en-US" smtClean="0"/>
              <a:t>3</a:t>
            </a:fld>
            <a:endParaRPr lang="en-US"/>
          </a:p>
        </p:txBody>
      </p:sp>
    </p:spTree>
    <p:extLst>
      <p:ext uri="{BB962C8B-B14F-4D97-AF65-F5344CB8AC3E}">
        <p14:creationId xmlns:p14="http://schemas.microsoft.com/office/powerpoint/2010/main" val="1273440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91332-087D-319D-2EA9-0313CC333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6711B-B672-DC33-EFAF-591A3AFC5E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C6DEC-C05E-EB10-EE23-E75174E1011E}"/>
              </a:ext>
            </a:extLst>
          </p:cNvPr>
          <p:cNvSpPr>
            <a:spLocks noGrp="1"/>
          </p:cNvSpPr>
          <p:nvPr>
            <p:ph type="body" idx="1"/>
          </p:nvPr>
        </p:nvSpPr>
        <p:spPr/>
        <p:txBody>
          <a:bodyPr/>
          <a:lstStyle/>
          <a:p>
            <a:pPr algn="l"/>
            <a:r>
              <a:rPr lang="en-US" b="0" i="0" u="none" strike="noStrike" dirty="0">
                <a:solidFill>
                  <a:srgbClr val="000000"/>
                </a:solidFill>
                <a:effectLst/>
              </a:rPr>
              <a:t>How do you make networks with different operators, technology, and underlays talk to each other?</a:t>
            </a:r>
          </a:p>
          <a:p>
            <a:pPr algn="l"/>
            <a:endParaRPr lang="en-US" b="0" i="0" u="none" strike="noStrike" dirty="0">
              <a:solidFill>
                <a:srgbClr val="000000"/>
              </a:solidFill>
              <a:effectLst/>
            </a:endParaRPr>
          </a:p>
          <a:p>
            <a:r>
              <a:rPr lang="en-US" dirty="0"/>
              <a:t>The problem here is two-layered</a:t>
            </a:r>
          </a:p>
          <a:p>
            <a:endParaRPr lang="en-US" dirty="0"/>
          </a:p>
          <a:p>
            <a:r>
              <a:rPr lang="en-US" b="1" dirty="0"/>
              <a:t>Layer 1 — Internal fragmentation:</a:t>
            </a:r>
            <a:r>
              <a:rPr lang="en-US" dirty="0"/>
              <a:t> Most SPs have built or acquired fiber across multiple geographies over time. Each geography became its own Ethernet island — separate equipment, separate management, static provisioning. Connecting those islands means expensive routing and switching infrastructure at every aggregation point. Every new customer path that crosses two islands is a manual engineering project. It doesn't scale.</a:t>
            </a:r>
          </a:p>
          <a:p>
            <a:endParaRPr lang="en-US" dirty="0"/>
          </a:p>
          <a:p>
            <a:r>
              <a:rPr lang="en-US" dirty="0"/>
              <a:t>A good way to make this concrete: think of an SP that has fiber rings in several markets. At each aggregation point, there's a router and switch stack to bridge the islands. When a customer needs connectivity that spans two of those markets, someone has to manually configure both ends. Change the circuit, do it again. That model works when you have 50 customers. It breaks when you're trying to grow.</a:t>
            </a:r>
          </a:p>
          <a:p>
            <a:endParaRPr lang="en-US" dirty="0"/>
          </a:p>
          <a:p>
            <a:r>
              <a:rPr lang="en-US" b="1" dirty="0"/>
              <a:t>Layer 2 — Cross-provider NNIs:</a:t>
            </a:r>
            <a:r>
              <a:rPr lang="en-US" dirty="0"/>
              <a:t> When a customer needs to reach a site on another carrier's network, the problem compounds. NNIs take months to establish, require coordination between two engineering teams, and once built, are static. There's no way to adapt without starting the process over.</a:t>
            </a:r>
          </a:p>
          <a:p>
            <a:endParaRPr lang="en-US" dirty="0"/>
          </a:p>
          <a:p>
            <a:r>
              <a:rPr lang="en-US" dirty="0"/>
              <a:t>The punchline: this isn't a capacity problem — most SPs have more fiber than they're actively monetizing. It's a provisioning and automation problem. </a:t>
            </a:r>
          </a:p>
        </p:txBody>
      </p:sp>
      <p:sp>
        <p:nvSpPr>
          <p:cNvPr id="4" name="Slide Number Placeholder 3">
            <a:extLst>
              <a:ext uri="{FF2B5EF4-FFF2-40B4-BE49-F238E27FC236}">
                <a16:creationId xmlns:a16="http://schemas.microsoft.com/office/drawing/2014/main" id="{310F5DAB-5CA8-5210-938B-B2857CAA0E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6100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604C-6808-3ABF-EDFC-F9016EDAF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9D8D2-B63F-348A-3E9E-1BA36B01D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80494-50AB-8284-5BB3-9CFB6F757A1B}"/>
              </a:ext>
            </a:extLst>
          </p:cNvPr>
          <p:cNvSpPr>
            <a:spLocks noGrp="1"/>
          </p:cNvSpPr>
          <p:nvPr>
            <p:ph type="body" idx="1"/>
          </p:nvPr>
        </p:nvSpPr>
        <p:spPr/>
        <p:txBody>
          <a:bodyPr/>
          <a:lstStyle/>
          <a:p>
            <a:r>
              <a:rPr lang="en-US" dirty="0"/>
              <a:t>This slide is specific to companies that are going through M&amp;A </a:t>
            </a:r>
          </a:p>
          <a:p>
            <a:r>
              <a:rPr lang="en-US" dirty="0"/>
              <a:t>If the company isn’t recently acquired/recently acquired a company, you can skip to the next slide. </a:t>
            </a:r>
          </a:p>
          <a:p>
            <a:endParaRPr lang="en-US" dirty="0"/>
          </a:p>
          <a:p>
            <a:r>
              <a:rPr lang="en-US" dirty="0"/>
              <a:t>When two service providers merge, the assumption is the combined network becomes an asset. The reality is integration takes 12–24 months, requires custom engineering on both sides, and the customer experience suffers in the meantime. Customers who were promised seamless connectivity on day one are still waiting, while your teams are stuck doing manual configs across heterogeneous environments.</a:t>
            </a:r>
          </a:p>
          <a:p>
            <a:endParaRPr lang="en-US" dirty="0"/>
          </a:p>
          <a:p>
            <a:endParaRPr lang="en-US" dirty="0"/>
          </a:p>
          <a:p>
            <a:r>
              <a:rPr lang="en-US" sz="1200" b="1" dirty="0">
                <a:solidFill>
                  <a:schemeClr val="bg1"/>
                </a:solidFill>
                <a:latin typeface="Tomorrow" pitchFamily="2" charset="0"/>
              </a:rPr>
              <a:t>Acquired Company Integration: </a:t>
            </a:r>
          </a:p>
          <a:p>
            <a:endParaRPr lang="en-US" sz="1200" dirty="0">
              <a:latin typeface="Tomorrow" pitchFamily="2" charset="0"/>
            </a:endParaRPr>
          </a:p>
          <a:p>
            <a:r>
              <a:rPr lang="en-US" sz="1200" b="1" dirty="0">
                <a:solidFill>
                  <a:schemeClr val="accent1"/>
                </a:solidFill>
                <a:latin typeface="Tomorrow" pitchFamily="2" charset="0"/>
              </a:rPr>
              <a:t>The Reality: </a:t>
            </a:r>
            <a:r>
              <a:rPr lang="en-US" sz="1200" dirty="0">
                <a:solidFill>
                  <a:schemeClr val="accent1"/>
                </a:solidFill>
                <a:latin typeface="Tomorrow" pitchFamily="2" charset="0"/>
              </a:rPr>
              <a:t>Integration timelines are unpredictable:</a:t>
            </a:r>
          </a:p>
          <a:p>
            <a:endParaRPr lang="en-US" sz="1200" dirty="0">
              <a:solidFill>
                <a:schemeClr val="accent1"/>
              </a:solidFill>
              <a:latin typeface="Tomorrow" pitchFamily="2" charset="0"/>
            </a:endParaRPr>
          </a:p>
          <a:p>
            <a:pPr marL="285750" indent="-285750">
              <a:buFont typeface="Arial" panose="020B0604020202020204" pitchFamily="34" charset="0"/>
              <a:buChar char="•"/>
            </a:pPr>
            <a:r>
              <a:rPr lang="en-US" sz="1200" dirty="0">
                <a:solidFill>
                  <a:schemeClr val="bg2"/>
                </a:solidFill>
                <a:latin typeface="Tomorrow" pitchFamily="2" charset="0"/>
              </a:rPr>
              <a:t>Different engineering teams and toolsets</a:t>
            </a:r>
          </a:p>
          <a:p>
            <a:pPr marL="285750" indent="-285750">
              <a:buFont typeface="Arial" panose="020B0604020202020204" pitchFamily="34" charset="0"/>
              <a:buChar char="•"/>
            </a:pPr>
            <a:r>
              <a:rPr lang="en-US" sz="1200" dirty="0">
                <a:solidFill>
                  <a:schemeClr val="bg2"/>
                </a:solidFill>
                <a:latin typeface="Tomorrow" pitchFamily="2" charset="0"/>
              </a:rPr>
              <a:t>No shared vendor stack or operational processes</a:t>
            </a:r>
          </a:p>
          <a:p>
            <a:pPr marL="285750" indent="-285750">
              <a:buFont typeface="Arial" panose="020B0604020202020204" pitchFamily="34" charset="0"/>
              <a:buChar char="•"/>
            </a:pPr>
            <a:r>
              <a:rPr lang="en-US" sz="1200" dirty="0">
                <a:solidFill>
                  <a:schemeClr val="bg2"/>
                </a:solidFill>
                <a:latin typeface="Tomorrow" pitchFamily="2" charset="0"/>
              </a:rPr>
              <a:t>Manual configurations across heterogeneous environments</a:t>
            </a:r>
          </a:p>
          <a:p>
            <a:pPr marL="285750" indent="-285750">
              <a:buFont typeface="Arial" panose="020B0604020202020204" pitchFamily="34" charset="0"/>
              <a:buChar char="•"/>
            </a:pPr>
            <a:endParaRPr lang="en-US" sz="1200" dirty="0">
              <a:solidFill>
                <a:schemeClr val="bg2"/>
              </a:solidFill>
              <a:latin typeface="Tomorrow" pitchFamily="2" charset="0"/>
            </a:endParaRPr>
          </a:p>
          <a:p>
            <a:r>
              <a:rPr lang="en-US" sz="1200" b="1" dirty="0">
                <a:solidFill>
                  <a:schemeClr val="accent1"/>
                </a:solidFill>
                <a:latin typeface="Tomorrow" pitchFamily="2" charset="0"/>
              </a:rPr>
              <a:t>Result: </a:t>
            </a:r>
            <a:r>
              <a:rPr lang="en-US" sz="1200" dirty="0">
                <a:solidFill>
                  <a:schemeClr val="accent1"/>
                </a:solidFill>
                <a:latin typeface="Tomorrow" pitchFamily="2" charset="0"/>
              </a:rPr>
              <a:t>months of manual work before any automation is possible</a:t>
            </a:r>
          </a:p>
          <a:p>
            <a:endParaRPr lang="en-US" sz="1200" dirty="0">
              <a:solidFill>
                <a:schemeClr val="bg1"/>
              </a:solidFill>
              <a:latin typeface="Tomorrow" pitchFamily="2" charset="0"/>
            </a:endParaRPr>
          </a:p>
          <a:p>
            <a:pPr marL="285750" indent="-285750">
              <a:buFont typeface="Arial" panose="020B0604020202020204" pitchFamily="34" charset="0"/>
              <a:buChar char="•"/>
            </a:pPr>
            <a:r>
              <a:rPr lang="en-US" sz="1200" dirty="0">
                <a:solidFill>
                  <a:schemeClr val="bg2"/>
                </a:solidFill>
                <a:latin typeface="Tomorrow" pitchFamily="2" charset="0"/>
              </a:rPr>
              <a:t>Cross‑domain requests require coordination between teams</a:t>
            </a:r>
          </a:p>
          <a:p>
            <a:pPr marL="285750" indent="-285750">
              <a:buFont typeface="Arial" panose="020B0604020202020204" pitchFamily="34" charset="0"/>
              <a:buChar char="•"/>
            </a:pPr>
            <a:r>
              <a:rPr lang="en-US" sz="1200" dirty="0">
                <a:solidFill>
                  <a:schemeClr val="bg2"/>
                </a:solidFill>
                <a:latin typeface="Tomorrow" pitchFamily="2" charset="0"/>
              </a:rPr>
              <a:t>Configuration errors delay service delivery</a:t>
            </a:r>
          </a:p>
          <a:p>
            <a:pPr marL="285750" indent="-285750">
              <a:buFont typeface="Arial" panose="020B0604020202020204" pitchFamily="34" charset="0"/>
              <a:buChar char="•"/>
            </a:pPr>
            <a:r>
              <a:rPr lang="en-US" sz="1200" dirty="0">
                <a:solidFill>
                  <a:schemeClr val="bg2"/>
                </a:solidFill>
                <a:latin typeface="Tomorrow" pitchFamily="2" charset="0"/>
              </a:rPr>
              <a:t>No unified visibility or control until full integration</a:t>
            </a:r>
          </a:p>
          <a:p>
            <a:endParaRPr lang="en-US" sz="1200" dirty="0">
              <a:solidFill>
                <a:schemeClr val="bg2"/>
              </a:solidFill>
              <a:latin typeface="Tomorrow" pitchFamily="2" charset="0"/>
            </a:endParaRPr>
          </a:p>
          <a:p>
            <a:r>
              <a:rPr lang="en-US" sz="1200" dirty="0">
                <a:solidFill>
                  <a:schemeClr val="accent1"/>
                </a:solidFill>
                <a:latin typeface="Tomorrow" pitchFamily="2" charset="0"/>
              </a:rPr>
              <a:t>Meanwhile, customers expect seamless connectivity from day one.</a:t>
            </a:r>
          </a:p>
          <a:p>
            <a:endParaRPr lang="en-US" sz="1200" b="1" dirty="0">
              <a:solidFill>
                <a:schemeClr val="bg1"/>
              </a:solidFill>
              <a:latin typeface="Tomorrow" pitchFamily="2" charset="0"/>
            </a:endParaRPr>
          </a:p>
          <a:p>
            <a:br>
              <a:rPr lang="en-US" sz="1200" dirty="0">
                <a:solidFill>
                  <a:schemeClr val="bg1"/>
                </a:solidFill>
              </a:rPr>
            </a:br>
            <a:endParaRPr lang="en-US" sz="1100" spc="100" dirty="0">
              <a:solidFill>
                <a:schemeClr val="bg1"/>
              </a:solidFill>
              <a:latin typeface="Tomorrow" pitchFamily="2" charset="0"/>
            </a:endParaRPr>
          </a:p>
          <a:p>
            <a:endParaRPr lang="en-US" dirty="0"/>
          </a:p>
        </p:txBody>
      </p:sp>
      <p:sp>
        <p:nvSpPr>
          <p:cNvPr id="4" name="Slide Number Placeholder 3">
            <a:extLst>
              <a:ext uri="{FF2B5EF4-FFF2-40B4-BE49-F238E27FC236}">
                <a16:creationId xmlns:a16="http://schemas.microsoft.com/office/drawing/2014/main" id="{1233E36F-EBB5-2395-560D-417F31EB5C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44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C836-84D3-E1B2-404A-4818FB54B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81A9-674A-1C98-A971-203D59423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9A5DF-B48D-316E-6AD2-C4A6DFFBDA27}"/>
              </a:ext>
            </a:extLst>
          </p:cNvPr>
          <p:cNvSpPr>
            <a:spLocks noGrp="1"/>
          </p:cNvSpPr>
          <p:nvPr>
            <p:ph type="body" idx="1"/>
          </p:nvPr>
        </p:nvSpPr>
        <p:spPr/>
        <p:txBody>
          <a:bodyPr/>
          <a:lstStyle/>
          <a:p>
            <a:pPr algn="l"/>
            <a:r>
              <a:rPr lang="en-US" b="0" i="0" u="none" strike="noStrike" dirty="0">
                <a:solidFill>
                  <a:srgbClr val="000000"/>
                </a:solidFill>
                <a:effectLst/>
              </a:rPr>
              <a:t>Now, Equinix Fabric and Megaport deserve credit.</a:t>
            </a:r>
            <a:br>
              <a:rPr lang="en-US" b="0" i="0" u="none" strike="noStrike" dirty="0">
                <a:solidFill>
                  <a:srgbClr val="000000"/>
                </a:solidFill>
                <a:effectLst/>
              </a:rPr>
            </a:br>
            <a:r>
              <a:rPr lang="en-US" b="0" i="0" u="none" strike="noStrike" dirty="0">
                <a:solidFill>
                  <a:srgbClr val="000000"/>
                </a:solidFill>
                <a:effectLst/>
              </a:rPr>
              <a:t>They proved there’s demand for elastic interconnection.</a:t>
            </a:r>
          </a:p>
          <a:p>
            <a:pPr algn="l"/>
            <a:r>
              <a:rPr lang="en-US" b="0" i="0" u="none" strike="noStrike" dirty="0">
                <a:solidFill>
                  <a:srgbClr val="000000"/>
                </a:solidFill>
                <a:effectLst/>
              </a:rPr>
              <a:t>But carriers rarely participate for three reasons:</a:t>
            </a:r>
          </a:p>
          <a:p>
            <a:pPr algn="l"/>
            <a:endParaRPr lang="en-US" b="0" i="0" u="none" strike="noStrike" dirty="0">
              <a:solidFill>
                <a:srgbClr val="000000"/>
              </a:solidFill>
              <a:effectLst/>
            </a:endParaRPr>
          </a:p>
          <a:p>
            <a:pPr algn="l"/>
            <a:r>
              <a:rPr lang="en-US" b="0" i="0" u="none" strike="noStrike" dirty="0">
                <a:solidFill>
                  <a:srgbClr val="000000"/>
                </a:solidFill>
                <a:effectLst/>
              </a:rPr>
              <a:t>First — the </a:t>
            </a:r>
            <a:r>
              <a:rPr lang="en-US" b="1" i="0" u="none" strike="noStrike" dirty="0">
                <a:solidFill>
                  <a:srgbClr val="000000"/>
                </a:solidFill>
                <a:effectLst/>
              </a:rPr>
              <a:t>on-ramp problem.</a:t>
            </a:r>
            <a:r>
              <a:rPr lang="en-US" b="0" i="0" u="none" strike="noStrike" dirty="0">
                <a:solidFill>
                  <a:srgbClr val="000000"/>
                </a:solidFill>
                <a:effectLst/>
              </a:rPr>
              <a:t> Many simply can’t reach those fabrics easily.</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Second — </a:t>
            </a:r>
            <a:r>
              <a:rPr lang="en-US" b="1" i="0" u="none" strike="noStrike" dirty="0">
                <a:solidFill>
                  <a:srgbClr val="000000"/>
                </a:solidFill>
                <a:effectLst/>
              </a:rPr>
              <a:t>Control.</a:t>
            </a:r>
            <a:r>
              <a:rPr lang="en-US" b="0" i="0" u="none" strike="noStrike" dirty="0">
                <a:solidFill>
                  <a:srgbClr val="000000"/>
                </a:solidFill>
                <a:effectLst/>
              </a:rPr>
              <a:t> No one wants to hand over the customer relationship to a third party. </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Third — </a:t>
            </a:r>
            <a:r>
              <a:rPr lang="en-US" b="1" i="0" u="none" strike="noStrike" dirty="0">
                <a:solidFill>
                  <a:srgbClr val="000000"/>
                </a:solidFill>
                <a:effectLst/>
              </a:rPr>
              <a:t>complexity.</a:t>
            </a:r>
            <a:r>
              <a:rPr lang="en-US" b="0" i="0" u="none" strike="noStrike" dirty="0">
                <a:solidFill>
                  <a:srgbClr val="000000"/>
                </a:solidFill>
                <a:effectLst/>
              </a:rPr>
              <a:t> It’s hard to front-end those systems without heavy development.</a:t>
            </a:r>
          </a:p>
          <a:p>
            <a:pPr algn="l"/>
            <a:endParaRPr lang="en-US" b="0" i="0" u="none" strike="noStrike" dirty="0">
              <a:solidFill>
                <a:srgbClr val="000000"/>
              </a:solidFill>
              <a:effectLst/>
            </a:endParaRPr>
          </a:p>
          <a:p>
            <a:pPr algn="l"/>
            <a:r>
              <a:rPr lang="en-US" b="0" i="0" u="none" strike="noStrike" dirty="0">
                <a:solidFill>
                  <a:srgbClr val="000000"/>
                </a:solidFill>
                <a:effectLst/>
              </a:rPr>
              <a:t>A new approach to interconnecting Ethernet islands requires:</a:t>
            </a:r>
          </a:p>
          <a:p>
            <a:pPr marL="171450" indent="-171450" algn="l">
              <a:buFontTx/>
              <a:buChar char="-"/>
            </a:pPr>
            <a:r>
              <a:rPr lang="en-US" b="0" i="0" u="none" strike="noStrike" dirty="0">
                <a:solidFill>
                  <a:srgbClr val="000000"/>
                </a:solidFill>
                <a:effectLst/>
              </a:rPr>
              <a:t>Automated simplicity </a:t>
            </a:r>
          </a:p>
          <a:p>
            <a:pPr marL="171450" indent="-171450" algn="l">
              <a:buFontTx/>
              <a:buChar char="-"/>
            </a:pPr>
            <a:r>
              <a:rPr lang="en-US" b="0" i="0" u="none" strike="noStrike" dirty="0">
                <a:solidFill>
                  <a:srgbClr val="000000"/>
                </a:solidFill>
                <a:effectLst/>
              </a:rPr>
              <a:t>Complete control over the customer relationship </a:t>
            </a:r>
          </a:p>
          <a:p>
            <a:pPr marL="171450" indent="-171450" algn="l">
              <a:buFontTx/>
              <a:buChar char="-"/>
            </a:pPr>
            <a:r>
              <a:rPr lang="en-US" b="0" i="0" u="none" strike="noStrike" dirty="0">
                <a:solidFill>
                  <a:srgbClr val="000000"/>
                </a:solidFill>
                <a:effectLst/>
              </a:rPr>
              <a:t>End to end visibility </a:t>
            </a:r>
          </a:p>
        </p:txBody>
      </p:sp>
      <p:sp>
        <p:nvSpPr>
          <p:cNvPr id="4" name="Slide Number Placeholder 3">
            <a:extLst>
              <a:ext uri="{FF2B5EF4-FFF2-40B4-BE49-F238E27FC236}">
                <a16:creationId xmlns:a16="http://schemas.microsoft.com/office/drawing/2014/main" id="{B4AA3ABB-3E07-9F7F-556D-EDFB816556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4506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EC562-FFDA-7ED8-2851-0AB8389283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ABD2E-46BD-D3AD-5646-071370A38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844FD-70A9-838D-5DC8-19637156D992}"/>
              </a:ext>
            </a:extLst>
          </p:cNvPr>
          <p:cNvSpPr>
            <a:spLocks noGrp="1"/>
          </p:cNvSpPr>
          <p:nvPr>
            <p:ph type="body" idx="1"/>
          </p:nvPr>
        </p:nvSpPr>
        <p:spPr/>
        <p:txBody>
          <a:bodyPr/>
          <a:lstStyle/>
          <a:p>
            <a:r>
              <a:rPr lang="en-US" dirty="0"/>
              <a:t>What if provisioning private L2 connectivity could be as simple as clicking a button? </a:t>
            </a:r>
          </a:p>
          <a:p>
            <a:r>
              <a:rPr lang="en-US" dirty="0"/>
              <a:t>What if you could provide connectivity to any site or service your customers needed? </a:t>
            </a:r>
          </a:p>
          <a:p>
            <a:r>
              <a:rPr lang="en-US" dirty="0"/>
              <a:t>What if you could offer customers private connectivity to Cloud on-ramps, SaaS applications, AI infrastructure instantly? </a:t>
            </a:r>
          </a:p>
          <a:p>
            <a:endParaRPr lang="en-US" dirty="0"/>
          </a:p>
          <a:p>
            <a:r>
              <a:rPr lang="en-US" dirty="0"/>
              <a:t>What if you could do all this, from your network? </a:t>
            </a:r>
          </a:p>
          <a:p>
            <a:endParaRPr lang="en-US" dirty="0"/>
          </a:p>
          <a:p>
            <a:r>
              <a:rPr lang="en-US" dirty="0"/>
              <a:t>Imagine connectivity anywhere, provisioned instantly without any routing complexity. Completely automated, doesn’t matter what underlay who who owns the infrastructure.</a:t>
            </a:r>
          </a:p>
          <a:p>
            <a:r>
              <a:rPr lang="en-US" dirty="0"/>
              <a:t>A to Z in a click. </a:t>
            </a:r>
          </a:p>
          <a:p>
            <a:endParaRPr lang="en-US" dirty="0"/>
          </a:p>
          <a:p>
            <a:r>
              <a:rPr lang="en-US" dirty="0"/>
              <a:t>Private paths working together to create a private network fabric. No configuration or routing complex. Faster time to market. End to end visibility and control. </a:t>
            </a:r>
          </a:p>
          <a:p>
            <a:endParaRPr lang="en-US" dirty="0"/>
          </a:p>
          <a:p>
            <a:r>
              <a:rPr lang="en-US" dirty="0"/>
              <a:t>This is what MaiaEdge enables. </a:t>
            </a:r>
          </a:p>
        </p:txBody>
      </p:sp>
      <p:sp>
        <p:nvSpPr>
          <p:cNvPr id="4" name="Slide Number Placeholder 3">
            <a:extLst>
              <a:ext uri="{FF2B5EF4-FFF2-40B4-BE49-F238E27FC236}">
                <a16:creationId xmlns:a16="http://schemas.microsoft.com/office/drawing/2014/main" id="{D45FDFEE-2755-D6FC-D325-228F4F0816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2817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FC55-7A57-B5EE-3F91-9254E6B22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E7F36F-4E2E-AEDE-F8B7-F4AA2C80F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CCD2D-B691-CDF4-5320-9674B352561A}"/>
              </a:ext>
            </a:extLst>
          </p:cNvPr>
          <p:cNvSpPr>
            <a:spLocks noGrp="1"/>
          </p:cNvSpPr>
          <p:nvPr>
            <p:ph type="body" idx="1"/>
          </p:nvPr>
        </p:nvSpPr>
        <p:spPr/>
        <p:txBody>
          <a:bodyPr/>
          <a:lstStyle/>
          <a:p>
            <a:r>
              <a:rPr lang="en-US" dirty="0"/>
              <a:t>MaiaEdge fits into your existing network. It sits at the edge and extends what's already there.</a:t>
            </a:r>
          </a:p>
          <a:p>
            <a:endParaRPr lang="en-US" b="1" dirty="0"/>
          </a:p>
          <a:p>
            <a:r>
              <a:rPr lang="en-US" b="1" dirty="0"/>
              <a:t>Context on each pillar:</a:t>
            </a:r>
            <a:endParaRPr lang="en-US" dirty="0"/>
          </a:p>
          <a:p>
            <a:endParaRPr lang="en-US" b="1" dirty="0"/>
          </a:p>
          <a:p>
            <a:r>
              <a:rPr lang="en-US" b="1" dirty="0"/>
              <a:t>Programmable</a:t>
            </a:r>
            <a:r>
              <a:rPr lang="en-US" dirty="0"/>
              <a:t> — Layer 2 Ethernet over fiber or DIA. No routing protocols. Drop a device, configure once, and private paths are instantly available to any connected endpoint.</a:t>
            </a:r>
          </a:p>
          <a:p>
            <a:endParaRPr lang="en-US" b="1" dirty="0"/>
          </a:p>
          <a:p>
            <a:r>
              <a:rPr lang="en-US" b="1" dirty="0"/>
              <a:t>Federate</a:t>
            </a:r>
            <a:r>
              <a:rPr lang="en-US" dirty="0"/>
              <a:t> —This is the NNI story. Instead of months of manual coordination and negotiations to set up static connections, MaiaEdge enables you to establish NNIs instantly over fiber or DIA. Partnerships can be established in minutes instead of months so you can reach further and sell spare capacity to other providers. </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Control</a:t>
            </a:r>
            <a:r>
              <a:rPr lang="en-US" dirty="0"/>
              <a:t> — Connect with partners and to NaaS fabrics like Equinix and Megaport to extend reach and expand service offerings, all while maintaining complete ownership of the customer and gaining end to end visibility and performance control across partner networks. </a:t>
            </a:r>
          </a:p>
          <a:p>
            <a:endParaRPr lang="en-US" b="1" dirty="0"/>
          </a:p>
          <a:p>
            <a:r>
              <a:rPr lang="en-US" b="1" dirty="0"/>
              <a:t>Key differentiator to emphasize:</a:t>
            </a:r>
            <a:r>
              <a:rPr lang="en-US" dirty="0"/>
              <a:t> This isn't a competing NaaS fabric,  it's what lets </a:t>
            </a:r>
            <a:r>
              <a:rPr lang="en-US" i="1" dirty="0"/>
              <a:t>you</a:t>
            </a:r>
            <a:r>
              <a:rPr lang="en-US" dirty="0"/>
              <a:t> build your own fabric. Unlike NaaS, which owns their own network, MaiaEdge </a:t>
            </a:r>
            <a:r>
              <a:rPr lang="en-US" dirty="0" err="1"/>
              <a:t>enalbes</a:t>
            </a:r>
            <a:r>
              <a:rPr lang="en-US" dirty="0"/>
              <a:t> providers to build their own network fabric. Providers maintain complete control over customers relationships. </a:t>
            </a:r>
          </a:p>
          <a:p>
            <a:endParaRPr lang="en-US" dirty="0"/>
          </a:p>
          <a:p>
            <a:r>
              <a:rPr lang="en-US" dirty="0"/>
              <a:t>Key Differentiators: </a:t>
            </a:r>
          </a:p>
          <a:p>
            <a:endParaRPr lang="en-US" dirty="0"/>
          </a:p>
          <a:p>
            <a:pPr latinLnBrk="0"/>
            <a:r>
              <a:rPr lang="en-US" sz="1200" b="1" i="0" kern="1200" dirty="0">
                <a:solidFill>
                  <a:schemeClr val="tx1"/>
                </a:solidFill>
                <a:effectLst/>
                <a:latin typeface="+mn-lt"/>
                <a:ea typeface="+mn-ea"/>
                <a:cs typeface="+mn-cs"/>
              </a:rPr>
              <a:t>Ethernet over DIA. </a:t>
            </a:r>
            <a:r>
              <a:rPr lang="en-US" sz="1200" b="0" i="0" kern="1200" dirty="0">
                <a:solidFill>
                  <a:schemeClr val="tx1"/>
                </a:solidFill>
                <a:effectLst/>
                <a:latin typeface="+mn-lt"/>
                <a:ea typeface="+mn-ea"/>
                <a:cs typeface="+mn-cs"/>
              </a:rPr>
              <a:t>Provision deterministic L2 private paths over DIA instantly. MaiaEdge is the ONLY solution that makes this possible. For network </a:t>
            </a:r>
            <a:r>
              <a:rPr lang="en-US" sz="1200" b="0" i="0" kern="1200" dirty="0" err="1">
                <a:solidFill>
                  <a:schemeClr val="tx1"/>
                </a:solidFill>
                <a:effectLst/>
                <a:latin typeface="+mn-lt"/>
                <a:ea typeface="+mn-ea"/>
                <a:cs typeface="+mn-cs"/>
              </a:rPr>
              <a:t>opetaors</a:t>
            </a:r>
            <a:r>
              <a:rPr lang="en-US" sz="1200" b="0" i="0" kern="1200" dirty="0">
                <a:solidFill>
                  <a:schemeClr val="tx1"/>
                </a:solidFill>
                <a:effectLst/>
                <a:latin typeface="+mn-lt"/>
                <a:ea typeface="+mn-ea"/>
                <a:cs typeface="+mn-cs"/>
              </a:rPr>
              <a:t> this means they can establish connectivity faster and cheaper</a:t>
            </a:r>
            <a:r>
              <a:rPr lang="en-US" sz="1200" b="1" i="0" kern="1200" dirty="0">
                <a:solidFill>
                  <a:schemeClr val="tx1"/>
                </a:solidFill>
                <a:effectLst/>
                <a:latin typeface="+mn-lt"/>
                <a:ea typeface="+mn-ea"/>
                <a:cs typeface="+mn-cs"/>
              </a:rPr>
              <a:t>. </a:t>
            </a:r>
          </a:p>
          <a:p>
            <a:pPr latinLnBrk="0"/>
            <a:endParaRPr lang="en-US" sz="1200" b="0" i="0" kern="1200" dirty="0">
              <a:solidFill>
                <a:schemeClr val="tx1"/>
              </a:solidFill>
              <a:effectLst/>
              <a:latin typeface="+mn-lt"/>
              <a:ea typeface="+mn-ea"/>
              <a:cs typeface="+mn-cs"/>
            </a:endParaRPr>
          </a:p>
          <a:p>
            <a:pPr latinLnBrk="0"/>
            <a:r>
              <a:rPr lang="en-US" sz="1200" b="1" i="0" kern="1200" dirty="0">
                <a:solidFill>
                  <a:schemeClr val="tx1"/>
                </a:solidFill>
                <a:effectLst/>
                <a:latin typeface="+mn-lt"/>
                <a:ea typeface="+mn-ea"/>
                <a:cs typeface="+mn-cs"/>
              </a:rPr>
              <a:t>Cloud access. </a:t>
            </a:r>
            <a:r>
              <a:rPr lang="en-US" sz="1200" b="0" i="0" kern="1200" dirty="0">
                <a:solidFill>
                  <a:schemeClr val="tx1"/>
                </a:solidFill>
                <a:effectLst/>
                <a:latin typeface="+mn-lt"/>
                <a:ea typeface="+mn-ea"/>
                <a:cs typeface="+mn-cs"/>
              </a:rPr>
              <a:t>MaiaEdge gives providers who aren’t yet offering cloud access a very simple way to get started OR drastically simplifies it for those already offering it. If this is interesting to the prospect, use the Simplified Cloud Connectivity slides (slides 40-47). </a:t>
            </a:r>
          </a:p>
          <a:p>
            <a:pPr latinLnBrk="0"/>
            <a:r>
              <a:rPr lang="en-US" sz="1200" b="0" i="0" kern="1200" dirty="0">
                <a:solidFill>
                  <a:schemeClr val="tx1"/>
                </a:solidFill>
                <a:effectLst/>
                <a:latin typeface="+mn-lt"/>
                <a:ea typeface="+mn-ea"/>
                <a:cs typeface="+mn-cs"/>
              </a:rPr>
              <a:t>Many providers don’t know how much revenue they are leaving on the table by not offering cloud on-ramp services. </a:t>
            </a:r>
          </a:p>
          <a:p>
            <a:pPr latinLnBrk="0"/>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023BFB-B1BA-E8E8-CFC8-6346231F04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125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9</a:t>
            </a:fld>
            <a:endParaRPr lang="en-US"/>
          </a:p>
        </p:txBody>
      </p:sp>
    </p:spTree>
    <p:extLst>
      <p:ext uri="{BB962C8B-B14F-4D97-AF65-F5344CB8AC3E}">
        <p14:creationId xmlns:p14="http://schemas.microsoft.com/office/powerpoint/2010/main" val="454340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0DF1-DC72-2C83-B958-39062BE73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88E7BA-DF94-96B9-7121-47A3DD5320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4FC9D4-C115-C15D-805C-06C32898E5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MaiaEdge allows you to dynamically create and route Ethernet paths end to end over a variety of transports. You could use layer 2 and layer 3 to route between them. Across multiple hops and networks. Router can't do that with BGP, a switch can't do that with P4 programmability. You need packet by packet processing. </a:t>
            </a:r>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Ethernet is scalable and simple. </a:t>
            </a:r>
          </a:p>
          <a:p>
            <a:r>
              <a:rPr lang="en-US" sz="1200" kern="1200" dirty="0">
                <a:solidFill>
                  <a:schemeClr val="tx1"/>
                </a:solidFill>
                <a:effectLst/>
                <a:latin typeface="+mn-lt"/>
                <a:ea typeface="+mn-ea"/>
                <a:cs typeface="+mn-cs"/>
              </a:rPr>
              <a:t>Proof: AWS and Azure have been using Ethernet inside their network because of it’s simplicity. NVIDIA is moving from </a:t>
            </a:r>
            <a:r>
              <a:rPr lang="en-US" sz="1200" kern="1200" dirty="0" err="1">
                <a:solidFill>
                  <a:schemeClr val="tx1"/>
                </a:solidFill>
                <a:effectLst/>
                <a:latin typeface="+mn-lt"/>
                <a:ea typeface="+mn-ea"/>
                <a:cs typeface="+mn-cs"/>
              </a:rPr>
              <a:t>Infiniband</a:t>
            </a:r>
            <a:r>
              <a:rPr lang="en-US" sz="1200" kern="1200" dirty="0">
                <a:solidFill>
                  <a:schemeClr val="tx1"/>
                </a:solidFill>
                <a:effectLst/>
                <a:latin typeface="+mn-lt"/>
                <a:ea typeface="+mn-ea"/>
                <a:cs typeface="+mn-cs"/>
              </a:rPr>
              <a:t> to Ethernet. Ethernet is king.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We've taken that simplicity and we are bringing it to the WAN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1"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Integrated Switch for additional port capacity. </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D7C0F1B0-F917-1B7A-7BDE-6B888A8223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028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3A1F6-6699-4B2F-B0F0-2D98FA948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B9F0C-C4B1-4106-4A96-722F1EF439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2EF25CA-EA16-E815-2123-84693DD42D85}"/>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marL="182880" indent="-182880">
              <a:spcBef>
                <a:spcPts val="600"/>
              </a:spcBef>
            </a:pPr>
            <a:r>
              <a:rPr lang="en-US" sz="1200" dirty="0">
                <a:solidFill>
                  <a:schemeClr val="tx1"/>
                </a:solidFill>
              </a:rPr>
              <a:t>Service providers may or not need the integrated switch.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BE17B2CE-BFF9-A618-3220-07A6231191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9778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26D51-3283-9CAE-CA3B-CF8FCDDD7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6A9A9-D677-84C0-EC10-5A55944C4F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DE07FB-274F-2D09-8338-76E5E062CE89}"/>
              </a:ext>
            </a:extLst>
          </p:cNvPr>
          <p:cNvSpPr>
            <a:spLocks noGrp="1"/>
          </p:cNvSpPr>
          <p:nvPr>
            <p:ph type="body" idx="1"/>
          </p:nvPr>
        </p:nvSpPr>
        <p:spPr/>
        <p:txBody>
          <a:bodyPr/>
          <a:lstStyle/>
          <a:p>
            <a:r>
              <a:rPr lang="en-US" i="0" dirty="0"/>
              <a:t>One of the things that's fundamentally different about MaiaEdge is that visibility doesn't stop at your network edge. You can see every hop across your network, across partner networks, through a NaaS fabric, and all the way to the cloud on-ramp. No other platform does that today.</a:t>
            </a:r>
          </a:p>
          <a:p>
            <a:endParaRPr lang="en-US" dirty="0"/>
          </a:p>
          <a:p>
            <a:r>
              <a:rPr lang="en-US" dirty="0"/>
              <a:t>When performance degrades, your team knows exactly where the problem is — before the customer calls. You're not waiting for a partner carrier to investigate their segment. You already have the data.</a:t>
            </a:r>
          </a:p>
          <a:p>
            <a:endParaRPr lang="en-US" dirty="0"/>
          </a:p>
          <a:p>
            <a:endParaRPr lang="en-US" dirty="0"/>
          </a:p>
        </p:txBody>
      </p:sp>
      <p:sp>
        <p:nvSpPr>
          <p:cNvPr id="4" name="Slide Number Placeholder 3">
            <a:extLst>
              <a:ext uri="{FF2B5EF4-FFF2-40B4-BE49-F238E27FC236}">
                <a16:creationId xmlns:a16="http://schemas.microsoft.com/office/drawing/2014/main" id="{103E9CA4-1A9A-ACF0-1841-4CE55296B0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417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A484-16B2-8381-C624-CC42320A6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FB1A-9AC6-1840-5BFB-DAA538C57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9A7EB-466F-FD96-7B56-57573333EF7B}"/>
              </a:ext>
            </a:extLst>
          </p:cNvPr>
          <p:cNvSpPr>
            <a:spLocks noGrp="1"/>
          </p:cNvSpPr>
          <p:nvPr>
            <p:ph type="body" idx="1"/>
          </p:nvPr>
        </p:nvSpPr>
        <p:spPr/>
        <p:txBody>
          <a:bodyPr/>
          <a:lstStyle/>
          <a:p>
            <a:r>
              <a:rPr lang="en-US" dirty="0"/>
              <a:t>This slide shows the two sides of the dashboard: the operator's view and the customer's self-service portal.</a:t>
            </a:r>
          </a:p>
          <a:p>
            <a:endParaRPr lang="en-US" dirty="0"/>
          </a:p>
          <a:p>
            <a:endParaRPr lang="en-US" dirty="0"/>
          </a:p>
          <a:p>
            <a:pPr marL="171450" indent="-171450">
              <a:buFontTx/>
              <a:buChar char="-"/>
            </a:pPr>
            <a:r>
              <a:rPr lang="en-US" dirty="0"/>
              <a:t>The </a:t>
            </a:r>
            <a:r>
              <a:rPr lang="en-US" b="1" dirty="0"/>
              <a:t>operator view</a:t>
            </a:r>
            <a:r>
              <a:rPr lang="en-US" dirty="0"/>
              <a:t> gives full topology, link utilization, and path health across every circuit. </a:t>
            </a:r>
          </a:p>
          <a:p>
            <a:pPr marL="171450" indent="-171450">
              <a:buFontTx/>
              <a:buChar char="-"/>
            </a:pPr>
            <a:r>
              <a:rPr lang="en-US" dirty="0"/>
              <a:t>The white-label </a:t>
            </a:r>
            <a:r>
              <a:rPr lang="en-US" b="1" dirty="0"/>
              <a:t>customer portal: </a:t>
            </a:r>
            <a:r>
              <a:rPr lang="en-US" b="0" dirty="0"/>
              <a:t>Gives customers ability </a:t>
            </a:r>
            <a:r>
              <a:rPr lang="en-US" dirty="0"/>
              <a:t>to self-provision new paths and monitor path performance. The customer view is optional to provide to customers. </a:t>
            </a:r>
          </a:p>
          <a:p>
            <a:pPr marL="171450" indent="-171450">
              <a:buFontTx/>
              <a:buChar char="-"/>
            </a:pPr>
            <a:endParaRPr lang="en-US" dirty="0"/>
          </a:p>
          <a:p>
            <a:pPr marL="171450" indent="-171450">
              <a:buFontTx/>
              <a:buChar char="-"/>
            </a:pPr>
            <a:r>
              <a:rPr lang="en-US" dirty="0"/>
              <a:t>APIs if provider has their own dashboard, but wants to pull in data. </a:t>
            </a:r>
          </a:p>
        </p:txBody>
      </p:sp>
      <p:sp>
        <p:nvSpPr>
          <p:cNvPr id="4" name="Slide Number Placeholder 3">
            <a:extLst>
              <a:ext uri="{FF2B5EF4-FFF2-40B4-BE49-F238E27FC236}">
                <a16:creationId xmlns:a16="http://schemas.microsoft.com/office/drawing/2014/main" id="{3180114E-1EAF-22F1-6DE3-8D15C3CAB7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1136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i="1" kern="1200" dirty="0">
                <a:solidFill>
                  <a:schemeClr val="tx1"/>
                </a:solidFill>
                <a:effectLst/>
                <a:latin typeface="+mn-lt"/>
                <a:ea typeface="+mn-ea"/>
                <a:cs typeface="+mn-cs"/>
              </a:rPr>
              <a:t>How are you connecting AI workloads across sites today?</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How long does it take you to set up connectivity between sites?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Are your workloads centralized or distributed?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How do you connect edge/customer sites to your GPUs?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14</a:t>
            </a:fld>
            <a:endParaRPr lang="en-US"/>
          </a:p>
        </p:txBody>
      </p:sp>
    </p:spTree>
    <p:extLst>
      <p:ext uri="{BB962C8B-B14F-4D97-AF65-F5344CB8AC3E}">
        <p14:creationId xmlns:p14="http://schemas.microsoft.com/office/powerpoint/2010/main" val="1646962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5E20-B3CA-637B-CEFD-4BD8E7685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A1353-1408-A90B-91DD-84426E87B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84A6E-D2AD-98E6-7081-0F9CA9053234}"/>
              </a:ext>
            </a:extLst>
          </p:cNvPr>
          <p:cNvSpPr>
            <a:spLocks noGrp="1"/>
          </p:cNvSpPr>
          <p:nvPr>
            <p:ph type="body" idx="1"/>
          </p:nvPr>
        </p:nvSpPr>
        <p:spPr/>
        <p:txBody>
          <a:bodyPr/>
          <a:lstStyle/>
          <a:p>
            <a:endParaRPr lang="en-US" dirty="0"/>
          </a:p>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 to </a:t>
            </a:r>
            <a:r>
              <a:rPr lang="en-US" b="1" i="0" u="none" strike="noStrike" dirty="0">
                <a:solidFill>
                  <a:srgbClr val="000000"/>
                </a:solidFill>
                <a:effectLst/>
              </a:rPr>
              <a:t>instant private paths</a:t>
            </a:r>
            <a:r>
              <a:rPr lang="en-US" b="0" i="0" u="none" strike="noStrike" dirty="0">
                <a:solidFill>
                  <a:srgbClr val="000000"/>
                </a:solidFill>
                <a:effectLst/>
              </a:rPr>
              <a:t> — ready to sell, ready to scale.</a:t>
            </a:r>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8BD1A5D4-145D-9170-A5FE-62F9C6BC7E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01773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FACC-B25B-3A18-9D5F-878854039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7DFF0-B356-80BE-5890-2A01E2F8A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3DCE1-E66E-8663-CAD8-0255BCA4882E}"/>
              </a:ext>
            </a:extLst>
          </p:cNvPr>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a:extLst>
              <a:ext uri="{FF2B5EF4-FFF2-40B4-BE49-F238E27FC236}">
                <a16:creationId xmlns:a16="http://schemas.microsoft.com/office/drawing/2014/main" id="{F3BC4AFC-606B-2ED0-2B60-84FA7FD80B22}"/>
              </a:ext>
            </a:extLst>
          </p:cNvPr>
          <p:cNvSpPr>
            <a:spLocks noGrp="1"/>
          </p:cNvSpPr>
          <p:nvPr>
            <p:ph type="sldNum" sz="quarter" idx="5"/>
          </p:nvPr>
        </p:nvSpPr>
        <p:spPr/>
        <p:txBody>
          <a:bodyPr/>
          <a:lstStyle/>
          <a:p>
            <a:fld id="{C944395F-77C4-0745-BC4B-7679A3ABCE13}" type="slidenum">
              <a:rPr lang="en-US" smtClean="0"/>
              <a:t>16</a:t>
            </a:fld>
            <a:endParaRPr lang="en-US"/>
          </a:p>
        </p:txBody>
      </p:sp>
    </p:spTree>
    <p:extLst>
      <p:ext uri="{BB962C8B-B14F-4D97-AF65-F5344CB8AC3E}">
        <p14:creationId xmlns:p14="http://schemas.microsoft.com/office/powerpoint/2010/main" val="1094713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CCBD-FB0B-958E-9024-2959DA70A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F422D-935A-0A3A-A8D4-630643F47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E3836-CF88-E343-9C09-202F6E8DBA9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Networks are changing shape. </a:t>
            </a:r>
          </a:p>
          <a:p>
            <a:r>
              <a:rPr lang="en-US" dirty="0"/>
              <a:t>AI training was centralized in massive data centers. Now inference is distributing — to micro data centers, containerized facilities, and edge locations chasing power and proximity to users. </a:t>
            </a:r>
          </a:p>
          <a:p>
            <a:r>
              <a:rPr lang="en-US" dirty="0"/>
              <a:t>These sites are appearing across multiple providers, in locations where network infrastructure wasn't designed for this type of workload.</a:t>
            </a:r>
          </a:p>
          <a:p>
            <a:r>
              <a:rPr lang="en-US" dirty="0"/>
              <a:t>Customers need fast, reliable, private connectivity to GPU clusters, AI factories, cloud storage, and SaaS — often across multiple SPs, over different transport types. </a:t>
            </a:r>
          </a:p>
          <a:p>
            <a:r>
              <a:rPr lang="en-US" dirty="0"/>
              <a:t>There's no easy or consistent way to enforce SLAs across that patchwork.</a:t>
            </a:r>
          </a:p>
          <a:p>
            <a:endParaRPr lang="en-US" dirty="0"/>
          </a:p>
          <a:p>
            <a:endParaRPr lang="en-US" dirty="0"/>
          </a:p>
          <a:p>
            <a:r>
              <a:rPr lang="en-US" b="1" dirty="0"/>
              <a:t>Training Scenario </a:t>
            </a:r>
          </a:p>
          <a:p>
            <a:r>
              <a:rPr lang="en-US" dirty="0"/>
              <a:t>One customer needs to connectivity to a training cluster and their cloud storage. Expensive to bring their traffic from the cloud to the training facility over public IP. </a:t>
            </a:r>
          </a:p>
          <a:p>
            <a:endParaRPr lang="en-US" dirty="0"/>
          </a:p>
          <a:p>
            <a:r>
              <a:rPr lang="en-US" b="1" dirty="0"/>
              <a:t>Distributed Inference Scenario </a:t>
            </a:r>
          </a:p>
          <a:p>
            <a:r>
              <a:rPr lang="en-US" dirty="0"/>
              <a:t>Another customer has 3 sites and needs connectivity to 3 local GPU clusters. Between these sites sits 3 different service providers. Managing those relationships to onboard customers is complex, manual and slow. </a:t>
            </a:r>
          </a:p>
          <a:p>
            <a:endParaRPr lang="en-US" dirty="0"/>
          </a:p>
          <a:p>
            <a:r>
              <a:rPr lang="en-US" b="1" dirty="0"/>
              <a:t>SP Scenario </a:t>
            </a:r>
          </a:p>
          <a:p>
            <a:r>
              <a:rPr lang="en-US" dirty="0"/>
              <a:t>SPs are getting new requests. Arvig (regional fiber operator is getting requests for 400G DIA. SaaS/Storage need to be connected with lower latency than ever before.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Underutilized Fiber could be the connectivity layer for distributed AI, but often just pipes and capacity is hidden and static, not visibility and programmable. </a:t>
            </a:r>
          </a:p>
          <a:p>
            <a:endParaRPr lang="en-US" dirty="0"/>
          </a:p>
          <a:p>
            <a:endParaRPr lang="en-US" dirty="0"/>
          </a:p>
          <a:p>
            <a:endParaRPr lang="en-US" dirty="0"/>
          </a:p>
          <a:p>
            <a:r>
              <a:rPr lang="en-US" dirty="0"/>
              <a:t>Sources </a:t>
            </a:r>
          </a:p>
          <a:p>
            <a:r>
              <a:rPr lang="en-US" b="1" dirty="0"/>
              <a:t>WAN Traffic Growth (300%–700%) &amp; AI Share (30%) by 2034:</a:t>
            </a:r>
            <a:r>
              <a:rPr lang="en-US" dirty="0"/>
              <a:t> Nokia Global Network Traffic Report </a:t>
            </a:r>
            <a:r>
              <a:rPr lang="en-US" dirty="0">
                <a:hlinkClick r:id="rId3"/>
              </a:rPr>
              <a:t>https://www.nokia.com/artificial-intelligence/explainer-network-traffic-is-fundamentally-changing-in-the-ai-supercycle/</a:t>
            </a:r>
            <a:endParaRPr lang="en-US" dirty="0"/>
          </a:p>
          <a:p>
            <a:br>
              <a:rPr lang="en-US" dirty="0"/>
            </a:br>
            <a:r>
              <a:rPr lang="en-US" b="1" dirty="0"/>
              <a:t>Inference = ~67% of All AI Compute by End of 2026:</a:t>
            </a:r>
            <a:r>
              <a:rPr lang="en-US" dirty="0"/>
              <a:t> Deloitte 2026 Technology, Media &amp; Telecommunications Predictions </a:t>
            </a:r>
            <a:r>
              <a:rPr lang="en-US" dirty="0">
                <a:hlinkClick r:id="rId4"/>
              </a:rPr>
              <a:t>https://www.deloitte.com/us/en/insights/industry/technology/technology-media-and-telecom-predictions/2026/compute-power-ai.html</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1F552B5-6E64-9C8E-07FE-C92FF512A54E}"/>
              </a:ext>
            </a:extLst>
          </p:cNvPr>
          <p:cNvSpPr>
            <a:spLocks noGrp="1"/>
          </p:cNvSpPr>
          <p:nvPr>
            <p:ph type="sldNum" sz="quarter" idx="5"/>
          </p:nvPr>
        </p:nvSpPr>
        <p:spPr/>
        <p:txBody>
          <a:bodyPr/>
          <a:lstStyle/>
          <a:p>
            <a:fld id="{5AF6AC72-8866-394F-A09B-4BD4071E7335}" type="slidenum">
              <a:rPr lang="en-US" smtClean="0"/>
              <a:t>17</a:t>
            </a:fld>
            <a:endParaRPr lang="en-US"/>
          </a:p>
        </p:txBody>
      </p:sp>
    </p:spTree>
    <p:extLst>
      <p:ext uri="{BB962C8B-B14F-4D97-AF65-F5344CB8AC3E}">
        <p14:creationId xmlns:p14="http://schemas.microsoft.com/office/powerpoint/2010/main" val="3077959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D9E5-EA15-28E1-787D-4589C8C96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049BC-DFAB-7204-F4D3-A2EAE5112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8F5538-5C61-4B4F-8C68-FA7810405264}"/>
              </a:ext>
            </a:extLst>
          </p:cNvPr>
          <p:cNvSpPr>
            <a:spLocks noGrp="1"/>
          </p:cNvSpPr>
          <p:nvPr>
            <p:ph type="body" idx="1"/>
          </p:nvPr>
        </p:nvSpPr>
        <p:spPr/>
        <p:txBody>
          <a:bodyPr/>
          <a:lstStyle/>
          <a:p>
            <a:r>
              <a:rPr lang="en-US" dirty="0"/>
              <a:t>This diagram makes the problem outlined in Slide 16 more concrete. </a:t>
            </a:r>
          </a:p>
          <a:p>
            <a:endParaRPr lang="en-US" dirty="0"/>
          </a:p>
          <a:p>
            <a:endParaRPr lang="en-US" dirty="0"/>
          </a:p>
        </p:txBody>
      </p:sp>
      <p:sp>
        <p:nvSpPr>
          <p:cNvPr id="4" name="Slide Number Placeholder 3">
            <a:extLst>
              <a:ext uri="{FF2B5EF4-FFF2-40B4-BE49-F238E27FC236}">
                <a16:creationId xmlns:a16="http://schemas.microsoft.com/office/drawing/2014/main" id="{A7599396-918B-06C9-096E-3F82ED75B0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5031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277E-AE54-54A2-BEA3-CCA8E47B0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31F55-A19E-B8EC-A2AD-8BB6FD65B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9154C-FFE2-5995-7C00-358A176B0A9F}"/>
              </a:ext>
            </a:extLst>
          </p:cNvPr>
          <p:cNvSpPr>
            <a:spLocks noGrp="1"/>
          </p:cNvSpPr>
          <p:nvPr>
            <p:ph type="body" idx="1"/>
          </p:nvPr>
        </p:nvSpPr>
        <p:spPr/>
        <p:txBody>
          <a:bodyPr/>
          <a:lstStyle/>
          <a:p>
            <a:r>
              <a:rPr lang="en-US" dirty="0"/>
              <a:t>Current options for connecting distributed AI are </a:t>
            </a:r>
          </a:p>
          <a:p>
            <a:endParaRPr lang="en-US" dirty="0"/>
          </a:p>
          <a:p>
            <a:pPr marL="228600" indent="-228600">
              <a:buAutoNum type="arabicParenR"/>
            </a:pPr>
            <a:r>
              <a:rPr lang="en-US" dirty="0"/>
              <a:t>Using the public internet or </a:t>
            </a:r>
          </a:p>
          <a:p>
            <a:pPr marL="228600" indent="-228600">
              <a:buAutoNum type="arabicParenR"/>
            </a:pPr>
            <a:r>
              <a:rPr lang="en-US" dirty="0"/>
              <a:t>Building a private Fiber Mesh </a:t>
            </a:r>
          </a:p>
          <a:p>
            <a:pPr marL="228600" indent="-228600">
              <a:buAutoNum type="arabicParenR"/>
            </a:pPr>
            <a:endParaRPr lang="en-US" dirty="0"/>
          </a:p>
          <a:p>
            <a:pPr marL="0" indent="0">
              <a:buNone/>
            </a:pPr>
            <a:r>
              <a:rPr lang="en-US" dirty="0"/>
              <a:t>Both come with challenges that create more complexity, especially as you scale. </a:t>
            </a:r>
          </a:p>
        </p:txBody>
      </p:sp>
      <p:sp>
        <p:nvSpPr>
          <p:cNvPr id="4" name="Slide Number Placeholder 3">
            <a:extLst>
              <a:ext uri="{FF2B5EF4-FFF2-40B4-BE49-F238E27FC236}">
                <a16:creationId xmlns:a16="http://schemas.microsoft.com/office/drawing/2014/main" id="{F7B69E5C-7C2C-DE65-E6FB-644B055D13F4}"/>
              </a:ext>
            </a:extLst>
          </p:cNvPr>
          <p:cNvSpPr>
            <a:spLocks noGrp="1"/>
          </p:cNvSpPr>
          <p:nvPr>
            <p:ph type="sldNum" sz="quarter" idx="5"/>
          </p:nvPr>
        </p:nvSpPr>
        <p:spPr/>
        <p:txBody>
          <a:bodyPr/>
          <a:lstStyle/>
          <a:p>
            <a:fld id="{5AF6AC72-8866-394F-A09B-4BD4071E7335}" type="slidenum">
              <a:rPr lang="en-US" smtClean="0"/>
              <a:t>19</a:t>
            </a:fld>
            <a:endParaRPr lang="en-US"/>
          </a:p>
        </p:txBody>
      </p:sp>
    </p:spTree>
    <p:extLst>
      <p:ext uri="{BB962C8B-B14F-4D97-AF65-F5344CB8AC3E}">
        <p14:creationId xmlns:p14="http://schemas.microsoft.com/office/powerpoint/2010/main" val="7410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2BD5-E3B6-9985-BBEB-D2174D025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E4D90-B323-21AC-EC73-E91C4B2C1F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168F8-9F23-7AFC-644A-268938D4E5BF}"/>
              </a:ext>
            </a:extLst>
          </p:cNvPr>
          <p:cNvSpPr>
            <a:spLocks noGrp="1"/>
          </p:cNvSpPr>
          <p:nvPr>
            <p:ph type="body" idx="1"/>
          </p:nvPr>
        </p:nvSpPr>
        <p:spPr/>
        <p:txBody>
          <a:bodyPr/>
          <a:lstStyle/>
          <a:p>
            <a:r>
              <a:rPr lang="en-US" dirty="0"/>
              <a:t>What if you could deploy a new GPU cluster and have private connectivity to every other site provisioned the same day? </a:t>
            </a:r>
          </a:p>
          <a:p>
            <a:endParaRPr lang="en-US" dirty="0"/>
          </a:p>
          <a:p>
            <a:r>
              <a:rPr lang="en-US" dirty="0"/>
              <a:t>What if you could offer customers an instant on ramp to your GPU cluster? </a:t>
            </a:r>
          </a:p>
          <a:p>
            <a:endParaRPr lang="en-US" dirty="0"/>
          </a:p>
          <a:p>
            <a:r>
              <a:rPr lang="en-US" dirty="0"/>
              <a:t>What if you could connect customers to clouds, storage, and SaaS applications via private paths? </a:t>
            </a:r>
          </a:p>
          <a:p>
            <a:endParaRPr lang="en-US" dirty="0"/>
          </a:p>
          <a:p>
            <a:r>
              <a:rPr lang="en-US" dirty="0"/>
              <a:t>All with predictable performance and end to end visibility. </a:t>
            </a:r>
          </a:p>
          <a:p>
            <a:endParaRPr lang="en-US" dirty="0"/>
          </a:p>
          <a:p>
            <a:endParaRPr lang="en-US" dirty="0"/>
          </a:p>
          <a:p>
            <a:r>
              <a:rPr lang="en-US" b="1" dirty="0"/>
              <a:t>Automated</a:t>
            </a:r>
            <a:r>
              <a:rPr lang="en-US" dirty="0"/>
              <a:t> — distributed sites connected over any transport, instantly</a:t>
            </a:r>
          </a:p>
          <a:p>
            <a:r>
              <a:rPr lang="en-US" b="1" dirty="0"/>
              <a:t>Programmable</a:t>
            </a:r>
            <a:r>
              <a:rPr lang="en-US" dirty="0"/>
              <a:t> — predictable performance, not best-effort</a:t>
            </a:r>
          </a:p>
          <a:p>
            <a:r>
              <a:rPr lang="en-US" b="1" dirty="0"/>
              <a:t>Visible</a:t>
            </a:r>
            <a:r>
              <a:rPr lang="en-US" dirty="0"/>
              <a:t> — end-to-end insights across carrier networks</a:t>
            </a:r>
          </a:p>
        </p:txBody>
      </p:sp>
      <p:sp>
        <p:nvSpPr>
          <p:cNvPr id="4" name="Slide Number Placeholder 3">
            <a:extLst>
              <a:ext uri="{FF2B5EF4-FFF2-40B4-BE49-F238E27FC236}">
                <a16:creationId xmlns:a16="http://schemas.microsoft.com/office/drawing/2014/main" id="{CFE2BF87-2E6E-9C9C-FF22-4A7C4A5553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0280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r>
              <a:rPr lang="en-US" dirty="0"/>
              <a:t>AI clusters shouldn't have to negotiate routing complexity. They should simply connect the way servers connect inside a data center, but across any geography, any transport.</a:t>
            </a:r>
          </a:p>
          <a:p>
            <a:r>
              <a:rPr lang="en-US" dirty="0"/>
              <a:t>This is already how hyperscalers operate internally. AWS and Azure run Ethernet inside their networks because of its simplicity. NVIDIA is moving from </a:t>
            </a:r>
            <a:r>
              <a:rPr lang="en-US" dirty="0" err="1"/>
              <a:t>Infiniband</a:t>
            </a:r>
            <a:r>
              <a:rPr lang="en-US" dirty="0"/>
              <a:t> to Ethernet for the same reason. MaiaEdge brings that fabric model to the WAN.</a:t>
            </a:r>
          </a:p>
          <a:p>
            <a:endParaRPr lang="en-US" dirty="0"/>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fld id="{5AF6AC72-8866-394F-A09B-4BD4071E7335}" type="slidenum">
              <a:rPr lang="en-US" smtClean="0"/>
              <a:t>21</a:t>
            </a:fld>
            <a:endParaRPr lang="en-US"/>
          </a:p>
        </p:txBody>
      </p:sp>
    </p:spTree>
    <p:extLst>
      <p:ext uri="{BB962C8B-B14F-4D97-AF65-F5344CB8AC3E}">
        <p14:creationId xmlns:p14="http://schemas.microsoft.com/office/powerpoint/2010/main" val="27829576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88DCB-8EE3-D459-67BF-C326CB132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CD534-EEF1-05C1-495F-EA73CA5A13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3AD799-7E4C-2E2C-4898-DE366F4DB5FE}"/>
              </a:ext>
            </a:extLst>
          </p:cNvPr>
          <p:cNvSpPr>
            <a:spLocks noGrp="1"/>
          </p:cNvSpPr>
          <p:nvPr>
            <p:ph type="body" idx="1"/>
          </p:nvPr>
        </p:nvSpPr>
        <p:spPr/>
        <p:txBody>
          <a:bodyPr/>
          <a:lstStyle/>
          <a:p>
            <a:r>
              <a:rPr lang="en-US" dirty="0"/>
              <a:t>The how-it-works slide. </a:t>
            </a:r>
          </a:p>
          <a:p>
            <a:endParaRPr lang="en-US" dirty="0"/>
          </a:p>
          <a:p>
            <a:r>
              <a:rPr lang="en-US" dirty="0"/>
              <a:t>Three steps:</a:t>
            </a:r>
          </a:p>
          <a:p>
            <a:r>
              <a:rPr lang="en-US" dirty="0"/>
              <a:t>Deploy a MaiaEdge PBC at each data center or inference site</a:t>
            </a:r>
          </a:p>
          <a:p>
            <a:r>
              <a:rPr lang="en-US" dirty="0"/>
              <a:t>Connect over whatever transport is available — 5G, DIA, Wave, Satellite</a:t>
            </a:r>
          </a:p>
          <a:p>
            <a:r>
              <a:rPr lang="en-US" dirty="0"/>
              <a:t>Provision connectivity instantly. </a:t>
            </a:r>
          </a:p>
          <a:p>
            <a:endParaRPr lang="en-US" dirty="0"/>
          </a:p>
          <a:p>
            <a:r>
              <a:rPr lang="en-US" dirty="0"/>
              <a:t>The result is an instant private fabric between your distributed AI sites. </a:t>
            </a:r>
          </a:p>
          <a:p>
            <a:endParaRPr lang="en-US" dirty="0"/>
          </a:p>
          <a:p>
            <a:r>
              <a:rPr lang="en-US" dirty="0"/>
              <a:t>No routing protocols. No manual configuration. No dependency on a single transport type. </a:t>
            </a:r>
          </a:p>
        </p:txBody>
      </p:sp>
      <p:sp>
        <p:nvSpPr>
          <p:cNvPr id="4" name="Slide Number Placeholder 3">
            <a:extLst>
              <a:ext uri="{FF2B5EF4-FFF2-40B4-BE49-F238E27FC236}">
                <a16:creationId xmlns:a16="http://schemas.microsoft.com/office/drawing/2014/main" id="{61379870-5944-D5F3-52C1-DF01D60A33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143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A085D-6EAE-BC01-193E-7DAF5910D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C0568-C974-520B-85BB-9C078BA5C2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561DA0-393B-9340-7B3F-5FE84CC00C43}"/>
              </a:ext>
            </a:extLst>
          </p:cNvPr>
          <p:cNvSpPr>
            <a:spLocks noGrp="1"/>
          </p:cNvSpPr>
          <p:nvPr>
            <p:ph type="body" idx="1"/>
          </p:nvPr>
        </p:nvSpPr>
        <p:spPr/>
        <p:txBody>
          <a:bodyPr/>
          <a:lstStyle/>
          <a:p>
            <a:r>
              <a:rPr lang="en-US" dirty="0">
                <a:ea typeface="Calibri"/>
                <a:cs typeface="Calibri"/>
              </a:rPr>
              <a:t>Instant GPU On-Ramp - Just as cloud on ramps transformed how enterprises connect to major cloud platforms, the rise of distributed AI is driving the need for a similar GPU on ramp to connect customers to GPU clusters. </a:t>
            </a:r>
            <a:r>
              <a:rPr lang="en-US" dirty="0"/>
              <a:t>You can create an instant private on-ramp to your GPUs with deterministic performance. </a:t>
            </a:r>
            <a:endParaRPr lang="en-US" dirty="0">
              <a:ea typeface="Calibri"/>
              <a:cs typeface="Calibri"/>
            </a:endParaRPr>
          </a:p>
          <a:p>
            <a:endParaRPr lang="en-US" dirty="0"/>
          </a:p>
          <a:p>
            <a:r>
              <a:rPr lang="en-US" dirty="0"/>
              <a:t>Cloud Connectivity – Lower egress costs by setting up direct connect to clouds (9c/GB via internet and 2c/GB via direct</a:t>
            </a:r>
          </a:p>
          <a:p>
            <a:r>
              <a:rPr lang="en-US" dirty="0"/>
              <a:t>connect). </a:t>
            </a:r>
          </a:p>
          <a:p>
            <a:endParaRPr lang="en-US" dirty="0"/>
          </a:p>
          <a:p>
            <a:r>
              <a:rPr lang="en-US" dirty="0"/>
              <a:t>Ecosystem - tap into a broader ecosystem to connect your customers to other services. </a:t>
            </a:r>
          </a:p>
        </p:txBody>
      </p:sp>
      <p:sp>
        <p:nvSpPr>
          <p:cNvPr id="4" name="Slide Number Placeholder 3">
            <a:extLst>
              <a:ext uri="{FF2B5EF4-FFF2-40B4-BE49-F238E27FC236}">
                <a16:creationId xmlns:a16="http://schemas.microsoft.com/office/drawing/2014/main" id="{5C78D392-3147-04ED-B1EC-12BCB13651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246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6D8E3-C5A2-B119-E31D-F50068675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6E2EE-9D90-11A6-B22C-4CDA4F809D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D54B15-9782-2A20-3894-010EAE66BC7F}"/>
              </a:ext>
            </a:extLst>
          </p:cNvPr>
          <p:cNvSpPr>
            <a:spLocks noGrp="1"/>
          </p:cNvSpPr>
          <p:nvPr>
            <p:ph type="body" idx="1"/>
          </p:nvPr>
        </p:nvSpPr>
        <p:spPr/>
        <p:txBody>
          <a:bodyPr/>
          <a:lstStyle/>
          <a:p>
            <a:pPr algn="l"/>
            <a:r>
              <a:rPr lang="en-US" b="0"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p>
          <a:p>
            <a:pPr algn="l"/>
            <a:r>
              <a:rPr lang="en-US" b="0" i="1" u="none" strike="noStrike" dirty="0">
                <a:solidFill>
                  <a:srgbClr val="000000"/>
                </a:solidFill>
                <a:effectLst/>
              </a:rPr>
              <a:t>(hand gesture)</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4195805C-1B9D-69A9-6C4D-FC0B92B7AB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4820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9FAD0-7B53-EEFC-EC70-956369CC4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DC628-46F4-9B1D-663E-1D649AE2B96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A095ED-8E30-8849-F245-4E3ED0B05B00}"/>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55D68299-41D8-056E-2947-F3B8A7BF91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567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FAEE0-0249-C33B-DB81-5C4A45484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5464B-878D-B631-3D01-20DD265CAE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B83D05-03EA-B616-619C-68043123E488}"/>
              </a:ext>
            </a:extLst>
          </p:cNvPr>
          <p:cNvSpPr>
            <a:spLocks noGrp="1"/>
          </p:cNvSpPr>
          <p:nvPr>
            <p:ph type="body" idx="1"/>
          </p:nvPr>
        </p:nvSpPr>
        <p:spPr/>
        <p:txBody>
          <a:bodyPr/>
          <a:lstStyle/>
          <a:p>
            <a:r>
              <a:rPr lang="en-US" dirty="0"/>
              <a:t>For AI infrastructure, path visibility is directly tied to workload performance. When a model inference is slow, the first question is always "is it the network?" With MaiaEdge, you have the answer before the question is asked — hop-by-hop telemetry across the full path, even across partner networks.</a:t>
            </a:r>
          </a:p>
          <a:p>
            <a:endParaRPr lang="en-US" i="0" dirty="0"/>
          </a:p>
          <a:p>
            <a:r>
              <a:rPr lang="en-US" i="0" dirty="0"/>
              <a:t>One of the things that's fundamentally different about MaiaEdge is that visibility doesn't stop at your network edge. You can see every hop across your network, across partner networks, through a NaaS fabric, and all the way to the cloud on-ramp. No other platform does that today.</a:t>
            </a:r>
          </a:p>
          <a:p>
            <a:endParaRPr lang="en-US" dirty="0"/>
          </a:p>
          <a:p>
            <a:r>
              <a:rPr lang="en-US" dirty="0"/>
              <a:t>When performance degrades, your team knows exactly where the problem is. </a:t>
            </a:r>
          </a:p>
          <a:p>
            <a:endParaRPr lang="en-US" dirty="0"/>
          </a:p>
        </p:txBody>
      </p:sp>
      <p:sp>
        <p:nvSpPr>
          <p:cNvPr id="4" name="Slide Number Placeholder 3">
            <a:extLst>
              <a:ext uri="{FF2B5EF4-FFF2-40B4-BE49-F238E27FC236}">
                <a16:creationId xmlns:a16="http://schemas.microsoft.com/office/drawing/2014/main" id="{776F92DC-589E-CC4F-5E15-2F212FD5B9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123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93A3E-9963-049F-02F9-2D97F4FA0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681F0-17FC-B0BC-F044-F736859C7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BA2F66-A137-1A68-A53B-79E8249FEA3D}"/>
              </a:ext>
            </a:extLst>
          </p:cNvPr>
          <p:cNvSpPr>
            <a:spLocks noGrp="1"/>
          </p:cNvSpPr>
          <p:nvPr>
            <p:ph type="body" idx="1"/>
          </p:nvPr>
        </p:nvSpPr>
        <p:spPr/>
        <p:txBody>
          <a:bodyPr/>
          <a:lstStyle/>
          <a:p>
            <a:r>
              <a:rPr lang="en-US" dirty="0"/>
              <a:t>The operator view gives full topology, path health, and utilization across every connected cluster and site. For SPs serving multiple AI customers, the multi-tenancy model means complete isolation between customers from a single deployment.</a:t>
            </a:r>
          </a:p>
          <a:p>
            <a:endParaRPr lang="en-US" dirty="0"/>
          </a:p>
          <a:p>
            <a:r>
              <a:rPr lang="en-US" dirty="0"/>
              <a:t>The customer portal lets AI infrastructure operators self-provision new site connectivity and monitor performance without filing a support ticket.</a:t>
            </a:r>
          </a:p>
          <a:p>
            <a:r>
              <a:rPr lang="en-US" dirty="0"/>
              <a:t>APIs available for operators who have their own dashboards but want to pull in MaiaEdge path data.</a:t>
            </a:r>
          </a:p>
          <a:p>
            <a:endParaRPr lang="en-US" dirty="0"/>
          </a:p>
        </p:txBody>
      </p:sp>
      <p:sp>
        <p:nvSpPr>
          <p:cNvPr id="4" name="Slide Number Placeholder 3">
            <a:extLst>
              <a:ext uri="{FF2B5EF4-FFF2-40B4-BE49-F238E27FC236}">
                <a16:creationId xmlns:a16="http://schemas.microsoft.com/office/drawing/2014/main" id="{91596CD4-1AEB-FB9A-1FCC-911AD041FD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759396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827AC-81AA-21A7-9ADE-55E2F4752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D401F-39B1-E716-ACF1-F61F6AD27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20B36-E852-0C06-6E82-C9192F1F98BE}"/>
              </a:ext>
            </a:extLst>
          </p:cNvPr>
          <p:cNvSpPr>
            <a:spLocks noGrp="1"/>
          </p:cNvSpPr>
          <p:nvPr>
            <p:ph type="body" idx="1"/>
          </p:nvPr>
        </p:nvSpPr>
        <p:spPr/>
        <p:txBody>
          <a:bodyPr/>
          <a:lstStyle/>
          <a:p>
            <a:r>
              <a:rPr lang="en-US" dirty="0"/>
              <a:t>Use this as the close for the AI section. The five bullets are the summary of what MaiaEdge delivers for AI infrastructure:</a:t>
            </a:r>
          </a:p>
          <a:p>
            <a:r>
              <a:rPr lang="en-US" b="1" dirty="0"/>
              <a:t>Deterministic performance</a:t>
            </a:r>
            <a:r>
              <a:rPr lang="en-US" dirty="0"/>
              <a:t> — no best-effort routing, guaranteed paths</a:t>
            </a:r>
          </a:p>
          <a:p>
            <a:r>
              <a:rPr lang="en-US" b="1" dirty="0"/>
              <a:t>No routing complexity</a:t>
            </a:r>
            <a:r>
              <a:rPr lang="en-US" dirty="0"/>
              <a:t> — clusters connect without BGP, MPLS, or overlay stacks</a:t>
            </a:r>
          </a:p>
          <a:p>
            <a:r>
              <a:rPr lang="en-US" b="1" dirty="0"/>
              <a:t>Sovereign Routing</a:t>
            </a:r>
            <a:r>
              <a:rPr lang="en-US" dirty="0"/>
              <a:t> — traffic stays private, never touches the public internet</a:t>
            </a:r>
          </a:p>
          <a:p>
            <a:r>
              <a:rPr lang="en-US" b="1" dirty="0"/>
              <a:t>Multi-tenant</a:t>
            </a:r>
            <a:r>
              <a:rPr lang="en-US" dirty="0"/>
              <a:t> — serve multiple AI customers from one platform</a:t>
            </a:r>
          </a:p>
          <a:p>
            <a:r>
              <a:rPr lang="en-US" b="1" dirty="0"/>
              <a:t>End-to-end visibility</a:t>
            </a:r>
            <a:r>
              <a:rPr lang="en-US" dirty="0"/>
              <a:t> — every hop, across every network</a:t>
            </a:r>
          </a:p>
          <a:p>
            <a:r>
              <a:rPr lang="en-US" dirty="0"/>
              <a:t>One PBC at each site. Ethernet over DIA or wave. Live in minutes.</a:t>
            </a:r>
          </a:p>
          <a:p>
            <a:r>
              <a:rPr lang="en-US" dirty="0"/>
              <a:t>If it's the right moment: </a:t>
            </a:r>
            <a:r>
              <a:rPr lang="en-US" i="1" dirty="0"/>
              <a:t>"Which of these five matters most to what you're trying to solve?"</a:t>
            </a:r>
            <a:endParaRPr lang="en-US" dirty="0"/>
          </a:p>
          <a:p>
            <a:endParaRPr lang="en-US" dirty="0"/>
          </a:p>
        </p:txBody>
      </p:sp>
      <p:sp>
        <p:nvSpPr>
          <p:cNvPr id="4" name="Slide Number Placeholder 3">
            <a:extLst>
              <a:ext uri="{FF2B5EF4-FFF2-40B4-BE49-F238E27FC236}">
                <a16:creationId xmlns:a16="http://schemas.microsoft.com/office/drawing/2014/main" id="{0EB6A8AC-9FEB-BFFA-7738-27C29006BC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9291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EA531-248A-E7C4-7437-F25337737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E30B0-2237-D41D-4961-FDFB3EF2C7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6EEB0F-D7A0-01C7-041F-EF25E090123A}"/>
              </a:ext>
            </a:extLst>
          </p:cNvPr>
          <p:cNvSpPr>
            <a:spLocks noGrp="1"/>
          </p:cNvSpPr>
          <p:nvPr>
            <p:ph type="body" idx="1"/>
          </p:nvPr>
        </p:nvSpPr>
        <p:spPr/>
        <p:txBody>
          <a:bodyPr/>
          <a:lstStyle/>
          <a:p>
            <a:pPr algn="l"/>
            <a:r>
              <a:rPr lang="en-US" b="0" i="0" u="none" strike="noStrike">
                <a:effectLst/>
                <a:latin typeface="fkGroteskNeue"/>
              </a:rPr>
              <a:t>Here it is—the hero. The MaiaEdge appliance is the single install that turns any on‑net building into an on‑demand edge. Once it’s in, services stop being projects and start being products—ordered, priced, and turned up in minutes, not weeks.</a:t>
            </a:r>
          </a:p>
          <a:p>
            <a:pPr algn="l"/>
            <a:r>
              <a:rPr lang="en-US" b="0" i="0" u="none" strike="noStrike">
                <a:effectLst/>
                <a:latin typeface="fkGroteskNeue"/>
              </a:rPr>
              <a:t>One device, many private paths. After the initial fiber and device install, every new circuit is software‑defined and API‑driven—no routing stacks to manage, no repeat truck rolls.</a:t>
            </a:r>
          </a:p>
          <a:p>
            <a:endParaRPr lang="en-US"/>
          </a:p>
          <a:p>
            <a:endParaRPr lang="en-US"/>
          </a:p>
        </p:txBody>
      </p:sp>
      <p:sp>
        <p:nvSpPr>
          <p:cNvPr id="4" name="Slide Number Placeholder 3">
            <a:extLst>
              <a:ext uri="{FF2B5EF4-FFF2-40B4-BE49-F238E27FC236}">
                <a16:creationId xmlns:a16="http://schemas.microsoft.com/office/drawing/2014/main" id="{57B04845-F4EE-12A2-1F67-4E8D3BD8B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1339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i="1" kern="1200" dirty="0">
                <a:solidFill>
                  <a:schemeClr val="tx1"/>
                </a:solidFill>
                <a:effectLst/>
                <a:latin typeface="+mn-lt"/>
                <a:ea typeface="+mn-ea"/>
                <a:cs typeface="+mn-cs"/>
              </a:rPr>
              <a:t>How long does it take to provision cross-connects?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Do customers ask for cloud on-ramp or inter-DC connectivity?</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 Do you have a service fabric like Equinox with market place. How easy is it to manage ?</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944395F-77C4-0745-BC4B-7679A3ABCE13}" type="slidenum">
              <a:rPr lang="en-US" smtClean="0"/>
              <a:t>30</a:t>
            </a:fld>
            <a:endParaRPr lang="en-US"/>
          </a:p>
        </p:txBody>
      </p:sp>
    </p:spTree>
    <p:extLst>
      <p:ext uri="{BB962C8B-B14F-4D97-AF65-F5344CB8AC3E}">
        <p14:creationId xmlns:p14="http://schemas.microsoft.com/office/powerpoint/2010/main" val="35947821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D049B-CFC5-2F55-B9CD-10FCF4978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D8496-8100-DA2D-273E-7F520A4F9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D4EF0-9025-80C6-02A6-3F9A7336E154}"/>
              </a:ext>
            </a:extLst>
          </p:cNvPr>
          <p:cNvSpPr>
            <a:spLocks noGrp="1"/>
          </p:cNvSpPr>
          <p:nvPr>
            <p:ph type="body" idx="1"/>
          </p:nvPr>
        </p:nvSpPr>
        <p:spPr/>
        <p:txBody>
          <a:bodyPr/>
          <a:lstStyle/>
          <a:p>
            <a:endParaRPr lang="en-US" dirty="0"/>
          </a:p>
          <a:p>
            <a:pPr algn="l"/>
            <a:r>
              <a:rPr lang="en-US" b="1" i="0" u="none" strike="noStrike" dirty="0">
                <a:solidFill>
                  <a:srgbClr val="000000"/>
                </a:solidFill>
                <a:effectLst/>
              </a:rPr>
              <a:t>Our Vision: Instant Private Connectivity, Anywhere</a:t>
            </a:r>
          </a:p>
          <a:p>
            <a:pPr algn="l"/>
            <a:endParaRPr lang="en-US" b="0" i="0" u="none" strike="noStrike" dirty="0">
              <a:solidFill>
                <a:srgbClr val="000000"/>
              </a:solidFill>
              <a:effectLst/>
            </a:endParaRPr>
          </a:p>
          <a:p>
            <a:pPr algn="l"/>
            <a:r>
              <a:rPr lang="en-US" b="0" i="0" u="none" strike="noStrike" dirty="0">
                <a:solidFill>
                  <a:srgbClr val="000000"/>
                </a:solidFill>
                <a:effectLst/>
              </a:rPr>
              <a:t>From under-utilized fiber — to </a:t>
            </a:r>
            <a:r>
              <a:rPr lang="en-US" b="1" i="0" u="none" strike="noStrike" dirty="0">
                <a:solidFill>
                  <a:srgbClr val="000000"/>
                </a:solidFill>
                <a:effectLst/>
              </a:rPr>
              <a:t>instant private paths</a:t>
            </a:r>
            <a:r>
              <a:rPr lang="en-US" b="0" i="0" u="none" strike="noStrike" dirty="0">
                <a:solidFill>
                  <a:srgbClr val="000000"/>
                </a:solidFill>
                <a:effectLst/>
              </a:rPr>
              <a:t> — ready to sell, ready to scale.</a:t>
            </a:r>
            <a:br>
              <a:rPr lang="en-US" b="0" i="0" u="none" strike="noStrike" dirty="0">
                <a:solidFill>
                  <a:srgbClr val="000000"/>
                </a:solidFill>
                <a:effectLst/>
              </a:rPr>
            </a:br>
            <a:r>
              <a:rPr lang="en-US" b="0" i="0" u="none" strike="noStrike" dirty="0">
                <a:solidFill>
                  <a:srgbClr val="000000"/>
                </a:solidFill>
                <a:effectLst/>
              </a:rPr>
              <a:t>That’s our vision.</a:t>
            </a:r>
          </a:p>
          <a:p>
            <a:pPr algn="l"/>
            <a:endParaRPr lang="en-US" b="0" i="0" u="none" strike="noStrike" dirty="0">
              <a:solidFill>
                <a:srgbClr val="000000"/>
              </a:solidFill>
              <a:effectLst/>
            </a:endParaRPr>
          </a:p>
          <a:p>
            <a:pPr algn="l"/>
            <a:r>
              <a:rPr lang="en-US" b="0" i="0" u="none" strike="noStrike" dirty="0">
                <a:solidFill>
                  <a:srgbClr val="000000"/>
                </a:solidFill>
                <a:effectLst/>
              </a:rPr>
              <a:t>For operators, this means: no waiting on builds, no new routing protocols, and </a:t>
            </a:r>
            <a:r>
              <a:rPr lang="en-US" b="1" i="0" u="none" strike="noStrike" dirty="0">
                <a:solidFill>
                  <a:srgbClr val="000000"/>
                </a:solidFill>
                <a:effectLst/>
              </a:rPr>
              <a:t>instant monetization</a:t>
            </a:r>
            <a:r>
              <a:rPr lang="en-US" b="0" i="0" u="none" strike="noStrike" dirty="0">
                <a:solidFill>
                  <a:srgbClr val="000000"/>
                </a:solidFill>
                <a:effectLst/>
              </a:rPr>
              <a:t> of the network you already own.</a:t>
            </a:r>
            <a:br>
              <a:rPr lang="en-US" b="0" i="0" u="none" strike="noStrike" dirty="0">
                <a:solidFill>
                  <a:srgbClr val="000000"/>
                </a:solidFill>
                <a:effectLst/>
              </a:rPr>
            </a:br>
            <a:r>
              <a:rPr lang="en-US" b="0" i="0" u="none" strike="noStrike" dirty="0">
                <a:solidFill>
                  <a:srgbClr val="000000"/>
                </a:solidFill>
                <a:effectLst/>
              </a:rPr>
              <a:t>For end customers, it’s the first time private connectivity feels like cloud — on-demand, API-driven, consumption-based.</a:t>
            </a:r>
          </a:p>
          <a:p>
            <a:pPr algn="l"/>
            <a:br>
              <a:rPr lang="en-US" b="0" i="0" u="none" strike="noStrike" dirty="0">
                <a:solidFill>
                  <a:srgbClr val="000000"/>
                </a:solidFill>
                <a:effectLst/>
              </a:rPr>
            </a:br>
            <a:r>
              <a:rPr lang="en-US" b="0" i="0" u="none" strike="noStrike" dirty="0">
                <a:solidFill>
                  <a:srgbClr val="000000"/>
                </a:solidFill>
                <a:effectLst/>
              </a:rPr>
              <a:t>Technical simplicity </a:t>
            </a:r>
            <a:r>
              <a:rPr lang="en-US" b="0" i="1" u="none" strike="noStrike" dirty="0">
                <a:solidFill>
                  <a:srgbClr val="000000"/>
                </a:solidFill>
                <a:effectLst/>
              </a:rPr>
              <a:t>is</a:t>
            </a:r>
            <a:r>
              <a:rPr lang="en-US" b="0" i="0" u="none" strike="noStrike" dirty="0">
                <a:solidFill>
                  <a:srgbClr val="000000"/>
                </a:solidFill>
                <a:effectLst/>
              </a:rPr>
              <a:t> economic opportunity.</a:t>
            </a:r>
          </a:p>
          <a:p>
            <a:pPr algn="l"/>
            <a:br>
              <a:rPr lang="en-US" b="0" i="0" u="none" strike="noStrike" dirty="0">
                <a:solidFill>
                  <a:srgbClr val="000000"/>
                </a:solidFill>
                <a:effectLst/>
              </a:rPr>
            </a:br>
            <a:r>
              <a:rPr lang="en-US" b="0" i="0" u="none" strike="noStrike" dirty="0">
                <a:solidFill>
                  <a:srgbClr val="000000"/>
                </a:solidFill>
                <a:effectLst/>
              </a:rPr>
              <a:t>When connecting sites becomes push-button easy, fiber finally behaves like a digital asset, not real estate.</a:t>
            </a:r>
          </a:p>
          <a:p>
            <a:endParaRPr lang="en-US" dirty="0"/>
          </a:p>
        </p:txBody>
      </p:sp>
      <p:sp>
        <p:nvSpPr>
          <p:cNvPr id="4" name="Slide Number Placeholder 3">
            <a:extLst>
              <a:ext uri="{FF2B5EF4-FFF2-40B4-BE49-F238E27FC236}">
                <a16:creationId xmlns:a16="http://schemas.microsoft.com/office/drawing/2014/main" id="{E9DCC5A3-32A3-7F97-A3E5-5E5673348E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0771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A72E-B534-A80A-DFA1-F6C3B0B6F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0C3FE-42E4-A43F-D5C0-5AE29721D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9AD3D3-A0D1-06EA-B9B6-B9F697A06B6A}"/>
              </a:ext>
            </a:extLst>
          </p:cNvPr>
          <p:cNvSpPr>
            <a:spLocks noGrp="1"/>
          </p:cNvSpPr>
          <p:nvPr>
            <p:ph type="body" idx="1"/>
          </p:nvPr>
        </p:nvSpPr>
        <p:spPr/>
        <p:txBody>
          <a:bodyPr/>
          <a:lstStyle/>
          <a:p>
            <a:pPr algn="l"/>
            <a:r>
              <a:rPr lang="en-US" b="0" i="0" u="none" strike="noStrike" dirty="0">
                <a:solidFill>
                  <a:srgbClr val="000000"/>
                </a:solidFill>
                <a:effectLst/>
              </a:rPr>
              <a:t>Our leadership team has been doing this for decades. Our mission across </a:t>
            </a:r>
            <a:r>
              <a:rPr lang="en-US" b="0" i="0" u="none" strike="noStrike" dirty="0" err="1">
                <a:solidFill>
                  <a:srgbClr val="000000"/>
                </a:solidFill>
                <a:effectLst/>
              </a:rPr>
              <a:t>mulitiple</a:t>
            </a:r>
            <a:r>
              <a:rPr lang="en-US" b="0" i="0" u="none" strike="noStrike" dirty="0">
                <a:solidFill>
                  <a:srgbClr val="000000"/>
                </a:solidFill>
                <a:effectLst/>
              </a:rPr>
              <a:t> companies has been the same – simplifying network connectivity. </a:t>
            </a: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pPr algn="l"/>
            <a:r>
              <a:rPr lang="en-US" b="0" i="0" u="none" strike="noStrike" dirty="0">
                <a:solidFill>
                  <a:srgbClr val="000000"/>
                </a:solidFill>
                <a:effectLst/>
              </a:rPr>
              <a:t>Acme Packet — Voice was fragmented across incompatible networks. The SBC became the standard bridging layer. It's still running in 90% of global carriers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000000"/>
                </a:solidFill>
                <a:effectLst/>
              </a:rPr>
              <a:t>Cisco –  transformational in MPLS architecture, our CEO led that team </a:t>
            </a:r>
          </a:p>
          <a:p>
            <a:pPr algn="l"/>
            <a:r>
              <a:rPr lang="en-US" b="0" i="0" u="none" strike="noStrike" dirty="0">
                <a:solidFill>
                  <a:srgbClr val="000000"/>
                </a:solidFill>
                <a:effectLst/>
              </a:rPr>
              <a:t>128 Technology — IP routing was expensive, rigid, and hard to manage at scale. Secure Vector Routing (SD-WAN) simplified it. 128T was Juniper's largest acquisition.</a:t>
            </a:r>
          </a:p>
          <a:p>
            <a:pPr algn="l"/>
            <a:r>
              <a:rPr lang="en-US" b="0" i="0" u="none" strike="noStrike" dirty="0">
                <a:solidFill>
                  <a:srgbClr val="000000"/>
                </a:solidFill>
                <a:effectLst/>
              </a:rPr>
              <a:t>Juniper and Mist Systems – AIOps </a:t>
            </a:r>
          </a:p>
          <a:p>
            <a:pPr algn="l"/>
            <a:r>
              <a:rPr lang="en-US" b="0" i="0" u="none" strike="noStrike" dirty="0">
                <a:solidFill>
                  <a:srgbClr val="000000"/>
                </a:solidFill>
                <a:effectLst/>
              </a:rPr>
              <a:t>MaiaEdge — Private Ethernet connectivity is fragmented, static, and manually provisioned. Same problem, next evolution in networking. </a:t>
            </a:r>
          </a:p>
          <a:p>
            <a:pPr algn="l"/>
            <a:endParaRPr lang="en-US" b="0" i="0" u="none" strike="noStrike" dirty="0">
              <a:solidFill>
                <a:srgbClr val="000000"/>
              </a:solidFill>
              <a:effectLst/>
            </a:endParaRPr>
          </a:p>
          <a:p>
            <a:pPr algn="l"/>
            <a:br>
              <a:rPr lang="en-US" b="0" i="0" u="none" strike="noStrike" dirty="0">
                <a:solidFill>
                  <a:srgbClr val="000000"/>
                </a:solidFill>
                <a:effectLst/>
              </a:rPr>
            </a:br>
            <a:r>
              <a:rPr lang="en-US" b="1" i="0" u="none" strike="noStrike" dirty="0">
                <a:solidFill>
                  <a:srgbClr val="000000"/>
                </a:solidFill>
                <a:effectLst/>
              </a:rPr>
              <a:t>Timeline </a:t>
            </a:r>
          </a:p>
          <a:p>
            <a:pPr algn="l"/>
            <a:r>
              <a:rPr lang="en-US" b="0" i="0" u="none" strike="noStrike" dirty="0">
                <a:solidFill>
                  <a:srgbClr val="000000"/>
                </a:solidFill>
                <a:effectLst/>
              </a:rPr>
              <a:t>Andy and Pat Founded Acme Packet in 2000 </a:t>
            </a:r>
          </a:p>
          <a:p>
            <a:pPr algn="l"/>
            <a:r>
              <a:rPr lang="en-US" b="0" i="0" u="none" strike="noStrike" dirty="0">
                <a:solidFill>
                  <a:srgbClr val="000000"/>
                </a:solidFill>
                <a:effectLst/>
              </a:rPr>
              <a:t>Invested the Session Border Controller, for connecting VoIP, Technology today is used </a:t>
            </a:r>
            <a:r>
              <a:rPr lang="en-US" sz="1200" dirty="0">
                <a:solidFill>
                  <a:srgbClr val="FFFFFF">
                    <a:lumMod val="85000"/>
                  </a:srgbClr>
                </a:solidFill>
                <a:latin typeface="Arial"/>
              </a:rPr>
              <a:t>by </a:t>
            </a:r>
            <a:r>
              <a:rPr kumimoji="0" lang="en-US" sz="1200" b="0" i="0" u="none" strike="noStrike" kern="1200" cap="none" spc="0" normalizeH="0" baseline="0" noProof="0" dirty="0">
                <a:ln>
                  <a:noFill/>
                </a:ln>
                <a:solidFill>
                  <a:srgbClr val="FFFFFF">
                    <a:lumMod val="85000"/>
                  </a:srgbClr>
                </a:solidFill>
                <a:effectLst/>
                <a:uLnTx/>
                <a:uFillTx/>
                <a:latin typeface="Arial"/>
                <a:ea typeface="+mn-ea"/>
                <a:cs typeface="+mn-cs"/>
              </a:rPr>
              <a:t>90% of the global 100 Carriers and largest Enterprises</a:t>
            </a:r>
            <a:endParaRPr lang="en-US" b="0" i="0" u="none" strike="noStrike" dirty="0">
              <a:solidFill>
                <a:srgbClr val="000000"/>
              </a:solidFill>
              <a:effectLst/>
            </a:endParaRPr>
          </a:p>
          <a:p>
            <a:pPr algn="l"/>
            <a:r>
              <a:rPr lang="en-US" b="0" i="0" u="none" strike="noStrike" dirty="0">
                <a:solidFill>
                  <a:srgbClr val="000000"/>
                </a:solidFill>
                <a:effectLst/>
              </a:rPr>
              <a:t>Went Public in 2006 and was acquired by Oracle in 2013 for $2B</a:t>
            </a:r>
          </a:p>
          <a:p>
            <a:pPr algn="l"/>
            <a:endParaRPr lang="en-US" b="0" i="0" u="none" strike="noStrike" dirty="0">
              <a:solidFill>
                <a:srgbClr val="000000"/>
              </a:solidFill>
              <a:effectLst/>
            </a:endParaRPr>
          </a:p>
          <a:p>
            <a:pPr algn="l"/>
            <a:r>
              <a:rPr lang="en-US" b="0" i="0" u="none" strike="noStrike" dirty="0">
                <a:solidFill>
                  <a:srgbClr val="000000"/>
                </a:solidFill>
                <a:effectLst/>
              </a:rPr>
              <a:t>Andy and Pat founded 128 Technology 2014 </a:t>
            </a:r>
          </a:p>
          <a:p>
            <a:pPr algn="l"/>
            <a:r>
              <a:rPr lang="en-US" b="0" i="0" u="none" strike="noStrike" dirty="0">
                <a:solidFill>
                  <a:srgbClr val="000000"/>
                </a:solidFill>
                <a:effectLst/>
              </a:rPr>
              <a:t>Acquired by Juniper in 2020 as the routing engine for Mist in the AI-Driven enterprise business unit. Juniper’s largest acquisition. </a:t>
            </a:r>
          </a:p>
          <a:p>
            <a:pPr algn="l"/>
            <a:endParaRPr lang="en-US" b="0" i="0" u="none" strike="noStrike" dirty="0">
              <a:solidFill>
                <a:srgbClr val="000000"/>
              </a:solidFill>
              <a:effectLst/>
            </a:endParaRPr>
          </a:p>
          <a:p>
            <a:pPr algn="l"/>
            <a:r>
              <a:rPr lang="en-US" b="0" i="0" u="none" strike="noStrike" dirty="0">
                <a:solidFill>
                  <a:srgbClr val="000000"/>
                </a:solidFill>
                <a:effectLst/>
              </a:rPr>
              <a:t>Same team started MaiaEdge in 2024. </a:t>
            </a:r>
          </a:p>
          <a:p>
            <a:pPr algn="l"/>
            <a:endParaRPr lang="en-US" b="0" i="0" u="none" strike="noStrike" dirty="0">
              <a:solidFill>
                <a:srgbClr val="000000"/>
              </a:solidFill>
              <a:effectLst/>
              <a:latin typeface="-webkit-standard"/>
            </a:endParaRPr>
          </a:p>
          <a:p>
            <a:pPr algn="l"/>
            <a:r>
              <a:rPr lang="en-US" b="1" i="0" u="none" strike="noStrike" dirty="0">
                <a:solidFill>
                  <a:srgbClr val="000000"/>
                </a:solidFill>
                <a:effectLst/>
                <a:latin typeface="-webkit-standard"/>
              </a:rPr>
              <a:t>People have come out of retirement for MaiaEdge because they believe in the leadership and the product. </a:t>
            </a:r>
            <a:endParaRPr lang="en-US" b="1" dirty="0"/>
          </a:p>
        </p:txBody>
      </p:sp>
      <p:sp>
        <p:nvSpPr>
          <p:cNvPr id="4" name="Slide Number Placeholder 3">
            <a:extLst>
              <a:ext uri="{FF2B5EF4-FFF2-40B4-BE49-F238E27FC236}">
                <a16:creationId xmlns:a16="http://schemas.microsoft.com/office/drawing/2014/main" id="{92FCCD29-BC68-94B8-7893-776C866BA6F2}"/>
              </a:ext>
            </a:extLst>
          </p:cNvPr>
          <p:cNvSpPr>
            <a:spLocks noGrp="1"/>
          </p:cNvSpPr>
          <p:nvPr>
            <p:ph type="sldNum" sz="quarter" idx="5"/>
          </p:nvPr>
        </p:nvSpPr>
        <p:spPr/>
        <p:txBody>
          <a:bodyPr/>
          <a:lstStyle/>
          <a:p>
            <a:fld id="{C944395F-77C4-0745-BC4B-7679A3ABCE13}" type="slidenum">
              <a:rPr lang="en-US" smtClean="0"/>
              <a:t>32</a:t>
            </a:fld>
            <a:endParaRPr lang="en-US"/>
          </a:p>
        </p:txBody>
      </p:sp>
    </p:spTree>
    <p:extLst>
      <p:ext uri="{BB962C8B-B14F-4D97-AF65-F5344CB8AC3E}">
        <p14:creationId xmlns:p14="http://schemas.microsoft.com/office/powerpoint/2010/main" val="275753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869C-3BA9-C148-11CC-003FEB762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D1D684-C40B-80ED-196E-B41B7D368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94B7F-0A38-8B01-B05C-41BBE003D48D}"/>
              </a:ext>
            </a:extLst>
          </p:cNvPr>
          <p:cNvSpPr>
            <a:spLocks noGrp="1"/>
          </p:cNvSpPr>
          <p:nvPr>
            <p:ph type="body" idx="1"/>
          </p:nvPr>
        </p:nvSpPr>
        <p:spPr/>
        <p:txBody>
          <a:bodyPr/>
          <a:lstStyle/>
          <a:p>
            <a:r>
              <a:rPr lang="en-US" b="0" dirty="0"/>
              <a:t>Traditional interconnection methods are bottleneck. </a:t>
            </a:r>
          </a:p>
          <a:p>
            <a:endParaRPr lang="en-US" b="1" dirty="0"/>
          </a:p>
          <a:p>
            <a:endParaRPr lang="en-US" b="1" dirty="0"/>
          </a:p>
          <a:p>
            <a:r>
              <a:rPr lang="en-US" b="1" dirty="0"/>
              <a:t>Manual</a:t>
            </a:r>
            <a:r>
              <a:rPr lang="en-US" dirty="0"/>
              <a:t> — Cross-connects are still largely an engineering task. Every new connection requires configuration work, physical coordination, and time. At scale this becomes a staffing problem and a speed-to-revenue problem. </a:t>
            </a:r>
          </a:p>
          <a:p>
            <a:endParaRPr lang="en-US" dirty="0"/>
          </a:p>
          <a:p>
            <a:r>
              <a:rPr lang="en-US" b="1" dirty="0"/>
              <a:t>No On-Ramp</a:t>
            </a:r>
            <a:r>
              <a:rPr lang="en-US" dirty="0"/>
              <a:t> — Tenants increasingly expect cloud connectivity as a native service. The options today are: build it yourself (expensive and complex) or route through NaaS fabrics like Equinix or Megaport, which take a share of the revenue and own part of the customer relationship.</a:t>
            </a:r>
          </a:p>
          <a:p>
            <a:endParaRPr lang="en-US" b="1" dirty="0"/>
          </a:p>
          <a:p>
            <a:r>
              <a:rPr lang="en-US" b="1" dirty="0"/>
              <a:t>No Marketplace</a:t>
            </a:r>
            <a:r>
              <a:rPr lang="en-US" dirty="0"/>
              <a:t> — An Equinix-style connectivity marketplace is a real competitive differentiator. It's also prohibitively expensive to build from scratch. Most </a:t>
            </a:r>
            <a:r>
              <a:rPr lang="en-US" dirty="0" err="1"/>
              <a:t>colo</a:t>
            </a:r>
            <a:r>
              <a:rPr lang="en-US" dirty="0"/>
              <a:t> operators don't have the engineering resources or capital to replicate it.</a:t>
            </a:r>
          </a:p>
          <a:p>
            <a:endParaRPr lang="en-US" dirty="0"/>
          </a:p>
        </p:txBody>
      </p:sp>
      <p:sp>
        <p:nvSpPr>
          <p:cNvPr id="4" name="Slide Number Placeholder 3">
            <a:extLst>
              <a:ext uri="{FF2B5EF4-FFF2-40B4-BE49-F238E27FC236}">
                <a16:creationId xmlns:a16="http://schemas.microsoft.com/office/drawing/2014/main" id="{4AB0A194-6F7D-EE3B-8E46-6AAEDFD696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33936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FD22E-600A-47DC-A22D-7AA03F67A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13325F-A9C9-6C1E-7649-3F573EFC2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E1FF43-413E-7F78-14A8-189131767319}"/>
              </a:ext>
            </a:extLst>
          </p:cNvPr>
          <p:cNvSpPr>
            <a:spLocks noGrp="1"/>
          </p:cNvSpPr>
          <p:nvPr>
            <p:ph type="body" idx="1"/>
          </p:nvPr>
        </p:nvSpPr>
        <p:spPr/>
        <p:txBody>
          <a:bodyPr/>
          <a:lstStyle/>
          <a:p>
            <a:r>
              <a:rPr lang="en-US" dirty="0"/>
              <a:t>What if a tenant could request a cross-connect and have it live in minutes — no work order, no engineering queue?</a:t>
            </a:r>
          </a:p>
          <a:p>
            <a:r>
              <a:rPr lang="en-US" dirty="0"/>
              <a:t>What if you could offer cloud on-ramps, AI infrastructure access, and SaaS connectivity as native services from your facility — without ceding the customer relationship to a third-party fabric?</a:t>
            </a:r>
          </a:p>
          <a:p>
            <a:r>
              <a:rPr lang="en-US" dirty="0"/>
              <a:t>What if you could give tenants a marketplace that looks and feels like what the largest exchanges offer, without years of development? </a:t>
            </a:r>
          </a:p>
          <a:p>
            <a:endParaRPr lang="en-US" dirty="0"/>
          </a:p>
        </p:txBody>
      </p:sp>
      <p:sp>
        <p:nvSpPr>
          <p:cNvPr id="4" name="Slide Number Placeholder 3">
            <a:extLst>
              <a:ext uri="{FF2B5EF4-FFF2-40B4-BE49-F238E27FC236}">
                <a16:creationId xmlns:a16="http://schemas.microsoft.com/office/drawing/2014/main" id="{2F78C730-7428-AF3D-9BB5-86E4D487F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49891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0036E-1FB2-E813-E28F-4D2014EAD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35CB9-5EB6-8A99-D71A-AA825D5C0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24E85-28D3-CC20-F6B1-F9A46911D746}"/>
              </a:ext>
            </a:extLst>
          </p:cNvPr>
          <p:cNvSpPr>
            <a:spLocks noGrp="1"/>
          </p:cNvSpPr>
          <p:nvPr>
            <p:ph type="body" idx="1"/>
          </p:nvPr>
        </p:nvSpPr>
        <p:spPr/>
        <p:txBody>
          <a:bodyPr/>
          <a:lstStyle/>
          <a:p>
            <a:r>
              <a:rPr lang="en-US" b="1" dirty="0"/>
              <a:t>Automated</a:t>
            </a:r>
            <a:r>
              <a:rPr lang="en-US" dirty="0"/>
              <a:t> — Cross-connects and private Ethernet paths provisioned in minutes. No routing complexity, no engineering queue. Physical infrastructure stays the same — what changes is how quickly it can be configured and turned up.</a:t>
            </a:r>
          </a:p>
          <a:p>
            <a:endParaRPr lang="en-US" dirty="0"/>
          </a:p>
          <a:p>
            <a:r>
              <a:rPr lang="en-US" b="1" dirty="0"/>
              <a:t>Self-Service Portal</a:t>
            </a:r>
            <a:r>
              <a:rPr lang="en-US" dirty="0"/>
              <a:t> — Tenants can provision their own connectivity through a white-labeled portal under your brand. New connection, path monitoring, policy management — all self-serve. </a:t>
            </a:r>
          </a:p>
          <a:p>
            <a:endParaRPr lang="en-US" b="1" dirty="0"/>
          </a:p>
          <a:p>
            <a:r>
              <a:rPr lang="en-US" b="1" dirty="0"/>
              <a:t>Marketplace</a:t>
            </a:r>
            <a:r>
              <a:rPr lang="en-US" dirty="0"/>
              <a:t> — Connect tenants to cloud on-ramps, SaaS services, AI infrastructure, and partner DCs through a marketplace you operate. You stay in the middle. You own the tenant, you own the revenue. </a:t>
            </a:r>
          </a:p>
        </p:txBody>
      </p:sp>
      <p:sp>
        <p:nvSpPr>
          <p:cNvPr id="4" name="Slide Number Placeholder 3">
            <a:extLst>
              <a:ext uri="{FF2B5EF4-FFF2-40B4-BE49-F238E27FC236}">
                <a16:creationId xmlns:a16="http://schemas.microsoft.com/office/drawing/2014/main" id="{00CC3B70-2E47-FB14-033B-E2F647CF0D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44395F-77C4-0745-BC4B-7679A3ABC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932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8EC32-38D0-365B-46CA-073538EB9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CD306A-A1C9-CF2B-67E7-70C6998A9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E69B3-2083-7563-D715-BAB44CB12C0E}"/>
              </a:ext>
            </a:extLst>
          </p:cNvPr>
          <p:cNvSpPr>
            <a:spLocks noGrp="1"/>
          </p:cNvSpPr>
          <p:nvPr>
            <p:ph type="body" idx="1"/>
          </p:nvPr>
        </p:nvSpPr>
        <p:spPr/>
        <p:txBody>
          <a:bodyPr/>
          <a:lstStyle/>
          <a:p>
            <a:r>
              <a:rPr lang="en-US" dirty="0"/>
              <a:t>Instantly connect your distributed data centers over DIA or wave.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Drop a PBC to instantly extend your reach – a new facility, a partner site, a remote </a:t>
            </a:r>
            <a:r>
              <a:rPr lang="en-US" dirty="0" err="1"/>
              <a:t>PoP</a:t>
            </a:r>
            <a:r>
              <a:rPr lang="en-US" dirty="0"/>
              <a:t>.</a:t>
            </a:r>
          </a:p>
          <a:p>
            <a:r>
              <a:rPr lang="en-US" dirty="0"/>
              <a:t>Instantly establish private Ethernet connectivity between two PBCs </a:t>
            </a:r>
          </a:p>
          <a:p>
            <a:r>
              <a:rPr lang="en-US" dirty="0"/>
              <a:t>See every network hop regardless of underlying transport. </a:t>
            </a:r>
          </a:p>
          <a:p>
            <a:endParaRPr lang="en-US" dirty="0"/>
          </a:p>
          <a:p>
            <a:endParaRPr lang="en-US" dirty="0"/>
          </a:p>
        </p:txBody>
      </p:sp>
      <p:sp>
        <p:nvSpPr>
          <p:cNvPr id="4" name="Slide Number Placeholder 3">
            <a:extLst>
              <a:ext uri="{FF2B5EF4-FFF2-40B4-BE49-F238E27FC236}">
                <a16:creationId xmlns:a16="http://schemas.microsoft.com/office/drawing/2014/main" id="{29FDF54C-EEFA-514C-C6D0-82C4A747E322}"/>
              </a:ext>
            </a:extLst>
          </p:cNvPr>
          <p:cNvSpPr>
            <a:spLocks noGrp="1"/>
          </p:cNvSpPr>
          <p:nvPr>
            <p:ph type="sldNum" sz="quarter" idx="5"/>
          </p:nvPr>
        </p:nvSpPr>
        <p:spPr/>
        <p:txBody>
          <a:bodyPr/>
          <a:lstStyle/>
          <a:p>
            <a:fld id="{5AF6AC72-8866-394F-A09B-4BD4071E7335}" type="slidenum">
              <a:rPr lang="en-US" smtClean="0"/>
              <a:t>36</a:t>
            </a:fld>
            <a:endParaRPr lang="en-US"/>
          </a:p>
        </p:txBody>
      </p:sp>
    </p:spTree>
    <p:extLst>
      <p:ext uri="{BB962C8B-B14F-4D97-AF65-F5344CB8AC3E}">
        <p14:creationId xmlns:p14="http://schemas.microsoft.com/office/powerpoint/2010/main" val="25367162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5EF2F-3356-CD85-91B0-D3060EDCC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6982F-24BD-319E-83D5-252CEA75A6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53DC3A-EA91-4990-CBC4-631D4F33D882}"/>
              </a:ext>
            </a:extLst>
          </p:cNvPr>
          <p:cNvSpPr>
            <a:spLocks noGrp="1"/>
          </p:cNvSpPr>
          <p:nvPr>
            <p:ph type="body" idx="1"/>
          </p:nvPr>
        </p:nvSpPr>
        <p:spPr/>
        <p:txBody>
          <a:bodyPr/>
          <a:lstStyle/>
          <a:p>
            <a:pPr algn="l"/>
            <a:r>
              <a:rPr lang="en-US" b="0" i="0" u="none" strike="noStrike" dirty="0">
                <a:solidFill>
                  <a:srgbClr val="000000"/>
                </a:solidFill>
                <a:effectLst/>
              </a:rPr>
              <a:t>MaiaEdge has two components working together.</a:t>
            </a:r>
          </a:p>
          <a:p>
            <a:pPr algn="l"/>
            <a:endParaRPr lang="en-US" b="0" i="0" u="none" strike="noStrike" dirty="0">
              <a:solidFill>
                <a:srgbClr val="000000"/>
              </a:solidFill>
              <a:effectLst/>
            </a:endParaRPr>
          </a:p>
          <a:p>
            <a:pPr algn="l"/>
            <a:r>
              <a:rPr lang="en-US" b="0" i="0" u="none" strike="noStrike" dirty="0">
                <a:solidFill>
                  <a:srgbClr val="000000"/>
                </a:solidFill>
                <a:effectLst/>
              </a:rPr>
              <a:t>First, the </a:t>
            </a:r>
            <a:r>
              <a:rPr lang="en-US" b="1" i="0" u="none" strike="noStrike" dirty="0">
                <a:solidFill>
                  <a:srgbClr val="000000"/>
                </a:solidFill>
                <a:effectLst/>
              </a:rPr>
              <a:t>Path Border Controller</a:t>
            </a:r>
            <a:r>
              <a:rPr lang="en-US" b="0" i="0" u="none" strike="noStrike" dirty="0">
                <a:solidFill>
                  <a:srgbClr val="000000"/>
                </a:solidFill>
                <a:effectLst/>
              </a:rPr>
              <a:t> — a dual-100 Gig appliance that merges Layer 2 and 3 into one stateless edge.</a:t>
            </a:r>
            <a:br>
              <a:rPr lang="en-US" b="0" i="0" u="none" strike="noStrike" dirty="0">
                <a:solidFill>
                  <a:srgbClr val="000000"/>
                </a:solidFill>
                <a:effectLst/>
              </a:rPr>
            </a:br>
            <a:r>
              <a:rPr lang="en-US" b="0" i="0" u="none" strike="noStrike" dirty="0">
                <a:solidFill>
                  <a:srgbClr val="000000"/>
                </a:solidFill>
                <a:effectLst/>
              </a:rPr>
              <a:t>It’s hardware-optimized for throughput, encryption, and zero-touch provisioning.</a:t>
            </a:r>
          </a:p>
          <a:p>
            <a:pPr algn="l"/>
            <a:endParaRPr lang="en-US" b="0" i="0" u="none" strike="noStrike" dirty="0">
              <a:solidFill>
                <a:srgbClr val="000000"/>
              </a:solidFill>
              <a:effectLst/>
            </a:endParaRPr>
          </a:p>
          <a:p>
            <a:pPr algn="l"/>
            <a:r>
              <a:rPr lang="en-US" b="0" i="0" u="none" strike="noStrike" dirty="0">
                <a:solidFill>
                  <a:srgbClr val="000000"/>
                </a:solidFill>
                <a:effectLst/>
              </a:rPr>
              <a:t>Second, the </a:t>
            </a:r>
            <a:r>
              <a:rPr lang="en-US" b="1" i="0" u="none" strike="noStrike" dirty="0">
                <a:solidFill>
                  <a:srgbClr val="000000"/>
                </a:solidFill>
                <a:effectLst/>
              </a:rPr>
              <a:t>Path Computation Engine</a:t>
            </a:r>
            <a:r>
              <a:rPr lang="en-US" b="0" i="0" u="none" strike="noStrike" dirty="0">
                <a:solidFill>
                  <a:srgbClr val="000000"/>
                </a:solidFill>
                <a:effectLst/>
              </a:rPr>
              <a:t> — our cloud-native orchestration layer.</a:t>
            </a:r>
            <a:br>
              <a:rPr lang="en-US" b="0" i="0" u="none" strike="noStrike" dirty="0">
                <a:solidFill>
                  <a:srgbClr val="000000"/>
                </a:solidFill>
                <a:effectLst/>
              </a:rPr>
            </a:br>
            <a:r>
              <a:rPr lang="en-US" b="0" i="0" u="none" strike="noStrike" dirty="0">
                <a:solidFill>
                  <a:srgbClr val="000000"/>
                </a:solidFill>
                <a:effectLst/>
              </a:rPr>
              <a:t>It computes deterministic paths in real time, automates NNIs, and allows carriers to federate while remaining fully sovereign.</a:t>
            </a:r>
          </a:p>
          <a:p>
            <a:pPr algn="l"/>
            <a:r>
              <a:rPr lang="en-US" b="0" i="1" u="none" strike="noStrike" dirty="0">
                <a:solidFill>
                  <a:srgbClr val="000000"/>
                </a:solidFill>
                <a:effectLst/>
              </a:rPr>
              <a:t>(hand gesture)</a:t>
            </a:r>
            <a:br>
              <a:rPr lang="en-US" b="0" i="0" u="none" strike="noStrike" dirty="0">
                <a:solidFill>
                  <a:srgbClr val="000000"/>
                </a:solidFill>
                <a:effectLst/>
              </a:rPr>
            </a:br>
            <a:endParaRPr lang="en-US" b="0" i="0" u="none" strike="noStrike" dirty="0">
              <a:solidFill>
                <a:srgbClr val="000000"/>
              </a:solidFill>
              <a:effectLst/>
            </a:endParaRPr>
          </a:p>
          <a:p>
            <a:pPr algn="l"/>
            <a:r>
              <a:rPr lang="en-US" b="0" i="0" u="none" strike="noStrike" dirty="0">
                <a:solidFill>
                  <a:srgbClr val="000000"/>
                </a:solidFill>
                <a:effectLst/>
              </a:rPr>
              <a:t>Together they form a </a:t>
            </a:r>
            <a:r>
              <a:rPr lang="en-US" b="1" i="0" u="none" strike="noStrike" dirty="0">
                <a:solidFill>
                  <a:srgbClr val="000000"/>
                </a:solidFill>
                <a:effectLst/>
              </a:rPr>
              <a:t>carrier-neutral NNI engine</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 MPLS upgrades. No SRv6. Just plug it in, register it, and deliver private paths instantly — over fiber or DIA.</a:t>
            </a:r>
          </a:p>
          <a:p>
            <a:pPr algn="l"/>
            <a:r>
              <a:rPr lang="en-US" b="0" i="0" u="none" strike="noStrike" dirty="0">
                <a:solidFill>
                  <a:srgbClr val="000000"/>
                </a:solidFill>
                <a:effectLst/>
              </a:rPr>
              <a:t>That’s instant private connectivity.</a:t>
            </a:r>
          </a:p>
          <a:p>
            <a:pPr algn="l"/>
            <a:endParaRPr lang="en-US" b="0" i="0" u="none" strike="noStrike" dirty="0">
              <a:solidFill>
                <a:srgbClr val="000000"/>
              </a:solidFill>
              <a:effectLst/>
            </a:endParaRPr>
          </a:p>
          <a:p>
            <a:pPr algn="l"/>
            <a:r>
              <a:rPr lang="en-US" b="0" i="0" u="none" strike="noStrike" dirty="0">
                <a:solidFill>
                  <a:srgbClr val="000000"/>
                </a:solidFill>
                <a:effectLst/>
              </a:rPr>
              <a:t>Plug and play – you don’t have to change your core network </a:t>
            </a:r>
          </a:p>
          <a:p>
            <a:endParaRPr lang="en-US" dirty="0"/>
          </a:p>
        </p:txBody>
      </p:sp>
      <p:sp>
        <p:nvSpPr>
          <p:cNvPr id="4" name="Slide Number Placeholder 3">
            <a:extLst>
              <a:ext uri="{FF2B5EF4-FFF2-40B4-BE49-F238E27FC236}">
                <a16:creationId xmlns:a16="http://schemas.microsoft.com/office/drawing/2014/main" id="{9575570D-14EA-1C94-165B-0D6A20EB79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55822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2C800-9876-18DD-D635-2A9B7657E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E6168-76AA-9EA7-60CE-1F06496B1F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316561-BEE8-4310-9100-3F1907ABE334}"/>
              </a:ext>
            </a:extLst>
          </p:cNvPr>
          <p:cNvSpPr>
            <a:spLocks noGrp="1"/>
          </p:cNvSpPr>
          <p:nvPr>
            <p:ph type="body" idx="1"/>
          </p:nvPr>
        </p:nvSpPr>
        <p:spPr/>
        <p:txBody>
          <a:bodyPr/>
          <a:lstStyle/>
          <a:p>
            <a:pPr marL="182880" indent="-182880">
              <a:spcBef>
                <a:spcPts val="600"/>
              </a:spcBef>
            </a:pPr>
            <a:r>
              <a:rPr lang="en-US" dirty="0"/>
              <a:t>The Port Extender is the integrated switch that sits alongside the PBC to add port density at customer sites. It's not a separate management headache, all managed from the same cloud-native dashboard. </a:t>
            </a:r>
          </a:p>
          <a:p>
            <a:pPr marL="182880" indent="-182880">
              <a:spcBef>
                <a:spcPts val="600"/>
              </a:spcBef>
            </a:pPr>
            <a:endParaRPr lang="en-US" sz="1200" dirty="0">
              <a:solidFill>
                <a:schemeClr val="tx1"/>
              </a:solidFill>
            </a:endParaRPr>
          </a:p>
          <a:p>
            <a:pPr algn="l"/>
            <a:endParaRPr lang="en-US" b="0" i="0" u="none" strike="noStrike" dirty="0">
              <a:solidFill>
                <a:srgbClr val="000000"/>
              </a:solidFill>
              <a:effectLst/>
            </a:endParaRPr>
          </a:p>
          <a:p>
            <a:pPr algn="l"/>
            <a:endParaRPr lang="en-US" b="0" i="0" u="none" strike="noStrike" dirty="0">
              <a:solidFill>
                <a:srgbClr val="000000"/>
              </a:solidFill>
              <a:effectLst/>
            </a:endParaRPr>
          </a:p>
          <a:p>
            <a:endParaRPr lang="en-US" dirty="0"/>
          </a:p>
        </p:txBody>
      </p:sp>
      <p:sp>
        <p:nvSpPr>
          <p:cNvPr id="4" name="Slide Number Placeholder 3">
            <a:extLst>
              <a:ext uri="{FF2B5EF4-FFF2-40B4-BE49-F238E27FC236}">
                <a16:creationId xmlns:a16="http://schemas.microsoft.com/office/drawing/2014/main" id="{79ABAE6A-E127-182D-A730-6E5A63D7DA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22822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AAD1B-4129-D3EB-02DE-D51BCA3C9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7820C-59B3-A01E-2B37-03B894A412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910479-6C13-0B3B-06BB-7FC11B35FAFF}"/>
              </a:ext>
            </a:extLst>
          </p:cNvPr>
          <p:cNvSpPr>
            <a:spLocks noGrp="1"/>
          </p:cNvSpPr>
          <p:nvPr>
            <p:ph type="body" idx="1"/>
          </p:nvPr>
        </p:nvSpPr>
        <p:spPr/>
        <p:txBody>
          <a:bodyPr/>
          <a:lstStyle/>
          <a:p>
            <a:r>
              <a:rPr lang="en-US" dirty="0"/>
              <a:t>End to end visibility. From customer site, across partner network, through NaaS fabric, cloud on ramp, and into customer cloud profile (cloud profile would only be visible to the end user). </a:t>
            </a:r>
          </a:p>
        </p:txBody>
      </p:sp>
      <p:sp>
        <p:nvSpPr>
          <p:cNvPr id="4" name="Slide Number Placeholder 3">
            <a:extLst>
              <a:ext uri="{FF2B5EF4-FFF2-40B4-BE49-F238E27FC236}">
                <a16:creationId xmlns:a16="http://schemas.microsoft.com/office/drawing/2014/main" id="{094F1B9E-615D-9E47-1D62-A44A333620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20011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8B38-6338-12EB-09A9-CE5FF0241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A01E7-7F1C-1861-2016-147922101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F5B50-420B-4F7D-E06A-E9C5CCB231CB}"/>
              </a:ext>
            </a:extLst>
          </p:cNvPr>
          <p:cNvSpPr>
            <a:spLocks noGrp="1"/>
          </p:cNvSpPr>
          <p:nvPr>
            <p:ph type="body" idx="1"/>
          </p:nvPr>
        </p:nvSpPr>
        <p:spPr/>
        <p:txBody>
          <a:bodyPr/>
          <a:lstStyle/>
          <a:p>
            <a:r>
              <a:rPr lang="en-US" dirty="0"/>
              <a:t>The operator view gives full topology, link utilization, and path health across every tenant circuit and DCI connection</a:t>
            </a:r>
          </a:p>
          <a:p>
            <a:endParaRPr lang="en-US" dirty="0"/>
          </a:p>
          <a:p>
            <a:r>
              <a:rPr lang="en-US" dirty="0"/>
              <a:t>The tenant portal is white-labeled under your brand. Tenants can self-provision connections and monitor their own paths performance. For </a:t>
            </a:r>
            <a:r>
              <a:rPr lang="en-US" dirty="0" err="1"/>
              <a:t>colo</a:t>
            </a:r>
            <a:r>
              <a:rPr lang="en-US" dirty="0"/>
              <a:t> operators looking to differentiate on experience, this is a direct answer to what the larger exchanges offer.</a:t>
            </a:r>
          </a:p>
          <a:p>
            <a:r>
              <a:rPr lang="en-US" dirty="0"/>
              <a:t>APIs available for operators who want to pull MaiaEdge path data into their own management platform.</a:t>
            </a:r>
          </a:p>
          <a:p>
            <a:endParaRPr lang="en-US" dirty="0"/>
          </a:p>
        </p:txBody>
      </p:sp>
      <p:sp>
        <p:nvSpPr>
          <p:cNvPr id="4" name="Slide Number Placeholder 3">
            <a:extLst>
              <a:ext uri="{FF2B5EF4-FFF2-40B4-BE49-F238E27FC236}">
                <a16:creationId xmlns:a16="http://schemas.microsoft.com/office/drawing/2014/main" id="{FB7F5F66-18E0-9149-C5D3-11FADFFBEF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77345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440BA-3BB6-A1A6-F30C-4221382D3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71240-9488-FA44-0111-5D776AAF6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A4A114-4142-8254-0BD5-EF942F341F28}"/>
              </a:ext>
            </a:extLst>
          </p:cNvPr>
          <p:cNvSpPr>
            <a:spLocks noGrp="1"/>
          </p:cNvSpPr>
          <p:nvPr>
            <p:ph type="body" idx="1"/>
          </p:nvPr>
        </p:nvSpPr>
        <p:spPr/>
        <p:txBody>
          <a:bodyPr/>
          <a:lstStyle/>
          <a:p>
            <a:r>
              <a:rPr lang="en-US" dirty="0"/>
              <a:t>This section can be used in any discussion. It outlines 3 easy routes for starting cloud on ramp services or simplifying existing ones. </a:t>
            </a:r>
          </a:p>
        </p:txBody>
      </p:sp>
      <p:sp>
        <p:nvSpPr>
          <p:cNvPr id="4" name="Slide Number Placeholder 3">
            <a:extLst>
              <a:ext uri="{FF2B5EF4-FFF2-40B4-BE49-F238E27FC236}">
                <a16:creationId xmlns:a16="http://schemas.microsoft.com/office/drawing/2014/main" id="{C2B51BE0-5A75-DFAA-C70A-78751F136616}"/>
              </a:ext>
            </a:extLst>
          </p:cNvPr>
          <p:cNvSpPr>
            <a:spLocks noGrp="1"/>
          </p:cNvSpPr>
          <p:nvPr>
            <p:ph type="sldNum" sz="quarter" idx="5"/>
          </p:nvPr>
        </p:nvSpPr>
        <p:spPr/>
        <p:txBody>
          <a:bodyPr/>
          <a:lstStyle/>
          <a:p>
            <a:fld id="{C944395F-77C4-0745-BC4B-7679A3ABCE13}" type="slidenum">
              <a:rPr lang="en-US" smtClean="0"/>
              <a:t>41</a:t>
            </a:fld>
            <a:endParaRPr lang="en-US"/>
          </a:p>
        </p:txBody>
      </p:sp>
    </p:spTree>
    <p:extLst>
      <p:ext uri="{BB962C8B-B14F-4D97-AF65-F5344CB8AC3E}">
        <p14:creationId xmlns:p14="http://schemas.microsoft.com/office/powerpoint/2010/main" val="7963684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86B4-7622-9296-E6C8-CE251A529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F0507-9EF2-C650-0CC7-93EB9AD184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48C7D-A4BB-C89C-0781-F7F4FDFA3FE3}"/>
              </a:ext>
            </a:extLst>
          </p:cNvPr>
          <p:cNvSpPr>
            <a:spLocks noGrp="1"/>
          </p:cNvSpPr>
          <p:nvPr>
            <p:ph type="body" idx="1"/>
          </p:nvPr>
        </p:nvSpPr>
        <p:spPr/>
        <p:txBody>
          <a:bodyPr/>
          <a:lstStyle/>
          <a:p>
            <a:endParaRPr lang="en-US"/>
          </a:p>
          <a:p>
            <a:pPr algn="l"/>
            <a:r>
              <a:rPr lang="en-US" b="1" i="0" u="none" strike="noStrike">
                <a:solidFill>
                  <a:srgbClr val="000000"/>
                </a:solidFill>
                <a:effectLst/>
              </a:rPr>
              <a:t>Our Vision: Instant Private Connectivity, Anywhere</a:t>
            </a:r>
          </a:p>
          <a:p>
            <a:pPr algn="l"/>
            <a:endParaRPr lang="en-US" b="0" i="0" u="none" strike="noStrike">
              <a:solidFill>
                <a:srgbClr val="000000"/>
              </a:solidFill>
              <a:effectLst/>
            </a:endParaRPr>
          </a:p>
          <a:p>
            <a:pPr algn="l"/>
            <a:r>
              <a:rPr lang="en-US" b="0" i="0" u="none" strike="noStrike">
                <a:solidFill>
                  <a:srgbClr val="000000"/>
                </a:solidFill>
                <a:effectLst/>
              </a:rPr>
              <a:t>From under-utilized fiber — to </a:t>
            </a:r>
            <a:r>
              <a:rPr lang="en-US" b="1" i="0" u="none" strike="noStrike">
                <a:solidFill>
                  <a:srgbClr val="000000"/>
                </a:solidFill>
                <a:effectLst/>
              </a:rPr>
              <a:t>instant private paths</a:t>
            </a:r>
            <a:r>
              <a:rPr lang="en-US" b="0" i="0" u="none" strike="noStrike">
                <a:solidFill>
                  <a:srgbClr val="000000"/>
                </a:solidFill>
                <a:effectLst/>
              </a:rPr>
              <a:t> — ready to sell, ready to scale.</a:t>
            </a:r>
            <a:br>
              <a:rPr lang="en-US" b="0" i="0" u="none" strike="noStrike">
                <a:solidFill>
                  <a:srgbClr val="000000"/>
                </a:solidFill>
                <a:effectLst/>
              </a:rPr>
            </a:br>
            <a:r>
              <a:rPr lang="en-US" b="0" i="0" u="none" strike="noStrike">
                <a:solidFill>
                  <a:srgbClr val="000000"/>
                </a:solidFill>
                <a:effectLst/>
              </a:rPr>
              <a:t>That’s our vision.</a:t>
            </a:r>
          </a:p>
          <a:p>
            <a:pPr algn="l"/>
            <a:endParaRPr lang="en-US" b="0" i="0" u="none" strike="noStrike">
              <a:solidFill>
                <a:srgbClr val="000000"/>
              </a:solidFill>
              <a:effectLst/>
            </a:endParaRPr>
          </a:p>
          <a:p>
            <a:pPr algn="l"/>
            <a:r>
              <a:rPr lang="en-US" b="0" i="0" u="none" strike="noStrike">
                <a:solidFill>
                  <a:srgbClr val="000000"/>
                </a:solidFill>
                <a:effectLst/>
              </a:rPr>
              <a:t>For operators, this means: no waiting on builds, no new routing protocols, and </a:t>
            </a:r>
            <a:r>
              <a:rPr lang="en-US" b="1" i="0" u="none" strike="noStrike">
                <a:solidFill>
                  <a:srgbClr val="000000"/>
                </a:solidFill>
                <a:effectLst/>
              </a:rPr>
              <a:t>instant monetization</a:t>
            </a:r>
            <a:r>
              <a:rPr lang="en-US" b="0" i="0" u="none" strike="noStrike">
                <a:solidFill>
                  <a:srgbClr val="000000"/>
                </a:solidFill>
                <a:effectLst/>
              </a:rPr>
              <a:t> of the network you already own.</a:t>
            </a:r>
            <a:br>
              <a:rPr lang="en-US" b="0" i="0" u="none" strike="noStrike">
                <a:solidFill>
                  <a:srgbClr val="000000"/>
                </a:solidFill>
                <a:effectLst/>
              </a:rPr>
            </a:br>
            <a:r>
              <a:rPr lang="en-US" b="0" i="0" u="none" strike="noStrike">
                <a:solidFill>
                  <a:srgbClr val="000000"/>
                </a:solidFill>
                <a:effectLst/>
              </a:rPr>
              <a:t>For end customers, it’s the first time private connectivity feels like cloud — on-demand, API-driven, consumption-based.</a:t>
            </a:r>
          </a:p>
          <a:p>
            <a:pPr algn="l"/>
            <a:r>
              <a:rPr lang="en-US" b="0" i="1" u="none" strike="noStrike">
                <a:solidFill>
                  <a:srgbClr val="000000"/>
                </a:solidFill>
                <a:effectLst/>
              </a:rPr>
              <a:t>(short pause)</a:t>
            </a:r>
          </a:p>
          <a:p>
            <a:pPr algn="l"/>
            <a:br>
              <a:rPr lang="en-US" b="0" i="0" u="none" strike="noStrike">
                <a:solidFill>
                  <a:srgbClr val="000000"/>
                </a:solidFill>
                <a:effectLst/>
              </a:rPr>
            </a:br>
            <a:r>
              <a:rPr lang="en-US" b="0" i="0" u="none" strike="noStrike">
                <a:solidFill>
                  <a:srgbClr val="000000"/>
                </a:solidFill>
                <a:effectLst/>
              </a:rPr>
              <a:t>Technical simplicity </a:t>
            </a:r>
            <a:r>
              <a:rPr lang="en-US" b="0" i="1" u="none" strike="noStrike">
                <a:solidFill>
                  <a:srgbClr val="000000"/>
                </a:solidFill>
                <a:effectLst/>
              </a:rPr>
              <a:t>is</a:t>
            </a:r>
            <a:r>
              <a:rPr lang="en-US" b="0" i="0" u="none" strike="noStrike">
                <a:solidFill>
                  <a:srgbClr val="000000"/>
                </a:solidFill>
                <a:effectLst/>
              </a:rPr>
              <a:t> economic opportunity.</a:t>
            </a:r>
          </a:p>
          <a:p>
            <a:pPr algn="l"/>
            <a:br>
              <a:rPr lang="en-US" b="0" i="0" u="none" strike="noStrike">
                <a:solidFill>
                  <a:srgbClr val="000000"/>
                </a:solidFill>
                <a:effectLst/>
              </a:rPr>
            </a:br>
            <a:r>
              <a:rPr lang="en-US" b="0" i="0" u="none" strike="noStrike">
                <a:solidFill>
                  <a:srgbClr val="000000"/>
                </a:solidFill>
                <a:effectLst/>
              </a:rPr>
              <a:t>When connecting sites becomes push-button easy, fiber finally behaves like a digital asset, not real estate.</a:t>
            </a:r>
          </a:p>
          <a:p>
            <a:endParaRPr lang="en-US"/>
          </a:p>
        </p:txBody>
      </p:sp>
      <p:sp>
        <p:nvSpPr>
          <p:cNvPr id="4" name="Slide Number Placeholder 3">
            <a:extLst>
              <a:ext uri="{FF2B5EF4-FFF2-40B4-BE49-F238E27FC236}">
                <a16:creationId xmlns:a16="http://schemas.microsoft.com/office/drawing/2014/main" id="{86FC1E7D-5D39-07CA-DACE-110BB8FB836A}"/>
              </a:ext>
            </a:extLst>
          </p:cNvPr>
          <p:cNvSpPr>
            <a:spLocks noGrp="1"/>
          </p:cNvSpPr>
          <p:nvPr>
            <p:ph type="sldNum" sz="quarter" idx="5"/>
          </p:nvPr>
        </p:nvSpPr>
        <p:spPr/>
        <p:txBody>
          <a:bodyPr/>
          <a:lstStyle/>
          <a:p>
            <a:fld id="{5AF6AC72-8866-394F-A09B-4BD4071E7335}" type="slidenum">
              <a:rPr lang="en-US" smtClean="0"/>
              <a:t>42</a:t>
            </a:fld>
            <a:endParaRPr lang="en-US"/>
          </a:p>
        </p:txBody>
      </p:sp>
    </p:spTree>
    <p:extLst>
      <p:ext uri="{BB962C8B-B14F-4D97-AF65-F5344CB8AC3E}">
        <p14:creationId xmlns:p14="http://schemas.microsoft.com/office/powerpoint/2010/main" val="3287510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12AFE-ACD0-1E83-2764-EFC6279CC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7B6C1-C49F-642F-6677-354E0C2F2A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4202A-74B4-90F0-E7DC-3AB55A4A0C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Leading question: "Do you have an existing wave or fiber run into an Equinix </a:t>
            </a:r>
            <a:r>
              <a:rPr lang="en-US" dirty="0" err="1"/>
              <a:t>PoP</a:t>
            </a:r>
            <a:r>
              <a:rPr lang="en-US" dirty="0"/>
              <a:t> today?"</a:t>
            </a:r>
          </a:p>
          <a:p>
            <a:endParaRPr lang="en-US" dirty="0"/>
          </a:p>
          <a:p>
            <a:r>
              <a:rPr lang="en-US" dirty="0"/>
              <a:t>For SPs who already have a private wavelength to an Equinix </a:t>
            </a:r>
            <a:r>
              <a:rPr lang="en-US" dirty="0" err="1"/>
              <a:t>PoP</a:t>
            </a:r>
            <a:r>
              <a:rPr lang="en-US" dirty="0"/>
              <a:t>, a PBC at the edge connects over the existing wave to the Equinix </a:t>
            </a:r>
            <a:r>
              <a:rPr lang="en-US" dirty="0" err="1"/>
              <a:t>PoP</a:t>
            </a:r>
            <a:r>
              <a:rPr lang="en-US" dirty="0"/>
              <a:t>. Cloud provisioning is then automated through the PCE. No new physical infrastructure required — the wave is already there.</a:t>
            </a:r>
          </a:p>
          <a:p>
            <a:endParaRPr lang="en-US" dirty="0"/>
          </a:p>
          <a:p>
            <a:r>
              <a:rPr lang="en-US" dirty="0"/>
              <a:t>This is the simplest and fastest deployment path. If the prospect has a wave to Equinix today. </a:t>
            </a:r>
          </a:p>
          <a:p>
            <a:endParaRPr lang="en-US" dirty="0"/>
          </a:p>
          <a:p>
            <a:endParaRPr lang="en-US" dirty="0"/>
          </a:p>
        </p:txBody>
      </p:sp>
      <p:sp>
        <p:nvSpPr>
          <p:cNvPr id="4" name="Slide Number Placeholder 3">
            <a:extLst>
              <a:ext uri="{FF2B5EF4-FFF2-40B4-BE49-F238E27FC236}">
                <a16:creationId xmlns:a16="http://schemas.microsoft.com/office/drawing/2014/main" id="{C65C70C8-F549-A16E-9054-F87035E31C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6AC72-8866-394F-A09B-4BD4071E73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0200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82C4E-5B0E-0DE4-0AEA-92AB0F290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7F758-2483-4EEA-D239-74DF8EA6A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DBEC1-A34D-3E23-893E-CFB40B8380BE}"/>
              </a:ext>
            </a:extLst>
          </p:cNvPr>
          <p:cNvSpPr>
            <a:spLocks noGrp="1"/>
          </p:cNvSpPr>
          <p:nvPr>
            <p:ph type="body" idx="1"/>
          </p:nvPr>
        </p:nvSpPr>
        <p:spPr/>
        <p:txBody>
          <a:bodyPr/>
          <a:lstStyle/>
          <a:p>
            <a:r>
              <a:rPr lang="en-US" dirty="0"/>
              <a:t>No private wavelength to Equinix – no problem. </a:t>
            </a:r>
          </a:p>
          <a:p>
            <a:endParaRPr lang="en-US" dirty="0"/>
          </a:p>
          <a:p>
            <a:r>
              <a:rPr lang="en-US" dirty="0"/>
              <a:t>PBC at the SP edge + PBC at an Equinix </a:t>
            </a:r>
            <a:r>
              <a:rPr lang="en-US" dirty="0" err="1"/>
              <a:t>PoP</a:t>
            </a:r>
            <a:r>
              <a:rPr lang="en-US" dirty="0"/>
              <a:t>. The two devices create a private Ethernet path over DIA — no dedicated fiber required. </a:t>
            </a:r>
          </a:p>
          <a:p>
            <a:endParaRPr lang="en-US" dirty="0"/>
          </a:p>
          <a:p>
            <a:r>
              <a:rPr lang="en-US" dirty="0"/>
              <a:t>This is the no-new-fiber option. Any provider with DIA can offer private cloud connectivity using infrastructure they already have.</a:t>
            </a:r>
          </a:p>
          <a:p>
            <a:endParaRPr lang="en-US" dirty="0"/>
          </a:p>
          <a:p>
            <a:r>
              <a:rPr lang="en-US" dirty="0"/>
              <a:t>Low barrier to entry for starting cloud on ramp services. </a:t>
            </a:r>
          </a:p>
        </p:txBody>
      </p:sp>
      <p:sp>
        <p:nvSpPr>
          <p:cNvPr id="4" name="Slide Number Placeholder 3">
            <a:extLst>
              <a:ext uri="{FF2B5EF4-FFF2-40B4-BE49-F238E27FC236}">
                <a16:creationId xmlns:a16="http://schemas.microsoft.com/office/drawing/2014/main" id="{16E2F091-5CEE-F9EA-9D50-17827153CE32}"/>
              </a:ext>
            </a:extLst>
          </p:cNvPr>
          <p:cNvSpPr>
            <a:spLocks noGrp="1"/>
          </p:cNvSpPr>
          <p:nvPr>
            <p:ph type="sldNum" sz="quarter" idx="5"/>
          </p:nvPr>
        </p:nvSpPr>
        <p:spPr/>
        <p:txBody>
          <a:bodyPr/>
          <a:lstStyle/>
          <a:p>
            <a:fld id="{5AF6AC72-8866-394F-A09B-4BD4071E7335}" type="slidenum">
              <a:rPr lang="en-US" smtClean="0"/>
              <a:t>44</a:t>
            </a:fld>
            <a:endParaRPr lang="en-US"/>
          </a:p>
        </p:txBody>
      </p:sp>
    </p:spTree>
    <p:extLst>
      <p:ext uri="{BB962C8B-B14F-4D97-AF65-F5344CB8AC3E}">
        <p14:creationId xmlns:p14="http://schemas.microsoft.com/office/powerpoint/2010/main" val="19114629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BF774-65CC-AD45-6A50-705280C756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9545E-8B7E-B052-F726-8D7666A82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8E87F-7F50-BDD9-6353-13AD384ACE93}"/>
              </a:ext>
            </a:extLst>
          </p:cNvPr>
          <p:cNvSpPr>
            <a:spLocks noGrp="1"/>
          </p:cNvSpPr>
          <p:nvPr>
            <p:ph type="body" idx="1"/>
          </p:nvPr>
        </p:nvSpPr>
        <p:spPr/>
        <p:txBody>
          <a:bodyPr/>
          <a:lstStyle/>
          <a:p>
            <a:r>
              <a:rPr lang="en-US" dirty="0"/>
              <a:t>For providers who don't have their own connection to Equinix and don't want to establish one. They can partner with another provider. </a:t>
            </a:r>
          </a:p>
          <a:p>
            <a:endParaRPr lang="en-US" dirty="0"/>
          </a:p>
          <a:p>
            <a:r>
              <a:rPr lang="en-US" dirty="0"/>
              <a:t>Establish a private path from your PBC to theirs, instantly get access to cloud on-ramps through them. </a:t>
            </a:r>
          </a:p>
          <a:p>
            <a:endParaRPr lang="en-US" dirty="0"/>
          </a:p>
          <a:p>
            <a:r>
              <a:rPr lang="en-US" dirty="0"/>
              <a:t>This is the fastest path to offering cloud services for operators not ready to invest in their own exchange presence. It also creates a new business model: SPs who already have cloud access can monetize that by becoming a federation partner for others in the fabric.</a:t>
            </a:r>
          </a:p>
          <a:p>
            <a:endParaRPr lang="en-US" dirty="0"/>
          </a:p>
        </p:txBody>
      </p:sp>
      <p:sp>
        <p:nvSpPr>
          <p:cNvPr id="4" name="Slide Number Placeholder 3">
            <a:extLst>
              <a:ext uri="{FF2B5EF4-FFF2-40B4-BE49-F238E27FC236}">
                <a16:creationId xmlns:a16="http://schemas.microsoft.com/office/drawing/2014/main" id="{C8A57484-4A3B-6421-535B-33042CF17CB2}"/>
              </a:ext>
            </a:extLst>
          </p:cNvPr>
          <p:cNvSpPr>
            <a:spLocks noGrp="1"/>
          </p:cNvSpPr>
          <p:nvPr>
            <p:ph type="sldNum" sz="quarter" idx="5"/>
          </p:nvPr>
        </p:nvSpPr>
        <p:spPr/>
        <p:txBody>
          <a:bodyPr/>
          <a:lstStyle/>
          <a:p>
            <a:fld id="{5AF6AC72-8866-394F-A09B-4BD4071E7335}" type="slidenum">
              <a:rPr lang="en-US" smtClean="0"/>
              <a:t>45</a:t>
            </a:fld>
            <a:endParaRPr lang="en-US"/>
          </a:p>
        </p:txBody>
      </p:sp>
    </p:spTree>
    <p:extLst>
      <p:ext uri="{BB962C8B-B14F-4D97-AF65-F5344CB8AC3E}">
        <p14:creationId xmlns:p14="http://schemas.microsoft.com/office/powerpoint/2010/main" val="7037198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277E-AE54-54A2-BEA3-CCA8E47B0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31F55-A19E-B8EC-A2AD-8BB6FD65B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9154C-FFE2-5995-7C00-358A176B0A9F}"/>
              </a:ext>
            </a:extLst>
          </p:cNvPr>
          <p:cNvSpPr>
            <a:spLocks noGrp="1"/>
          </p:cNvSpPr>
          <p:nvPr>
            <p:ph type="body" idx="1"/>
          </p:nvPr>
        </p:nvSpPr>
        <p:spPr/>
        <p:txBody>
          <a:bodyPr/>
          <a:lstStyle/>
          <a:p>
            <a:r>
              <a:rPr lang="en-US" dirty="0"/>
              <a:t>Once connected to the Equinix fabric, cloud is just the entry point. The full ecosystem includes SaaS providers, AI infrastructure, storage services, and interconnections to other carriers.</a:t>
            </a:r>
          </a:p>
          <a:p>
            <a:endParaRPr lang="en-US" dirty="0"/>
          </a:p>
          <a:p>
            <a:r>
              <a:rPr lang="en-US" dirty="0"/>
              <a:t>MaiaEdge gives the operator a programmable gateway into that ecosystem — and the ability to expose any of those services to their customers as private, branded offerings. Not just AWS and Azure, but whatever is in the fabric.</a:t>
            </a:r>
          </a:p>
          <a:p>
            <a:endParaRPr lang="en-US" dirty="0"/>
          </a:p>
          <a:p>
            <a:r>
              <a:rPr lang="en-US" dirty="0"/>
              <a:t>This is the longer-term play: the operator becomes a connectivity marketplace for their customers, not just a pipe.</a:t>
            </a:r>
          </a:p>
          <a:p>
            <a:endParaRPr lang="en-US" dirty="0"/>
          </a:p>
        </p:txBody>
      </p:sp>
      <p:sp>
        <p:nvSpPr>
          <p:cNvPr id="4" name="Slide Number Placeholder 3">
            <a:extLst>
              <a:ext uri="{FF2B5EF4-FFF2-40B4-BE49-F238E27FC236}">
                <a16:creationId xmlns:a16="http://schemas.microsoft.com/office/drawing/2014/main" id="{F7B69E5C-7C2C-DE65-E6FB-644B055D13F4}"/>
              </a:ext>
            </a:extLst>
          </p:cNvPr>
          <p:cNvSpPr>
            <a:spLocks noGrp="1"/>
          </p:cNvSpPr>
          <p:nvPr>
            <p:ph type="sldNum" sz="quarter" idx="5"/>
          </p:nvPr>
        </p:nvSpPr>
        <p:spPr/>
        <p:txBody>
          <a:bodyPr/>
          <a:lstStyle/>
          <a:p>
            <a:fld id="{5AF6AC72-8866-394F-A09B-4BD4071E7335}" type="slidenum">
              <a:rPr lang="en-US" smtClean="0"/>
              <a:t>46</a:t>
            </a:fld>
            <a:endParaRPr lang="en-US"/>
          </a:p>
        </p:txBody>
      </p:sp>
    </p:spTree>
    <p:extLst>
      <p:ext uri="{BB962C8B-B14F-4D97-AF65-F5344CB8AC3E}">
        <p14:creationId xmlns:p14="http://schemas.microsoft.com/office/powerpoint/2010/main" val="14663046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DBB0-311E-8CD7-BFCA-5128A1802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B61973-2005-0E9E-4B27-55BD654B6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3C5E89-DB75-65D2-25B5-A8B6B612E8B6}"/>
              </a:ext>
            </a:extLst>
          </p:cNvPr>
          <p:cNvSpPr>
            <a:spLocks noGrp="1"/>
          </p:cNvSpPr>
          <p:nvPr>
            <p:ph type="body" idx="1"/>
          </p:nvPr>
        </p:nvSpPr>
        <p:spPr/>
        <p:txBody>
          <a:bodyPr/>
          <a:lstStyle/>
          <a:p>
            <a:r>
              <a:rPr lang="en-US" dirty="0"/>
              <a:t>Reiterating above + Visibility emphasized. </a:t>
            </a:r>
          </a:p>
          <a:p>
            <a:endParaRPr lang="en-US" dirty="0"/>
          </a:p>
          <a:p>
            <a:r>
              <a:rPr lang="en-US" dirty="0"/>
              <a:t>For operators with existing direct connections to Equinix, Megaport, or other cloud exchanges.</a:t>
            </a:r>
          </a:p>
          <a:p>
            <a:endParaRPr lang="en-US" dirty="0"/>
          </a:p>
          <a:p>
            <a:r>
              <a:rPr lang="en-US" dirty="0"/>
              <a:t>If the connection is already there, MaiaEdge makes it programmable. Drop a PBC, connect it to the existing fiber, and cloud becomes another destination provisioned through the PCE — instantly, like any other private path.</a:t>
            </a:r>
          </a:p>
          <a:p>
            <a:endParaRPr lang="en-US" dirty="0"/>
          </a:p>
          <a:p>
            <a:r>
              <a:rPr lang="en-US" dirty="0"/>
              <a:t>No new connectivity needed. The hard part is already done.</a:t>
            </a:r>
          </a:p>
          <a:p>
            <a:endParaRPr lang="en-US" dirty="0"/>
          </a:p>
          <a:p>
            <a:r>
              <a:rPr lang="en-US" dirty="0"/>
              <a:t>See every network hop, across fabric, cloud on ramp, and customer can see into cloud gateway </a:t>
            </a:r>
          </a:p>
          <a:p>
            <a:endParaRPr lang="en-US" dirty="0"/>
          </a:p>
        </p:txBody>
      </p:sp>
      <p:sp>
        <p:nvSpPr>
          <p:cNvPr id="4" name="Slide Number Placeholder 3">
            <a:extLst>
              <a:ext uri="{FF2B5EF4-FFF2-40B4-BE49-F238E27FC236}">
                <a16:creationId xmlns:a16="http://schemas.microsoft.com/office/drawing/2014/main" id="{A54E4F34-8280-053F-0BDB-E6B7FEC8E7BF}"/>
              </a:ext>
            </a:extLst>
          </p:cNvPr>
          <p:cNvSpPr>
            <a:spLocks noGrp="1"/>
          </p:cNvSpPr>
          <p:nvPr>
            <p:ph type="sldNum" sz="quarter" idx="5"/>
          </p:nvPr>
        </p:nvSpPr>
        <p:spPr/>
        <p:txBody>
          <a:bodyPr/>
          <a:lstStyle/>
          <a:p>
            <a:fld id="{5AF6AC72-8866-394F-A09B-4BD4071E7335}" type="slidenum">
              <a:rPr lang="en-US" smtClean="0"/>
              <a:t>47</a:t>
            </a:fld>
            <a:endParaRPr lang="en-US"/>
          </a:p>
        </p:txBody>
      </p:sp>
    </p:spTree>
    <p:extLst>
      <p:ext uri="{BB962C8B-B14F-4D97-AF65-F5344CB8AC3E}">
        <p14:creationId xmlns:p14="http://schemas.microsoft.com/office/powerpoint/2010/main" val="23291393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9990A-639D-076F-8B20-A5B036F60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8DBF11-72DD-F5DE-A22E-8CCBC64425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103FB-33CF-85BE-26B3-BAB7F47726DA}"/>
              </a:ext>
            </a:extLst>
          </p:cNvPr>
          <p:cNvSpPr>
            <a:spLocks noGrp="1"/>
          </p:cNvSpPr>
          <p:nvPr>
            <p:ph type="body" idx="1"/>
          </p:nvPr>
        </p:nvSpPr>
        <p:spPr/>
        <p:txBody>
          <a:bodyPr/>
          <a:lstStyle/>
          <a:p>
            <a:r>
              <a:rPr lang="en-US" dirty="0"/>
              <a:t>For sites that only have DIA — no direct connection to a cloud exchange.</a:t>
            </a:r>
          </a:p>
          <a:p>
            <a:endParaRPr lang="en-US" dirty="0"/>
          </a:p>
          <a:p>
            <a:r>
              <a:rPr lang="en-US" dirty="0"/>
              <a:t>Two options: connect over DIA to a MaiaEdge-deployed PBC at an Equinix </a:t>
            </a:r>
            <a:r>
              <a:rPr lang="en-US" dirty="0" err="1"/>
              <a:t>PoP</a:t>
            </a:r>
            <a:r>
              <a:rPr lang="en-US" dirty="0"/>
              <a:t>, or reach cloud through any other MaiaEdge-enabled site in the fabric that already has exchange access.</a:t>
            </a:r>
          </a:p>
          <a:p>
            <a:endParaRPr lang="en-US" dirty="0"/>
          </a:p>
          <a:p>
            <a:r>
              <a:rPr lang="en-US" dirty="0"/>
              <a:t>Either way, the site isn't locked out of cloud services because it lacks direct fiber. DIA is enough to participate in the fabric and reach cloud on-ramps through partners.</a:t>
            </a:r>
          </a:p>
          <a:p>
            <a:endParaRPr lang="en-US" dirty="0"/>
          </a:p>
        </p:txBody>
      </p:sp>
      <p:sp>
        <p:nvSpPr>
          <p:cNvPr id="4" name="Slide Number Placeholder 3">
            <a:extLst>
              <a:ext uri="{FF2B5EF4-FFF2-40B4-BE49-F238E27FC236}">
                <a16:creationId xmlns:a16="http://schemas.microsoft.com/office/drawing/2014/main" id="{CA178AFC-517A-6E74-7CAE-41B97FF5F86E}"/>
              </a:ext>
            </a:extLst>
          </p:cNvPr>
          <p:cNvSpPr>
            <a:spLocks noGrp="1"/>
          </p:cNvSpPr>
          <p:nvPr>
            <p:ph type="sldNum" sz="quarter" idx="5"/>
          </p:nvPr>
        </p:nvSpPr>
        <p:spPr/>
        <p:txBody>
          <a:bodyPr/>
          <a:lstStyle/>
          <a:p>
            <a:fld id="{5AF6AC72-8866-394F-A09B-4BD4071E7335}" type="slidenum">
              <a:rPr lang="en-US" smtClean="0"/>
              <a:t>48</a:t>
            </a:fld>
            <a:endParaRPr lang="en-US"/>
          </a:p>
        </p:txBody>
      </p:sp>
    </p:spTree>
    <p:extLst>
      <p:ext uri="{BB962C8B-B14F-4D97-AF65-F5344CB8AC3E}">
        <p14:creationId xmlns:p14="http://schemas.microsoft.com/office/powerpoint/2010/main" val="40563658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3348312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450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9164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6378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959158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5597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557475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1490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96044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095301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0022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16368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27110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6628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768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61143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29633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51632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60378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937158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08292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628790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420011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04761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314838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677583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77111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091978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710196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33321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033458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700220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155445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1508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248531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187313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224442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424217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9374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091621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355420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60668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1639090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052789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9058327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652665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88557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644708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018881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229773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715224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832908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46633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692412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439368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569362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4312692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762227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3515669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40CF17F-CBFE-3518-8B9A-7124B4DE3339}"/>
              </a:ext>
            </a:extLst>
          </p:cNvPr>
          <p:cNvPicPr>
            <a:picLocks/>
          </p:cNvPicPr>
          <p:nvPr userDrawn="1"/>
        </p:nvPicPr>
        <p:blipFill>
          <a:blip r:embed="rId2">
            <a:alphaModFix/>
            <a:extLst>
              <a:ext uri="{28A0092B-C50C-407E-A947-70E740481C1C}">
                <a14:useLocalDpi xmlns:a14="http://schemas.microsoft.com/office/drawing/2010/main"/>
              </a:ext>
            </a:extLst>
          </a:blip>
          <a:srcRect l="29319" t="28537" r="140" b="922"/>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78C2545-2EC4-5229-98DC-B51162250ACA}"/>
              </a:ext>
            </a:extLst>
          </p:cNvPr>
          <p:cNvSpPr/>
          <p:nvPr userDrawn="1"/>
        </p:nvSpPr>
        <p:spPr bwMode="auto">
          <a:xfrm>
            <a:off x="1" y="0"/>
            <a:ext cx="11951368" cy="6858000"/>
          </a:xfrm>
          <a:prstGeom prst="rect">
            <a:avLst/>
          </a:prstGeom>
          <a:gradFill flip="none" rotWithShape="1">
            <a:gsLst>
              <a:gs pos="40000">
                <a:schemeClr val="accent2">
                  <a:alpha val="69923"/>
                </a:schemeClr>
              </a:gs>
              <a:gs pos="70000">
                <a:schemeClr val="accent2">
                  <a:alpha val="0"/>
                </a:schemeClr>
              </a:gs>
            </a:gsLst>
            <a:lin ang="1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9" name="Logo">
            <a:extLst>
              <a:ext uri="{FF2B5EF4-FFF2-40B4-BE49-F238E27FC236}">
                <a16:creationId xmlns:a16="http://schemas.microsoft.com/office/drawing/2014/main" id="{EDC625D5-16F6-B7F7-F0EE-4D6C19660126}"/>
              </a:ext>
            </a:extLst>
          </p:cNvPr>
          <p:cNvGrpSpPr/>
          <p:nvPr userDrawn="1"/>
        </p:nvGrpSpPr>
        <p:grpSpPr>
          <a:xfrm>
            <a:off x="532332" y="567592"/>
            <a:ext cx="2251696" cy="553122"/>
            <a:chOff x="455878" y="567592"/>
            <a:chExt cx="2251696" cy="553122"/>
          </a:xfrm>
        </p:grpSpPr>
        <p:grpSp>
          <p:nvGrpSpPr>
            <p:cNvPr id="10" name="Group 9">
              <a:extLst>
                <a:ext uri="{FF2B5EF4-FFF2-40B4-BE49-F238E27FC236}">
                  <a16:creationId xmlns:a16="http://schemas.microsoft.com/office/drawing/2014/main" id="{F959431E-8039-5677-5059-D140879BA328}"/>
                </a:ext>
              </a:extLst>
            </p:cNvPr>
            <p:cNvGrpSpPr/>
            <p:nvPr/>
          </p:nvGrpSpPr>
          <p:grpSpPr>
            <a:xfrm>
              <a:off x="455878" y="567592"/>
              <a:ext cx="533955" cy="553122"/>
              <a:chOff x="455878" y="567592"/>
              <a:chExt cx="533955" cy="553122"/>
            </a:xfrm>
          </p:grpSpPr>
          <p:sp>
            <p:nvSpPr>
              <p:cNvPr id="12" name="Freeform 17">
                <a:extLst>
                  <a:ext uri="{FF2B5EF4-FFF2-40B4-BE49-F238E27FC236}">
                    <a16:creationId xmlns:a16="http://schemas.microsoft.com/office/drawing/2014/main" id="{514895E5-86D8-CD38-F48F-E76B2889408D}"/>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endParaRPr lang="en-US"/>
              </a:p>
            </p:txBody>
          </p:sp>
          <p:sp>
            <p:nvSpPr>
              <p:cNvPr id="13" name="Freeform 18">
                <a:extLst>
                  <a:ext uri="{FF2B5EF4-FFF2-40B4-BE49-F238E27FC236}">
                    <a16:creationId xmlns:a16="http://schemas.microsoft.com/office/drawing/2014/main" id="{613258C6-6676-F1CB-4D36-527ABBC5CF69}"/>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endParaRPr lang="en-US"/>
              </a:p>
            </p:txBody>
          </p:sp>
        </p:grpSp>
        <p:sp>
          <p:nvSpPr>
            <p:cNvPr id="11" name="Freeform 19">
              <a:extLst>
                <a:ext uri="{FF2B5EF4-FFF2-40B4-BE49-F238E27FC236}">
                  <a16:creationId xmlns:a16="http://schemas.microsoft.com/office/drawing/2014/main" id="{B8F7D1B0-189A-5B43-6379-047F71F14E69}"/>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endParaRPr lang="en-US"/>
            </a:p>
          </p:txBody>
        </p:sp>
      </p:grpSp>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2560320"/>
            <a:ext cx="7452360" cy="1682495"/>
          </a:xfrm>
          <a:prstGeom prst="rect">
            <a:avLst/>
          </a:prstGeo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914400"/>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1"/>
                </a:solidFill>
              </a:defRPr>
            </a:lvl1pPr>
          </a:lstStyle>
          <a:p>
            <a:fld id="{0246F002-FF83-614A-810B-169E974B53D7}" type="slidenum">
              <a:rPr lang="en-US" smtClean="0"/>
              <a:pPr/>
              <a:t>‹#›</a:t>
            </a:fld>
            <a:r>
              <a:rPr lang="en-US"/>
              <a:t>  </a:t>
            </a:r>
            <a:r>
              <a:rPr lang="en-US" sz="800"/>
              <a:t>© 2026 MaiaEdge</a:t>
            </a:r>
            <a:endParaRPr lang="en-US" sz="800" dirty="0"/>
          </a:p>
        </p:txBody>
      </p:sp>
      <p:sp>
        <p:nvSpPr>
          <p:cNvPr id="6" name="Text Placeholder 5">
            <a:extLst>
              <a:ext uri="{FF2B5EF4-FFF2-40B4-BE49-F238E27FC236}">
                <a16:creationId xmlns:a16="http://schemas.microsoft.com/office/drawing/2014/main" id="{6C19C4BE-7220-E193-0026-8135BADF0ECA}"/>
              </a:ext>
            </a:extLst>
          </p:cNvPr>
          <p:cNvSpPr>
            <a:spLocks noGrp="1"/>
          </p:cNvSpPr>
          <p:nvPr>
            <p:ph type="body" sz="quarter" idx="11" hasCustomPrompt="1"/>
          </p:nvPr>
        </p:nvSpPr>
        <p:spPr>
          <a:xfrm>
            <a:off x="510362" y="5486400"/>
            <a:ext cx="7452360" cy="548640"/>
          </a:xfrm>
        </p:spPr>
        <p:txBody>
          <a:bodyPr/>
          <a:lstStyle>
            <a:lvl1pPr marL="0" indent="0">
              <a:lnSpc>
                <a:spcPct val="100000"/>
              </a:lnSpc>
              <a:spcBef>
                <a:spcPts val="0"/>
              </a:spcBef>
              <a:buNone/>
              <a:defRPr sz="1800" cap="all" baseline="0">
                <a:solidFill>
                  <a:schemeClr val="tx1">
                    <a:lumMod val="65000"/>
                    <a:lumOff val="35000"/>
                  </a:schemeClr>
                </a:solidFill>
                <a:latin typeface="+mn-lt"/>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Date</a:t>
            </a:r>
          </a:p>
        </p:txBody>
      </p:sp>
      <p:sp>
        <p:nvSpPr>
          <p:cNvPr id="20" name="Text Placeholder 5">
            <a:extLst>
              <a:ext uri="{FF2B5EF4-FFF2-40B4-BE49-F238E27FC236}">
                <a16:creationId xmlns:a16="http://schemas.microsoft.com/office/drawing/2014/main" id="{9E6BC43E-9035-F440-B4FC-39FD26193123}"/>
              </a:ext>
            </a:extLst>
          </p:cNvPr>
          <p:cNvSpPr>
            <a:spLocks noGrp="1"/>
          </p:cNvSpPr>
          <p:nvPr>
            <p:ph type="body" sz="quarter" idx="12" hasCustomPrompt="1"/>
          </p:nvPr>
        </p:nvSpPr>
        <p:spPr>
          <a:xfrm>
            <a:off x="510362" y="2103120"/>
            <a:ext cx="7452360" cy="457200"/>
          </a:xfrm>
        </p:spPr>
        <p:txBody>
          <a:bodyPr/>
          <a:lstStyle>
            <a:lvl1pPr marL="0" indent="0">
              <a:lnSpc>
                <a:spcPct val="100000"/>
              </a:lnSpc>
              <a:spcBef>
                <a:spcPts val="0"/>
              </a:spcBef>
              <a:buNone/>
              <a:defRPr lang="en-US" sz="1800" kern="1200" spc="300" dirty="0">
                <a:solidFill>
                  <a:schemeClr val="accent1">
                    <a:lumMod val="20000"/>
                    <a:lumOff val="80000"/>
                  </a:schemeClr>
                </a:solidFill>
                <a:latin typeface="Tomorrow"/>
                <a:ea typeface="Verdana"/>
                <a:cs typeface="Arial"/>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eyebrow</a:t>
            </a:r>
          </a:p>
        </p:txBody>
      </p:sp>
    </p:spTree>
    <p:extLst>
      <p:ext uri="{BB962C8B-B14F-4D97-AF65-F5344CB8AC3E}">
        <p14:creationId xmlns:p14="http://schemas.microsoft.com/office/powerpoint/2010/main" val="1100501460"/>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24701372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94780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06740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
        <p:nvSpPr>
          <p:cNvPr id="4" name="TextBox 3">
            <a:extLst>
              <a:ext uri="{FF2B5EF4-FFF2-40B4-BE49-F238E27FC236}">
                <a16:creationId xmlns:a16="http://schemas.microsoft.com/office/drawing/2014/main" id="{BB4FD6C9-88D2-1B83-5A18-6E93E7318BC5}"/>
              </a:ext>
            </a:extLst>
          </p:cNvPr>
          <p:cNvSpPr txBox="1"/>
          <p:nvPr userDrawn="1"/>
        </p:nvSpPr>
        <p:spPr bwMode="auto">
          <a:xfrm>
            <a:off x="10864312" y="6416298"/>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319192314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3716819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456967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0310329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321478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410432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8348144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095961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96217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235294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018896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945169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1739826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17252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327141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583064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489833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3931152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762705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3554804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59893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3027537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4725748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832868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7439151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793683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9424695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421118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2953825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552447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9290978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5679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0564398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653241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0598043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871175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602630885"/>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8243399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3575479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943437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2934626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00959730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657225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6142022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8676268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41075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5759494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6731208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7942334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7773748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144938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0968948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01303975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4417587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329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13535811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1_Title Slide">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40CF17F-CBFE-3518-8B9A-7124B4DE3339}"/>
              </a:ext>
            </a:extLst>
          </p:cNvPr>
          <p:cNvPicPr>
            <a:picLocks/>
          </p:cNvPicPr>
          <p:nvPr userDrawn="1"/>
        </p:nvPicPr>
        <p:blipFill>
          <a:blip r:embed="rId2">
            <a:alphaModFix/>
            <a:extLst>
              <a:ext uri="{28A0092B-C50C-407E-A947-70E740481C1C}">
                <a14:useLocalDpi xmlns:a14="http://schemas.microsoft.com/office/drawing/2010/main"/>
              </a:ext>
            </a:extLst>
          </a:blip>
          <a:srcRect l="29319" t="28537" r="140" b="922"/>
          <a:stretch>
            <a:fillRect/>
          </a:stretch>
        </p:blipFill>
        <p:spPr>
          <a:xfrm>
            <a:off x="1524" y="0"/>
            <a:ext cx="12188952" cy="6858000"/>
          </a:xfrm>
          <a:prstGeom prst="rect">
            <a:avLst/>
          </a:prstGeom>
        </p:spPr>
      </p:pic>
      <p:sp>
        <p:nvSpPr>
          <p:cNvPr id="8" name="Rectangle 7">
            <a:extLst>
              <a:ext uri="{FF2B5EF4-FFF2-40B4-BE49-F238E27FC236}">
                <a16:creationId xmlns:a16="http://schemas.microsoft.com/office/drawing/2014/main" id="{978C2545-2EC4-5229-98DC-B51162250ACA}"/>
              </a:ext>
            </a:extLst>
          </p:cNvPr>
          <p:cNvSpPr/>
          <p:nvPr userDrawn="1"/>
        </p:nvSpPr>
        <p:spPr bwMode="auto">
          <a:xfrm>
            <a:off x="1" y="0"/>
            <a:ext cx="11951368" cy="6858000"/>
          </a:xfrm>
          <a:prstGeom prst="rect">
            <a:avLst/>
          </a:prstGeom>
          <a:gradFill flip="none" rotWithShape="1">
            <a:gsLst>
              <a:gs pos="40000">
                <a:schemeClr val="accent2">
                  <a:alpha val="69923"/>
                </a:schemeClr>
              </a:gs>
              <a:gs pos="70000">
                <a:schemeClr val="accent2">
                  <a:alpha val="0"/>
                </a:schemeClr>
              </a:gs>
            </a:gsLst>
            <a:lin ang="1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9" name="Logo">
            <a:extLst>
              <a:ext uri="{FF2B5EF4-FFF2-40B4-BE49-F238E27FC236}">
                <a16:creationId xmlns:a16="http://schemas.microsoft.com/office/drawing/2014/main" id="{EDC625D5-16F6-B7F7-F0EE-4D6C19660126}"/>
              </a:ext>
            </a:extLst>
          </p:cNvPr>
          <p:cNvGrpSpPr/>
          <p:nvPr userDrawn="1"/>
        </p:nvGrpSpPr>
        <p:grpSpPr>
          <a:xfrm>
            <a:off x="532332" y="567592"/>
            <a:ext cx="2251696" cy="553122"/>
            <a:chOff x="455878" y="567592"/>
            <a:chExt cx="2251696" cy="553122"/>
          </a:xfrm>
        </p:grpSpPr>
        <p:grpSp>
          <p:nvGrpSpPr>
            <p:cNvPr id="10" name="Group 9">
              <a:extLst>
                <a:ext uri="{FF2B5EF4-FFF2-40B4-BE49-F238E27FC236}">
                  <a16:creationId xmlns:a16="http://schemas.microsoft.com/office/drawing/2014/main" id="{F959431E-8039-5677-5059-D140879BA328}"/>
                </a:ext>
              </a:extLst>
            </p:cNvPr>
            <p:cNvGrpSpPr/>
            <p:nvPr/>
          </p:nvGrpSpPr>
          <p:grpSpPr>
            <a:xfrm>
              <a:off x="455878" y="567592"/>
              <a:ext cx="533955" cy="553122"/>
              <a:chOff x="455878" y="567592"/>
              <a:chExt cx="533955" cy="553122"/>
            </a:xfrm>
          </p:grpSpPr>
          <p:sp>
            <p:nvSpPr>
              <p:cNvPr id="12" name="Freeform 17">
                <a:extLst>
                  <a:ext uri="{FF2B5EF4-FFF2-40B4-BE49-F238E27FC236}">
                    <a16:creationId xmlns:a16="http://schemas.microsoft.com/office/drawing/2014/main" id="{514895E5-86D8-CD38-F48F-E76B2889408D}"/>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endParaRPr lang="en-US"/>
              </a:p>
            </p:txBody>
          </p:sp>
          <p:sp>
            <p:nvSpPr>
              <p:cNvPr id="13" name="Freeform 18">
                <a:extLst>
                  <a:ext uri="{FF2B5EF4-FFF2-40B4-BE49-F238E27FC236}">
                    <a16:creationId xmlns:a16="http://schemas.microsoft.com/office/drawing/2014/main" id="{613258C6-6676-F1CB-4D36-527ABBC5CF69}"/>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endParaRPr lang="en-US"/>
              </a:p>
            </p:txBody>
          </p:sp>
        </p:grpSp>
        <p:sp>
          <p:nvSpPr>
            <p:cNvPr id="11" name="Freeform 19">
              <a:extLst>
                <a:ext uri="{FF2B5EF4-FFF2-40B4-BE49-F238E27FC236}">
                  <a16:creationId xmlns:a16="http://schemas.microsoft.com/office/drawing/2014/main" id="{B8F7D1B0-189A-5B43-6379-047F71F14E69}"/>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endParaRPr lang="en-US"/>
            </a:p>
          </p:txBody>
        </p:sp>
      </p:grpSp>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2560320"/>
            <a:ext cx="7452360" cy="1682495"/>
          </a:xfrm>
          <a:prstGeom prst="rect">
            <a:avLst/>
          </a:prstGeom>
        </p:spPr>
        <p:txBody>
          <a:bodyPr anchor="b"/>
          <a:lstStyle>
            <a:lvl1pPr algn="l">
              <a:defRPr sz="60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914400"/>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1"/>
                </a:solidFill>
              </a:defRPr>
            </a:lvl1pPr>
          </a:lstStyle>
          <a:p>
            <a:fld id="{0246F002-FF83-614A-810B-169E974B53D7}" type="slidenum">
              <a:rPr lang="en-US" smtClean="0"/>
              <a:pPr/>
              <a:t>‹#›</a:t>
            </a:fld>
            <a:r>
              <a:rPr lang="en-US"/>
              <a:t>  </a:t>
            </a:r>
            <a:r>
              <a:rPr lang="en-US" sz="800"/>
              <a:t>© 2026 MaiaEdge</a:t>
            </a:r>
            <a:endParaRPr lang="en-US" sz="800" dirty="0"/>
          </a:p>
        </p:txBody>
      </p:sp>
      <p:sp>
        <p:nvSpPr>
          <p:cNvPr id="6" name="Text Placeholder 5">
            <a:extLst>
              <a:ext uri="{FF2B5EF4-FFF2-40B4-BE49-F238E27FC236}">
                <a16:creationId xmlns:a16="http://schemas.microsoft.com/office/drawing/2014/main" id="{6C19C4BE-7220-E193-0026-8135BADF0ECA}"/>
              </a:ext>
            </a:extLst>
          </p:cNvPr>
          <p:cNvSpPr>
            <a:spLocks noGrp="1"/>
          </p:cNvSpPr>
          <p:nvPr>
            <p:ph type="body" sz="quarter" idx="11" hasCustomPrompt="1"/>
          </p:nvPr>
        </p:nvSpPr>
        <p:spPr>
          <a:xfrm>
            <a:off x="510362" y="5486400"/>
            <a:ext cx="7452360" cy="548640"/>
          </a:xfrm>
        </p:spPr>
        <p:txBody>
          <a:bodyPr/>
          <a:lstStyle>
            <a:lvl1pPr marL="0" indent="0">
              <a:lnSpc>
                <a:spcPct val="100000"/>
              </a:lnSpc>
              <a:spcBef>
                <a:spcPts val="0"/>
              </a:spcBef>
              <a:buNone/>
              <a:defRPr sz="1800" cap="all" baseline="0">
                <a:solidFill>
                  <a:schemeClr val="tx1">
                    <a:lumMod val="65000"/>
                    <a:lumOff val="35000"/>
                  </a:schemeClr>
                </a:solidFill>
                <a:latin typeface="+mn-lt"/>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Date</a:t>
            </a:r>
          </a:p>
        </p:txBody>
      </p:sp>
      <p:sp>
        <p:nvSpPr>
          <p:cNvPr id="20" name="Text Placeholder 5">
            <a:extLst>
              <a:ext uri="{FF2B5EF4-FFF2-40B4-BE49-F238E27FC236}">
                <a16:creationId xmlns:a16="http://schemas.microsoft.com/office/drawing/2014/main" id="{9E6BC43E-9035-F440-B4FC-39FD26193123}"/>
              </a:ext>
            </a:extLst>
          </p:cNvPr>
          <p:cNvSpPr>
            <a:spLocks noGrp="1"/>
          </p:cNvSpPr>
          <p:nvPr>
            <p:ph type="body" sz="quarter" idx="12" hasCustomPrompt="1"/>
          </p:nvPr>
        </p:nvSpPr>
        <p:spPr>
          <a:xfrm>
            <a:off x="510362" y="2103120"/>
            <a:ext cx="7452360" cy="457200"/>
          </a:xfrm>
        </p:spPr>
        <p:txBody>
          <a:bodyPr/>
          <a:lstStyle>
            <a:lvl1pPr marL="0" indent="0">
              <a:lnSpc>
                <a:spcPct val="100000"/>
              </a:lnSpc>
              <a:spcBef>
                <a:spcPts val="0"/>
              </a:spcBef>
              <a:buNone/>
              <a:defRPr lang="en-US" sz="1800" kern="1200" spc="300" dirty="0">
                <a:solidFill>
                  <a:schemeClr val="accent1">
                    <a:lumMod val="20000"/>
                    <a:lumOff val="80000"/>
                  </a:schemeClr>
                </a:solidFill>
                <a:latin typeface="Tomorrow"/>
                <a:ea typeface="Verdana"/>
                <a:cs typeface="Arial"/>
              </a:defRPr>
            </a:lvl1pPr>
            <a:lvl2pPr marL="0" indent="0">
              <a:lnSpc>
                <a:spcPct val="100000"/>
              </a:lnSpc>
              <a:spcBef>
                <a:spcPts val="0"/>
              </a:spcBef>
              <a:buNone/>
              <a:defRPr sz="1800" cap="all" baseline="0">
                <a:solidFill>
                  <a:schemeClr val="bg2"/>
                </a:solidFill>
                <a:latin typeface="+mn-lt"/>
              </a:defRPr>
            </a:lvl2pPr>
            <a:lvl3pPr marL="0" indent="0">
              <a:lnSpc>
                <a:spcPct val="100000"/>
              </a:lnSpc>
              <a:spcBef>
                <a:spcPts val="0"/>
              </a:spcBef>
              <a:buNone/>
              <a:defRPr sz="1800" cap="all" baseline="0">
                <a:solidFill>
                  <a:schemeClr val="bg2"/>
                </a:solidFill>
                <a:latin typeface="+mn-lt"/>
              </a:defRPr>
            </a:lvl3pPr>
            <a:lvl4pPr marL="0" indent="0">
              <a:lnSpc>
                <a:spcPct val="100000"/>
              </a:lnSpc>
              <a:spcBef>
                <a:spcPts val="0"/>
              </a:spcBef>
              <a:buNone/>
              <a:defRPr sz="1800" cap="all" baseline="0">
                <a:solidFill>
                  <a:schemeClr val="bg2"/>
                </a:solidFill>
                <a:latin typeface="+mn-lt"/>
              </a:defRPr>
            </a:lvl4pPr>
            <a:lvl5pPr marL="0" indent="0">
              <a:lnSpc>
                <a:spcPct val="100000"/>
              </a:lnSpc>
              <a:spcBef>
                <a:spcPts val="0"/>
              </a:spcBef>
              <a:buNone/>
              <a:defRPr sz="1800" cap="all" baseline="0">
                <a:solidFill>
                  <a:schemeClr val="bg2"/>
                </a:solidFill>
                <a:latin typeface="+mn-lt"/>
              </a:defRPr>
            </a:lvl5pPr>
          </a:lstStyle>
          <a:p>
            <a:pPr lvl="0"/>
            <a:r>
              <a:rPr lang="en-US" dirty="0"/>
              <a:t>Click to edit eyebrow</a:t>
            </a:r>
          </a:p>
        </p:txBody>
      </p:sp>
    </p:spTree>
    <p:extLst>
      <p:ext uri="{BB962C8B-B14F-4D97-AF65-F5344CB8AC3E}">
        <p14:creationId xmlns:p14="http://schemas.microsoft.com/office/powerpoint/2010/main" val="4078517428"/>
      </p:ext>
    </p:extLst>
  </p:cSld>
  <p:clrMapOvr>
    <a:overrideClrMapping bg1="lt1" tx1="dk1" bg2="lt2" tx2="dk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103169767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17715266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004394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5626131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13532845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050709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137413619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7963019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540076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359526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165964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6055453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7079861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6918017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2193025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11432205"/>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8709067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34717828"/>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540684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859355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555871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35820447"/>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18851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094136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4481952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0613112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8842251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3895248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3972793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2581980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8065525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785949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829159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1128829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154045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7212467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3092652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8379571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6097279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8332037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1009197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7704750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9342596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5102705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5126107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4492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55086979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3722472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863969120"/>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6839299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8730797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541626186"/>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184261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3366913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68363967"/>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240607770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15" name="Picture 14" descr="A black and white pattern&#10;&#10;AI-generated content may be incorrect.">
            <a:extLst>
              <a:ext uri="{FF2B5EF4-FFF2-40B4-BE49-F238E27FC236}">
                <a16:creationId xmlns:a16="http://schemas.microsoft.com/office/drawing/2014/main" id="{FBF2B52F-1A67-E84E-56F8-F607D5267B01}"/>
              </a:ext>
            </a:extLst>
          </p:cNvPr>
          <p:cNvPicPr>
            <a:picLocks noChangeAspect="1"/>
          </p:cNvPicPr>
          <p:nvPr userDrawn="1"/>
        </p:nvPicPr>
        <p:blipFill>
          <a:blip r:embed="rId2" cstate="screen">
            <a:alphaModFix amt="15000"/>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Title 1">
            <a:extLst>
              <a:ext uri="{FF2B5EF4-FFF2-40B4-BE49-F238E27FC236}">
                <a16:creationId xmlns:a16="http://schemas.microsoft.com/office/drawing/2014/main" id="{76BED733-D775-6841-BD64-97330EE5D59C}"/>
              </a:ext>
            </a:extLst>
          </p:cNvPr>
          <p:cNvSpPr>
            <a:spLocks noGrp="1"/>
          </p:cNvSpPr>
          <p:nvPr>
            <p:ph type="ctrTitle"/>
          </p:nvPr>
        </p:nvSpPr>
        <p:spPr>
          <a:xfrm>
            <a:off x="510362" y="1389888"/>
            <a:ext cx="7452360" cy="2852928"/>
          </a:xfrm>
          <a:prstGeom prst="rect">
            <a:avLst/>
          </a:prstGeom>
        </p:spPr>
        <p:txBody>
          <a:bodyPr anchor="b"/>
          <a:lstStyle>
            <a:lvl1pPr algn="l">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F19DCC68-E393-C74C-88EE-5794A0535B22}"/>
              </a:ext>
            </a:extLst>
          </p:cNvPr>
          <p:cNvSpPr>
            <a:spLocks noGrp="1"/>
          </p:cNvSpPr>
          <p:nvPr>
            <p:ph type="subTitle" idx="1"/>
          </p:nvPr>
        </p:nvSpPr>
        <p:spPr>
          <a:xfrm>
            <a:off x="510362" y="4506932"/>
            <a:ext cx="7452360" cy="1324154"/>
          </a:xfrm>
          <a:prstGeom prst="rect">
            <a:avLst/>
          </a:prstGeom>
        </p:spPr>
        <p:txBody>
          <a:bodyPr/>
          <a:lstStyle>
            <a:lvl1pPr marL="0" indent="0" algn="l">
              <a:buNone/>
              <a:defRPr sz="24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16" name="Group 15">
            <a:extLst>
              <a:ext uri="{FF2B5EF4-FFF2-40B4-BE49-F238E27FC236}">
                <a16:creationId xmlns:a16="http://schemas.microsoft.com/office/drawing/2014/main" id="{B86FD3F6-B633-D420-15C5-34866629E281}"/>
              </a:ext>
            </a:extLst>
          </p:cNvPr>
          <p:cNvGrpSpPr/>
          <p:nvPr userDrawn="1"/>
        </p:nvGrpSpPr>
        <p:grpSpPr>
          <a:xfrm>
            <a:off x="9394825" y="6025375"/>
            <a:ext cx="2286812" cy="558801"/>
            <a:chOff x="1447800" y="2292350"/>
            <a:chExt cx="7774788" cy="1899831"/>
          </a:xfrm>
        </p:grpSpPr>
        <p:sp>
          <p:nvSpPr>
            <p:cNvPr id="17" name="Freeform 16">
              <a:extLst>
                <a:ext uri="{FF2B5EF4-FFF2-40B4-BE49-F238E27FC236}">
                  <a16:creationId xmlns:a16="http://schemas.microsoft.com/office/drawing/2014/main" id="{2B9E2DE5-5437-A4FC-5E21-5988669D4F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8" name="Freeform 17">
              <a:extLst>
                <a:ext uri="{FF2B5EF4-FFF2-40B4-BE49-F238E27FC236}">
                  <a16:creationId xmlns:a16="http://schemas.microsoft.com/office/drawing/2014/main" id="{38DF2860-1449-2389-9B4A-4A839635542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9" name="Freeform 18">
              <a:extLst>
                <a:ext uri="{FF2B5EF4-FFF2-40B4-BE49-F238E27FC236}">
                  <a16:creationId xmlns:a16="http://schemas.microsoft.com/office/drawing/2014/main" id="{8CA24302-2C5B-8167-419E-66DAEEA97D1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2" name="Slide Number Placeholder 21">
            <a:extLst>
              <a:ext uri="{FF2B5EF4-FFF2-40B4-BE49-F238E27FC236}">
                <a16:creationId xmlns:a16="http://schemas.microsoft.com/office/drawing/2014/main" id="{48C9D57D-3DA5-4384-A107-4CEA25D0A5A3}"/>
              </a:ext>
            </a:extLst>
          </p:cNvPr>
          <p:cNvSpPr>
            <a:spLocks noGrp="1"/>
          </p:cNvSpPr>
          <p:nvPr>
            <p:ph type="sldNum" sz="quarter" idx="10"/>
          </p:nvPr>
        </p:nvSpPr>
        <p:spPr>
          <a:xfrm>
            <a:off x="510363" y="6445677"/>
            <a:ext cx="2743200" cy="138499"/>
          </a:xfrm>
          <a:prstGeom prst="rect">
            <a:avLst/>
          </a:prstGeom>
        </p:spPr>
        <p:txBody>
          <a:bodyPr/>
          <a:lstStyle>
            <a:lvl1pPr>
              <a:defRPr>
                <a:solidFill>
                  <a:schemeClr val="bg2"/>
                </a:solidFill>
              </a:defRPr>
            </a:lvl1pPr>
          </a:lstStyle>
          <a:p>
            <a:fld id="{0246F002-FF83-614A-810B-169E974B53D7}" type="slidenum">
              <a:rPr lang="en-US" smtClean="0"/>
              <a:pPr/>
              <a:t>‹#›</a:t>
            </a:fld>
            <a:r>
              <a:rPr lang="en-US"/>
              <a:t>  </a:t>
            </a:r>
            <a:r>
              <a:rPr lang="en-US" sz="800"/>
              <a:t>© 2026 MaiaEdge</a:t>
            </a:r>
          </a:p>
        </p:txBody>
      </p:sp>
    </p:spTree>
    <p:extLst>
      <p:ext uri="{BB962C8B-B14F-4D97-AF65-F5344CB8AC3E}">
        <p14:creationId xmlns:p14="http://schemas.microsoft.com/office/powerpoint/2010/main" val="2127677715"/>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2"/>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897B7CF-C617-B9B0-D892-16DEF12E03D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9" name="Title 1">
            <a:extLst>
              <a:ext uri="{FF2B5EF4-FFF2-40B4-BE49-F238E27FC236}">
                <a16:creationId xmlns:a16="http://schemas.microsoft.com/office/drawing/2014/main" id="{E376CF97-04ED-E7AC-7395-83439774F83B}"/>
              </a:ext>
            </a:extLst>
          </p:cNvPr>
          <p:cNvSpPr>
            <a:spLocks noGrp="1"/>
          </p:cNvSpPr>
          <p:nvPr>
            <p:ph type="ctrTitle"/>
          </p:nvPr>
        </p:nvSpPr>
        <p:spPr>
          <a:xfrm>
            <a:off x="510362" y="1389888"/>
            <a:ext cx="11173968" cy="2852928"/>
          </a:xfrm>
          <a:prstGeom prst="rect">
            <a:avLst/>
          </a:prstGeom>
        </p:spPr>
        <p:txBody>
          <a:bodyPr anchor="b"/>
          <a:lstStyle>
            <a:lvl1pPr algn="l">
              <a:defRPr sz="54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6179B94-3DF8-E527-CF8C-76674C26BE0D}"/>
              </a:ext>
            </a:extLst>
          </p:cNvPr>
          <p:cNvSpPr>
            <a:spLocks noGrp="1"/>
          </p:cNvSpPr>
          <p:nvPr>
            <p:ph type="subTitle" idx="1"/>
          </p:nvPr>
        </p:nvSpPr>
        <p:spPr>
          <a:xfrm>
            <a:off x="510362" y="4506932"/>
            <a:ext cx="11173968" cy="1324154"/>
          </a:xfrm>
          <a:prstGeom prst="rect">
            <a:avLst/>
          </a:prstGeom>
        </p:spPr>
        <p:txBody>
          <a:bodyPr/>
          <a:lstStyle>
            <a:lvl1pPr marL="0" indent="0" algn="l">
              <a:buNone/>
              <a:defRPr sz="24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809489302"/>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0782E8-965E-CEEF-D32C-6AE52FB6C35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8" name="Content Placeholder 7">
            <a:extLst>
              <a:ext uri="{FF2B5EF4-FFF2-40B4-BE49-F238E27FC236}">
                <a16:creationId xmlns:a16="http://schemas.microsoft.com/office/drawing/2014/main" id="{BAEAB9A3-A8D4-2DFF-4C55-1E6F579FA381}"/>
              </a:ext>
            </a:extLst>
          </p:cNvPr>
          <p:cNvSpPr>
            <a:spLocks noGrp="1"/>
          </p:cNvSpPr>
          <p:nvPr>
            <p:ph sz="quarter" idx="11"/>
          </p:nvPr>
        </p:nvSpPr>
        <p:spPr>
          <a:xfrm>
            <a:off x="510362" y="1651662"/>
            <a:ext cx="11173968" cy="4306824"/>
          </a:xfrm>
        </p:spPr>
        <p:txBody>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A83A8672-7311-3594-0B1F-44C8EF92A5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8910279"/>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336860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317520372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 Only with Pattern">
    <p:spTree>
      <p:nvGrpSpPr>
        <p:cNvPr id="1" name=""/>
        <p:cNvGrpSpPr/>
        <p:nvPr/>
      </p:nvGrpSpPr>
      <p:grpSpPr>
        <a:xfrm>
          <a:off x="0" y="0"/>
          <a:ext cx="0" cy="0"/>
          <a:chOff x="0" y="0"/>
          <a:chExt cx="0" cy="0"/>
        </a:xfrm>
      </p:grpSpPr>
      <p:pic>
        <p:nvPicPr>
          <p:cNvPr id="6" name="Picture 5" descr="A black background with black squares&#10;&#10;AI-generated content may be incorrect.">
            <a:extLst>
              <a:ext uri="{FF2B5EF4-FFF2-40B4-BE49-F238E27FC236}">
                <a16:creationId xmlns:a16="http://schemas.microsoft.com/office/drawing/2014/main" id="{83EFF708-3B2C-379F-B5C1-51FCC8EDADD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9E13A223-08BF-2AAB-F998-05D0E83DE39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Title 2">
            <a:extLst>
              <a:ext uri="{FF2B5EF4-FFF2-40B4-BE49-F238E27FC236}">
                <a16:creationId xmlns:a16="http://schemas.microsoft.com/office/drawing/2014/main" id="{8218A547-1FC8-ADB9-A1F2-EC012C8D20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11723090"/>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Blank with Pattern">
    <p:spTree>
      <p:nvGrpSpPr>
        <p:cNvPr id="1" name=""/>
        <p:cNvGrpSpPr/>
        <p:nvPr/>
      </p:nvGrpSpPr>
      <p:grpSpPr>
        <a:xfrm>
          <a:off x="0" y="0"/>
          <a:ext cx="0" cy="0"/>
          <a:chOff x="0" y="0"/>
          <a:chExt cx="0" cy="0"/>
        </a:xfrm>
      </p:grpSpPr>
      <p:pic>
        <p:nvPicPr>
          <p:cNvPr id="4" name="Picture 3" descr="A black background with black squares&#10;&#10;AI-generated content may be incorrect.">
            <a:extLst>
              <a:ext uri="{FF2B5EF4-FFF2-40B4-BE49-F238E27FC236}">
                <a16:creationId xmlns:a16="http://schemas.microsoft.com/office/drawing/2014/main" id="{A0A03002-1D6D-7622-FBC8-11FFB6C56F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150"/>
          </a:xfrm>
          <a:prstGeom prst="rect">
            <a:avLst/>
          </a:prstGeom>
        </p:spPr>
      </p:pic>
      <p:sp>
        <p:nvSpPr>
          <p:cNvPr id="2" name="Slide Number Placeholder 1">
            <a:extLst>
              <a:ext uri="{FF2B5EF4-FFF2-40B4-BE49-F238E27FC236}">
                <a16:creationId xmlns:a16="http://schemas.microsoft.com/office/drawing/2014/main" id="{50BC1ABB-EE40-5EB0-7263-02FE4A1687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Tree>
    <p:extLst>
      <p:ext uri="{BB962C8B-B14F-4D97-AF65-F5344CB8AC3E}">
        <p14:creationId xmlns:p14="http://schemas.microsoft.com/office/powerpoint/2010/main" val="49258022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CEDD0-8941-0143-9DFF-794E5A92EE8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D9BA4C3-2A3A-8741-A39D-48FE1CA93B34}"/>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320EA9-7E57-794C-AA01-FADD769241E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0255BE7-0E47-8605-561A-F2477216907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261AB385-7CDE-87A3-F38E-92AA2299334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26745180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A071-532C-AC46-967D-20DFEAE8AC7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A0D4509A-430F-3346-8E01-C4B0769ED8B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F37E6-1348-1F41-9B1D-F1972D916FCE}"/>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B8A82D-D6EC-9044-BA63-6257E638F768}"/>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F52B56-825D-7E4F-88CB-A4C583CDCAAB}"/>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F8025D61-74A7-506C-8367-4F9FD3269D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6FBE1FDC-F699-EE86-DB03-9BDF020F67C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8661815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270E7-1CBA-C84A-9C8D-F34544AEA7F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9004B4-675E-084A-9B2C-E0FE3352B3D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347416-BFE3-B049-BE13-65305C2F60D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28455C79-60A1-3F4E-D62B-D81634A1792E}"/>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430D7629-464D-97E4-5646-24058104A41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478068496"/>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BA91-4841-5048-9DA1-3D77B29AA0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B2C7A-2755-104C-A21A-043EBE43337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23F69B-469B-DF4E-A5E4-91D4E0F086E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0F3D523-FD48-84F4-8DCE-A6DD214D499A}"/>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71D334EE-DD0D-5283-E0AC-A049FB244B1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87995757"/>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blank" preserve="1">
  <p:cSld name="25_Blank">
    <p:spTree>
      <p:nvGrpSpPr>
        <p:cNvPr id="1" name=""/>
        <p:cNvGrpSpPr/>
        <p:nvPr/>
      </p:nvGrpSpPr>
      <p:grpSpPr>
        <a:xfrm>
          <a:off x="0" y="0"/>
          <a:ext cx="0" cy="0"/>
          <a:chOff x="0" y="0"/>
          <a:chExt cx="0" cy="0"/>
        </a:xfrm>
      </p:grpSpPr>
      <p:pic>
        <p:nvPicPr>
          <p:cNvPr id="3" name="Picture 2" descr="A black and yellow pattern&#10;&#10;AI-generated content may be incorrect.">
            <a:extLst>
              <a:ext uri="{FF2B5EF4-FFF2-40B4-BE49-F238E27FC236}">
                <a16:creationId xmlns:a16="http://schemas.microsoft.com/office/drawing/2014/main" id="{9D571367-B4D1-8D73-4F72-57F8EFE10EF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Rectangle 1">
            <a:extLst>
              <a:ext uri="{FF2B5EF4-FFF2-40B4-BE49-F238E27FC236}">
                <a16:creationId xmlns:a16="http://schemas.microsoft.com/office/drawing/2014/main" id="{1513CB57-BE7D-E01A-4A84-CCD9354E0EE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486161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blank" preserve="1">
  <p:cSld name="20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AF278D2F-412B-E689-9CA3-2CF4E0CCCB1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36CF89E-AEC2-3297-5BA1-B19FED62BAD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8555363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type="blank" preserve="1">
  <p:cSld name="22_Blank">
    <p:spTree>
      <p:nvGrpSpPr>
        <p:cNvPr id="1" name=""/>
        <p:cNvGrpSpPr/>
        <p:nvPr/>
      </p:nvGrpSpPr>
      <p:grpSpPr>
        <a:xfrm>
          <a:off x="0" y="0"/>
          <a:ext cx="0" cy="0"/>
          <a:chOff x="0" y="0"/>
          <a:chExt cx="0" cy="0"/>
        </a:xfrm>
      </p:grpSpPr>
      <p:pic>
        <p:nvPicPr>
          <p:cNvPr id="4" name="Picture 3" descr="A black and white pattern&#10;&#10;AI-generated content may be incorrect.">
            <a:extLst>
              <a:ext uri="{FF2B5EF4-FFF2-40B4-BE49-F238E27FC236}">
                <a16:creationId xmlns:a16="http://schemas.microsoft.com/office/drawing/2014/main" id="{FBA49A8C-4194-F2E8-D853-AC6622E7D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E25C6DB5-4D79-E6DB-E609-BF4206238FF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CC5EBD4-2EF4-97FC-B28A-B7DE4864A2F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81821205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type="blank" preserve="1">
  <p:cSld name="23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4" name="Slide Number Placeholder 3">
            <a:extLst>
              <a:ext uri="{FF2B5EF4-FFF2-40B4-BE49-F238E27FC236}">
                <a16:creationId xmlns:a16="http://schemas.microsoft.com/office/drawing/2014/main" id="{6C5D334B-A784-5989-3926-2037E56CE016}"/>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E21ADF2-8282-E21C-F42F-19C7399DC9A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150560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type="blank" preserve="1">
  <p:cSld name="24_Blank">
    <p:bg>
      <p:bgPr>
        <a:solidFill>
          <a:schemeClr val="accent2"/>
        </a:solidFill>
        <a:effectLst/>
      </p:bgPr>
    </p:bg>
    <p:spTree>
      <p:nvGrpSpPr>
        <p:cNvPr id="1" name=""/>
        <p:cNvGrpSpPr/>
        <p:nvPr/>
      </p:nvGrpSpPr>
      <p:grpSpPr>
        <a:xfrm>
          <a:off x="0" y="0"/>
          <a:ext cx="0" cy="0"/>
          <a:chOff x="0" y="0"/>
          <a:chExt cx="0" cy="0"/>
        </a:xfrm>
      </p:grpSpPr>
      <p:pic>
        <p:nvPicPr>
          <p:cNvPr id="2" name="Picture 1" descr="A black and white pattern&#10;&#10;AI-generated content may be incorrect.">
            <a:extLst>
              <a:ext uri="{FF2B5EF4-FFF2-40B4-BE49-F238E27FC236}">
                <a16:creationId xmlns:a16="http://schemas.microsoft.com/office/drawing/2014/main" id="{336B69D5-5BBD-FCBC-4026-DAB483A658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4" name="Slide Number Placeholder 3">
            <a:extLst>
              <a:ext uri="{FF2B5EF4-FFF2-40B4-BE49-F238E27FC236}">
                <a16:creationId xmlns:a16="http://schemas.microsoft.com/office/drawing/2014/main" id="{546AA845-7663-0B7D-4C01-7429F15CDBF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23CE031A-7EFA-8073-7274-C52CF0B333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75427265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3">
            <a:extLst>
              <a:ext uri="{FF2B5EF4-FFF2-40B4-BE49-F238E27FC236}">
                <a16:creationId xmlns:a16="http://schemas.microsoft.com/office/drawing/2014/main" id="{98BC9501-BFF6-9342-B138-9E948725F5A8}"/>
              </a:ext>
            </a:extLst>
          </p:cNvPr>
          <p:cNvSpPr>
            <a:spLocks noGrp="1" noChangeAspect="1"/>
          </p:cNvSpPr>
          <p:nvPr>
            <p:ph type="pic" sz="quarter" idx="18"/>
          </p:nvPr>
        </p:nvSpPr>
        <p:spPr>
          <a:xfrm>
            <a:off x="6260232" y="1825625"/>
            <a:ext cx="5425489" cy="4356106"/>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15DE478A-8C6C-64B8-1B84-D8E0118FB445}"/>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39F0FF-64BE-AF70-0D67-80B95E2BDF3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85424523"/>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nchor="ctr" anchorCtr="0"/>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185530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vl2pPr marL="457200" indent="0">
              <a:buNone/>
              <a:defRPr/>
            </a:lvl2pPr>
          </a:lstStyle>
          <a:p>
            <a:pPr lvl="0"/>
            <a:r>
              <a:rPr lang="en-US"/>
              <a:t>Click to edit Master text styles</a:t>
            </a:r>
          </a:p>
        </p:txBody>
      </p:sp>
      <p:sp>
        <p:nvSpPr>
          <p:cNvPr id="7" name="Content Placeholder 2">
            <a:extLst>
              <a:ext uri="{FF2B5EF4-FFF2-40B4-BE49-F238E27FC236}">
                <a16:creationId xmlns:a16="http://schemas.microsoft.com/office/drawing/2014/main" id="{446578BE-EE02-8446-8355-E9B6639A39EA}"/>
              </a:ext>
            </a:extLst>
          </p:cNvPr>
          <p:cNvSpPr>
            <a:spLocks noGrp="1"/>
          </p:cNvSpPr>
          <p:nvPr>
            <p:ph idx="13"/>
          </p:nvPr>
        </p:nvSpPr>
        <p:spPr>
          <a:xfrm>
            <a:off x="5724938"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FD619F06-3FBC-F24B-8D0F-2B8E474CE770}"/>
              </a:ext>
            </a:extLst>
          </p:cNvPr>
          <p:cNvSpPr>
            <a:spLocks noGrp="1"/>
          </p:cNvSpPr>
          <p:nvPr>
            <p:ph idx="14"/>
          </p:nvPr>
        </p:nvSpPr>
        <p:spPr>
          <a:xfrm>
            <a:off x="9594573" y="2722632"/>
            <a:ext cx="2087063" cy="755373"/>
          </a:xfrm>
        </p:spPr>
        <p:txBody>
          <a:bodyPr anchor="b" anchorCtr="0"/>
          <a:lstStyle>
            <a:lvl1pPr marL="0" indent="0">
              <a:buNone/>
              <a:defRPr sz="20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951175DD-4C98-2B41-90E9-323F504B4BA5}"/>
              </a:ext>
            </a:extLst>
          </p:cNvPr>
          <p:cNvSpPr>
            <a:spLocks noGrp="1"/>
          </p:cNvSpPr>
          <p:nvPr>
            <p:ph idx="15"/>
          </p:nvPr>
        </p:nvSpPr>
        <p:spPr>
          <a:xfrm>
            <a:off x="1855303" y="3576378"/>
            <a:ext cx="2087063" cy="1357311"/>
          </a:xfrm>
        </p:spPr>
        <p:txBody>
          <a:bodyPr/>
          <a:lstStyle>
            <a:lvl1pPr marL="0" indent="0">
              <a:buNone/>
              <a:defRPr sz="1400" b="0"/>
            </a:lvl1pPr>
            <a:lvl2pPr marL="457200" indent="0">
              <a:buNone/>
              <a:defRPr/>
            </a:lvl2pPr>
          </a:lstStyle>
          <a:p>
            <a:pPr lvl="0"/>
            <a:r>
              <a:rPr lang="en-US"/>
              <a:t>Click to edit Master text styles</a:t>
            </a:r>
          </a:p>
        </p:txBody>
      </p:sp>
      <p:sp>
        <p:nvSpPr>
          <p:cNvPr id="10" name="Content Placeholder 2">
            <a:extLst>
              <a:ext uri="{FF2B5EF4-FFF2-40B4-BE49-F238E27FC236}">
                <a16:creationId xmlns:a16="http://schemas.microsoft.com/office/drawing/2014/main" id="{750104C7-5478-0C43-B676-163838B4BCCB}"/>
              </a:ext>
            </a:extLst>
          </p:cNvPr>
          <p:cNvSpPr>
            <a:spLocks noGrp="1"/>
          </p:cNvSpPr>
          <p:nvPr>
            <p:ph idx="16"/>
          </p:nvPr>
        </p:nvSpPr>
        <p:spPr>
          <a:xfrm>
            <a:off x="5724938" y="3576378"/>
            <a:ext cx="2087063" cy="1357311"/>
          </a:xfrm>
        </p:spPr>
        <p:txBody>
          <a:bodyPr/>
          <a:lstStyle>
            <a:lvl1pPr marL="0" indent="0">
              <a:buNone/>
              <a:defRPr sz="1400" b="0"/>
            </a:lvl1pPr>
          </a:lstStyle>
          <a:p>
            <a:pPr lvl="0"/>
            <a:r>
              <a:rPr lang="en-US"/>
              <a:t>Click to edit Master text styles</a:t>
            </a:r>
          </a:p>
        </p:txBody>
      </p:sp>
      <p:sp>
        <p:nvSpPr>
          <p:cNvPr id="11" name="Content Placeholder 2">
            <a:extLst>
              <a:ext uri="{FF2B5EF4-FFF2-40B4-BE49-F238E27FC236}">
                <a16:creationId xmlns:a16="http://schemas.microsoft.com/office/drawing/2014/main" id="{4F57478F-061A-C240-9440-8B9DCF2B0121}"/>
              </a:ext>
            </a:extLst>
          </p:cNvPr>
          <p:cNvSpPr>
            <a:spLocks noGrp="1"/>
          </p:cNvSpPr>
          <p:nvPr>
            <p:ph idx="17"/>
          </p:nvPr>
        </p:nvSpPr>
        <p:spPr>
          <a:xfrm>
            <a:off x="9594573" y="3576378"/>
            <a:ext cx="2087063" cy="1357311"/>
          </a:xfrm>
        </p:spPr>
        <p:txBody>
          <a:bodyPr/>
          <a:lstStyle>
            <a:lvl1pPr marL="0" indent="0">
              <a:buNone/>
              <a:defRPr sz="1400" b="0"/>
            </a:lvl1pPr>
          </a:lstStyle>
          <a:p>
            <a:pPr lvl="0"/>
            <a:r>
              <a:rPr lang="en-US"/>
              <a:t>Click to edit Master text styles</a:t>
            </a:r>
          </a:p>
        </p:txBody>
      </p:sp>
      <p:sp>
        <p:nvSpPr>
          <p:cNvPr id="14" name="Picture Placeholder 13">
            <a:extLst>
              <a:ext uri="{FF2B5EF4-FFF2-40B4-BE49-F238E27FC236}">
                <a16:creationId xmlns:a16="http://schemas.microsoft.com/office/drawing/2014/main" id="{C6ED62A1-2E03-254F-8D5D-505138A72533}"/>
              </a:ext>
            </a:extLst>
          </p:cNvPr>
          <p:cNvSpPr>
            <a:spLocks noGrp="1" noChangeAspect="1"/>
          </p:cNvSpPr>
          <p:nvPr>
            <p:ph type="pic" sz="quarter" idx="18"/>
          </p:nvPr>
        </p:nvSpPr>
        <p:spPr>
          <a:xfrm>
            <a:off x="587853" y="2722563"/>
            <a:ext cx="1143000" cy="1143000"/>
          </a:xfrm>
          <a:solidFill>
            <a:schemeClr val="bg2"/>
          </a:solidFill>
        </p:spPr>
        <p:txBody>
          <a:bodyPr anchor="ctr"/>
          <a:lstStyle>
            <a:lvl1pPr marL="0" indent="0" algn="ctr">
              <a:buNone/>
              <a:defRPr sz="1600"/>
            </a:lvl1pPr>
          </a:lstStyle>
          <a:p>
            <a:endParaRPr lang="en-US"/>
          </a:p>
        </p:txBody>
      </p:sp>
      <p:sp>
        <p:nvSpPr>
          <p:cNvPr id="15" name="Picture Placeholder 13">
            <a:extLst>
              <a:ext uri="{FF2B5EF4-FFF2-40B4-BE49-F238E27FC236}">
                <a16:creationId xmlns:a16="http://schemas.microsoft.com/office/drawing/2014/main" id="{635F9114-B486-6643-86FA-4779B22D7C49}"/>
              </a:ext>
            </a:extLst>
          </p:cNvPr>
          <p:cNvSpPr>
            <a:spLocks noGrp="1" noChangeAspect="1"/>
          </p:cNvSpPr>
          <p:nvPr>
            <p:ph type="pic" sz="quarter" idx="19"/>
          </p:nvPr>
        </p:nvSpPr>
        <p:spPr>
          <a:xfrm>
            <a:off x="4493426" y="2722563"/>
            <a:ext cx="1143000" cy="1143000"/>
          </a:xfrm>
          <a:solidFill>
            <a:schemeClr val="bg2"/>
          </a:solidFill>
        </p:spPr>
        <p:txBody>
          <a:bodyPr anchor="ctr"/>
          <a:lstStyle>
            <a:lvl1pPr marL="0" indent="0" algn="ctr">
              <a:buNone/>
              <a:defRPr sz="1600"/>
            </a:lvl1pPr>
          </a:lstStyle>
          <a:p>
            <a:endParaRPr lang="en-US"/>
          </a:p>
        </p:txBody>
      </p:sp>
      <p:sp>
        <p:nvSpPr>
          <p:cNvPr id="16" name="Picture Placeholder 13">
            <a:extLst>
              <a:ext uri="{FF2B5EF4-FFF2-40B4-BE49-F238E27FC236}">
                <a16:creationId xmlns:a16="http://schemas.microsoft.com/office/drawing/2014/main" id="{3C15CD67-FD78-CE4B-B42F-5F476890529E}"/>
              </a:ext>
            </a:extLst>
          </p:cNvPr>
          <p:cNvSpPr>
            <a:spLocks noGrp="1" noChangeAspect="1"/>
          </p:cNvSpPr>
          <p:nvPr>
            <p:ph type="pic" sz="quarter" idx="20"/>
          </p:nvPr>
        </p:nvSpPr>
        <p:spPr>
          <a:xfrm>
            <a:off x="8352504" y="2722563"/>
            <a:ext cx="1143000" cy="1143000"/>
          </a:xfrm>
          <a:solidFill>
            <a:schemeClr val="bg2"/>
          </a:solidFill>
        </p:spPr>
        <p:txBody>
          <a:bodyPr anchor="ctr"/>
          <a:lstStyle>
            <a:lvl1pPr marL="0" indent="0" algn="ctr">
              <a:buNone/>
              <a:defRPr sz="1600"/>
            </a:lvl1pPr>
          </a:lstStyle>
          <a:p>
            <a:endParaRPr lang="en-US"/>
          </a:p>
        </p:txBody>
      </p:sp>
      <p:sp>
        <p:nvSpPr>
          <p:cNvPr id="4" name="Slide Number Placeholder 3">
            <a:extLst>
              <a:ext uri="{FF2B5EF4-FFF2-40B4-BE49-F238E27FC236}">
                <a16:creationId xmlns:a16="http://schemas.microsoft.com/office/drawing/2014/main" id="{8E77F691-3BBB-69B5-D0A7-BC9786030D4D}"/>
              </a:ext>
            </a:extLst>
          </p:cNvPr>
          <p:cNvSpPr>
            <a:spLocks noGrp="1"/>
          </p:cNvSpPr>
          <p:nvPr>
            <p:ph type="sldNum" sz="quarter" idx="21"/>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555286D9-C236-ECA6-FB84-B8E328484B7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0627006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26" name="Text Placeholder 1">
            <a:extLst>
              <a:ext uri="{FF2B5EF4-FFF2-40B4-BE49-F238E27FC236}">
                <a16:creationId xmlns:a16="http://schemas.microsoft.com/office/drawing/2014/main" id="{D727AA8F-F659-574D-9885-D272F0AACAA0}"/>
              </a:ext>
            </a:extLst>
          </p:cNvPr>
          <p:cNvSpPr>
            <a:spLocks noGrp="1"/>
          </p:cNvSpPr>
          <p:nvPr>
            <p:ph type="body" sz="quarter" idx="18" hasCustomPrompt="1"/>
          </p:nvPr>
        </p:nvSpPr>
        <p:spPr>
          <a:xfrm>
            <a:off x="510363" y="2084331"/>
            <a:ext cx="5266751" cy="442661"/>
          </a:xfrm>
          <a:solidFill>
            <a:schemeClr val="accent1"/>
          </a:solidFill>
        </p:spPr>
        <p:txBody>
          <a:bodyPr lIns="91440" anchor="ctr">
            <a:noAutofit/>
          </a:bodyPr>
          <a:lstStyle>
            <a:lvl1pPr marL="0" indent="0" algn="l">
              <a:lnSpc>
                <a:spcPct val="100000"/>
              </a:lnSpc>
              <a:buNone/>
              <a:defRPr sz="2000" b="1" i="0" spc="0">
                <a:solidFill>
                  <a:schemeClr val="bg1"/>
                </a:solidFill>
                <a:latin typeface="Poppins SemiBold" pitchFamily="2" charset="77"/>
                <a:cs typeface="Poppins SemiBold" pitchFamily="2" charset="77"/>
              </a:defRPr>
            </a:lvl1pPr>
          </a:lstStyle>
          <a:p>
            <a:r>
              <a:rPr lang="en-US"/>
              <a:t>Click to add text</a:t>
            </a:r>
          </a:p>
        </p:txBody>
      </p:sp>
      <p:sp>
        <p:nvSpPr>
          <p:cNvPr id="28" name="Text Placeholder 1">
            <a:extLst>
              <a:ext uri="{FF2B5EF4-FFF2-40B4-BE49-F238E27FC236}">
                <a16:creationId xmlns:a16="http://schemas.microsoft.com/office/drawing/2014/main" id="{41FCDFB3-648C-6F4F-B094-A1C39F625535}"/>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3" name="Text Placeholder 3">
            <a:extLst>
              <a:ext uri="{FF2B5EF4-FFF2-40B4-BE49-F238E27FC236}">
                <a16:creationId xmlns:a16="http://schemas.microsoft.com/office/drawing/2014/main" id="{4A8DAEC2-E957-04EE-8B57-CE881609B52C}"/>
              </a:ext>
            </a:extLst>
          </p:cNvPr>
          <p:cNvSpPr>
            <a:spLocks noGrp="1"/>
          </p:cNvSpPr>
          <p:nvPr>
            <p:ph type="body" sz="quarter" idx="20"/>
          </p:nvPr>
        </p:nvSpPr>
        <p:spPr>
          <a:xfrm>
            <a:off x="510363"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C324879D-EDE0-CDC2-5FAB-1BD3EAC8ACC0}"/>
              </a:ext>
            </a:extLst>
          </p:cNvPr>
          <p:cNvSpPr>
            <a:spLocks noGrp="1"/>
          </p:cNvSpPr>
          <p:nvPr>
            <p:ph type="body" sz="quarter" idx="23"/>
          </p:nvPr>
        </p:nvSpPr>
        <p:spPr>
          <a:xfrm>
            <a:off x="6411101" y="2697579"/>
            <a:ext cx="5266751"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8910769D-BFE0-5F7B-3440-8988A2B90E3F}"/>
              </a:ext>
            </a:extLst>
          </p:cNvPr>
          <p:cNvSpPr>
            <a:spLocks noGrp="1"/>
          </p:cNvSpPr>
          <p:nvPr>
            <p:ph type="sldNum" sz="quarter" idx="24"/>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0849CDA7-B4AC-6AAE-9DEC-44999CFEED8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9221643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436837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8226382" y="2697579"/>
            <a:ext cx="3455255" cy="2029761"/>
          </a:xfrm>
        </p:spPr>
        <p:txBody>
          <a:bodyPr lIns="91440"/>
          <a:lstStyle>
            <a:lvl1pPr marL="0" indent="0">
              <a:buNone/>
              <a:defRPr sz="1600">
                <a:solidFill>
                  <a:schemeClr val="tx2"/>
                </a:solidFill>
              </a:defRPr>
            </a:lvl1pPr>
            <a:lvl2pPr>
              <a:defRPr sz="1600">
                <a:solidFill>
                  <a:schemeClr val="tx2"/>
                </a:solidFill>
              </a:defRPr>
            </a:lvl2pPr>
            <a:lvl3pPr>
              <a:defRPr sz="1400">
                <a:solidFill>
                  <a:schemeClr val="tx2"/>
                </a:solidFill>
              </a:defRPr>
            </a:lvl3pPr>
            <a:lvl4pPr>
              <a:defRPr sz="1200">
                <a:solidFill>
                  <a:schemeClr val="tx2"/>
                </a:solidFill>
              </a:defRPr>
            </a:lvl4pPr>
            <a:lvl5pPr>
              <a:defRPr sz="12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F87CB3DE-81F5-4295-D9C6-8C78579655A6}"/>
              </a:ext>
            </a:extLst>
          </p:cNvPr>
          <p:cNvSpPr>
            <a:spLocks noGrp="1"/>
          </p:cNvSpPr>
          <p:nvPr>
            <p:ph type="sldNum" sz="quarter" idx="26"/>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587F55F-10CC-AB7D-50DE-0B7339D4928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69856168"/>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6" name="Text Placeholder 3">
            <a:extLst>
              <a:ext uri="{FF2B5EF4-FFF2-40B4-BE49-F238E27FC236}">
                <a16:creationId xmlns:a16="http://schemas.microsoft.com/office/drawing/2014/main" id="{4076FCF2-236B-6E45-8A13-AB72AA3D0373}"/>
              </a:ext>
            </a:extLst>
          </p:cNvPr>
          <p:cNvSpPr>
            <a:spLocks noGrp="1"/>
          </p:cNvSpPr>
          <p:nvPr>
            <p:ph type="body" sz="quarter" idx="20"/>
          </p:nvPr>
        </p:nvSpPr>
        <p:spPr>
          <a:xfrm>
            <a:off x="510363"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1" name="Text Placeholder 3">
            <a:extLst>
              <a:ext uri="{FF2B5EF4-FFF2-40B4-BE49-F238E27FC236}">
                <a16:creationId xmlns:a16="http://schemas.microsoft.com/office/drawing/2014/main" id="{CBB26D8D-F6E4-334D-9C24-54DB9F51E72D}"/>
              </a:ext>
            </a:extLst>
          </p:cNvPr>
          <p:cNvSpPr>
            <a:spLocks noGrp="1"/>
          </p:cNvSpPr>
          <p:nvPr>
            <p:ph type="body" sz="quarter" idx="23"/>
          </p:nvPr>
        </p:nvSpPr>
        <p:spPr>
          <a:xfrm>
            <a:off x="3418105"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8" name="Text Placeholder 3">
            <a:extLst>
              <a:ext uri="{FF2B5EF4-FFF2-40B4-BE49-F238E27FC236}">
                <a16:creationId xmlns:a16="http://schemas.microsoft.com/office/drawing/2014/main" id="{DDAA39AE-022D-4848-9ECD-9DF954FDB71D}"/>
              </a:ext>
            </a:extLst>
          </p:cNvPr>
          <p:cNvSpPr>
            <a:spLocks noGrp="1"/>
          </p:cNvSpPr>
          <p:nvPr>
            <p:ph type="body" sz="quarter" idx="25"/>
          </p:nvPr>
        </p:nvSpPr>
        <p:spPr>
          <a:xfrm>
            <a:off x="6315607"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3" name="Text Placeholder 3">
            <a:extLst>
              <a:ext uri="{FF2B5EF4-FFF2-40B4-BE49-F238E27FC236}">
                <a16:creationId xmlns:a16="http://schemas.microsoft.com/office/drawing/2014/main" id="{E89E33FC-D83B-4642-AD91-C8090541B252}"/>
              </a:ext>
            </a:extLst>
          </p:cNvPr>
          <p:cNvSpPr>
            <a:spLocks noGrp="1"/>
          </p:cNvSpPr>
          <p:nvPr>
            <p:ph type="body" sz="quarter" idx="27"/>
          </p:nvPr>
        </p:nvSpPr>
        <p:spPr>
          <a:xfrm>
            <a:off x="9213110" y="2966519"/>
            <a:ext cx="2468527" cy="2029761"/>
          </a:xfrm>
        </p:spPr>
        <p:txBody>
          <a:bodyPr lIns="91440"/>
          <a:lstStyle>
            <a:lvl1pPr marL="0" indent="0">
              <a:buNone/>
              <a:defRPr sz="16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5" name="Slide Number Placeholder 4">
            <a:extLst>
              <a:ext uri="{FF2B5EF4-FFF2-40B4-BE49-F238E27FC236}">
                <a16:creationId xmlns:a16="http://schemas.microsoft.com/office/drawing/2014/main" id="{422DCA30-AE49-BB9D-B1A3-5D2F0928CC0E}"/>
              </a:ext>
            </a:extLst>
          </p:cNvPr>
          <p:cNvSpPr>
            <a:spLocks noGrp="1"/>
          </p:cNvSpPr>
          <p:nvPr>
            <p:ph type="sldNum" sz="quarter" idx="28"/>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B71C945-64B2-8D23-917E-DF7BCBD368D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23544450"/>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8" name="Picture Placeholder 6">
            <a:extLst>
              <a:ext uri="{FF2B5EF4-FFF2-40B4-BE49-F238E27FC236}">
                <a16:creationId xmlns:a16="http://schemas.microsoft.com/office/drawing/2014/main" id="{FBE3FE3E-718D-8C4B-BADA-609DDF3E8068}"/>
              </a:ext>
            </a:extLst>
          </p:cNvPr>
          <p:cNvSpPr>
            <a:spLocks noGrp="1"/>
          </p:cNvSpPr>
          <p:nvPr>
            <p:ph type="pic" sz="quarter" idx="16"/>
          </p:nvPr>
        </p:nvSpPr>
        <p:spPr>
          <a:xfrm>
            <a:off x="510362" y="2567333"/>
            <a:ext cx="5266751"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2" name="Picture Placeholder 6">
            <a:extLst>
              <a:ext uri="{FF2B5EF4-FFF2-40B4-BE49-F238E27FC236}">
                <a16:creationId xmlns:a16="http://schemas.microsoft.com/office/drawing/2014/main" id="{CF6DD162-D398-3C41-87B5-BF0F7B6753D3}"/>
              </a:ext>
            </a:extLst>
          </p:cNvPr>
          <p:cNvSpPr>
            <a:spLocks noGrp="1"/>
          </p:cNvSpPr>
          <p:nvPr>
            <p:ph type="pic" sz="quarter" idx="24"/>
          </p:nvPr>
        </p:nvSpPr>
        <p:spPr>
          <a:xfrm>
            <a:off x="6414887" y="2567333"/>
            <a:ext cx="5266750"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Text Placeholder 1">
            <a:extLst>
              <a:ext uri="{FF2B5EF4-FFF2-40B4-BE49-F238E27FC236}">
                <a16:creationId xmlns:a16="http://schemas.microsoft.com/office/drawing/2014/main" id="{0190D161-F425-0C43-BDAA-140758D37E9F}"/>
              </a:ext>
            </a:extLst>
          </p:cNvPr>
          <p:cNvSpPr>
            <a:spLocks noGrp="1"/>
          </p:cNvSpPr>
          <p:nvPr>
            <p:ph type="body" sz="quarter" idx="18" hasCustomPrompt="1"/>
          </p:nvPr>
        </p:nvSpPr>
        <p:spPr>
          <a:xfrm>
            <a:off x="510363" y="2084331"/>
            <a:ext cx="5266751"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Text Placeholder 1">
            <a:extLst>
              <a:ext uri="{FF2B5EF4-FFF2-40B4-BE49-F238E27FC236}">
                <a16:creationId xmlns:a16="http://schemas.microsoft.com/office/drawing/2014/main" id="{8B76C2F8-FAED-F74F-BB0C-539436FC23B1}"/>
              </a:ext>
            </a:extLst>
          </p:cNvPr>
          <p:cNvSpPr>
            <a:spLocks noGrp="1"/>
          </p:cNvSpPr>
          <p:nvPr>
            <p:ph type="body" sz="quarter" idx="22" hasCustomPrompt="1"/>
          </p:nvPr>
        </p:nvSpPr>
        <p:spPr>
          <a:xfrm>
            <a:off x="6414886" y="2084331"/>
            <a:ext cx="5266751"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4" name="Slide Number Placeholder 3">
            <a:extLst>
              <a:ext uri="{FF2B5EF4-FFF2-40B4-BE49-F238E27FC236}">
                <a16:creationId xmlns:a16="http://schemas.microsoft.com/office/drawing/2014/main" id="{14340808-2DFE-A3C2-872A-E7CBF7708DF5}"/>
              </a:ext>
            </a:extLst>
          </p:cNvPr>
          <p:cNvSpPr>
            <a:spLocks noGrp="1"/>
          </p:cNvSpPr>
          <p:nvPr>
            <p:ph type="sldNum" sz="quarter" idx="25"/>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547F238-A447-055E-FFB3-1EF87E768CE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94968492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84331"/>
            <a:ext cx="3455255" cy="44266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4368372" y="2084331"/>
            <a:ext cx="3455255" cy="44266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8226382" y="2084331"/>
            <a:ext cx="3455255" cy="44266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Picture Placeholder 6">
            <a:extLst>
              <a:ext uri="{FF2B5EF4-FFF2-40B4-BE49-F238E27FC236}">
                <a16:creationId xmlns:a16="http://schemas.microsoft.com/office/drawing/2014/main" id="{17987D37-A353-B142-8206-820739FD3F64}"/>
              </a:ext>
            </a:extLst>
          </p:cNvPr>
          <p:cNvSpPr>
            <a:spLocks noGrp="1"/>
          </p:cNvSpPr>
          <p:nvPr>
            <p:ph type="pic" sz="quarter" idx="16"/>
          </p:nvPr>
        </p:nvSpPr>
        <p:spPr>
          <a:xfrm>
            <a:off x="51036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3" name="Picture Placeholder 6">
            <a:extLst>
              <a:ext uri="{FF2B5EF4-FFF2-40B4-BE49-F238E27FC236}">
                <a16:creationId xmlns:a16="http://schemas.microsoft.com/office/drawing/2014/main" id="{FA3E9558-9B7C-4F42-BAE4-40144A845867}"/>
              </a:ext>
            </a:extLst>
          </p:cNvPr>
          <p:cNvSpPr>
            <a:spLocks noGrp="1"/>
          </p:cNvSpPr>
          <p:nvPr>
            <p:ph type="pic" sz="quarter" idx="25"/>
          </p:nvPr>
        </p:nvSpPr>
        <p:spPr>
          <a:xfrm>
            <a:off x="436837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4" name="Picture Placeholder 6">
            <a:extLst>
              <a:ext uri="{FF2B5EF4-FFF2-40B4-BE49-F238E27FC236}">
                <a16:creationId xmlns:a16="http://schemas.microsoft.com/office/drawing/2014/main" id="{E24F1EC5-BDB0-384E-914B-CD6F4AB0C474}"/>
              </a:ext>
            </a:extLst>
          </p:cNvPr>
          <p:cNvSpPr>
            <a:spLocks noGrp="1"/>
          </p:cNvSpPr>
          <p:nvPr>
            <p:ph type="pic" sz="quarter" idx="26"/>
          </p:nvPr>
        </p:nvSpPr>
        <p:spPr>
          <a:xfrm>
            <a:off x="8226383" y="2567333"/>
            <a:ext cx="3455254"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EA86FCD7-B3D5-2FA7-6FCD-B68964A1CBB5}"/>
              </a:ext>
            </a:extLst>
          </p:cNvPr>
          <p:cNvSpPr>
            <a:spLocks noGrp="1"/>
          </p:cNvSpPr>
          <p:nvPr>
            <p:ph type="sldNum" sz="quarter" idx="27"/>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9158F9F-08CE-6C61-9787-2E66A31EB33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75378183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A2DF-72A5-7C48-AF16-FFC0A33C4608}"/>
              </a:ext>
            </a:extLst>
          </p:cNvPr>
          <p:cNvSpPr>
            <a:spLocks noGrp="1"/>
          </p:cNvSpPr>
          <p:nvPr>
            <p:ph type="title"/>
          </p:nvPr>
        </p:nvSpPr>
        <p:spPr/>
        <p:txBody>
          <a:bodyPr anchor="ctr" anchorCtr="0"/>
          <a:lstStyle/>
          <a:p>
            <a:r>
              <a:rPr lang="en-US"/>
              <a:t>Click to edit Master title style</a:t>
            </a:r>
          </a:p>
        </p:txBody>
      </p:sp>
      <p:sp>
        <p:nvSpPr>
          <p:cNvPr id="4" name="Text Placeholder 1">
            <a:extLst>
              <a:ext uri="{FF2B5EF4-FFF2-40B4-BE49-F238E27FC236}">
                <a16:creationId xmlns:a16="http://schemas.microsoft.com/office/drawing/2014/main" id="{02B75CE4-FC2E-BE4E-8068-3BE5EFC9A1C0}"/>
              </a:ext>
            </a:extLst>
          </p:cNvPr>
          <p:cNvSpPr>
            <a:spLocks noGrp="1"/>
          </p:cNvSpPr>
          <p:nvPr>
            <p:ph type="body" sz="quarter" idx="18" hasCustomPrompt="1"/>
          </p:nvPr>
        </p:nvSpPr>
        <p:spPr>
          <a:xfrm>
            <a:off x="510363" y="2097741"/>
            <a:ext cx="2468527" cy="698191"/>
          </a:xfrm>
          <a:solidFill>
            <a:schemeClr val="accent1"/>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0" name="Text Placeholder 1">
            <a:extLst>
              <a:ext uri="{FF2B5EF4-FFF2-40B4-BE49-F238E27FC236}">
                <a16:creationId xmlns:a16="http://schemas.microsoft.com/office/drawing/2014/main" id="{E14AD892-0B50-6F4F-86A0-2412F313B906}"/>
              </a:ext>
            </a:extLst>
          </p:cNvPr>
          <p:cNvSpPr>
            <a:spLocks noGrp="1"/>
          </p:cNvSpPr>
          <p:nvPr>
            <p:ph type="body" sz="quarter" idx="22" hasCustomPrompt="1"/>
          </p:nvPr>
        </p:nvSpPr>
        <p:spPr>
          <a:xfrm>
            <a:off x="3418105" y="2097741"/>
            <a:ext cx="2468527" cy="698191"/>
          </a:xfrm>
          <a:solidFill>
            <a:schemeClr val="accent2"/>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7" name="Text Placeholder 1">
            <a:extLst>
              <a:ext uri="{FF2B5EF4-FFF2-40B4-BE49-F238E27FC236}">
                <a16:creationId xmlns:a16="http://schemas.microsoft.com/office/drawing/2014/main" id="{C6EF3AD3-0EE8-F14F-8BD0-7A342ABBCABE}"/>
              </a:ext>
            </a:extLst>
          </p:cNvPr>
          <p:cNvSpPr>
            <a:spLocks noGrp="1"/>
          </p:cNvSpPr>
          <p:nvPr>
            <p:ph type="body" sz="quarter" idx="24" hasCustomPrompt="1"/>
          </p:nvPr>
        </p:nvSpPr>
        <p:spPr>
          <a:xfrm>
            <a:off x="6315607" y="2097741"/>
            <a:ext cx="2468527" cy="698191"/>
          </a:xfrm>
          <a:solidFill>
            <a:schemeClr val="accent3"/>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2" name="Text Placeholder 1">
            <a:extLst>
              <a:ext uri="{FF2B5EF4-FFF2-40B4-BE49-F238E27FC236}">
                <a16:creationId xmlns:a16="http://schemas.microsoft.com/office/drawing/2014/main" id="{EC6B03E0-944F-874C-A212-06076D07FE59}"/>
              </a:ext>
            </a:extLst>
          </p:cNvPr>
          <p:cNvSpPr>
            <a:spLocks noGrp="1"/>
          </p:cNvSpPr>
          <p:nvPr>
            <p:ph type="body" sz="quarter" idx="26" hasCustomPrompt="1"/>
          </p:nvPr>
        </p:nvSpPr>
        <p:spPr>
          <a:xfrm>
            <a:off x="9213110" y="2097741"/>
            <a:ext cx="2468527" cy="698191"/>
          </a:xfrm>
          <a:solidFill>
            <a:schemeClr val="accent4"/>
          </a:solidFill>
        </p:spPr>
        <p:txBody>
          <a:bodyPr lIns="91440">
            <a:noAutofit/>
          </a:bodyPr>
          <a:lstStyle>
            <a:lvl1pPr marL="0" indent="0">
              <a:lnSpc>
                <a:spcPct val="100000"/>
              </a:lnSpc>
              <a:buNone/>
              <a:defRPr sz="2000" b="1" i="0">
                <a:solidFill>
                  <a:schemeClr val="bg1"/>
                </a:solidFill>
                <a:latin typeface="Poppins SemiBold" pitchFamily="2" charset="77"/>
                <a:cs typeface="Poppins SemiBold" pitchFamily="2" charset="77"/>
              </a:defRPr>
            </a:lvl1pPr>
          </a:lstStyle>
          <a:p>
            <a:r>
              <a:rPr lang="en-US"/>
              <a:t>Click to add text</a:t>
            </a:r>
          </a:p>
        </p:txBody>
      </p:sp>
      <p:sp>
        <p:nvSpPr>
          <p:cNvPr id="14" name="Picture Placeholder 6">
            <a:extLst>
              <a:ext uri="{FF2B5EF4-FFF2-40B4-BE49-F238E27FC236}">
                <a16:creationId xmlns:a16="http://schemas.microsoft.com/office/drawing/2014/main" id="{2A2E82E6-81FB-6D4C-93AD-7A39C36015DD}"/>
              </a:ext>
            </a:extLst>
          </p:cNvPr>
          <p:cNvSpPr>
            <a:spLocks noGrp="1"/>
          </p:cNvSpPr>
          <p:nvPr>
            <p:ph type="pic" sz="quarter" idx="16"/>
          </p:nvPr>
        </p:nvSpPr>
        <p:spPr>
          <a:xfrm>
            <a:off x="510363"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5" name="Picture Placeholder 6">
            <a:extLst>
              <a:ext uri="{FF2B5EF4-FFF2-40B4-BE49-F238E27FC236}">
                <a16:creationId xmlns:a16="http://schemas.microsoft.com/office/drawing/2014/main" id="{4C9A5777-A561-0843-A8B5-7FA66D6B233B}"/>
              </a:ext>
            </a:extLst>
          </p:cNvPr>
          <p:cNvSpPr>
            <a:spLocks noGrp="1"/>
          </p:cNvSpPr>
          <p:nvPr>
            <p:ph type="pic" sz="quarter" idx="28"/>
          </p:nvPr>
        </p:nvSpPr>
        <p:spPr>
          <a:xfrm>
            <a:off x="3418104" y="2848973"/>
            <a:ext cx="2468527"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6" name="Picture Placeholder 6">
            <a:extLst>
              <a:ext uri="{FF2B5EF4-FFF2-40B4-BE49-F238E27FC236}">
                <a16:creationId xmlns:a16="http://schemas.microsoft.com/office/drawing/2014/main" id="{94463FA4-4088-A14A-9DE6-9159194FFF8F}"/>
              </a:ext>
            </a:extLst>
          </p:cNvPr>
          <p:cNvSpPr>
            <a:spLocks noGrp="1"/>
          </p:cNvSpPr>
          <p:nvPr>
            <p:ph type="pic" sz="quarter" idx="29"/>
          </p:nvPr>
        </p:nvSpPr>
        <p:spPr>
          <a:xfrm>
            <a:off x="6315608"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19" name="Picture Placeholder 6">
            <a:extLst>
              <a:ext uri="{FF2B5EF4-FFF2-40B4-BE49-F238E27FC236}">
                <a16:creationId xmlns:a16="http://schemas.microsoft.com/office/drawing/2014/main" id="{0ADDCE7B-3A3C-7E4D-8C2D-DD958B2F75F5}"/>
              </a:ext>
            </a:extLst>
          </p:cNvPr>
          <p:cNvSpPr>
            <a:spLocks noGrp="1"/>
          </p:cNvSpPr>
          <p:nvPr>
            <p:ph type="pic" sz="quarter" idx="30"/>
          </p:nvPr>
        </p:nvSpPr>
        <p:spPr>
          <a:xfrm>
            <a:off x="9213111" y="2848973"/>
            <a:ext cx="2468526" cy="2029760"/>
          </a:xfrm>
        </p:spPr>
        <p:txBody>
          <a:bodyPr lIns="72000" tIns="72000" rIns="72000" bIns="72000">
            <a:normAutofit/>
          </a:bodyPr>
          <a:lstStyle>
            <a:lvl1pPr>
              <a:defRPr sz="1100">
                <a:solidFill>
                  <a:schemeClr val="bg2"/>
                </a:solidFill>
              </a:defRPr>
            </a:lvl1pPr>
          </a:lstStyle>
          <a:p>
            <a:r>
              <a:rPr lang="en-US"/>
              <a:t>Click icon to add picture</a:t>
            </a:r>
            <a:endParaRPr lang="en-GB"/>
          </a:p>
        </p:txBody>
      </p:sp>
      <p:sp>
        <p:nvSpPr>
          <p:cNvPr id="5" name="Slide Number Placeholder 4">
            <a:extLst>
              <a:ext uri="{FF2B5EF4-FFF2-40B4-BE49-F238E27FC236}">
                <a16:creationId xmlns:a16="http://schemas.microsoft.com/office/drawing/2014/main" id="{833A8752-CFA8-533D-EFFF-ADE11719E0E0}"/>
              </a:ext>
            </a:extLst>
          </p:cNvPr>
          <p:cNvSpPr>
            <a:spLocks noGrp="1"/>
          </p:cNvSpPr>
          <p:nvPr>
            <p:ph type="sldNum" sz="quarter" idx="31"/>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4A813792-A1A5-6B3E-AED0-6D6EB8FD201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898167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bg2"/>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B2E621E8-323F-F64D-4808-72BF7FD10256}"/>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16254" t="-1420" r="-64714" b="-135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A481A5F0-4647-5D2A-EAC7-CA13E24F2259}"/>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67602DE8-497B-21EA-C502-E55D60E42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1875233-4884-5B3C-3305-3EB11D8D38B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05618620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6_Blank">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A00CB0C-2EEB-DEA2-9227-9F083788803F}"/>
              </a:ext>
            </a:extLst>
          </p:cNvPr>
          <p:cNvSpPr/>
          <p:nvPr userDrawn="1"/>
        </p:nvSpPr>
        <p:spPr>
          <a:xfrm>
            <a:off x="4958499" y="-9426"/>
            <a:ext cx="7230359" cy="6881568"/>
          </a:xfrm>
          <a:custGeom>
            <a:avLst/>
            <a:gdLst>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85881 h 6862714"/>
              <a:gd name="connsiteX19" fmla="*/ 2677212 w 7230359"/>
              <a:gd name="connsiteY19" fmla="*/ 6862714 h 6862714"/>
              <a:gd name="connsiteX0" fmla="*/ 2677212 w 7230359"/>
              <a:gd name="connsiteY0" fmla="*/ 6862714 h 6862714"/>
              <a:gd name="connsiteX1" fmla="*/ 3582186 w 7230359"/>
              <a:gd name="connsiteY1" fmla="*/ 6344239 h 6862714"/>
              <a:gd name="connsiteX2" fmla="*/ 3563332 w 7230359"/>
              <a:gd name="connsiteY2" fmla="*/ 3157980 h 6862714"/>
              <a:gd name="connsiteX3" fmla="*/ 1809946 w 7230359"/>
              <a:gd name="connsiteY3" fmla="*/ 2036190 h 6862714"/>
              <a:gd name="connsiteX4" fmla="*/ 2714920 w 7230359"/>
              <a:gd name="connsiteY4" fmla="*/ 1508289 h 6862714"/>
              <a:gd name="connsiteX5" fmla="*/ 4496586 w 7230359"/>
              <a:gd name="connsiteY5" fmla="*/ 2639505 h 6862714"/>
              <a:gd name="connsiteX6" fmla="*/ 4487159 w 7230359"/>
              <a:gd name="connsiteY6" fmla="*/ 5844619 h 6862714"/>
              <a:gd name="connsiteX7" fmla="*/ 5410986 w 7230359"/>
              <a:gd name="connsiteY7" fmla="*/ 5297864 h 6862714"/>
              <a:gd name="connsiteX8" fmla="*/ 5401559 w 7230359"/>
              <a:gd name="connsiteY8" fmla="*/ 2111604 h 6862714"/>
              <a:gd name="connsiteX9" fmla="*/ 3638746 w 7230359"/>
              <a:gd name="connsiteY9" fmla="*/ 989815 h 6862714"/>
              <a:gd name="connsiteX10" fmla="*/ 4543720 w 7230359"/>
              <a:gd name="connsiteY10" fmla="*/ 452487 h 6862714"/>
              <a:gd name="connsiteX11" fmla="*/ 6325386 w 7230359"/>
              <a:gd name="connsiteY11" fmla="*/ 1583703 h 6862714"/>
              <a:gd name="connsiteX12" fmla="*/ 6325386 w 7230359"/>
              <a:gd name="connsiteY12" fmla="*/ 4779390 h 6862714"/>
              <a:gd name="connsiteX13" fmla="*/ 7230359 w 7230359"/>
              <a:gd name="connsiteY13" fmla="*/ 4242062 h 6862714"/>
              <a:gd name="connsiteX14" fmla="*/ 7230359 w 7230359"/>
              <a:gd name="connsiteY14" fmla="*/ 1046375 h 6862714"/>
              <a:gd name="connsiteX15" fmla="*/ 5571241 w 7230359"/>
              <a:gd name="connsiteY15" fmla="*/ 9427 h 6862714"/>
              <a:gd name="connsiteX16" fmla="*/ 3478491 w 7230359"/>
              <a:gd name="connsiteY16" fmla="*/ 0 h 6862714"/>
              <a:gd name="connsiteX17" fmla="*/ 0 w 7230359"/>
              <a:gd name="connsiteY17" fmla="*/ 1998483 h 6862714"/>
              <a:gd name="connsiteX18" fmla="*/ 2677212 w 7230359"/>
              <a:gd name="connsiteY18" fmla="*/ 3695308 h 6862714"/>
              <a:gd name="connsiteX19" fmla="*/ 2677212 w 7230359"/>
              <a:gd name="connsiteY19" fmla="*/ 6862714 h 6862714"/>
              <a:gd name="connsiteX0" fmla="*/ 2677212 w 7230359"/>
              <a:gd name="connsiteY0" fmla="*/ 6872141 h 6872141"/>
              <a:gd name="connsiteX1" fmla="*/ 3582186 w 7230359"/>
              <a:gd name="connsiteY1" fmla="*/ 6344239 h 6872141"/>
              <a:gd name="connsiteX2" fmla="*/ 3563332 w 7230359"/>
              <a:gd name="connsiteY2" fmla="*/ 3157980 h 6872141"/>
              <a:gd name="connsiteX3" fmla="*/ 1809946 w 7230359"/>
              <a:gd name="connsiteY3" fmla="*/ 2036190 h 6872141"/>
              <a:gd name="connsiteX4" fmla="*/ 2714920 w 7230359"/>
              <a:gd name="connsiteY4" fmla="*/ 1508289 h 6872141"/>
              <a:gd name="connsiteX5" fmla="*/ 4496586 w 7230359"/>
              <a:gd name="connsiteY5" fmla="*/ 2639505 h 6872141"/>
              <a:gd name="connsiteX6" fmla="*/ 4487159 w 7230359"/>
              <a:gd name="connsiteY6" fmla="*/ 5844619 h 6872141"/>
              <a:gd name="connsiteX7" fmla="*/ 5410986 w 7230359"/>
              <a:gd name="connsiteY7" fmla="*/ 5297864 h 6872141"/>
              <a:gd name="connsiteX8" fmla="*/ 5401559 w 7230359"/>
              <a:gd name="connsiteY8" fmla="*/ 2111604 h 6872141"/>
              <a:gd name="connsiteX9" fmla="*/ 3638746 w 7230359"/>
              <a:gd name="connsiteY9" fmla="*/ 989815 h 6872141"/>
              <a:gd name="connsiteX10" fmla="*/ 4543720 w 7230359"/>
              <a:gd name="connsiteY10" fmla="*/ 452487 h 6872141"/>
              <a:gd name="connsiteX11" fmla="*/ 6325386 w 7230359"/>
              <a:gd name="connsiteY11" fmla="*/ 1583703 h 6872141"/>
              <a:gd name="connsiteX12" fmla="*/ 6325386 w 7230359"/>
              <a:gd name="connsiteY12" fmla="*/ 4779390 h 6872141"/>
              <a:gd name="connsiteX13" fmla="*/ 7230359 w 7230359"/>
              <a:gd name="connsiteY13" fmla="*/ 4242062 h 6872141"/>
              <a:gd name="connsiteX14" fmla="*/ 7230359 w 7230359"/>
              <a:gd name="connsiteY14" fmla="*/ 1046375 h 6872141"/>
              <a:gd name="connsiteX15" fmla="*/ 5571241 w 7230359"/>
              <a:gd name="connsiteY15" fmla="*/ 9427 h 6872141"/>
              <a:gd name="connsiteX16" fmla="*/ 3478491 w 7230359"/>
              <a:gd name="connsiteY16" fmla="*/ 0 h 6872141"/>
              <a:gd name="connsiteX17" fmla="*/ 0 w 7230359"/>
              <a:gd name="connsiteY17" fmla="*/ 1998483 h 6872141"/>
              <a:gd name="connsiteX18" fmla="*/ 2677212 w 7230359"/>
              <a:gd name="connsiteY18" fmla="*/ 3695308 h 6872141"/>
              <a:gd name="connsiteX19" fmla="*/ 2677212 w 7230359"/>
              <a:gd name="connsiteY19" fmla="*/ 6872141 h 6872141"/>
              <a:gd name="connsiteX0" fmla="*/ 2667785 w 7230359"/>
              <a:gd name="connsiteY0" fmla="*/ 6881568 h 6881568"/>
              <a:gd name="connsiteX1" fmla="*/ 3582186 w 7230359"/>
              <a:gd name="connsiteY1" fmla="*/ 6344239 h 6881568"/>
              <a:gd name="connsiteX2" fmla="*/ 3563332 w 7230359"/>
              <a:gd name="connsiteY2" fmla="*/ 3157980 h 6881568"/>
              <a:gd name="connsiteX3" fmla="*/ 1809946 w 7230359"/>
              <a:gd name="connsiteY3" fmla="*/ 2036190 h 6881568"/>
              <a:gd name="connsiteX4" fmla="*/ 2714920 w 7230359"/>
              <a:gd name="connsiteY4" fmla="*/ 1508289 h 6881568"/>
              <a:gd name="connsiteX5" fmla="*/ 4496586 w 7230359"/>
              <a:gd name="connsiteY5" fmla="*/ 2639505 h 6881568"/>
              <a:gd name="connsiteX6" fmla="*/ 4487159 w 7230359"/>
              <a:gd name="connsiteY6" fmla="*/ 5844619 h 6881568"/>
              <a:gd name="connsiteX7" fmla="*/ 5410986 w 7230359"/>
              <a:gd name="connsiteY7" fmla="*/ 5297864 h 6881568"/>
              <a:gd name="connsiteX8" fmla="*/ 5401559 w 7230359"/>
              <a:gd name="connsiteY8" fmla="*/ 2111604 h 6881568"/>
              <a:gd name="connsiteX9" fmla="*/ 3638746 w 7230359"/>
              <a:gd name="connsiteY9" fmla="*/ 989815 h 6881568"/>
              <a:gd name="connsiteX10" fmla="*/ 4543720 w 7230359"/>
              <a:gd name="connsiteY10" fmla="*/ 452487 h 6881568"/>
              <a:gd name="connsiteX11" fmla="*/ 6325386 w 7230359"/>
              <a:gd name="connsiteY11" fmla="*/ 1583703 h 6881568"/>
              <a:gd name="connsiteX12" fmla="*/ 6325386 w 7230359"/>
              <a:gd name="connsiteY12" fmla="*/ 4779390 h 6881568"/>
              <a:gd name="connsiteX13" fmla="*/ 7230359 w 7230359"/>
              <a:gd name="connsiteY13" fmla="*/ 4242062 h 6881568"/>
              <a:gd name="connsiteX14" fmla="*/ 7230359 w 7230359"/>
              <a:gd name="connsiteY14" fmla="*/ 1046375 h 6881568"/>
              <a:gd name="connsiteX15" fmla="*/ 5571241 w 7230359"/>
              <a:gd name="connsiteY15" fmla="*/ 9427 h 6881568"/>
              <a:gd name="connsiteX16" fmla="*/ 3478491 w 7230359"/>
              <a:gd name="connsiteY16" fmla="*/ 0 h 6881568"/>
              <a:gd name="connsiteX17" fmla="*/ 0 w 7230359"/>
              <a:gd name="connsiteY17" fmla="*/ 1998483 h 6881568"/>
              <a:gd name="connsiteX18" fmla="*/ 2677212 w 7230359"/>
              <a:gd name="connsiteY18" fmla="*/ 3695308 h 6881568"/>
              <a:gd name="connsiteX19" fmla="*/ 2667785 w 7230359"/>
              <a:gd name="connsiteY19" fmla="*/ 6881568 h 6881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230359" h="6881568">
                <a:moveTo>
                  <a:pt x="2667785" y="6881568"/>
                </a:moveTo>
                <a:lnTo>
                  <a:pt x="3582186" y="6344239"/>
                </a:lnTo>
                <a:lnTo>
                  <a:pt x="3563332" y="3157980"/>
                </a:lnTo>
                <a:lnTo>
                  <a:pt x="1809946" y="2036190"/>
                </a:lnTo>
                <a:lnTo>
                  <a:pt x="2714920" y="1508289"/>
                </a:lnTo>
                <a:lnTo>
                  <a:pt x="4496586" y="2639505"/>
                </a:lnTo>
                <a:cubicBezTo>
                  <a:pt x="4493444" y="3707876"/>
                  <a:pt x="4490301" y="4776248"/>
                  <a:pt x="4487159" y="5844619"/>
                </a:cubicBezTo>
                <a:lnTo>
                  <a:pt x="5410986" y="5297864"/>
                </a:lnTo>
                <a:cubicBezTo>
                  <a:pt x="5407844" y="4235777"/>
                  <a:pt x="5404701" y="3173691"/>
                  <a:pt x="5401559" y="2111604"/>
                </a:cubicBezTo>
                <a:lnTo>
                  <a:pt x="3638746" y="989815"/>
                </a:lnTo>
                <a:lnTo>
                  <a:pt x="4543720" y="452487"/>
                </a:lnTo>
                <a:lnTo>
                  <a:pt x="6325386" y="1583703"/>
                </a:lnTo>
                <a:lnTo>
                  <a:pt x="6325386" y="4779390"/>
                </a:lnTo>
                <a:lnTo>
                  <a:pt x="7230359" y="4242062"/>
                </a:lnTo>
                <a:lnTo>
                  <a:pt x="7230359" y="1046375"/>
                </a:lnTo>
                <a:lnTo>
                  <a:pt x="5571241" y="9427"/>
                </a:lnTo>
                <a:lnTo>
                  <a:pt x="3478491" y="0"/>
                </a:lnTo>
                <a:lnTo>
                  <a:pt x="0" y="1998483"/>
                </a:lnTo>
                <a:lnTo>
                  <a:pt x="2677212" y="3695308"/>
                </a:lnTo>
                <a:cubicBezTo>
                  <a:pt x="2680354" y="4760537"/>
                  <a:pt x="2674070" y="5835192"/>
                  <a:pt x="2667785" y="6881568"/>
                </a:cubicBezTo>
                <a:close/>
              </a:path>
            </a:pathLst>
          </a:custGeom>
          <a:blipFill>
            <a:blip r:embed="rId2" cstate="screen">
              <a:extLst>
                <a:ext uri="{28A0092B-C50C-407E-A947-70E740481C1C}">
                  <a14:useLocalDpi xmlns:a14="http://schemas.microsoft.com/office/drawing/2010/main"/>
                </a:ext>
              </a:extLst>
            </a:blip>
            <a:stretch>
              <a:fillRect l="-51823" t="-2978" r="-29145" b="20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DC4117C2-702F-EF6E-5814-92273654ED9B}"/>
              </a:ext>
            </a:extLst>
          </p:cNvPr>
          <p:cNvSpPr>
            <a:spLocks noGrp="1"/>
          </p:cNvSpPr>
          <p:nvPr>
            <p:ph type="title"/>
          </p:nvPr>
        </p:nvSpPr>
        <p:spPr>
          <a:xfrm>
            <a:off x="510363" y="287635"/>
            <a:ext cx="4847450" cy="1325563"/>
          </a:xfrm>
        </p:spPr>
        <p:txBody>
          <a:bodyPr anchor="ctr" anchorCtr="0"/>
          <a:lstStyle>
            <a:lvl1pPr>
              <a:defRPr>
                <a:solidFill>
                  <a:schemeClr val="accent2"/>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168457D3-0FC8-5582-4AA9-DB58C9B982BF}"/>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5" name="Rectangle 4">
            <a:extLst>
              <a:ext uri="{FF2B5EF4-FFF2-40B4-BE49-F238E27FC236}">
                <a16:creationId xmlns:a16="http://schemas.microsoft.com/office/drawing/2014/main" id="{0741C897-9908-A0DB-9E1A-4ED8F9F27726}"/>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9413648"/>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3_Blank">
    <p:bg>
      <p:bgPr>
        <a:solidFill>
          <a:schemeClr val="accent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2F238C1-19BD-2154-C04B-92AE0BB3EDB9}"/>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5A05BF4-2B78-E036-41B0-9A1B8F95F8C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339528667"/>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13_Blank">
    <p:bg>
      <p:bgPr>
        <a:solidFill>
          <a:schemeClr val="accent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8C1E1013-D1CA-1519-743B-87CF06E5A047}"/>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0BAC0916-6F27-CFE5-9E72-EB567CD3C4C9}"/>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7497799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4_Blank">
    <p:bg>
      <p:bgPr>
        <a:solidFill>
          <a:schemeClr val="bg2"/>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7A15CEC9-26C7-7BC3-DC5D-6AD2F7A986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4" name="Title 4">
            <a:extLst>
              <a:ext uri="{FF2B5EF4-FFF2-40B4-BE49-F238E27FC236}">
                <a16:creationId xmlns:a16="http://schemas.microsoft.com/office/drawing/2014/main" id="{ADF4F4E5-6FAE-0B5F-68EA-D7F2F479D260}"/>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5" name="Text Placeholder 8">
            <a:extLst>
              <a:ext uri="{FF2B5EF4-FFF2-40B4-BE49-F238E27FC236}">
                <a16:creationId xmlns:a16="http://schemas.microsoft.com/office/drawing/2014/main" id="{C0F43B05-AC97-75C7-1F31-8E87F180B02F}"/>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6" name="Slide Number Placeholder 5">
            <a:extLst>
              <a:ext uri="{FF2B5EF4-FFF2-40B4-BE49-F238E27FC236}">
                <a16:creationId xmlns:a16="http://schemas.microsoft.com/office/drawing/2014/main" id="{76F99838-2A16-2878-9BD5-7D9CC8D5251B}"/>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CA9EAA64-9579-82A6-4A34-C4A43EFBD6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69437701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26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DB3B9604-8071-85F9-F876-5DEA26D181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E1D56BBE-D23E-7E81-6795-737EC4B9DE4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66365C7-DF65-5ECA-2310-18FC86C8302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83818844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2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B1535B67-CEC7-A45B-9E69-B0E4801533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FCF8C804-FE03-CE52-D70E-A016A7F24AE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FAF93733-EA84-F6BA-C2F4-094501C1CB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7816442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28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17BEB692-0050-7268-A767-5B871C46D8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sp>
        <p:nvSpPr>
          <p:cNvPr id="2" name="Slide Number Placeholder 1">
            <a:extLst>
              <a:ext uri="{FF2B5EF4-FFF2-40B4-BE49-F238E27FC236}">
                <a16:creationId xmlns:a16="http://schemas.microsoft.com/office/drawing/2014/main" id="{9CC3B2AD-FF4B-B69B-9C3B-512CBF67B38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8A45B39-0CBE-D428-EACC-C28E4847B3E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25097632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29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61A1D406-BA52-E8EC-6269-CB31607E10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303C2A6E-E194-D35A-0D22-6939627E884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C8B337DB-288A-6086-ACE4-6A5A7E1B81B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09490199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30_Blank">
    <p:bg>
      <p:bgPr>
        <a:solidFill>
          <a:schemeClr val="bg1"/>
        </a:solidFill>
        <a:effectLst/>
      </p:bgPr>
    </p:bg>
    <p:spTree>
      <p:nvGrpSpPr>
        <p:cNvPr id="1" name=""/>
        <p:cNvGrpSpPr/>
        <p:nvPr/>
      </p:nvGrpSpPr>
      <p:grpSpPr>
        <a:xfrm>
          <a:off x="0" y="0"/>
          <a:ext cx="0" cy="0"/>
          <a:chOff x="0" y="0"/>
          <a:chExt cx="0" cy="0"/>
        </a:xfrm>
      </p:grpSpPr>
      <p:pic>
        <p:nvPicPr>
          <p:cNvPr id="7" name="Picture 6" descr="A black background with gold lines&#10;&#10;AI-generated content may be incorrect.">
            <a:extLst>
              <a:ext uri="{FF2B5EF4-FFF2-40B4-BE49-F238E27FC236}">
                <a16:creationId xmlns:a16="http://schemas.microsoft.com/office/drawing/2014/main" id="{99B74112-D40B-4AAB-8F4D-39D6FD35DF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2" name="Slide Number Placeholder 1">
            <a:extLst>
              <a:ext uri="{FF2B5EF4-FFF2-40B4-BE49-F238E27FC236}">
                <a16:creationId xmlns:a16="http://schemas.microsoft.com/office/drawing/2014/main" id="{B46DA58D-771D-BFEE-4EA2-01074F83B0C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3FED1F8-7141-BE7B-40E5-09D550EAF7B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394991294"/>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31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gold pattern&#10;&#10;AI-generated content may be incorrect.">
            <a:extLst>
              <a:ext uri="{FF2B5EF4-FFF2-40B4-BE49-F238E27FC236}">
                <a16:creationId xmlns:a16="http://schemas.microsoft.com/office/drawing/2014/main" id="{A3354D6B-23C7-7035-D4B0-87C0E181778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54C3E5A9-27B0-DEEF-87EB-A075B438976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2161818-29BB-9C81-4DF0-34CB6141995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3797089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32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bg2"/>
          </a:solidFill>
        </p:spPr>
      </p:pic>
      <p:sp>
        <p:nvSpPr>
          <p:cNvPr id="2" name="Slide Number Placeholder 1">
            <a:extLst>
              <a:ext uri="{FF2B5EF4-FFF2-40B4-BE49-F238E27FC236}">
                <a16:creationId xmlns:a16="http://schemas.microsoft.com/office/drawing/2014/main" id="{ADDADD5A-7549-16E3-EA43-F79D5BFCEB8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A8763941-695B-2903-0299-FFA8C199DA7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53424768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33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1"/>
          </a:solidFill>
        </p:spPr>
      </p:pic>
      <p:sp>
        <p:nvSpPr>
          <p:cNvPr id="2" name="Slide Number Placeholder 1">
            <a:extLst>
              <a:ext uri="{FF2B5EF4-FFF2-40B4-BE49-F238E27FC236}">
                <a16:creationId xmlns:a16="http://schemas.microsoft.com/office/drawing/2014/main" id="{CBFF6F11-DAE7-BAF1-21E9-CEA73F2F7A91}"/>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E98612-3250-A0F8-6205-9500326C324B}"/>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62161318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34_Blank">
    <p:bg>
      <p:bgPr>
        <a:solidFill>
          <a:schemeClr val="bg1"/>
        </a:solidFill>
        <a:effectLst/>
      </p:bgPr>
    </p:bg>
    <p:spTree>
      <p:nvGrpSpPr>
        <p:cNvPr id="1" name=""/>
        <p:cNvGrpSpPr/>
        <p:nvPr/>
      </p:nvGrpSpPr>
      <p:grpSpPr>
        <a:xfrm>
          <a:off x="0" y="0"/>
          <a:ext cx="0" cy="0"/>
          <a:chOff x="0" y="0"/>
          <a:chExt cx="0" cy="0"/>
        </a:xfrm>
      </p:grpSpPr>
      <p:pic>
        <p:nvPicPr>
          <p:cNvPr id="7" name="Picture 6" descr="A black and white background with lines&#10;&#10;AI-generated content may be incorrect.">
            <a:extLst>
              <a:ext uri="{FF2B5EF4-FFF2-40B4-BE49-F238E27FC236}">
                <a16:creationId xmlns:a16="http://schemas.microsoft.com/office/drawing/2014/main" id="{729AD21F-060B-C455-DA20-A2458038C9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a:solidFill>
            <a:schemeClr val="accent2"/>
          </a:solidFill>
        </p:spPr>
      </p:pic>
      <p:sp>
        <p:nvSpPr>
          <p:cNvPr id="2" name="Slide Number Placeholder 1">
            <a:extLst>
              <a:ext uri="{FF2B5EF4-FFF2-40B4-BE49-F238E27FC236}">
                <a16:creationId xmlns:a16="http://schemas.microsoft.com/office/drawing/2014/main" id="{A48DBCE4-2DEA-888D-D195-07CAC20B8ED8}"/>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0B937861-6B27-D4CA-9871-4F5A778091D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6191528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35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bg2"/>
          </a:solidFill>
        </p:spPr>
      </p:pic>
      <p:sp>
        <p:nvSpPr>
          <p:cNvPr id="2" name="Slide Number Placeholder 1">
            <a:extLst>
              <a:ext uri="{FF2B5EF4-FFF2-40B4-BE49-F238E27FC236}">
                <a16:creationId xmlns:a16="http://schemas.microsoft.com/office/drawing/2014/main" id="{33F6CDF3-A50E-AED5-B6BC-B929D3D4F43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EE9CADEB-5620-2A9D-EFAF-3836FF789E5F}"/>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857361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36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1"/>
          </a:solidFill>
        </p:spPr>
      </p:pic>
      <p:sp>
        <p:nvSpPr>
          <p:cNvPr id="2" name="Slide Number Placeholder 1">
            <a:extLst>
              <a:ext uri="{FF2B5EF4-FFF2-40B4-BE49-F238E27FC236}">
                <a16:creationId xmlns:a16="http://schemas.microsoft.com/office/drawing/2014/main" id="{F7BE669A-C9C1-2E37-AA7F-697081E629D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138ACACB-8FB2-1FF1-613D-AAD5D40422F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0087202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37_Blank">
    <p:bg>
      <p:bgPr>
        <a:solidFill>
          <a:schemeClr val="bg1"/>
        </a:solidFill>
        <a:effectLst/>
      </p:bgPr>
    </p:bg>
    <p:spTree>
      <p:nvGrpSpPr>
        <p:cNvPr id="1" name=""/>
        <p:cNvGrpSpPr/>
        <p:nvPr/>
      </p:nvGrpSpPr>
      <p:grpSpPr>
        <a:xfrm>
          <a:off x="0" y="0"/>
          <a:ext cx="0" cy="0"/>
          <a:chOff x="0" y="0"/>
          <a:chExt cx="0" cy="0"/>
        </a:xfrm>
      </p:grpSpPr>
      <p:pic>
        <p:nvPicPr>
          <p:cNvPr id="3" name="Picture 2" descr="A black and white pattern&#10;&#10;AI-generated content may be incorrect.">
            <a:extLst>
              <a:ext uri="{FF2B5EF4-FFF2-40B4-BE49-F238E27FC236}">
                <a16:creationId xmlns:a16="http://schemas.microsoft.com/office/drawing/2014/main" id="{940D89FD-B989-2FB7-C1AA-21E2E58E574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a:solidFill>
            <a:schemeClr val="accent2"/>
          </a:solidFill>
        </p:spPr>
      </p:pic>
      <p:sp>
        <p:nvSpPr>
          <p:cNvPr id="2" name="Slide Number Placeholder 1">
            <a:extLst>
              <a:ext uri="{FF2B5EF4-FFF2-40B4-BE49-F238E27FC236}">
                <a16:creationId xmlns:a16="http://schemas.microsoft.com/office/drawing/2014/main" id="{64CDE889-F58E-D858-3FA7-5026AF404DA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4" name="Rectangle 3">
            <a:extLst>
              <a:ext uri="{FF2B5EF4-FFF2-40B4-BE49-F238E27FC236}">
                <a16:creationId xmlns:a16="http://schemas.microsoft.com/office/drawing/2014/main" id="{7E0AD856-20D1-7D8A-6446-0E4C953F086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3895083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7_Blank">
    <p:bg>
      <p:bgPr>
        <a:solidFill>
          <a:schemeClr val="accent1"/>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5AE6394E-EE3A-CD0F-0F51-E136254FAC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9C2B43D-8A9A-5118-2214-138BB3B7289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24933306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8_Blank">
    <p:bg>
      <p:bgPr>
        <a:solidFill>
          <a:schemeClr val="accent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3" name="Slide Number Placeholder 2">
            <a:extLst>
              <a:ext uri="{FF2B5EF4-FFF2-40B4-BE49-F238E27FC236}">
                <a16:creationId xmlns:a16="http://schemas.microsoft.com/office/drawing/2014/main" id="{CC26BC0A-4A48-E551-AB8C-4381407B2E86}"/>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ECBCDE1D-FB59-6B30-F48E-C96B78B4DB7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77334500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5_Blank">
    <p:bg>
      <p:bgPr>
        <a:solidFill>
          <a:schemeClr val="bg2"/>
        </a:solidFill>
        <a:effectLst/>
      </p:bgPr>
    </p:bg>
    <p:spTree>
      <p:nvGrpSpPr>
        <p:cNvPr id="1" name=""/>
        <p:cNvGrpSpPr/>
        <p:nvPr/>
      </p:nvGrpSpPr>
      <p:grpSpPr>
        <a:xfrm>
          <a:off x="0" y="0"/>
          <a:ext cx="0" cy="0"/>
          <a:chOff x="0" y="0"/>
          <a:chExt cx="0" cy="0"/>
        </a:xfrm>
      </p:grpSpPr>
      <p:pic>
        <p:nvPicPr>
          <p:cNvPr id="7" name="Picture 6" descr="A black and white pattern&#10;&#10;AI-generated content may be incorrect.">
            <a:extLst>
              <a:ext uri="{FF2B5EF4-FFF2-40B4-BE49-F238E27FC236}">
                <a16:creationId xmlns:a16="http://schemas.microsoft.com/office/drawing/2014/main" id="{A5CE9015-0BB3-8473-D17C-11FA3AB72D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8" name="Title 4">
            <a:extLst>
              <a:ext uri="{FF2B5EF4-FFF2-40B4-BE49-F238E27FC236}">
                <a16:creationId xmlns:a16="http://schemas.microsoft.com/office/drawing/2014/main" id="{203BA25F-EE07-C612-B832-0A34E9D1693B}"/>
              </a:ext>
            </a:extLst>
          </p:cNvPr>
          <p:cNvSpPr>
            <a:spLocks noGrp="1"/>
          </p:cNvSpPr>
          <p:nvPr>
            <p:ph type="title" hasCustomPrompt="1"/>
          </p:nvPr>
        </p:nvSpPr>
        <p:spPr>
          <a:xfrm>
            <a:off x="507925" y="1757507"/>
            <a:ext cx="6128401" cy="2703657"/>
          </a:xfrm>
        </p:spPr>
        <p:txBody>
          <a:bodyPr lIns="0" tIns="0" rIns="0" bIns="0">
            <a:noAutofit/>
          </a:bodyPr>
          <a:lstStyle>
            <a:lvl1pPr>
              <a:defRPr sz="7200">
                <a:solidFill>
                  <a:schemeClr val="tx1"/>
                </a:solidFill>
              </a:defRPr>
            </a:lvl1pPr>
          </a:lstStyle>
          <a:p>
            <a:r>
              <a:rPr lang="en-US"/>
              <a:t>Presentation</a:t>
            </a:r>
            <a:br>
              <a:rPr lang="en-US"/>
            </a:br>
            <a:r>
              <a:rPr lang="en-US"/>
              <a:t>template </a:t>
            </a:r>
          </a:p>
        </p:txBody>
      </p:sp>
      <p:sp>
        <p:nvSpPr>
          <p:cNvPr id="9" name="Text Placeholder 8">
            <a:extLst>
              <a:ext uri="{FF2B5EF4-FFF2-40B4-BE49-F238E27FC236}">
                <a16:creationId xmlns:a16="http://schemas.microsoft.com/office/drawing/2014/main" id="{3E309DCD-3978-07E9-3681-32DE57A31920}"/>
              </a:ext>
            </a:extLst>
          </p:cNvPr>
          <p:cNvSpPr>
            <a:spLocks noGrp="1"/>
          </p:cNvSpPr>
          <p:nvPr>
            <p:ph type="body" sz="quarter" idx="13" hasCustomPrompt="1"/>
          </p:nvPr>
        </p:nvSpPr>
        <p:spPr>
          <a:xfrm>
            <a:off x="508000" y="4663585"/>
            <a:ext cx="6127750" cy="731943"/>
          </a:xfrm>
        </p:spPr>
        <p:txBody>
          <a:bodyPr/>
          <a:lstStyle>
            <a:lvl1pPr marL="0" indent="0">
              <a:buNone/>
              <a:defRPr sz="1800">
                <a:solidFill>
                  <a:schemeClr val="tx1"/>
                </a:solidFill>
              </a:defRPr>
            </a:lvl1pPr>
            <a:lvl2pPr>
              <a:defRPr sz="1800"/>
            </a:lvl2pPr>
            <a:lvl3pPr>
              <a:defRPr sz="1600"/>
            </a:lvl3pPr>
            <a:lvl4pPr>
              <a:defRPr sz="1400"/>
            </a:lvl4pPr>
            <a:lvl5pPr>
              <a:defRPr sz="1400"/>
            </a:lvl5pPr>
          </a:lstStyle>
          <a:p>
            <a:pPr lvl="0"/>
            <a:r>
              <a:rPr lang="en-US"/>
              <a:t>Month XX, 2025</a:t>
            </a:r>
          </a:p>
        </p:txBody>
      </p:sp>
      <p:sp>
        <p:nvSpPr>
          <p:cNvPr id="2" name="Slide Number Placeholder 1">
            <a:extLst>
              <a:ext uri="{FF2B5EF4-FFF2-40B4-BE49-F238E27FC236}">
                <a16:creationId xmlns:a16="http://schemas.microsoft.com/office/drawing/2014/main" id="{59E4E00A-729D-2C8E-1511-1539B385B97F}"/>
              </a:ext>
            </a:extLst>
          </p:cNvPr>
          <p:cNvSpPr>
            <a:spLocks noGrp="1"/>
          </p:cNvSpPr>
          <p:nvPr>
            <p:ph type="sldNum" sz="quarter" idx="14"/>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9DFCC031-8F22-F8D1-8DD6-843269D74855}"/>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97003101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1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33587" t="-2468" r="-61297" b="-432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FDC85EC9-C34C-026D-DC59-0197F3FDFE1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B7B3602-2EC6-B4CB-4DF4-47D848CBF7FC}"/>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992145040"/>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9_Blank">
    <p:bg>
      <p:bgPr>
        <a:solidFill>
          <a:schemeClr val="accent1"/>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C152B886-5710-6902-275E-593BB47B18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F199599-4E41-412C-D5B1-F57E9A14D5F8}"/>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46309263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10_Blank">
    <p:bg>
      <p:bgPr>
        <a:solidFill>
          <a:schemeClr val="bg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B16B426-0584-6A43-8F3D-DF3E029307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3C69CB49-1B5D-F3F2-E4AB-2A6DD716C190}"/>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30448285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14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CC95DE5-DBC4-5D9A-7355-4C5BCE7886D7}"/>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B1E35650-1D2B-75CC-868E-3F39FC41C0B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22511295"/>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11_Blank">
    <p:bg>
      <p:bgPr>
        <a:solidFill>
          <a:schemeClr val="accent3"/>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41849" t="-18576" r="-76047" b="-5166"/>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10313812-138A-F6A2-2340-1B0C27F4C52D}"/>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E401A63B-4557-44BB-2646-A3485D7C1091}"/>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471727667"/>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12_Blank">
    <p:bg>
      <p:bgPr>
        <a:solidFill>
          <a:schemeClr val="accent2"/>
        </a:solidFill>
        <a:effectLst/>
      </p:bgPr>
    </p:bg>
    <p:spTree>
      <p:nvGrpSpPr>
        <p:cNvPr id="1" name=""/>
        <p:cNvGrpSpPr/>
        <p:nvPr/>
      </p:nvGrpSpPr>
      <p:grpSpPr>
        <a:xfrm>
          <a:off x="0" y="0"/>
          <a:ext cx="0" cy="0"/>
          <a:chOff x="0" y="0"/>
          <a:chExt cx="0" cy="0"/>
        </a:xfrm>
      </p:grpSpPr>
      <p:pic>
        <p:nvPicPr>
          <p:cNvPr id="26" name="Picture 25" descr="A black and white pattern&#10;&#10;AI-generated content may be incorrect.">
            <a:extLst>
              <a:ext uri="{FF2B5EF4-FFF2-40B4-BE49-F238E27FC236}">
                <a16:creationId xmlns:a16="http://schemas.microsoft.com/office/drawing/2014/main" id="{9430FB8B-A89B-2E82-F77D-988B54B410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l="869" t="869"/>
          <a:stretch>
            <a:fillRect/>
          </a:stretch>
        </p:blipFill>
        <p:spPr>
          <a:xfrm>
            <a:off x="0" y="0"/>
            <a:ext cx="12192000" cy="6861574"/>
          </a:xfrm>
          <a:prstGeom prst="rect">
            <a:avLst/>
          </a:prstGeom>
        </p:spPr>
      </p:pic>
      <p:sp>
        <p:nvSpPr>
          <p:cNvPr id="27" name="Freeform 26">
            <a:extLst>
              <a:ext uri="{FF2B5EF4-FFF2-40B4-BE49-F238E27FC236}">
                <a16:creationId xmlns:a16="http://schemas.microsoft.com/office/drawing/2014/main" id="{70171AAE-CAFD-5AE9-7C6C-0C04436D4168}"/>
              </a:ext>
            </a:extLst>
          </p:cNvPr>
          <p:cNvSpPr/>
          <p:nvPr userDrawn="1"/>
        </p:nvSpPr>
        <p:spPr>
          <a:xfrm>
            <a:off x="3427986" y="1083965"/>
            <a:ext cx="4688309" cy="4869709"/>
          </a:xfrm>
          <a:custGeom>
            <a:avLst/>
            <a:gdLst>
              <a:gd name="connsiteX0" fmla="*/ 0 w 4664149"/>
              <a:gd name="connsiteY0" fmla="*/ 1701209 h 4862623"/>
              <a:gd name="connsiteX1" fmla="*/ 2962940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64149"/>
              <a:gd name="connsiteY0" fmla="*/ 1701209 h 4862623"/>
              <a:gd name="connsiteX1" fmla="*/ 2970028 w 4664149"/>
              <a:gd name="connsiteY1" fmla="*/ 0 h 4862623"/>
              <a:gd name="connsiteX2" fmla="*/ 4664149 w 4664149"/>
              <a:gd name="connsiteY2" fmla="*/ 1098698 h 4862623"/>
              <a:gd name="connsiteX3" fmla="*/ 4664149 w 4664149"/>
              <a:gd name="connsiteY3" fmla="*/ 3175591 h 4862623"/>
              <a:gd name="connsiteX4" fmla="*/ 1715387 w 4664149"/>
              <a:gd name="connsiteY4" fmla="*/ 4862623 h 4862623"/>
              <a:gd name="connsiteX5" fmla="*/ 1715387 w 4664149"/>
              <a:gd name="connsiteY5" fmla="*/ 2792819 h 4862623"/>
              <a:gd name="connsiteX6" fmla="*/ 0 w 4664149"/>
              <a:gd name="connsiteY6" fmla="*/ 1701209 h 4862623"/>
              <a:gd name="connsiteX0" fmla="*/ 0 w 4685414"/>
              <a:gd name="connsiteY0" fmla="*/ 1715386 h 4862623"/>
              <a:gd name="connsiteX1" fmla="*/ 2991293 w 4685414"/>
              <a:gd name="connsiteY1" fmla="*/ 0 h 4862623"/>
              <a:gd name="connsiteX2" fmla="*/ 4685414 w 4685414"/>
              <a:gd name="connsiteY2" fmla="*/ 1098698 h 4862623"/>
              <a:gd name="connsiteX3" fmla="*/ 4685414 w 4685414"/>
              <a:gd name="connsiteY3" fmla="*/ 3175591 h 4862623"/>
              <a:gd name="connsiteX4" fmla="*/ 1736652 w 4685414"/>
              <a:gd name="connsiteY4" fmla="*/ 4862623 h 4862623"/>
              <a:gd name="connsiteX5" fmla="*/ 1736652 w 4685414"/>
              <a:gd name="connsiteY5" fmla="*/ 2792819 h 4862623"/>
              <a:gd name="connsiteX6" fmla="*/ 0 w 4685414"/>
              <a:gd name="connsiteY6" fmla="*/ 1715386 h 4862623"/>
              <a:gd name="connsiteX0" fmla="*/ 0 w 4685414"/>
              <a:gd name="connsiteY0" fmla="*/ 1722474 h 4869711"/>
              <a:gd name="connsiteX1" fmla="*/ 2977116 w 4685414"/>
              <a:gd name="connsiteY1" fmla="*/ 0 h 4869711"/>
              <a:gd name="connsiteX2" fmla="*/ 4685414 w 4685414"/>
              <a:gd name="connsiteY2" fmla="*/ 1105786 h 4869711"/>
              <a:gd name="connsiteX3" fmla="*/ 4685414 w 4685414"/>
              <a:gd name="connsiteY3" fmla="*/ 3182679 h 4869711"/>
              <a:gd name="connsiteX4" fmla="*/ 1736652 w 4685414"/>
              <a:gd name="connsiteY4" fmla="*/ 4869711 h 4869711"/>
              <a:gd name="connsiteX5" fmla="*/ 1736652 w 4685414"/>
              <a:gd name="connsiteY5" fmla="*/ 2799907 h 4869711"/>
              <a:gd name="connsiteX6" fmla="*/ 0 w 4685414"/>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706679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06679"/>
              <a:gd name="connsiteY0" fmla="*/ 1722474 h 4869711"/>
              <a:gd name="connsiteX1" fmla="*/ 2998381 w 4706679"/>
              <a:gd name="connsiteY1" fmla="*/ 0 h 4869711"/>
              <a:gd name="connsiteX2" fmla="*/ 4706679 w 4706679"/>
              <a:gd name="connsiteY2" fmla="*/ 1105786 h 4869711"/>
              <a:gd name="connsiteX3" fmla="*/ 4692391 w 4706679"/>
              <a:gd name="connsiteY3" fmla="*/ 3182679 h 4869711"/>
              <a:gd name="connsiteX4" fmla="*/ 1757917 w 4706679"/>
              <a:gd name="connsiteY4" fmla="*/ 4869711 h 4869711"/>
              <a:gd name="connsiteX5" fmla="*/ 1757917 w 4706679"/>
              <a:gd name="connsiteY5" fmla="*/ 2799907 h 4869711"/>
              <a:gd name="connsiteX6" fmla="*/ 0 w 4706679"/>
              <a:gd name="connsiteY6" fmla="*/ 1722474 h 4869711"/>
              <a:gd name="connsiteX0" fmla="*/ 0 w 4749847"/>
              <a:gd name="connsiteY0" fmla="*/ 1722474 h 4869711"/>
              <a:gd name="connsiteX1" fmla="*/ 2998381 w 4749847"/>
              <a:gd name="connsiteY1" fmla="*/ 0 h 4869711"/>
              <a:gd name="connsiteX2" fmla="*/ 4706679 w 4749847"/>
              <a:gd name="connsiteY2" fmla="*/ 1105786 h 4869711"/>
              <a:gd name="connsiteX3" fmla="*/ 4749541 w 4749847"/>
              <a:gd name="connsiteY3" fmla="*/ 3125529 h 4869711"/>
              <a:gd name="connsiteX4" fmla="*/ 1757917 w 4749847"/>
              <a:gd name="connsiteY4" fmla="*/ 4869711 h 4869711"/>
              <a:gd name="connsiteX5" fmla="*/ 1757917 w 4749847"/>
              <a:gd name="connsiteY5" fmla="*/ 2799907 h 4869711"/>
              <a:gd name="connsiteX6" fmla="*/ 0 w 4749847"/>
              <a:gd name="connsiteY6" fmla="*/ 1722474 h 4869711"/>
              <a:gd name="connsiteX0" fmla="*/ 0 w 4749954"/>
              <a:gd name="connsiteY0" fmla="*/ 1722474 h 4869711"/>
              <a:gd name="connsiteX1" fmla="*/ 2998381 w 4749954"/>
              <a:gd name="connsiteY1" fmla="*/ 0 h 4869711"/>
              <a:gd name="connsiteX2" fmla="*/ 4720966 w 4749954"/>
              <a:gd name="connsiteY2" fmla="*/ 1091499 h 4869711"/>
              <a:gd name="connsiteX3" fmla="*/ 4749541 w 4749954"/>
              <a:gd name="connsiteY3" fmla="*/ 3125529 h 4869711"/>
              <a:gd name="connsiteX4" fmla="*/ 1757917 w 4749954"/>
              <a:gd name="connsiteY4" fmla="*/ 4869711 h 4869711"/>
              <a:gd name="connsiteX5" fmla="*/ 1757917 w 4749954"/>
              <a:gd name="connsiteY5" fmla="*/ 2799907 h 4869711"/>
              <a:gd name="connsiteX6" fmla="*/ 0 w 4749954"/>
              <a:gd name="connsiteY6" fmla="*/ 1722474 h 4869711"/>
              <a:gd name="connsiteX0" fmla="*/ 0 w 4735887"/>
              <a:gd name="connsiteY0" fmla="*/ 1722474 h 4869711"/>
              <a:gd name="connsiteX1" fmla="*/ 2998381 w 4735887"/>
              <a:gd name="connsiteY1" fmla="*/ 0 h 4869711"/>
              <a:gd name="connsiteX2" fmla="*/ 4720966 w 4735887"/>
              <a:gd name="connsiteY2" fmla="*/ 1091499 h 4869711"/>
              <a:gd name="connsiteX3" fmla="*/ 4735254 w 4735887"/>
              <a:gd name="connsiteY3" fmla="*/ 3168392 h 4869711"/>
              <a:gd name="connsiteX4" fmla="*/ 1757917 w 4735887"/>
              <a:gd name="connsiteY4" fmla="*/ 4869711 h 4869711"/>
              <a:gd name="connsiteX5" fmla="*/ 1757917 w 4735887"/>
              <a:gd name="connsiteY5" fmla="*/ 2799907 h 4869711"/>
              <a:gd name="connsiteX6" fmla="*/ 0 w 4735887"/>
              <a:gd name="connsiteY6" fmla="*/ 1722474 h 4869711"/>
              <a:gd name="connsiteX0" fmla="*/ 0 w 4763843"/>
              <a:gd name="connsiteY0" fmla="*/ 1722474 h 4869711"/>
              <a:gd name="connsiteX1" fmla="*/ 2998381 w 4763843"/>
              <a:gd name="connsiteY1" fmla="*/ 0 h 4869711"/>
              <a:gd name="connsiteX2" fmla="*/ 4720966 w 4763843"/>
              <a:gd name="connsiteY2" fmla="*/ 1091499 h 4869711"/>
              <a:gd name="connsiteX3" fmla="*/ 4763535 w 4763843"/>
              <a:gd name="connsiteY3" fmla="*/ 3045844 h 4869711"/>
              <a:gd name="connsiteX4" fmla="*/ 1757917 w 4763843"/>
              <a:gd name="connsiteY4" fmla="*/ 4869711 h 4869711"/>
              <a:gd name="connsiteX5" fmla="*/ 1757917 w 4763843"/>
              <a:gd name="connsiteY5" fmla="*/ 2799907 h 4869711"/>
              <a:gd name="connsiteX6" fmla="*/ 0 w 4763843"/>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697548 w 4720966"/>
              <a:gd name="connsiteY3" fmla="*/ 3187246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720966"/>
              <a:gd name="connsiteY0" fmla="*/ 1722474 h 4869711"/>
              <a:gd name="connsiteX1" fmla="*/ 2998381 w 4720966"/>
              <a:gd name="connsiteY1" fmla="*/ 0 h 4869711"/>
              <a:gd name="connsiteX2" fmla="*/ 4720966 w 4720966"/>
              <a:gd name="connsiteY2" fmla="*/ 1091499 h 4869711"/>
              <a:gd name="connsiteX3" fmla="*/ 4716402 w 4720966"/>
              <a:gd name="connsiteY3" fmla="*/ 3177819 h 4869711"/>
              <a:gd name="connsiteX4" fmla="*/ 1757917 w 4720966"/>
              <a:gd name="connsiteY4" fmla="*/ 4869711 h 4869711"/>
              <a:gd name="connsiteX5" fmla="*/ 1757917 w 4720966"/>
              <a:gd name="connsiteY5" fmla="*/ 2799907 h 4869711"/>
              <a:gd name="connsiteX6" fmla="*/ 0 w 4720966"/>
              <a:gd name="connsiteY6" fmla="*/ 1722474 h 4869711"/>
              <a:gd name="connsiteX0" fmla="*/ 0 w 4662183"/>
              <a:gd name="connsiteY0" fmla="*/ 1781257 h 4869711"/>
              <a:gd name="connsiteX1" fmla="*/ 2939598 w 4662183"/>
              <a:gd name="connsiteY1" fmla="*/ 0 h 4869711"/>
              <a:gd name="connsiteX2" fmla="*/ 4662183 w 4662183"/>
              <a:gd name="connsiteY2" fmla="*/ 1091499 h 4869711"/>
              <a:gd name="connsiteX3" fmla="*/ 4657619 w 4662183"/>
              <a:gd name="connsiteY3" fmla="*/ 3177819 h 4869711"/>
              <a:gd name="connsiteX4" fmla="*/ 1699134 w 4662183"/>
              <a:gd name="connsiteY4" fmla="*/ 4869711 h 4869711"/>
              <a:gd name="connsiteX5" fmla="*/ 1699134 w 4662183"/>
              <a:gd name="connsiteY5" fmla="*/ 2799907 h 4869711"/>
              <a:gd name="connsiteX6" fmla="*/ 0 w 4662183"/>
              <a:gd name="connsiteY6" fmla="*/ 1781257 h 4869711"/>
              <a:gd name="connsiteX0" fmla="*/ 0 w 4681777"/>
              <a:gd name="connsiteY0" fmla="*/ 1709411 h 4869711"/>
              <a:gd name="connsiteX1" fmla="*/ 2959192 w 4681777"/>
              <a:gd name="connsiteY1" fmla="*/ 0 h 4869711"/>
              <a:gd name="connsiteX2" fmla="*/ 4681777 w 4681777"/>
              <a:gd name="connsiteY2" fmla="*/ 1091499 h 4869711"/>
              <a:gd name="connsiteX3" fmla="*/ 4677213 w 4681777"/>
              <a:gd name="connsiteY3" fmla="*/ 3177819 h 4869711"/>
              <a:gd name="connsiteX4" fmla="*/ 1718728 w 4681777"/>
              <a:gd name="connsiteY4" fmla="*/ 4869711 h 4869711"/>
              <a:gd name="connsiteX5" fmla="*/ 1718728 w 4681777"/>
              <a:gd name="connsiteY5" fmla="*/ 2799907 h 4869711"/>
              <a:gd name="connsiteX6" fmla="*/ 0 w 4681777"/>
              <a:gd name="connsiteY6" fmla="*/ 1709411 h 4869711"/>
              <a:gd name="connsiteX0" fmla="*/ 0 w 4681777"/>
              <a:gd name="connsiteY0" fmla="*/ 1709411 h 4850116"/>
              <a:gd name="connsiteX1" fmla="*/ 2959192 w 4681777"/>
              <a:gd name="connsiteY1" fmla="*/ 0 h 4850116"/>
              <a:gd name="connsiteX2" fmla="*/ 4681777 w 4681777"/>
              <a:gd name="connsiteY2" fmla="*/ 1091499 h 4850116"/>
              <a:gd name="connsiteX3" fmla="*/ 4677213 w 4681777"/>
              <a:gd name="connsiteY3" fmla="*/ 3177819 h 4850116"/>
              <a:gd name="connsiteX4" fmla="*/ 1712197 w 4681777"/>
              <a:gd name="connsiteY4" fmla="*/ 4850116 h 4850116"/>
              <a:gd name="connsiteX5" fmla="*/ 1718728 w 4681777"/>
              <a:gd name="connsiteY5" fmla="*/ 2799907 h 4850116"/>
              <a:gd name="connsiteX6" fmla="*/ 0 w 4681777"/>
              <a:gd name="connsiteY6" fmla="*/ 1709411 h 4850116"/>
              <a:gd name="connsiteX0" fmla="*/ 0 w 4681777"/>
              <a:gd name="connsiteY0" fmla="*/ 1709411 h 4876242"/>
              <a:gd name="connsiteX1" fmla="*/ 2959192 w 4681777"/>
              <a:gd name="connsiteY1" fmla="*/ 0 h 4876242"/>
              <a:gd name="connsiteX2" fmla="*/ 4681777 w 4681777"/>
              <a:gd name="connsiteY2" fmla="*/ 1091499 h 4876242"/>
              <a:gd name="connsiteX3" fmla="*/ 4677213 w 4681777"/>
              <a:gd name="connsiteY3" fmla="*/ 3177819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38025 w 4681777"/>
              <a:gd name="connsiteY3" fmla="*/ 3171287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709411 h 4876242"/>
              <a:gd name="connsiteX1" fmla="*/ 2959192 w 4681777"/>
              <a:gd name="connsiteY1" fmla="*/ 0 h 4876242"/>
              <a:gd name="connsiteX2" fmla="*/ 4681777 w 4681777"/>
              <a:gd name="connsiteY2" fmla="*/ 1091499 h 4876242"/>
              <a:gd name="connsiteX3" fmla="*/ 4670682 w 4681777"/>
              <a:gd name="connsiteY3" fmla="*/ 3164755 h 4876242"/>
              <a:gd name="connsiteX4" fmla="*/ 1712197 w 4681777"/>
              <a:gd name="connsiteY4" fmla="*/ 4876242 h 4876242"/>
              <a:gd name="connsiteX5" fmla="*/ 1718728 w 4681777"/>
              <a:gd name="connsiteY5" fmla="*/ 2799907 h 4876242"/>
              <a:gd name="connsiteX6" fmla="*/ 0 w 4681777"/>
              <a:gd name="connsiteY6" fmla="*/ 1709411 h 4876242"/>
              <a:gd name="connsiteX0" fmla="*/ 0 w 4681777"/>
              <a:gd name="connsiteY0" fmla="*/ 1644096 h 4810927"/>
              <a:gd name="connsiteX1" fmla="*/ 2965723 w 4681777"/>
              <a:gd name="connsiteY1" fmla="*/ 0 h 4810927"/>
              <a:gd name="connsiteX2" fmla="*/ 4681777 w 4681777"/>
              <a:gd name="connsiteY2" fmla="*/ 1026184 h 4810927"/>
              <a:gd name="connsiteX3" fmla="*/ 4670682 w 4681777"/>
              <a:gd name="connsiteY3" fmla="*/ 3099440 h 4810927"/>
              <a:gd name="connsiteX4" fmla="*/ 1712197 w 4681777"/>
              <a:gd name="connsiteY4" fmla="*/ 4810927 h 4810927"/>
              <a:gd name="connsiteX5" fmla="*/ 1718728 w 4681777"/>
              <a:gd name="connsiteY5" fmla="*/ 2734592 h 4810927"/>
              <a:gd name="connsiteX6" fmla="*/ 0 w 4681777"/>
              <a:gd name="connsiteY6" fmla="*/ 1644096 h 4810927"/>
              <a:gd name="connsiteX0" fmla="*/ 0 w 4681777"/>
              <a:gd name="connsiteY0" fmla="*/ 1696347 h 4863178"/>
              <a:gd name="connsiteX1" fmla="*/ 2959192 w 4681777"/>
              <a:gd name="connsiteY1" fmla="*/ 0 h 4863178"/>
              <a:gd name="connsiteX2" fmla="*/ 4681777 w 4681777"/>
              <a:gd name="connsiteY2" fmla="*/ 1078435 h 4863178"/>
              <a:gd name="connsiteX3" fmla="*/ 4670682 w 4681777"/>
              <a:gd name="connsiteY3" fmla="*/ 3151691 h 4863178"/>
              <a:gd name="connsiteX4" fmla="*/ 1712197 w 4681777"/>
              <a:gd name="connsiteY4" fmla="*/ 4863178 h 4863178"/>
              <a:gd name="connsiteX5" fmla="*/ 1718728 w 4681777"/>
              <a:gd name="connsiteY5" fmla="*/ 2786843 h 4863178"/>
              <a:gd name="connsiteX6" fmla="*/ 0 w 4681777"/>
              <a:gd name="connsiteY6" fmla="*/ 1696347 h 4863178"/>
              <a:gd name="connsiteX0" fmla="*/ 0 w 4681777"/>
              <a:gd name="connsiteY0" fmla="*/ 1702878 h 4869709"/>
              <a:gd name="connsiteX1" fmla="*/ 2959192 w 4681777"/>
              <a:gd name="connsiteY1" fmla="*/ 0 h 4869709"/>
              <a:gd name="connsiteX2" fmla="*/ 4681777 w 4681777"/>
              <a:gd name="connsiteY2" fmla="*/ 1084966 h 4869709"/>
              <a:gd name="connsiteX3" fmla="*/ 4670682 w 4681777"/>
              <a:gd name="connsiteY3" fmla="*/ 3158222 h 4869709"/>
              <a:gd name="connsiteX4" fmla="*/ 1712197 w 4681777"/>
              <a:gd name="connsiteY4" fmla="*/ 4869709 h 4869709"/>
              <a:gd name="connsiteX5" fmla="*/ 1718728 w 4681777"/>
              <a:gd name="connsiteY5" fmla="*/ 2793374 h 4869709"/>
              <a:gd name="connsiteX6" fmla="*/ 0 w 4681777"/>
              <a:gd name="connsiteY6" fmla="*/ 1702878 h 4869709"/>
              <a:gd name="connsiteX0" fmla="*/ 0 w 4688309"/>
              <a:gd name="connsiteY0" fmla="*/ 1696347 h 4869709"/>
              <a:gd name="connsiteX1" fmla="*/ 2965724 w 4688309"/>
              <a:gd name="connsiteY1" fmla="*/ 0 h 4869709"/>
              <a:gd name="connsiteX2" fmla="*/ 4688309 w 4688309"/>
              <a:gd name="connsiteY2" fmla="*/ 1084966 h 4869709"/>
              <a:gd name="connsiteX3" fmla="*/ 4677214 w 4688309"/>
              <a:gd name="connsiteY3" fmla="*/ 3158222 h 4869709"/>
              <a:gd name="connsiteX4" fmla="*/ 1718729 w 4688309"/>
              <a:gd name="connsiteY4" fmla="*/ 4869709 h 4869709"/>
              <a:gd name="connsiteX5" fmla="*/ 1725260 w 4688309"/>
              <a:gd name="connsiteY5" fmla="*/ 2793374 h 4869709"/>
              <a:gd name="connsiteX6" fmla="*/ 0 w 4688309"/>
              <a:gd name="connsiteY6" fmla="*/ 1696347 h 486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8309" h="4869709">
                <a:moveTo>
                  <a:pt x="0" y="1696347"/>
                </a:moveTo>
                <a:lnTo>
                  <a:pt x="2965724" y="0"/>
                </a:lnTo>
                <a:lnTo>
                  <a:pt x="4688309" y="1084966"/>
                </a:lnTo>
                <a:cubicBezTo>
                  <a:pt x="4683546" y="1777264"/>
                  <a:pt x="4681977" y="2465924"/>
                  <a:pt x="4677214" y="3158222"/>
                </a:cubicBezTo>
                <a:lnTo>
                  <a:pt x="1718729" y="4869709"/>
                </a:lnTo>
                <a:lnTo>
                  <a:pt x="1725260" y="2793374"/>
                </a:lnTo>
                <a:lnTo>
                  <a:pt x="0" y="1696347"/>
                </a:lnTo>
                <a:close/>
              </a:path>
            </a:pathLst>
          </a:custGeom>
          <a:blipFill>
            <a:blip r:embed="rId3" cstate="screen">
              <a:extLst>
                <a:ext uri="{28A0092B-C50C-407E-A947-70E740481C1C}">
                  <a14:useLocalDpi xmlns:a14="http://schemas.microsoft.com/office/drawing/2010/main"/>
                </a:ext>
              </a:extLst>
            </a:blip>
            <a:stretch>
              <a:fillRect l="-58167" t="-14631" r="-44659" b="-738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a:extLst>
              <a:ext uri="{FF2B5EF4-FFF2-40B4-BE49-F238E27FC236}">
                <a16:creationId xmlns:a16="http://schemas.microsoft.com/office/drawing/2014/main" id="{B6C19198-9DFD-06F3-980F-3BB7C13E5B79}"/>
              </a:ext>
            </a:extLst>
          </p:cNvPr>
          <p:cNvSpPr>
            <a:spLocks noGrp="1"/>
          </p:cNvSpPr>
          <p:nvPr>
            <p:ph type="title"/>
          </p:nvPr>
        </p:nvSpPr>
        <p:spPr>
          <a:xfrm>
            <a:off x="510363" y="287635"/>
            <a:ext cx="11171274" cy="1325563"/>
          </a:xfrm>
        </p:spPr>
        <p:txBody>
          <a:bodyPr anchor="ctr" anchorCtr="0"/>
          <a:lstStyle>
            <a:lvl1pPr>
              <a:defRPr>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34D76809-C738-5142-0E47-F3769232B07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FB99773C-FEB8-FEDD-2AD3-482852D034AD}"/>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62587526"/>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39C1A97B-8C98-C4E8-DC27-28E1FEC0F102}"/>
              </a:ext>
            </a:extLst>
          </p:cNvPr>
          <p:cNvSpPr>
            <a:spLocks noGrp="1" noChangeAspect="1"/>
          </p:cNvSpPr>
          <p:nvPr>
            <p:ph type="pic" sz="quarter" idx="18"/>
          </p:nvPr>
        </p:nvSpPr>
        <p:spPr>
          <a:xfrm>
            <a:off x="0" y="0"/>
            <a:ext cx="5425489" cy="6858000"/>
          </a:xfrm>
          <a:solidFill>
            <a:schemeClr val="bg2"/>
          </a:solidFill>
        </p:spPr>
        <p:txBody>
          <a:bodyPr anchor="ctr"/>
          <a:lstStyle>
            <a:lvl1pPr marL="0" indent="0" algn="ctr">
              <a:buNone/>
              <a:defRPr sz="1600"/>
            </a:lvl1pPr>
          </a:lstStyle>
          <a:p>
            <a:endParaRPr lang="en-US"/>
          </a:p>
        </p:txBody>
      </p:sp>
      <p:sp>
        <p:nvSpPr>
          <p:cNvPr id="7" name="Title 1">
            <a:extLst>
              <a:ext uri="{FF2B5EF4-FFF2-40B4-BE49-F238E27FC236}">
                <a16:creationId xmlns:a16="http://schemas.microsoft.com/office/drawing/2014/main" id="{46CA965E-802B-F7F9-6121-EBFF4798C9AE}"/>
              </a:ext>
            </a:extLst>
          </p:cNvPr>
          <p:cNvSpPr>
            <a:spLocks noGrp="1"/>
          </p:cNvSpPr>
          <p:nvPr>
            <p:ph type="title"/>
          </p:nvPr>
        </p:nvSpPr>
        <p:spPr>
          <a:xfrm>
            <a:off x="510363" y="287635"/>
            <a:ext cx="11171274" cy="1325563"/>
          </a:xfrm>
        </p:spPr>
        <p:txBody>
          <a:bodyPr/>
          <a:lstStyle/>
          <a:p>
            <a:r>
              <a:rPr lang="en-US"/>
              <a:t>Click to edit Master title style</a:t>
            </a:r>
          </a:p>
        </p:txBody>
      </p:sp>
      <p:sp>
        <p:nvSpPr>
          <p:cNvPr id="8" name="Content Placeholder 2">
            <a:extLst>
              <a:ext uri="{FF2B5EF4-FFF2-40B4-BE49-F238E27FC236}">
                <a16:creationId xmlns:a16="http://schemas.microsoft.com/office/drawing/2014/main" id="{DC929B53-39C0-902E-C56C-8F2E8C91E449}"/>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1822CC50-09B3-8524-0B86-70FE2B258808}"/>
              </a:ext>
            </a:extLst>
          </p:cNvPr>
          <p:cNvSpPr>
            <a:spLocks noGrp="1"/>
          </p:cNvSpPr>
          <p:nvPr>
            <p:ph type="sldNum" sz="quarter" idx="19"/>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D7C0FB35-5B9F-E16D-C62E-C7E7E66BA064}"/>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360390690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rrow on a black background&#10;&#10;AI-generated content may be incorrect.">
            <a:extLst>
              <a:ext uri="{FF2B5EF4-FFF2-40B4-BE49-F238E27FC236}">
                <a16:creationId xmlns:a16="http://schemas.microsoft.com/office/drawing/2014/main" id="{27EC7AC6-EDD6-A038-AFBF-025F75FFA1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35"/>
          <a:stretch>
            <a:fillRect/>
          </a:stretch>
        </p:blipFill>
        <p:spPr>
          <a:xfrm>
            <a:off x="6350" y="0"/>
            <a:ext cx="5293783" cy="6858000"/>
          </a:xfrm>
          <a:prstGeom prst="rect">
            <a:avLst/>
          </a:prstGeom>
        </p:spPr>
      </p:pic>
      <p:sp>
        <p:nvSpPr>
          <p:cNvPr id="10" name="Content Placeholder 2">
            <a:extLst>
              <a:ext uri="{FF2B5EF4-FFF2-40B4-BE49-F238E27FC236}">
                <a16:creationId xmlns:a16="http://schemas.microsoft.com/office/drawing/2014/main" id="{C6DE4E5D-83D6-3A7D-986C-6DC8384D91A4}"/>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B39ABB-888A-28DE-ED1A-CF27D4E89B65}"/>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969E3B7-27C6-0DE1-E11E-BCA3EBA57DBB}"/>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F0D2C039-B4F0-065B-023B-D2CC08433FB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116525529"/>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yellow and black logo&#10;&#10;AI-generated content may be incorrect.">
            <a:extLst>
              <a:ext uri="{FF2B5EF4-FFF2-40B4-BE49-F238E27FC236}">
                <a16:creationId xmlns:a16="http://schemas.microsoft.com/office/drawing/2014/main" id="{754505A1-8451-1628-FBF7-6260F2F614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5" name="Content Placeholder 2">
            <a:extLst>
              <a:ext uri="{FF2B5EF4-FFF2-40B4-BE49-F238E27FC236}">
                <a16:creationId xmlns:a16="http://schemas.microsoft.com/office/drawing/2014/main" id="{85F70D71-33C0-AB3B-FEE2-BE4D6B3F6D10}"/>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F75B8B09-46CC-209A-F9BC-D6EA1602C1D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11" name="Slide Number Placeholder 10">
            <a:extLst>
              <a:ext uri="{FF2B5EF4-FFF2-40B4-BE49-F238E27FC236}">
                <a16:creationId xmlns:a16="http://schemas.microsoft.com/office/drawing/2014/main" id="{2C00973D-53AB-D5A7-BD79-2174EDEA46A2}"/>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BB42CA32-BD84-C441-552B-F5B92F62EFB2}"/>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83597662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9D70AF1-C345-A963-6917-1B0C8F4A40CD}"/>
              </a:ext>
            </a:extLst>
          </p:cNvPr>
          <p:cNvSpPr/>
          <p:nvPr userDrawn="1"/>
        </p:nvSpPr>
        <p:spPr>
          <a:xfrm>
            <a:off x="6350" y="0"/>
            <a:ext cx="5293783"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yellow and black logo&#10;&#10;AI-generated content may be incorrect.">
            <a:extLst>
              <a:ext uri="{FF2B5EF4-FFF2-40B4-BE49-F238E27FC236}">
                <a16:creationId xmlns:a16="http://schemas.microsoft.com/office/drawing/2014/main" id="{CA3A4F00-B30C-697D-649F-C8CE878845D5}"/>
              </a:ext>
            </a:extLst>
          </p:cNvPr>
          <p:cNvPicPr>
            <a:picLocks noChangeAspect="1"/>
          </p:cNvPicPr>
          <p:nvPr userDrawn="1"/>
        </p:nvPicPr>
        <p:blipFill>
          <a:blip r:embed="rId2" cstate="screen">
            <a:extLst>
              <a:ext uri="{28A0092B-C50C-407E-A947-70E740481C1C}">
                <a14:useLocalDpi xmlns:a14="http://schemas.microsoft.com/office/drawing/2010/main"/>
              </a:ext>
            </a:extLst>
          </a:blip>
          <a:srcRect r="56580"/>
          <a:stretch>
            <a:fillRect/>
          </a:stretch>
        </p:blipFill>
        <p:spPr>
          <a:xfrm>
            <a:off x="0" y="0"/>
            <a:ext cx="5293783" cy="6858000"/>
          </a:xfrm>
          <a:prstGeom prst="rect">
            <a:avLst/>
          </a:prstGeom>
        </p:spPr>
      </p:pic>
      <p:sp>
        <p:nvSpPr>
          <p:cNvPr id="10" name="Content Placeholder 2">
            <a:extLst>
              <a:ext uri="{FF2B5EF4-FFF2-40B4-BE49-F238E27FC236}">
                <a16:creationId xmlns:a16="http://schemas.microsoft.com/office/drawing/2014/main" id="{05D07EAC-11F8-CE04-20A3-D176299A502B}"/>
              </a:ext>
            </a:extLst>
          </p:cNvPr>
          <p:cNvSpPr>
            <a:spLocks noGrp="1"/>
          </p:cNvSpPr>
          <p:nvPr>
            <p:ph idx="1"/>
          </p:nvPr>
        </p:nvSpPr>
        <p:spPr>
          <a:xfrm>
            <a:off x="6096000" y="1825625"/>
            <a:ext cx="5585637" cy="4351338"/>
          </a:xfrm>
        </p:spPr>
        <p:txBody>
          <a:bodyPr/>
          <a:lstStyle>
            <a:lvl4pPr>
              <a:defRPr b="0" i="0">
                <a:latin typeface="Arial" panose="020B0604020202020204" pitchFamily="34" charset="0"/>
                <a:ea typeface="Arial" panose="020B0604020202020204" pitchFamily="34" charset="0"/>
              </a:defRPr>
            </a:lvl4pPr>
            <a:lvl5pPr>
              <a:defRPr b="0" i="0">
                <a:latin typeface="Arial" panose="020B0604020202020204" pitchFamily="34" charset="0"/>
                <a:ea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18B84CB-19F5-F3CC-6565-59AC881DB0CB}"/>
              </a:ext>
            </a:extLst>
          </p:cNvPr>
          <p:cNvSpPr>
            <a:spLocks noGrp="1"/>
          </p:cNvSpPr>
          <p:nvPr>
            <p:ph type="title"/>
          </p:nvPr>
        </p:nvSpPr>
        <p:spPr>
          <a:xfrm>
            <a:off x="510363" y="287635"/>
            <a:ext cx="4190225" cy="1325563"/>
          </a:xfrm>
        </p:spPr>
        <p:txBody>
          <a:bodyPr/>
          <a:lstStyle>
            <a:lvl1pPr>
              <a:defRPr>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9C8D279B-F8DE-D686-9E9C-6E6AC8D1D3E3}"/>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3" name="Rectangle 2">
            <a:extLst>
              <a:ext uri="{FF2B5EF4-FFF2-40B4-BE49-F238E27FC236}">
                <a16:creationId xmlns:a16="http://schemas.microsoft.com/office/drawing/2014/main" id="{63BBAF08-98D5-A82D-38DB-D71D9190A593}"/>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24655599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5_Blank">
    <p:spTree>
      <p:nvGrpSpPr>
        <p:cNvPr id="1" name=""/>
        <p:cNvGrpSpPr/>
        <p:nvPr/>
      </p:nvGrpSpPr>
      <p:grpSpPr>
        <a:xfrm>
          <a:off x="0" y="0"/>
          <a:ext cx="0" cy="0"/>
          <a:chOff x="0" y="0"/>
          <a:chExt cx="0" cy="0"/>
        </a:xfrm>
      </p:grpSpPr>
      <p:pic>
        <p:nvPicPr>
          <p:cNvPr id="6" name="Picture 5" descr="A black and yellow diagonal lines&#10;&#10;AI-generated content may be incorrect.">
            <a:extLst>
              <a:ext uri="{FF2B5EF4-FFF2-40B4-BE49-F238E27FC236}">
                <a16:creationId xmlns:a16="http://schemas.microsoft.com/office/drawing/2014/main" id="{8A72AA12-5921-0A02-6245-412DD5453E5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85650" cy="6861574"/>
          </a:xfrm>
          <a:prstGeom prst="rect">
            <a:avLst/>
          </a:prstGeom>
        </p:spPr>
      </p:pic>
      <p:grpSp>
        <p:nvGrpSpPr>
          <p:cNvPr id="2" name="Group 1">
            <a:extLst>
              <a:ext uri="{FF2B5EF4-FFF2-40B4-BE49-F238E27FC236}">
                <a16:creationId xmlns:a16="http://schemas.microsoft.com/office/drawing/2014/main" id="{906BD328-382B-2A8F-3F4D-62F8457E33B4}"/>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E45AD297-2E3A-1647-4A3D-6477E78C419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3DC64EAA-BDCB-87AF-B654-C2655728841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5" name="Freeform 4">
              <a:extLst>
                <a:ext uri="{FF2B5EF4-FFF2-40B4-BE49-F238E27FC236}">
                  <a16:creationId xmlns:a16="http://schemas.microsoft.com/office/drawing/2014/main" id="{0FAF9672-8294-A703-BCE4-59C329DB0A7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DA4556E1-0697-FEE0-FFDB-5AEFFC00C0C5}"/>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7" name="Rectangle 6">
            <a:extLst>
              <a:ext uri="{FF2B5EF4-FFF2-40B4-BE49-F238E27FC236}">
                <a16:creationId xmlns:a16="http://schemas.microsoft.com/office/drawing/2014/main" id="{94777A40-1D9C-46F1-8C75-59E7657EF36E}"/>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4170655300"/>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18_Blank">
    <p:spTree>
      <p:nvGrpSpPr>
        <p:cNvPr id="1" name=""/>
        <p:cNvGrpSpPr/>
        <p:nvPr/>
      </p:nvGrpSpPr>
      <p:grpSpPr>
        <a:xfrm>
          <a:off x="0" y="0"/>
          <a:ext cx="0" cy="0"/>
          <a:chOff x="0" y="0"/>
          <a:chExt cx="0" cy="0"/>
        </a:xfrm>
      </p:grpSpPr>
      <p:pic>
        <p:nvPicPr>
          <p:cNvPr id="3" name="Picture 2" descr="A black and orange cubes&#10;&#10;AI-generated content may be incorrect.">
            <a:extLst>
              <a:ext uri="{FF2B5EF4-FFF2-40B4-BE49-F238E27FC236}">
                <a16:creationId xmlns:a16="http://schemas.microsoft.com/office/drawing/2014/main" id="{B3CA9455-0E68-5491-6F9B-BF5810165C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Slide Number Placeholder 1">
            <a:extLst>
              <a:ext uri="{FF2B5EF4-FFF2-40B4-BE49-F238E27FC236}">
                <a16:creationId xmlns:a16="http://schemas.microsoft.com/office/drawing/2014/main" id="{B92279C1-0B1C-64F5-5B2B-70DEA4DFFE7C}"/>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grpSp>
        <p:nvGrpSpPr>
          <p:cNvPr id="5" name="Group 4">
            <a:extLst>
              <a:ext uri="{FF2B5EF4-FFF2-40B4-BE49-F238E27FC236}">
                <a16:creationId xmlns:a16="http://schemas.microsoft.com/office/drawing/2014/main" id="{500845DE-6815-2C6A-CAAE-775816C34136}"/>
              </a:ext>
            </a:extLst>
          </p:cNvPr>
          <p:cNvGrpSpPr/>
          <p:nvPr userDrawn="1"/>
        </p:nvGrpSpPr>
        <p:grpSpPr>
          <a:xfrm>
            <a:off x="9394825" y="6025375"/>
            <a:ext cx="2286812" cy="558801"/>
            <a:chOff x="1447800" y="2292350"/>
            <a:chExt cx="7774788" cy="1899831"/>
          </a:xfrm>
        </p:grpSpPr>
        <p:sp>
          <p:nvSpPr>
            <p:cNvPr id="6" name="Freeform 5">
              <a:extLst>
                <a:ext uri="{FF2B5EF4-FFF2-40B4-BE49-F238E27FC236}">
                  <a16:creationId xmlns:a16="http://schemas.microsoft.com/office/drawing/2014/main" id="{A7864E85-665D-8342-ED6E-21CAA4FCDA6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endParaRPr lang="en-US"/>
            </a:p>
          </p:txBody>
        </p:sp>
        <p:sp>
          <p:nvSpPr>
            <p:cNvPr id="7" name="Freeform 6">
              <a:extLst>
                <a:ext uri="{FF2B5EF4-FFF2-40B4-BE49-F238E27FC236}">
                  <a16:creationId xmlns:a16="http://schemas.microsoft.com/office/drawing/2014/main" id="{BFF875ED-3F33-F7A2-3FAD-FDA47FAE41F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endParaRPr lang="en-US"/>
            </a:p>
          </p:txBody>
        </p:sp>
        <p:sp>
          <p:nvSpPr>
            <p:cNvPr id="9" name="Freeform 8">
              <a:extLst>
                <a:ext uri="{FF2B5EF4-FFF2-40B4-BE49-F238E27FC236}">
                  <a16:creationId xmlns:a16="http://schemas.microsoft.com/office/drawing/2014/main" id="{240B76C4-2972-F740-C84F-BB28722CF137}"/>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8B479C8-2002-DDCD-3604-67877F9A2EE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52957453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19_Blank">
    <p:spTree>
      <p:nvGrpSpPr>
        <p:cNvPr id="1" name=""/>
        <p:cNvGrpSpPr/>
        <p:nvPr/>
      </p:nvGrpSpPr>
      <p:grpSpPr>
        <a:xfrm>
          <a:off x="0" y="0"/>
          <a:ext cx="0" cy="0"/>
          <a:chOff x="0" y="0"/>
          <a:chExt cx="0" cy="0"/>
        </a:xfrm>
      </p:grpSpPr>
      <p:pic>
        <p:nvPicPr>
          <p:cNvPr id="5" name="Picture 4" descr="A yellow and black rectangle&#10;&#10;AI-generated content may be incorrect.">
            <a:extLst>
              <a:ext uri="{FF2B5EF4-FFF2-40B4-BE49-F238E27FC236}">
                <a16:creationId xmlns:a16="http://schemas.microsoft.com/office/drawing/2014/main" id="{93F7EDEA-4A83-C8A6-A902-586292FA583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grpSp>
        <p:nvGrpSpPr>
          <p:cNvPr id="2" name="Group 1">
            <a:extLst>
              <a:ext uri="{FF2B5EF4-FFF2-40B4-BE49-F238E27FC236}">
                <a16:creationId xmlns:a16="http://schemas.microsoft.com/office/drawing/2014/main" id="{57D33B5A-9108-0D51-5DF5-1F4358762957}"/>
              </a:ext>
            </a:extLst>
          </p:cNvPr>
          <p:cNvGrpSpPr/>
          <p:nvPr userDrawn="1"/>
        </p:nvGrpSpPr>
        <p:grpSpPr>
          <a:xfrm>
            <a:off x="9394825" y="6025375"/>
            <a:ext cx="2286812" cy="558801"/>
            <a:chOff x="1447800" y="2292350"/>
            <a:chExt cx="7774788" cy="1899831"/>
          </a:xfrm>
        </p:grpSpPr>
        <p:sp>
          <p:nvSpPr>
            <p:cNvPr id="3" name="Freeform 2">
              <a:extLst>
                <a:ext uri="{FF2B5EF4-FFF2-40B4-BE49-F238E27FC236}">
                  <a16:creationId xmlns:a16="http://schemas.microsoft.com/office/drawing/2014/main" id="{07C2904A-E512-4631-1509-B3F9FC3786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4" name="Freeform 3">
              <a:extLst>
                <a:ext uri="{FF2B5EF4-FFF2-40B4-BE49-F238E27FC236}">
                  <a16:creationId xmlns:a16="http://schemas.microsoft.com/office/drawing/2014/main" id="{B8E33334-37AD-05BF-D1A4-D30505F12D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8" name="Freeform 7">
              <a:extLst>
                <a:ext uri="{FF2B5EF4-FFF2-40B4-BE49-F238E27FC236}">
                  <a16:creationId xmlns:a16="http://schemas.microsoft.com/office/drawing/2014/main" id="{0DF0D4E3-A461-4860-E306-721B6ABF2878}"/>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
        <p:nvSpPr>
          <p:cNvPr id="9" name="Slide Number Placeholder 8">
            <a:extLst>
              <a:ext uri="{FF2B5EF4-FFF2-40B4-BE49-F238E27FC236}">
                <a16:creationId xmlns:a16="http://schemas.microsoft.com/office/drawing/2014/main" id="{7C98C4FD-611C-AE3B-DD8C-173C1BCC58F9}"/>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6" name="Rectangle 5">
            <a:extLst>
              <a:ext uri="{FF2B5EF4-FFF2-40B4-BE49-F238E27FC236}">
                <a16:creationId xmlns:a16="http://schemas.microsoft.com/office/drawing/2014/main" id="{144D08F7-2AF9-E3C7-5993-B6784423E2EA}"/>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18956225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ECEE7109-31B7-BD46-8EDB-AF84974DF9F5}"/>
              </a:ext>
            </a:extLst>
          </p:cNvPr>
          <p:cNvSpPr>
            <a:spLocks noGrp="1"/>
          </p:cNvSpPr>
          <p:nvPr>
            <p:ph type="title" hasCustomPrompt="1"/>
          </p:nvPr>
        </p:nvSpPr>
        <p:spPr>
          <a:xfrm>
            <a:off x="507925" y="1757507"/>
            <a:ext cx="6128401" cy="2703657"/>
          </a:xfrm>
        </p:spPr>
        <p:txBody>
          <a:bodyPr lIns="0" tIns="0" rIns="0" bIns="0">
            <a:noAutofit/>
          </a:bodyPr>
          <a:lstStyle>
            <a:lvl1pPr>
              <a:defRPr sz="5400">
                <a:solidFill>
                  <a:schemeClr val="tx1"/>
                </a:solidFill>
              </a:defRPr>
            </a:lvl1pPr>
          </a:lstStyle>
          <a:p>
            <a:r>
              <a:rPr lang="en-US"/>
              <a:t>This is a </a:t>
            </a:r>
            <a:br>
              <a:rPr lang="en-US"/>
            </a:br>
            <a:r>
              <a:rPr lang="en-US"/>
              <a:t>section breaker</a:t>
            </a:r>
          </a:p>
        </p:txBody>
      </p:sp>
      <p:sp>
        <p:nvSpPr>
          <p:cNvPr id="3" name="Slide Number Placeholder 2">
            <a:extLst>
              <a:ext uri="{FF2B5EF4-FFF2-40B4-BE49-F238E27FC236}">
                <a16:creationId xmlns:a16="http://schemas.microsoft.com/office/drawing/2014/main" id="{8DCB3718-7361-02ED-89BC-981CFE0905B4}"/>
              </a:ext>
            </a:extLst>
          </p:cNvPr>
          <p:cNvSpPr>
            <a:spLocks noGrp="1"/>
          </p:cNvSpPr>
          <p:nvPr>
            <p:ph type="sldNum" sz="quarter" idx="10"/>
          </p:nvPr>
        </p:nvSpPr>
        <p:spPr/>
        <p:txBody>
          <a:bodyPr/>
          <a:lstStyle/>
          <a:p>
            <a:fld id="{0246F002-FF83-614A-810B-169E974B53D7}" type="slidenum">
              <a:rPr lang="en-US" smtClean="0"/>
              <a:pPr/>
              <a:t>‹#›</a:t>
            </a:fld>
            <a:r>
              <a:rPr lang="en-US"/>
              <a:t>  © 2026 MaiaEdge</a:t>
            </a:r>
            <a:endParaRPr lang="en-US" sz="900"/>
          </a:p>
        </p:txBody>
      </p:sp>
      <p:sp>
        <p:nvSpPr>
          <p:cNvPr id="2" name="Rectangle 1">
            <a:extLst>
              <a:ext uri="{FF2B5EF4-FFF2-40B4-BE49-F238E27FC236}">
                <a16:creationId xmlns:a16="http://schemas.microsoft.com/office/drawing/2014/main" id="{7375E162-1FB3-49EA-AA28-A3C945122F97}"/>
              </a:ext>
            </a:extLst>
          </p:cNvPr>
          <p:cNvSpPr/>
          <p:nvPr userDrawn="1"/>
        </p:nvSpPr>
        <p:spPr>
          <a:xfrm>
            <a:off x="4561115" y="-875211"/>
            <a:ext cx="3069771" cy="71845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NOT UPDATED</a:t>
            </a:r>
          </a:p>
        </p:txBody>
      </p:sp>
    </p:spTree>
    <p:extLst>
      <p:ext uri="{BB962C8B-B14F-4D97-AF65-F5344CB8AC3E}">
        <p14:creationId xmlns:p14="http://schemas.microsoft.com/office/powerpoint/2010/main" val="294861946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818DF-3BE7-2048-B0B8-C70281449D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B12EF-EB6B-AB49-AE7D-E111DA478962}"/>
              </a:ext>
            </a:extLst>
          </p:cNvPr>
          <p:cNvSpPr>
            <a:spLocks noGrp="1"/>
          </p:cNvSpPr>
          <p:nvPr>
            <p:ph idx="1"/>
          </p:nvPr>
        </p:nvSpPr>
        <p:spPr>
          <a:xfrm>
            <a:off x="510363" y="2495227"/>
            <a:ext cx="11171274" cy="3681736"/>
          </a:xfrm>
        </p:spPr>
        <p:txBody>
          <a:bodyPr/>
          <a:lstStyle>
            <a:lvl4pPr>
              <a:defRPr b="0" i="0">
                <a:latin typeface="Verdana Regular" charset="0"/>
                <a:ea typeface="Verdana Regular" charset="0"/>
              </a:defRPr>
            </a:lvl4pPr>
            <a:lvl5pPr>
              <a:defRPr b="0" i="0">
                <a:latin typeface="Verdana Regular" charset="0"/>
                <a:ea typeface="Verdana Regular"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02ED52AA-BFF9-D940-B11E-23F92F6997CB}"/>
              </a:ext>
            </a:extLst>
          </p:cNvPr>
          <p:cNvSpPr>
            <a:spLocks noGrp="1"/>
          </p:cNvSpPr>
          <p:nvPr>
            <p:ph idx="13"/>
          </p:nvPr>
        </p:nvSpPr>
        <p:spPr>
          <a:xfrm>
            <a:off x="510363" y="1828800"/>
            <a:ext cx="11171274" cy="487040"/>
          </a:xfrm>
        </p:spPr>
        <p:txBody>
          <a:bodyPr/>
          <a:lstStyle>
            <a:lvl1pPr marL="0" indent="0">
              <a:buNone/>
              <a:defRPr sz="2800" b="1"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4" name="Slide Number Placeholder 5">
            <a:extLst>
              <a:ext uri="{FF2B5EF4-FFF2-40B4-BE49-F238E27FC236}">
                <a16:creationId xmlns:a16="http://schemas.microsoft.com/office/drawing/2014/main" id="{22743D1F-F62F-28D7-608F-F4F1BADA19EE}"/>
              </a:ext>
            </a:extLst>
          </p:cNvPr>
          <p:cNvSpPr>
            <a:spLocks noGrp="1"/>
          </p:cNvSpPr>
          <p:nvPr>
            <p:ph type="sldNum" sz="quarter" idx="4"/>
          </p:nvPr>
        </p:nvSpPr>
        <p:spPr>
          <a:xfrm>
            <a:off x="510363" y="6313486"/>
            <a:ext cx="2743200" cy="365125"/>
          </a:xfrm>
          <a:prstGeom prst="rect">
            <a:avLst/>
          </a:prstGeom>
        </p:spPr>
        <p:txBody>
          <a:bodyPr vert="horz" lIns="0" tIns="0" rIns="0" bIns="0" rtlCol="0" anchor="ctr"/>
          <a:lstStyle>
            <a:lvl1pPr algn="l">
              <a:defRPr sz="900" b="0" i="0">
                <a:solidFill>
                  <a:schemeClr val="tx1"/>
                </a:solidFill>
                <a:latin typeface="Arial" panose="020B0604020202020204" pitchFamily="34" charset="0"/>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2025 MaiaEdge</a:t>
            </a:r>
          </a:p>
        </p:txBody>
      </p:sp>
    </p:spTree>
    <p:extLst>
      <p:ext uri="{BB962C8B-B14F-4D97-AF65-F5344CB8AC3E}">
        <p14:creationId xmlns:p14="http://schemas.microsoft.com/office/powerpoint/2010/main" val="101768410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72BE0-B3E2-CC4E-F0ED-F8269983F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C56C1FC-DBB1-C0AD-C182-F6063D6CC7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0711DC-050C-4A70-80C9-969E3A326FFB}"/>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6F4C47F4-2818-918E-2F00-DAB53A84D2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50F860-4B19-FE48-ED69-7877CD13AD4D}"/>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376768195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C866B-6C9B-1F64-1A05-5DC21D1F46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52726A-8F30-8E67-45EB-DEC08ACC30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4AB198-CC30-003D-6E6A-49D743FC37ED}"/>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F37B6730-48B3-88E3-C3E6-76BEFD49F6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BDEAB-E565-2BBD-0A99-D4B0C5B74FC8}"/>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206857683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0785-C63B-CDC9-FC3B-769C77F431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713EE6-FFFE-47B3-6E46-0669C6D0EC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2B4756-4A30-FF8E-B526-158BC15F2106}"/>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DD513855-A656-8B7F-F2A5-051CD575B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28BCFD-03B3-ACB4-678C-6C01A9CD9A73}"/>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2692301585"/>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55B9-392F-C6BC-CB38-A344507840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AC8CD-3724-3084-7851-3E0A2C0CDE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382BC4-FC8A-7C0A-DA90-1A17E5DD89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1BF3DB-79D3-CFF3-25C7-68AFBC7650F2}"/>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6" name="Footer Placeholder 5">
            <a:extLst>
              <a:ext uri="{FF2B5EF4-FFF2-40B4-BE49-F238E27FC236}">
                <a16:creationId xmlns:a16="http://schemas.microsoft.com/office/drawing/2014/main" id="{51D7E590-2CCB-D5ED-4CB2-6CB8058EF0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F12CD6-B861-0433-58A6-16B2ECD15A10}"/>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46814288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9B08-C13F-9A36-E3AB-7320538030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776678-AD85-7997-F4D0-D6F1A86C78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23D43D-6698-247B-BE10-03D8AF9BAE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A0BEB3-43A9-A0DB-2EBA-798EC82EE5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A01434-13E0-921E-9DB2-11EEFE39B7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C46EA5-3209-0232-8023-F37DF99B224A}"/>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8" name="Footer Placeholder 7">
            <a:extLst>
              <a:ext uri="{FF2B5EF4-FFF2-40B4-BE49-F238E27FC236}">
                <a16:creationId xmlns:a16="http://schemas.microsoft.com/office/drawing/2014/main" id="{8234A6EA-B56D-7B5C-3761-780F94CB12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AF7FB2-B12A-229A-B010-1F2CF3E45075}"/>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3871598936"/>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948E-DE25-CEA0-6148-6D7D41A3FE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13ED68-960C-3FFF-C8D2-AA907FF0A816}"/>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4" name="Footer Placeholder 3">
            <a:extLst>
              <a:ext uri="{FF2B5EF4-FFF2-40B4-BE49-F238E27FC236}">
                <a16:creationId xmlns:a16="http://schemas.microsoft.com/office/drawing/2014/main" id="{8DBF8118-146E-FC64-7D96-0FB011E725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940F2B-F63E-A317-EFD7-8CB129508FAC}"/>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273000642"/>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E44505-3F7B-1F21-D01B-4C7CEB140C21}"/>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3" name="Footer Placeholder 2">
            <a:extLst>
              <a:ext uri="{FF2B5EF4-FFF2-40B4-BE49-F238E27FC236}">
                <a16:creationId xmlns:a16="http://schemas.microsoft.com/office/drawing/2014/main" id="{196E4D50-6BED-ECB3-3BFB-01B70A8F64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840EE7-6954-065F-2BA6-9A5398A22CF8}"/>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288059305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A4C45-B93D-CC15-FE21-7B6E8D415D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90A4BB-78CE-1F82-D989-A3586A3A31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1EE6AB-CA95-570F-DB2F-4E7534F4F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D96E4-4A31-519A-DD99-57B0E8FDEBF6}"/>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6" name="Footer Placeholder 5">
            <a:extLst>
              <a:ext uri="{FF2B5EF4-FFF2-40B4-BE49-F238E27FC236}">
                <a16:creationId xmlns:a16="http://schemas.microsoft.com/office/drawing/2014/main" id="{E800747C-9D6C-01B7-2E42-271DD1B6C5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DF1AFF-B81C-8466-577B-62B46D509AE0}"/>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87824549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36EE3-3FB7-E4AE-6F68-B3226EA7E9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9B54BC-24E9-2EA6-EF48-CB78AB3D97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46CF26-390A-D646-C35B-174AA371C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D4417-AC54-7963-3870-74554D0DE963}"/>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6" name="Footer Placeholder 5">
            <a:extLst>
              <a:ext uri="{FF2B5EF4-FFF2-40B4-BE49-F238E27FC236}">
                <a16:creationId xmlns:a16="http://schemas.microsoft.com/office/drawing/2014/main" id="{CA18F059-4158-5750-BE7D-6A7247396D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E16CD9-2F5D-42A9-6FFC-01E0CF995ED2}"/>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435026426"/>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4703A-1040-5D9E-7FE1-406C4BC1E9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D7E33F-DF59-D6DF-3657-99CE735BC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8E944-B638-5DE4-B927-423B13FFE19B}"/>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E6050382-E344-5D8A-6B04-519269D44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BC292-AD9C-A788-EBA7-55DFE1CCEEEA}"/>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8298413"/>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A12E92-A939-C8F3-CE55-CC94163BE4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732BCE-05D6-F499-A5DE-30793D5665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052BB3-2D18-5929-D23D-5BEFFD505222}"/>
              </a:ext>
            </a:extLst>
          </p:cNvPr>
          <p:cNvSpPr>
            <a:spLocks noGrp="1"/>
          </p:cNvSpPr>
          <p:nvPr>
            <p:ph type="dt" sz="half" idx="10"/>
          </p:nvPr>
        </p:nvSpPr>
        <p:spPr/>
        <p:txBody>
          <a:body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BAA004CB-E656-B9A8-4973-10007083CC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10F6B7-C3F1-2201-C49B-245307F54585}"/>
              </a:ext>
            </a:extLst>
          </p:cNvPr>
          <p:cNvSpPr>
            <a:spLocks noGrp="1"/>
          </p:cNvSpPr>
          <p:nvPr>
            <p:ph type="sldNum" sz="quarter" idx="12"/>
          </p:nvPr>
        </p:nvSpPr>
        <p:spPr/>
        <p:txBody>
          <a:bodyPr/>
          <a:lstStyle/>
          <a:p>
            <a:fld id="{7FE09FE6-1D2C-F641-B1AD-1336434A6D2D}" type="slidenum">
              <a:rPr lang="en-US" smtClean="0"/>
              <a:t>‹#›</a:t>
            </a:fld>
            <a:endParaRPr lang="en-US"/>
          </a:p>
        </p:txBody>
      </p:sp>
    </p:spTree>
    <p:extLst>
      <p:ext uri="{BB962C8B-B14F-4D97-AF65-F5344CB8AC3E}">
        <p14:creationId xmlns:p14="http://schemas.microsoft.com/office/powerpoint/2010/main" val="18723904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9" Type="http://schemas.openxmlformats.org/officeDocument/2006/relationships/slideLayout" Target="../slideLayouts/slideLayout99.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42" Type="http://schemas.openxmlformats.org/officeDocument/2006/relationships/slideLayout" Target="../slideLayouts/slideLayout102.xml"/><Relationship Id="rId47" Type="http://schemas.openxmlformats.org/officeDocument/2006/relationships/slideLayout" Target="../slideLayouts/slideLayout107.xml"/><Relationship Id="rId50" Type="http://schemas.openxmlformats.org/officeDocument/2006/relationships/slideLayout" Target="../slideLayouts/slideLayout110.xml"/><Relationship Id="rId55" Type="http://schemas.openxmlformats.org/officeDocument/2006/relationships/slideLayout" Target="../slideLayouts/slideLayout115.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9" Type="http://schemas.openxmlformats.org/officeDocument/2006/relationships/slideLayout" Target="../slideLayouts/slideLayout89.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40" Type="http://schemas.openxmlformats.org/officeDocument/2006/relationships/slideLayout" Target="../slideLayouts/slideLayout100.xml"/><Relationship Id="rId45" Type="http://schemas.openxmlformats.org/officeDocument/2006/relationships/slideLayout" Target="../slideLayouts/slideLayout105.xml"/><Relationship Id="rId53" Type="http://schemas.openxmlformats.org/officeDocument/2006/relationships/slideLayout" Target="../slideLayouts/slideLayout113.xml"/><Relationship Id="rId58" Type="http://schemas.openxmlformats.org/officeDocument/2006/relationships/slideLayout" Target="../slideLayouts/slideLayout118.xml"/><Relationship Id="rId5" Type="http://schemas.openxmlformats.org/officeDocument/2006/relationships/slideLayout" Target="../slideLayouts/slideLayout65.xml"/><Relationship Id="rId61" Type="http://schemas.openxmlformats.org/officeDocument/2006/relationships/theme" Target="../theme/theme2.xml"/><Relationship Id="rId19" Type="http://schemas.openxmlformats.org/officeDocument/2006/relationships/slideLayout" Target="../slideLayouts/slideLayout7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43" Type="http://schemas.openxmlformats.org/officeDocument/2006/relationships/slideLayout" Target="../slideLayouts/slideLayout103.xml"/><Relationship Id="rId48" Type="http://schemas.openxmlformats.org/officeDocument/2006/relationships/slideLayout" Target="../slideLayouts/slideLayout108.xml"/><Relationship Id="rId56" Type="http://schemas.openxmlformats.org/officeDocument/2006/relationships/slideLayout" Target="../slideLayouts/slideLayout116.xml"/><Relationship Id="rId8" Type="http://schemas.openxmlformats.org/officeDocument/2006/relationships/slideLayout" Target="../slideLayouts/slideLayout68.xml"/><Relationship Id="rId51" Type="http://schemas.openxmlformats.org/officeDocument/2006/relationships/slideLayout" Target="../slideLayouts/slideLayout111.xml"/><Relationship Id="rId3" Type="http://schemas.openxmlformats.org/officeDocument/2006/relationships/slideLayout" Target="../slideLayouts/slideLayout63.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slideLayout" Target="../slideLayouts/slideLayout98.xml"/><Relationship Id="rId46" Type="http://schemas.openxmlformats.org/officeDocument/2006/relationships/slideLayout" Target="../slideLayouts/slideLayout106.xml"/><Relationship Id="rId59" Type="http://schemas.openxmlformats.org/officeDocument/2006/relationships/slideLayout" Target="../slideLayouts/slideLayout119.xml"/><Relationship Id="rId20" Type="http://schemas.openxmlformats.org/officeDocument/2006/relationships/slideLayout" Target="../slideLayouts/slideLayout80.xml"/><Relationship Id="rId41" Type="http://schemas.openxmlformats.org/officeDocument/2006/relationships/slideLayout" Target="../slideLayouts/slideLayout101.xml"/><Relationship Id="rId54" Type="http://schemas.openxmlformats.org/officeDocument/2006/relationships/slideLayout" Target="../slideLayouts/slideLayout114.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49" Type="http://schemas.openxmlformats.org/officeDocument/2006/relationships/slideLayout" Target="../slideLayouts/slideLayout109.xml"/><Relationship Id="rId57" Type="http://schemas.openxmlformats.org/officeDocument/2006/relationships/slideLayout" Target="../slideLayouts/slideLayout117.xml"/><Relationship Id="rId10" Type="http://schemas.openxmlformats.org/officeDocument/2006/relationships/slideLayout" Target="../slideLayouts/slideLayout70.xml"/><Relationship Id="rId31" Type="http://schemas.openxmlformats.org/officeDocument/2006/relationships/slideLayout" Target="../slideLayouts/slideLayout91.xml"/><Relationship Id="rId44" Type="http://schemas.openxmlformats.org/officeDocument/2006/relationships/slideLayout" Target="../slideLayouts/slideLayout104.xml"/><Relationship Id="rId52" Type="http://schemas.openxmlformats.org/officeDocument/2006/relationships/slideLayout" Target="../slideLayouts/slideLayout112.xml"/><Relationship Id="rId60" Type="http://schemas.openxmlformats.org/officeDocument/2006/relationships/slideLayout" Target="../slideLayouts/slideLayout12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3.xml"/><Relationship Id="rId18" Type="http://schemas.openxmlformats.org/officeDocument/2006/relationships/slideLayout" Target="../slideLayouts/slideLayout138.xml"/><Relationship Id="rId26" Type="http://schemas.openxmlformats.org/officeDocument/2006/relationships/slideLayout" Target="../slideLayouts/slideLayout146.xml"/><Relationship Id="rId39" Type="http://schemas.openxmlformats.org/officeDocument/2006/relationships/slideLayout" Target="../slideLayouts/slideLayout159.xml"/><Relationship Id="rId21" Type="http://schemas.openxmlformats.org/officeDocument/2006/relationships/slideLayout" Target="../slideLayouts/slideLayout141.xml"/><Relationship Id="rId34" Type="http://schemas.openxmlformats.org/officeDocument/2006/relationships/slideLayout" Target="../slideLayouts/slideLayout154.xml"/><Relationship Id="rId42" Type="http://schemas.openxmlformats.org/officeDocument/2006/relationships/slideLayout" Target="../slideLayouts/slideLayout162.xml"/><Relationship Id="rId47" Type="http://schemas.openxmlformats.org/officeDocument/2006/relationships/slideLayout" Target="../slideLayouts/slideLayout167.xml"/><Relationship Id="rId50" Type="http://schemas.openxmlformats.org/officeDocument/2006/relationships/slideLayout" Target="../slideLayouts/slideLayout170.xml"/><Relationship Id="rId55" Type="http://schemas.openxmlformats.org/officeDocument/2006/relationships/slideLayout" Target="../slideLayouts/slideLayout175.xml"/><Relationship Id="rId7" Type="http://schemas.openxmlformats.org/officeDocument/2006/relationships/slideLayout" Target="../slideLayouts/slideLayout127.xml"/><Relationship Id="rId2" Type="http://schemas.openxmlformats.org/officeDocument/2006/relationships/slideLayout" Target="../slideLayouts/slideLayout122.xml"/><Relationship Id="rId16" Type="http://schemas.openxmlformats.org/officeDocument/2006/relationships/slideLayout" Target="../slideLayouts/slideLayout136.xml"/><Relationship Id="rId29" Type="http://schemas.openxmlformats.org/officeDocument/2006/relationships/slideLayout" Target="../slideLayouts/slideLayout149.xml"/><Relationship Id="rId11" Type="http://schemas.openxmlformats.org/officeDocument/2006/relationships/slideLayout" Target="../slideLayouts/slideLayout131.xml"/><Relationship Id="rId24" Type="http://schemas.openxmlformats.org/officeDocument/2006/relationships/slideLayout" Target="../slideLayouts/slideLayout144.xml"/><Relationship Id="rId32" Type="http://schemas.openxmlformats.org/officeDocument/2006/relationships/slideLayout" Target="../slideLayouts/slideLayout152.xml"/><Relationship Id="rId37" Type="http://schemas.openxmlformats.org/officeDocument/2006/relationships/slideLayout" Target="../slideLayouts/slideLayout157.xml"/><Relationship Id="rId40" Type="http://schemas.openxmlformats.org/officeDocument/2006/relationships/slideLayout" Target="../slideLayouts/slideLayout160.xml"/><Relationship Id="rId45" Type="http://schemas.openxmlformats.org/officeDocument/2006/relationships/slideLayout" Target="../slideLayouts/slideLayout165.xml"/><Relationship Id="rId53" Type="http://schemas.openxmlformats.org/officeDocument/2006/relationships/slideLayout" Target="../slideLayouts/slideLayout173.xml"/><Relationship Id="rId5" Type="http://schemas.openxmlformats.org/officeDocument/2006/relationships/slideLayout" Target="../slideLayouts/slideLayout125.xml"/><Relationship Id="rId19" Type="http://schemas.openxmlformats.org/officeDocument/2006/relationships/slideLayout" Target="../slideLayouts/slideLayout139.xml"/><Relationship Id="rId4" Type="http://schemas.openxmlformats.org/officeDocument/2006/relationships/slideLayout" Target="../slideLayouts/slideLayout124.xml"/><Relationship Id="rId9" Type="http://schemas.openxmlformats.org/officeDocument/2006/relationships/slideLayout" Target="../slideLayouts/slideLayout129.xml"/><Relationship Id="rId14" Type="http://schemas.openxmlformats.org/officeDocument/2006/relationships/slideLayout" Target="../slideLayouts/slideLayout134.xml"/><Relationship Id="rId22" Type="http://schemas.openxmlformats.org/officeDocument/2006/relationships/slideLayout" Target="../slideLayouts/slideLayout142.xml"/><Relationship Id="rId27" Type="http://schemas.openxmlformats.org/officeDocument/2006/relationships/slideLayout" Target="../slideLayouts/slideLayout147.xml"/><Relationship Id="rId30" Type="http://schemas.openxmlformats.org/officeDocument/2006/relationships/slideLayout" Target="../slideLayouts/slideLayout150.xml"/><Relationship Id="rId35" Type="http://schemas.openxmlformats.org/officeDocument/2006/relationships/slideLayout" Target="../slideLayouts/slideLayout155.xml"/><Relationship Id="rId43" Type="http://schemas.openxmlformats.org/officeDocument/2006/relationships/slideLayout" Target="../slideLayouts/slideLayout163.xml"/><Relationship Id="rId48" Type="http://schemas.openxmlformats.org/officeDocument/2006/relationships/slideLayout" Target="../slideLayouts/slideLayout168.xml"/><Relationship Id="rId56" Type="http://schemas.openxmlformats.org/officeDocument/2006/relationships/slideLayout" Target="../slideLayouts/slideLayout176.xml"/><Relationship Id="rId8" Type="http://schemas.openxmlformats.org/officeDocument/2006/relationships/slideLayout" Target="../slideLayouts/slideLayout128.xml"/><Relationship Id="rId51" Type="http://schemas.openxmlformats.org/officeDocument/2006/relationships/slideLayout" Target="../slideLayouts/slideLayout171.xml"/><Relationship Id="rId3" Type="http://schemas.openxmlformats.org/officeDocument/2006/relationships/slideLayout" Target="../slideLayouts/slideLayout123.xml"/><Relationship Id="rId12" Type="http://schemas.openxmlformats.org/officeDocument/2006/relationships/slideLayout" Target="../slideLayouts/slideLayout132.xml"/><Relationship Id="rId17" Type="http://schemas.openxmlformats.org/officeDocument/2006/relationships/slideLayout" Target="../slideLayouts/slideLayout137.xml"/><Relationship Id="rId25" Type="http://schemas.openxmlformats.org/officeDocument/2006/relationships/slideLayout" Target="../slideLayouts/slideLayout145.xml"/><Relationship Id="rId33" Type="http://schemas.openxmlformats.org/officeDocument/2006/relationships/slideLayout" Target="../slideLayouts/slideLayout153.xml"/><Relationship Id="rId38" Type="http://schemas.openxmlformats.org/officeDocument/2006/relationships/slideLayout" Target="../slideLayouts/slideLayout158.xml"/><Relationship Id="rId46" Type="http://schemas.openxmlformats.org/officeDocument/2006/relationships/slideLayout" Target="../slideLayouts/slideLayout166.xml"/><Relationship Id="rId20" Type="http://schemas.openxmlformats.org/officeDocument/2006/relationships/slideLayout" Target="../slideLayouts/slideLayout140.xml"/><Relationship Id="rId41" Type="http://schemas.openxmlformats.org/officeDocument/2006/relationships/slideLayout" Target="../slideLayouts/slideLayout161.xml"/><Relationship Id="rId54" Type="http://schemas.openxmlformats.org/officeDocument/2006/relationships/slideLayout" Target="../slideLayouts/slideLayout174.xml"/><Relationship Id="rId1" Type="http://schemas.openxmlformats.org/officeDocument/2006/relationships/slideLayout" Target="../slideLayouts/slideLayout121.xml"/><Relationship Id="rId6" Type="http://schemas.openxmlformats.org/officeDocument/2006/relationships/slideLayout" Target="../slideLayouts/slideLayout126.xml"/><Relationship Id="rId15" Type="http://schemas.openxmlformats.org/officeDocument/2006/relationships/slideLayout" Target="../slideLayouts/slideLayout135.xml"/><Relationship Id="rId23" Type="http://schemas.openxmlformats.org/officeDocument/2006/relationships/slideLayout" Target="../slideLayouts/slideLayout143.xml"/><Relationship Id="rId28" Type="http://schemas.openxmlformats.org/officeDocument/2006/relationships/slideLayout" Target="../slideLayouts/slideLayout148.xml"/><Relationship Id="rId36" Type="http://schemas.openxmlformats.org/officeDocument/2006/relationships/slideLayout" Target="../slideLayouts/slideLayout156.xml"/><Relationship Id="rId49" Type="http://schemas.openxmlformats.org/officeDocument/2006/relationships/slideLayout" Target="../slideLayouts/slideLayout169.xml"/><Relationship Id="rId57" Type="http://schemas.openxmlformats.org/officeDocument/2006/relationships/theme" Target="../theme/theme3.xml"/><Relationship Id="rId10" Type="http://schemas.openxmlformats.org/officeDocument/2006/relationships/slideLayout" Target="../slideLayouts/slideLayout130.xml"/><Relationship Id="rId31" Type="http://schemas.openxmlformats.org/officeDocument/2006/relationships/slideLayout" Target="../slideLayouts/slideLayout151.xml"/><Relationship Id="rId44" Type="http://schemas.openxmlformats.org/officeDocument/2006/relationships/slideLayout" Target="../slideLayouts/slideLayout164.xml"/><Relationship Id="rId52" Type="http://schemas.openxmlformats.org/officeDocument/2006/relationships/slideLayout" Target="../slideLayouts/slideLayout172.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9.xml"/><Relationship Id="rId18" Type="http://schemas.openxmlformats.org/officeDocument/2006/relationships/slideLayout" Target="../slideLayouts/slideLayout194.xml"/><Relationship Id="rId26" Type="http://schemas.openxmlformats.org/officeDocument/2006/relationships/slideLayout" Target="../slideLayouts/slideLayout202.xml"/><Relationship Id="rId39" Type="http://schemas.openxmlformats.org/officeDocument/2006/relationships/slideLayout" Target="../slideLayouts/slideLayout215.xml"/><Relationship Id="rId21" Type="http://schemas.openxmlformats.org/officeDocument/2006/relationships/slideLayout" Target="../slideLayouts/slideLayout197.xml"/><Relationship Id="rId34" Type="http://schemas.openxmlformats.org/officeDocument/2006/relationships/slideLayout" Target="../slideLayouts/slideLayout210.xml"/><Relationship Id="rId42" Type="http://schemas.openxmlformats.org/officeDocument/2006/relationships/slideLayout" Target="../slideLayouts/slideLayout218.xml"/><Relationship Id="rId47" Type="http://schemas.openxmlformats.org/officeDocument/2006/relationships/slideLayout" Target="../slideLayouts/slideLayout223.xml"/><Relationship Id="rId50" Type="http://schemas.openxmlformats.org/officeDocument/2006/relationships/slideLayout" Target="../slideLayouts/slideLayout226.xml"/><Relationship Id="rId55" Type="http://schemas.openxmlformats.org/officeDocument/2006/relationships/slideLayout" Target="../slideLayouts/slideLayout231.xml"/><Relationship Id="rId7" Type="http://schemas.openxmlformats.org/officeDocument/2006/relationships/slideLayout" Target="../slideLayouts/slideLayout183.xml"/><Relationship Id="rId2" Type="http://schemas.openxmlformats.org/officeDocument/2006/relationships/slideLayout" Target="../slideLayouts/slideLayout178.xml"/><Relationship Id="rId16" Type="http://schemas.openxmlformats.org/officeDocument/2006/relationships/slideLayout" Target="../slideLayouts/slideLayout192.xml"/><Relationship Id="rId29" Type="http://schemas.openxmlformats.org/officeDocument/2006/relationships/slideLayout" Target="../slideLayouts/slideLayout205.xml"/><Relationship Id="rId11" Type="http://schemas.openxmlformats.org/officeDocument/2006/relationships/slideLayout" Target="../slideLayouts/slideLayout187.xml"/><Relationship Id="rId24" Type="http://schemas.openxmlformats.org/officeDocument/2006/relationships/slideLayout" Target="../slideLayouts/slideLayout200.xml"/><Relationship Id="rId32" Type="http://schemas.openxmlformats.org/officeDocument/2006/relationships/slideLayout" Target="../slideLayouts/slideLayout208.xml"/><Relationship Id="rId37" Type="http://schemas.openxmlformats.org/officeDocument/2006/relationships/slideLayout" Target="../slideLayouts/slideLayout213.xml"/><Relationship Id="rId40" Type="http://schemas.openxmlformats.org/officeDocument/2006/relationships/slideLayout" Target="../slideLayouts/slideLayout216.xml"/><Relationship Id="rId45" Type="http://schemas.openxmlformats.org/officeDocument/2006/relationships/slideLayout" Target="../slideLayouts/slideLayout221.xml"/><Relationship Id="rId53" Type="http://schemas.openxmlformats.org/officeDocument/2006/relationships/slideLayout" Target="../slideLayouts/slideLayout229.xml"/><Relationship Id="rId58" Type="http://schemas.openxmlformats.org/officeDocument/2006/relationships/slideLayout" Target="../slideLayouts/slideLayout234.xml"/><Relationship Id="rId5" Type="http://schemas.openxmlformats.org/officeDocument/2006/relationships/slideLayout" Target="../slideLayouts/slideLayout181.xml"/><Relationship Id="rId19" Type="http://schemas.openxmlformats.org/officeDocument/2006/relationships/slideLayout" Target="../slideLayouts/slideLayout195.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 Id="rId22" Type="http://schemas.openxmlformats.org/officeDocument/2006/relationships/slideLayout" Target="../slideLayouts/slideLayout198.xml"/><Relationship Id="rId27" Type="http://schemas.openxmlformats.org/officeDocument/2006/relationships/slideLayout" Target="../slideLayouts/slideLayout203.xml"/><Relationship Id="rId30" Type="http://schemas.openxmlformats.org/officeDocument/2006/relationships/slideLayout" Target="../slideLayouts/slideLayout206.xml"/><Relationship Id="rId35" Type="http://schemas.openxmlformats.org/officeDocument/2006/relationships/slideLayout" Target="../slideLayouts/slideLayout211.xml"/><Relationship Id="rId43" Type="http://schemas.openxmlformats.org/officeDocument/2006/relationships/slideLayout" Target="../slideLayouts/slideLayout219.xml"/><Relationship Id="rId48" Type="http://schemas.openxmlformats.org/officeDocument/2006/relationships/slideLayout" Target="../slideLayouts/slideLayout224.xml"/><Relationship Id="rId56" Type="http://schemas.openxmlformats.org/officeDocument/2006/relationships/slideLayout" Target="../slideLayouts/slideLayout232.xml"/><Relationship Id="rId8" Type="http://schemas.openxmlformats.org/officeDocument/2006/relationships/slideLayout" Target="../slideLayouts/slideLayout184.xml"/><Relationship Id="rId51" Type="http://schemas.openxmlformats.org/officeDocument/2006/relationships/slideLayout" Target="../slideLayouts/slideLayout227.xml"/><Relationship Id="rId3" Type="http://schemas.openxmlformats.org/officeDocument/2006/relationships/slideLayout" Target="../slideLayouts/slideLayout179.xml"/><Relationship Id="rId12" Type="http://schemas.openxmlformats.org/officeDocument/2006/relationships/slideLayout" Target="../slideLayouts/slideLayout188.xml"/><Relationship Id="rId17" Type="http://schemas.openxmlformats.org/officeDocument/2006/relationships/slideLayout" Target="../slideLayouts/slideLayout193.xml"/><Relationship Id="rId25" Type="http://schemas.openxmlformats.org/officeDocument/2006/relationships/slideLayout" Target="../slideLayouts/slideLayout201.xml"/><Relationship Id="rId33" Type="http://schemas.openxmlformats.org/officeDocument/2006/relationships/slideLayout" Target="../slideLayouts/slideLayout209.xml"/><Relationship Id="rId38" Type="http://schemas.openxmlformats.org/officeDocument/2006/relationships/slideLayout" Target="../slideLayouts/slideLayout214.xml"/><Relationship Id="rId46" Type="http://schemas.openxmlformats.org/officeDocument/2006/relationships/slideLayout" Target="../slideLayouts/slideLayout222.xml"/><Relationship Id="rId59" Type="http://schemas.openxmlformats.org/officeDocument/2006/relationships/slideLayout" Target="../slideLayouts/slideLayout235.xml"/><Relationship Id="rId20" Type="http://schemas.openxmlformats.org/officeDocument/2006/relationships/slideLayout" Target="../slideLayouts/slideLayout196.xml"/><Relationship Id="rId41" Type="http://schemas.openxmlformats.org/officeDocument/2006/relationships/slideLayout" Target="../slideLayouts/slideLayout217.xml"/><Relationship Id="rId54" Type="http://schemas.openxmlformats.org/officeDocument/2006/relationships/slideLayout" Target="../slideLayouts/slideLayout230.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5" Type="http://schemas.openxmlformats.org/officeDocument/2006/relationships/slideLayout" Target="../slideLayouts/slideLayout191.xml"/><Relationship Id="rId23" Type="http://schemas.openxmlformats.org/officeDocument/2006/relationships/slideLayout" Target="../slideLayouts/slideLayout199.xml"/><Relationship Id="rId28" Type="http://schemas.openxmlformats.org/officeDocument/2006/relationships/slideLayout" Target="../slideLayouts/slideLayout204.xml"/><Relationship Id="rId36" Type="http://schemas.openxmlformats.org/officeDocument/2006/relationships/slideLayout" Target="../slideLayouts/slideLayout212.xml"/><Relationship Id="rId49" Type="http://schemas.openxmlformats.org/officeDocument/2006/relationships/slideLayout" Target="../slideLayouts/slideLayout225.xml"/><Relationship Id="rId57" Type="http://schemas.openxmlformats.org/officeDocument/2006/relationships/slideLayout" Target="../slideLayouts/slideLayout233.xml"/><Relationship Id="rId10" Type="http://schemas.openxmlformats.org/officeDocument/2006/relationships/slideLayout" Target="../slideLayouts/slideLayout186.xml"/><Relationship Id="rId31" Type="http://schemas.openxmlformats.org/officeDocument/2006/relationships/slideLayout" Target="../slideLayouts/slideLayout207.xml"/><Relationship Id="rId44" Type="http://schemas.openxmlformats.org/officeDocument/2006/relationships/slideLayout" Target="../slideLayouts/slideLayout220.xml"/><Relationship Id="rId52" Type="http://schemas.openxmlformats.org/officeDocument/2006/relationships/slideLayout" Target="../slideLayouts/slideLayout228.xml"/><Relationship Id="rId6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43.xml"/><Relationship Id="rId3" Type="http://schemas.openxmlformats.org/officeDocument/2006/relationships/slideLayout" Target="../slideLayouts/slideLayout238.xml"/><Relationship Id="rId7" Type="http://schemas.openxmlformats.org/officeDocument/2006/relationships/slideLayout" Target="../slideLayouts/slideLayout242.xml"/><Relationship Id="rId12" Type="http://schemas.openxmlformats.org/officeDocument/2006/relationships/theme" Target="../theme/theme5.xml"/><Relationship Id="rId2" Type="http://schemas.openxmlformats.org/officeDocument/2006/relationships/slideLayout" Target="../slideLayouts/slideLayout237.xml"/><Relationship Id="rId1" Type="http://schemas.openxmlformats.org/officeDocument/2006/relationships/slideLayout" Target="../slideLayouts/slideLayout236.xml"/><Relationship Id="rId6" Type="http://schemas.openxmlformats.org/officeDocument/2006/relationships/slideLayout" Target="../slideLayouts/slideLayout241.xml"/><Relationship Id="rId11" Type="http://schemas.openxmlformats.org/officeDocument/2006/relationships/slideLayout" Target="../slideLayouts/slideLayout246.xml"/><Relationship Id="rId5" Type="http://schemas.openxmlformats.org/officeDocument/2006/relationships/slideLayout" Target="../slideLayouts/slideLayout240.xml"/><Relationship Id="rId10" Type="http://schemas.openxmlformats.org/officeDocument/2006/relationships/slideLayout" Target="../slideLayouts/slideLayout245.xml"/><Relationship Id="rId4" Type="http://schemas.openxmlformats.org/officeDocument/2006/relationships/slideLayout" Target="../slideLayouts/slideLayout239.xml"/><Relationship Id="rId9" Type="http://schemas.openxmlformats.org/officeDocument/2006/relationships/slideLayout" Target="../slideLayouts/slideLayout2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spTree>
    <p:extLst>
      <p:ext uri="{BB962C8B-B14F-4D97-AF65-F5344CB8AC3E}">
        <p14:creationId xmlns:p14="http://schemas.microsoft.com/office/powerpoint/2010/main" val="25293872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898" r:id="rId60"/>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spTree>
    <p:extLst>
      <p:ext uri="{BB962C8B-B14F-4D97-AF65-F5344CB8AC3E}">
        <p14:creationId xmlns:p14="http://schemas.microsoft.com/office/powerpoint/2010/main" val="421246282"/>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 id="2147483767" r:id="rId46"/>
    <p:sldLayoutId id="2147483768" r:id="rId47"/>
    <p:sldLayoutId id="2147483769" r:id="rId48"/>
    <p:sldLayoutId id="2147483770" r:id="rId49"/>
    <p:sldLayoutId id="2147483771" r:id="rId50"/>
    <p:sldLayoutId id="2147483772" r:id="rId51"/>
    <p:sldLayoutId id="2147483773" r:id="rId52"/>
    <p:sldLayoutId id="2147483774" r:id="rId53"/>
    <p:sldLayoutId id="2147483775" r:id="rId54"/>
    <p:sldLayoutId id="2147483776" r:id="rId55"/>
    <p:sldLayoutId id="2147483777" r:id="rId56"/>
    <p:sldLayoutId id="2147483778" r:id="rId57"/>
    <p:sldLayoutId id="2147483779" r:id="rId58"/>
    <p:sldLayoutId id="2147483780" r:id="rId59"/>
    <p:sldLayoutId id="2147483899" r:id="rId60"/>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grpSp>
        <p:nvGrpSpPr>
          <p:cNvPr id="20" name="Group 19">
            <a:extLst>
              <a:ext uri="{FF2B5EF4-FFF2-40B4-BE49-F238E27FC236}">
                <a16:creationId xmlns:a16="http://schemas.microsoft.com/office/drawing/2014/main" id="{C4ACF133-2E91-582E-D607-3021CBECB207}"/>
              </a:ext>
            </a:extLst>
          </p:cNvPr>
          <p:cNvGrpSpPr/>
          <p:nvPr userDrawn="1"/>
        </p:nvGrpSpPr>
        <p:grpSpPr>
          <a:xfrm>
            <a:off x="9981715" y="6181282"/>
            <a:ext cx="1699921" cy="415390"/>
            <a:chOff x="1447800" y="2292350"/>
            <a:chExt cx="7774788" cy="1899831"/>
          </a:xfrm>
        </p:grpSpPr>
        <p:sp>
          <p:nvSpPr>
            <p:cNvPr id="21" name="Freeform 20">
              <a:extLst>
                <a:ext uri="{FF2B5EF4-FFF2-40B4-BE49-F238E27FC236}">
                  <a16:creationId xmlns:a16="http://schemas.microsoft.com/office/drawing/2014/main" id="{7D8E1BA6-4C07-8210-30FF-3ED41034C6B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2" name="Freeform 21">
              <a:extLst>
                <a:ext uri="{FF2B5EF4-FFF2-40B4-BE49-F238E27FC236}">
                  <a16:creationId xmlns:a16="http://schemas.microsoft.com/office/drawing/2014/main" id="{D7A8CCDD-E627-67A9-A208-A4CA030F0D6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3" name="Freeform 22">
              <a:extLst>
                <a:ext uri="{FF2B5EF4-FFF2-40B4-BE49-F238E27FC236}">
                  <a16:creationId xmlns:a16="http://schemas.microsoft.com/office/drawing/2014/main" id="{31D9DD29-0705-4FE1-62BE-BB6413FF8FC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Tree>
    <p:extLst>
      <p:ext uri="{BB962C8B-B14F-4D97-AF65-F5344CB8AC3E}">
        <p14:creationId xmlns:p14="http://schemas.microsoft.com/office/powerpoint/2010/main" val="148609993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 id="2147483801" r:id="rId20"/>
    <p:sldLayoutId id="2147483802" r:id="rId21"/>
    <p:sldLayoutId id="2147483803" r:id="rId22"/>
    <p:sldLayoutId id="2147483804" r:id="rId23"/>
    <p:sldLayoutId id="2147483805" r:id="rId24"/>
    <p:sldLayoutId id="2147483806" r:id="rId25"/>
    <p:sldLayoutId id="2147483807" r:id="rId26"/>
    <p:sldLayoutId id="2147483808" r:id="rId27"/>
    <p:sldLayoutId id="2147483809" r:id="rId28"/>
    <p:sldLayoutId id="2147483810" r:id="rId29"/>
    <p:sldLayoutId id="2147483811" r:id="rId30"/>
    <p:sldLayoutId id="2147483812" r:id="rId31"/>
    <p:sldLayoutId id="2147483813" r:id="rId32"/>
    <p:sldLayoutId id="2147483814" r:id="rId33"/>
    <p:sldLayoutId id="2147483815" r:id="rId34"/>
    <p:sldLayoutId id="2147483816" r:id="rId35"/>
    <p:sldLayoutId id="2147483817" r:id="rId36"/>
    <p:sldLayoutId id="2147483818" r:id="rId37"/>
    <p:sldLayoutId id="2147483819" r:id="rId38"/>
    <p:sldLayoutId id="2147483820" r:id="rId39"/>
    <p:sldLayoutId id="2147483821" r:id="rId40"/>
    <p:sldLayoutId id="2147483822" r:id="rId41"/>
    <p:sldLayoutId id="2147483823" r:id="rId42"/>
    <p:sldLayoutId id="2147483824" r:id="rId43"/>
    <p:sldLayoutId id="2147483825" r:id="rId44"/>
    <p:sldLayoutId id="2147483826" r:id="rId45"/>
    <p:sldLayoutId id="2147483827" r:id="rId46"/>
    <p:sldLayoutId id="2147483828" r:id="rId47"/>
    <p:sldLayoutId id="2147483829" r:id="rId48"/>
    <p:sldLayoutId id="2147483830" r:id="rId49"/>
    <p:sldLayoutId id="2147483831" r:id="rId50"/>
    <p:sldLayoutId id="2147483832" r:id="rId51"/>
    <p:sldLayoutId id="2147483833" r:id="rId52"/>
    <p:sldLayoutId id="2147483834" r:id="rId53"/>
    <p:sldLayoutId id="2147483835" r:id="rId54"/>
    <p:sldLayoutId id="2147483836" r:id="rId55"/>
    <p:sldLayoutId id="2147483837" r:id="rId56"/>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4345E0-3007-C543-AB43-48A854E4DFEC}"/>
              </a:ext>
            </a:extLst>
          </p:cNvPr>
          <p:cNvSpPr>
            <a:spLocks noGrp="1"/>
          </p:cNvSpPr>
          <p:nvPr>
            <p:ph type="title"/>
          </p:nvPr>
        </p:nvSpPr>
        <p:spPr>
          <a:xfrm>
            <a:off x="510363" y="287635"/>
            <a:ext cx="11171274" cy="1107996"/>
          </a:xfrm>
          <a:prstGeom prst="rect">
            <a:avLst/>
          </a:prstGeom>
        </p:spPr>
        <p:txBody>
          <a:bodyPr vert="horz" lIns="0" tIns="0" rIns="0" bIns="0" rtlCol="0" anchor="b"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3AECF9F3-238C-A344-BDB8-0AB4D7FFD798}"/>
              </a:ext>
            </a:extLst>
          </p:cNvPr>
          <p:cNvSpPr>
            <a:spLocks noGrp="1"/>
          </p:cNvSpPr>
          <p:nvPr>
            <p:ph type="body" idx="1"/>
          </p:nvPr>
        </p:nvSpPr>
        <p:spPr>
          <a:xfrm>
            <a:off x="510363" y="1651662"/>
            <a:ext cx="11171274" cy="430773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926A726B-FDA4-FFDB-3AAF-0692C44804F8}"/>
              </a:ext>
            </a:extLst>
          </p:cNvPr>
          <p:cNvSpPr>
            <a:spLocks noGrp="1"/>
          </p:cNvSpPr>
          <p:nvPr>
            <p:ph type="sldNum" sz="quarter" idx="4"/>
          </p:nvPr>
        </p:nvSpPr>
        <p:spPr>
          <a:xfrm>
            <a:off x="510363" y="6445677"/>
            <a:ext cx="2743200" cy="138499"/>
          </a:xfrm>
          <a:prstGeom prst="rect">
            <a:avLst/>
          </a:prstGeom>
        </p:spPr>
        <p:txBody>
          <a:bodyPr vert="horz" lIns="0" tIns="0" rIns="0" bIns="0" rtlCol="0" anchor="b">
            <a:spAutoFit/>
          </a:bodyPr>
          <a:lstStyle>
            <a:lvl1pPr algn="l">
              <a:defRPr sz="900" b="0" i="0">
                <a:solidFill>
                  <a:schemeClr val="tx1"/>
                </a:solidFill>
                <a:latin typeface="+mn-lt"/>
                <a:ea typeface="Roboto Light" panose="02000000000000000000" pitchFamily="2" charset="0"/>
                <a:cs typeface="Arial" panose="020B0604020202020204" pitchFamily="34" charset="0"/>
              </a:defRPr>
            </a:lvl1pPr>
          </a:lstStyle>
          <a:p>
            <a:fld id="{0246F002-FF83-614A-810B-169E974B53D7}" type="slidenum">
              <a:rPr lang="en-US" smtClean="0"/>
              <a:pPr/>
              <a:t>‹#›</a:t>
            </a:fld>
            <a:r>
              <a:rPr lang="en-US"/>
              <a:t>  © 2026 </a:t>
            </a:r>
            <a:r>
              <a:rPr lang="en-US" err="1"/>
              <a:t>MaiaEdge</a:t>
            </a:r>
            <a:endParaRPr lang="en-US"/>
          </a:p>
        </p:txBody>
      </p:sp>
      <p:grpSp>
        <p:nvGrpSpPr>
          <p:cNvPr id="20" name="Group 19">
            <a:extLst>
              <a:ext uri="{FF2B5EF4-FFF2-40B4-BE49-F238E27FC236}">
                <a16:creationId xmlns:a16="http://schemas.microsoft.com/office/drawing/2014/main" id="{C4ACF133-2E91-582E-D607-3021CBECB207}"/>
              </a:ext>
            </a:extLst>
          </p:cNvPr>
          <p:cNvGrpSpPr/>
          <p:nvPr userDrawn="1"/>
        </p:nvGrpSpPr>
        <p:grpSpPr>
          <a:xfrm>
            <a:off x="9981715" y="6181282"/>
            <a:ext cx="1699921" cy="415390"/>
            <a:chOff x="1447800" y="2292350"/>
            <a:chExt cx="7774788" cy="1899831"/>
          </a:xfrm>
        </p:grpSpPr>
        <p:sp>
          <p:nvSpPr>
            <p:cNvPr id="21" name="Freeform 20">
              <a:extLst>
                <a:ext uri="{FF2B5EF4-FFF2-40B4-BE49-F238E27FC236}">
                  <a16:creationId xmlns:a16="http://schemas.microsoft.com/office/drawing/2014/main" id="{7D8E1BA6-4C07-8210-30FF-3ED41034C6B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2" name="Freeform 21">
              <a:extLst>
                <a:ext uri="{FF2B5EF4-FFF2-40B4-BE49-F238E27FC236}">
                  <a16:creationId xmlns:a16="http://schemas.microsoft.com/office/drawing/2014/main" id="{D7A8CCDD-E627-67A9-A208-A4CA030F0D6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3" name="Freeform 22">
              <a:extLst>
                <a:ext uri="{FF2B5EF4-FFF2-40B4-BE49-F238E27FC236}">
                  <a16:creationId xmlns:a16="http://schemas.microsoft.com/office/drawing/2014/main" id="{31D9DD29-0705-4FE1-62BE-BB6413FF8FCA}"/>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endParaRPr lang="en-US"/>
            </a:p>
          </p:txBody>
        </p:sp>
      </p:grpSp>
    </p:spTree>
    <p:extLst>
      <p:ext uri="{BB962C8B-B14F-4D97-AF65-F5344CB8AC3E}">
        <p14:creationId xmlns:p14="http://schemas.microsoft.com/office/powerpoint/2010/main" val="117136058"/>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 id="2147483868" r:id="rId30"/>
    <p:sldLayoutId id="2147483869" r:id="rId31"/>
    <p:sldLayoutId id="2147483870" r:id="rId32"/>
    <p:sldLayoutId id="2147483871" r:id="rId33"/>
    <p:sldLayoutId id="2147483872" r:id="rId34"/>
    <p:sldLayoutId id="2147483873" r:id="rId35"/>
    <p:sldLayoutId id="2147483874" r:id="rId36"/>
    <p:sldLayoutId id="2147483875" r:id="rId37"/>
    <p:sldLayoutId id="2147483876" r:id="rId38"/>
    <p:sldLayoutId id="2147483877" r:id="rId39"/>
    <p:sldLayoutId id="2147483878" r:id="rId40"/>
    <p:sldLayoutId id="2147483879" r:id="rId41"/>
    <p:sldLayoutId id="2147483880" r:id="rId42"/>
    <p:sldLayoutId id="2147483881" r:id="rId43"/>
    <p:sldLayoutId id="2147483882" r:id="rId44"/>
    <p:sldLayoutId id="2147483883" r:id="rId45"/>
    <p:sldLayoutId id="2147483884" r:id="rId46"/>
    <p:sldLayoutId id="2147483885" r:id="rId47"/>
    <p:sldLayoutId id="2147483886" r:id="rId48"/>
    <p:sldLayoutId id="2147483887" r:id="rId49"/>
    <p:sldLayoutId id="2147483888" r:id="rId50"/>
    <p:sldLayoutId id="2147483889" r:id="rId51"/>
    <p:sldLayoutId id="2147483890" r:id="rId52"/>
    <p:sldLayoutId id="2147483891" r:id="rId53"/>
    <p:sldLayoutId id="2147483892" r:id="rId54"/>
    <p:sldLayoutId id="2147483893" r:id="rId55"/>
    <p:sldLayoutId id="2147483894" r:id="rId56"/>
    <p:sldLayoutId id="2147483895" r:id="rId57"/>
    <p:sldLayoutId id="2147483896" r:id="rId58"/>
    <p:sldLayoutId id="2147483897" r:id="rId59"/>
  </p:sldLayoutIdLst>
  <p:hf hdr="0" ftr="0" dt="0"/>
  <p:txStyles>
    <p:title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p:titleStyle>
    <p:body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792">
          <p15:clr>
            <a:srgbClr val="F26B43"/>
          </p15:clr>
        </p15:guide>
        <p15:guide id="4" orient="horz" pos="4152">
          <p15:clr>
            <a:srgbClr val="F26B43"/>
          </p15:clr>
        </p15:guide>
        <p15:guide id="5" pos="312">
          <p15:clr>
            <a:srgbClr val="F26B43"/>
          </p15:clr>
        </p15:guide>
        <p15:guide id="6" pos="736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1CEF1C-20FA-DEEE-2D7C-E968047DA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43A6A1-97C4-4450-313B-577172CD4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70608E-9D4F-04EA-CBF4-D4220B0315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2AAAF2-AF9F-6642-8A37-920FE555A029}" type="datetimeFigureOut">
              <a:rPr lang="en-US" smtClean="0"/>
              <a:t>5/28/26</a:t>
            </a:fld>
            <a:endParaRPr lang="en-US"/>
          </a:p>
        </p:txBody>
      </p:sp>
      <p:sp>
        <p:nvSpPr>
          <p:cNvPr id="5" name="Footer Placeholder 4">
            <a:extLst>
              <a:ext uri="{FF2B5EF4-FFF2-40B4-BE49-F238E27FC236}">
                <a16:creationId xmlns:a16="http://schemas.microsoft.com/office/drawing/2014/main" id="{B0033448-6281-B759-B973-62B2CF836F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1D1F72-4B54-4CA8-8BB9-08EEF319DF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E09FE6-1D2C-F641-B1AD-1336434A6D2D}" type="slidenum">
              <a:rPr lang="en-US" smtClean="0"/>
              <a:t>‹#›</a:t>
            </a:fld>
            <a:endParaRPr lang="en-US"/>
          </a:p>
        </p:txBody>
      </p:sp>
    </p:spTree>
    <p:extLst>
      <p:ext uri="{BB962C8B-B14F-4D97-AF65-F5344CB8AC3E}">
        <p14:creationId xmlns:p14="http://schemas.microsoft.com/office/powerpoint/2010/main" val="716080385"/>
      </p:ext>
    </p:extLst>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3.sv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7.svg"/><Relationship Id="rId5" Type="http://schemas.openxmlformats.org/officeDocument/2006/relationships/image" Target="../media/image45.png"/><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7.xml"/></Relationships>
</file>

<file path=ppt/slides/_rels/slide1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0.xml"/><Relationship Id="rId1" Type="http://schemas.openxmlformats.org/officeDocument/2006/relationships/slideLayout" Target="../slideLayouts/slideLayout180.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2.png"/><Relationship Id="rId3" Type="http://schemas.openxmlformats.org/officeDocument/2006/relationships/notesSlide" Target="../notesSlides/notesSlide17.xml"/><Relationship Id="rId7" Type="http://schemas.openxmlformats.org/officeDocument/2006/relationships/image" Target="../media/image34.png"/><Relationship Id="rId12"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55.png"/><Relationship Id="rId11" Type="http://schemas.openxmlformats.org/officeDocument/2006/relationships/image" Target="../media/image38.svg"/><Relationship Id="rId5" Type="http://schemas.openxmlformats.org/officeDocument/2006/relationships/image" Target="../media/image40.png"/><Relationship Id="rId15" Type="http://schemas.openxmlformats.org/officeDocument/2006/relationships/image" Target="../media/image56.svg"/><Relationship Id="rId10" Type="http://schemas.openxmlformats.org/officeDocument/2006/relationships/image" Target="../media/image37.svg"/><Relationship Id="rId4" Type="http://schemas.openxmlformats.org/officeDocument/2006/relationships/image" Target="../media/image4.png"/><Relationship Id="rId9" Type="http://schemas.openxmlformats.org/officeDocument/2006/relationships/image" Target="../media/image36.svg"/><Relationship Id="rId14" Type="http://schemas.openxmlformats.org/officeDocument/2006/relationships/image" Target="../media/image43.svg"/></Relationships>
</file>

<file path=ppt/slides/_rels/slide18.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 Id="rId5" Type="http://schemas.openxmlformats.org/officeDocument/2006/relationships/image" Target="../media/image57.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58.pn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6.svg"/><Relationship Id="rId11" Type="http://schemas.openxmlformats.org/officeDocument/2006/relationships/image" Target="../media/image40.png"/><Relationship Id="rId5" Type="http://schemas.openxmlformats.org/officeDocument/2006/relationships/image" Target="../media/image35.png"/><Relationship Id="rId10" Type="http://schemas.openxmlformats.org/officeDocument/2006/relationships/image" Target="../media/image4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7.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60.jpeg"/><Relationship Id="rId3" Type="http://schemas.openxmlformats.org/officeDocument/2006/relationships/notesSlide" Target="../notesSlides/notesSlide23.xml"/><Relationship Id="rId7" Type="http://schemas.openxmlformats.org/officeDocument/2006/relationships/image" Target="../media/image37.svg"/><Relationship Id="rId12" Type="http://schemas.openxmlformats.org/officeDocument/2006/relationships/image" Target="../media/image40.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36.svg"/><Relationship Id="rId11" Type="http://schemas.openxmlformats.org/officeDocument/2006/relationships/image" Target="../media/image43.svg"/><Relationship Id="rId5" Type="http://schemas.openxmlformats.org/officeDocument/2006/relationships/image" Target="../media/image35.png"/><Relationship Id="rId10" Type="http://schemas.openxmlformats.org/officeDocument/2006/relationships/image" Target="../media/image4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180.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61.sv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0.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64.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2.xml"/><Relationship Id="rId1" Type="http://schemas.openxmlformats.org/officeDocument/2006/relationships/slideLayout" Target="../slideLayouts/slideLayout6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34.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64.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4.png"/><Relationship Id="rId7" Type="http://schemas.openxmlformats.org/officeDocument/2006/relationships/image" Target="../media/image37.svg"/><Relationship Id="rId12"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64.xml"/><Relationship Id="rId6" Type="http://schemas.openxmlformats.org/officeDocument/2006/relationships/image" Target="../media/image36.svg"/><Relationship Id="rId11" Type="http://schemas.openxmlformats.org/officeDocument/2006/relationships/image" Target="../media/image59.png"/><Relationship Id="rId5" Type="http://schemas.openxmlformats.org/officeDocument/2006/relationships/image" Target="../media/image35.png"/><Relationship Id="rId10" Type="http://schemas.openxmlformats.org/officeDocument/2006/relationships/image" Target="../media/image58.png"/><Relationship Id="rId4" Type="http://schemas.openxmlformats.org/officeDocument/2006/relationships/image" Target="../media/image34.png"/><Relationship Id="rId9"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4.xml"/><Relationship Id="rId1" Type="http://schemas.openxmlformats.org/officeDocument/2006/relationships/tags" Target="../tags/tag11.xml"/><Relationship Id="rId5" Type="http://schemas.openxmlformats.org/officeDocument/2006/relationships/image" Target="../media/image64.png"/><Relationship Id="rId4" Type="http://schemas.openxmlformats.org/officeDocument/2006/relationships/image" Target="../media/image63.svg"/></Relationships>
</file>

<file path=ppt/slides/_rels/slide3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7.xml"/><Relationship Id="rId1" Type="http://schemas.openxmlformats.org/officeDocument/2006/relationships/slideLayout" Target="../slideLayouts/slideLayout180.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124.xml"/><Relationship Id="rId5" Type="http://schemas.microsoft.com/office/2007/relationships/hdphoto" Target="../media/hdphoto1.wdp"/><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5.xml"/><Relationship Id="rId5" Type="http://schemas.openxmlformats.org/officeDocument/2006/relationships/image" Target="../media/image52.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54.pn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53.png"/><Relationship Id="rId5" Type="http://schemas.openxmlformats.org/officeDocument/2006/relationships/image" Target="../media/image51.png"/><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0.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64.xml"/></Relationships>
</file>

<file path=ppt/slides/_rels/slide43.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notesSlide" Target="../notesSlides/notesSlide43.xml"/><Relationship Id="rId7" Type="http://schemas.openxmlformats.org/officeDocument/2006/relationships/image" Target="../media/image68.svg"/><Relationship Id="rId2" Type="http://schemas.openxmlformats.org/officeDocument/2006/relationships/slideLayout" Target="../slideLayouts/slideLayout64.xml"/><Relationship Id="rId1" Type="http://schemas.openxmlformats.org/officeDocument/2006/relationships/tags" Target="../tags/tag13.xml"/><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notesSlide" Target="../notesSlides/notesSlide44.xml"/><Relationship Id="rId7" Type="http://schemas.openxmlformats.org/officeDocument/2006/relationships/image" Target="../media/image38.svg"/><Relationship Id="rId2" Type="http://schemas.openxmlformats.org/officeDocument/2006/relationships/slideLayout" Target="../slideLayouts/slideLayout64.xml"/><Relationship Id="rId1" Type="http://schemas.openxmlformats.org/officeDocument/2006/relationships/tags" Target="../tags/tag14.xml"/><Relationship Id="rId6" Type="http://schemas.openxmlformats.org/officeDocument/2006/relationships/image" Target="../media/image3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notesSlide" Target="../notesSlides/notesSlide45.xml"/><Relationship Id="rId7" Type="http://schemas.openxmlformats.org/officeDocument/2006/relationships/image" Target="../media/image38.svg"/><Relationship Id="rId2" Type="http://schemas.openxmlformats.org/officeDocument/2006/relationships/slideLayout" Target="../slideLayouts/slideLayout64.xml"/><Relationship Id="rId1" Type="http://schemas.openxmlformats.org/officeDocument/2006/relationships/tags" Target="../tags/tag15.xml"/><Relationship Id="rId6" Type="http://schemas.openxmlformats.org/officeDocument/2006/relationships/image" Target="../media/image37.sv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6.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73.png"/><Relationship Id="rId3" Type="http://schemas.openxmlformats.org/officeDocument/2006/relationships/notesSlide" Target="../notesSlides/notesSlide46.xml"/><Relationship Id="rId7" Type="http://schemas.openxmlformats.org/officeDocument/2006/relationships/image" Target="../media/image66.png"/><Relationship Id="rId12" Type="http://schemas.openxmlformats.org/officeDocument/2006/relationships/image" Target="../media/image42.png"/><Relationship Id="rId2" Type="http://schemas.openxmlformats.org/officeDocument/2006/relationships/slideLayout" Target="../slideLayouts/slideLayout64.xml"/><Relationship Id="rId1" Type="http://schemas.openxmlformats.org/officeDocument/2006/relationships/tags" Target="../tags/tag16.xml"/><Relationship Id="rId6" Type="http://schemas.openxmlformats.org/officeDocument/2006/relationships/image" Target="../media/image71.png"/><Relationship Id="rId11" Type="http://schemas.openxmlformats.org/officeDocument/2006/relationships/image" Target="../media/image72.png"/><Relationship Id="rId5" Type="http://schemas.openxmlformats.org/officeDocument/2006/relationships/image" Target="../media/image70.png"/><Relationship Id="rId15" Type="http://schemas.openxmlformats.org/officeDocument/2006/relationships/image" Target="../media/image75.png"/><Relationship Id="rId10" Type="http://schemas.openxmlformats.org/officeDocument/2006/relationships/image" Target="../media/image36.svg"/><Relationship Id="rId4" Type="http://schemas.openxmlformats.org/officeDocument/2006/relationships/image" Target="../media/image65.png"/><Relationship Id="rId9" Type="http://schemas.openxmlformats.org/officeDocument/2006/relationships/image" Target="../media/image38.svg"/><Relationship Id="rId1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4.xml"/><Relationship Id="rId1" Type="http://schemas.openxmlformats.org/officeDocument/2006/relationships/tags" Target="../tags/tag17.xml"/><Relationship Id="rId4" Type="http://schemas.openxmlformats.org/officeDocument/2006/relationships/image" Target="../media/image7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4.xml"/><Relationship Id="rId1" Type="http://schemas.openxmlformats.org/officeDocument/2006/relationships/tags" Target="../tags/tag18.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24B2-6367-F0E3-D8F1-E4F59F7B338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8C4F35-D5F6-2B47-B2CB-705C8DC33967}"/>
              </a:ext>
            </a:extLst>
          </p:cNvPr>
          <p:cNvSpPr>
            <a:spLocks noGrp="1"/>
          </p:cNvSpPr>
          <p:nvPr>
            <p:ph type="ctrTitle"/>
          </p:nvPr>
        </p:nvSpPr>
        <p:spPr>
          <a:xfrm>
            <a:off x="510362" y="2560320"/>
            <a:ext cx="7452360" cy="1682495"/>
          </a:xfrm>
        </p:spPr>
        <p:txBody>
          <a:bodyPr/>
          <a:lstStyle/>
          <a:p>
            <a:r>
              <a:rPr lang="en-US" dirty="0"/>
              <a:t>Simplifying Private Connectivity </a:t>
            </a:r>
          </a:p>
        </p:txBody>
      </p:sp>
      <p:sp>
        <p:nvSpPr>
          <p:cNvPr id="5" name="Subtitle 4">
            <a:extLst>
              <a:ext uri="{FF2B5EF4-FFF2-40B4-BE49-F238E27FC236}">
                <a16:creationId xmlns:a16="http://schemas.microsoft.com/office/drawing/2014/main" id="{7DAE7295-45A0-F760-2BDB-BF040634D227}"/>
              </a:ext>
            </a:extLst>
          </p:cNvPr>
          <p:cNvSpPr>
            <a:spLocks noGrp="1"/>
          </p:cNvSpPr>
          <p:nvPr>
            <p:ph type="subTitle" idx="1"/>
          </p:nvPr>
        </p:nvSpPr>
        <p:spPr>
          <a:xfrm>
            <a:off x="510362" y="4506932"/>
            <a:ext cx="7452360" cy="914400"/>
          </a:xfrm>
        </p:spPr>
        <p:txBody>
          <a:bodyPr/>
          <a:lstStyle/>
          <a:p>
            <a:r>
              <a:rPr lang="en-US" dirty="0"/>
              <a:t>Instant, programmable private connectivity anywhere. </a:t>
            </a:r>
          </a:p>
        </p:txBody>
      </p:sp>
      <p:sp>
        <p:nvSpPr>
          <p:cNvPr id="36" name="Text Placeholder 35">
            <a:extLst>
              <a:ext uri="{FF2B5EF4-FFF2-40B4-BE49-F238E27FC236}">
                <a16:creationId xmlns:a16="http://schemas.microsoft.com/office/drawing/2014/main" id="{2CB4CDEB-E9F7-5886-47DA-9F874E85D85E}"/>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4FD66D1F-7873-6AA5-827D-CEAD2B1BD608}"/>
              </a:ext>
            </a:extLst>
          </p:cNvPr>
          <p:cNvSpPr>
            <a:spLocks noGrp="1"/>
          </p:cNvSpPr>
          <p:nvPr>
            <p:ph type="body" sz="quarter" idx="12"/>
          </p:nvPr>
        </p:nvSpPr>
        <p:spPr>
          <a:xfrm>
            <a:off x="510362" y="2103120"/>
            <a:ext cx="7452360" cy="457200"/>
          </a:xfrm>
        </p:spPr>
        <p:txBody>
          <a:bodyPr/>
          <a:lstStyle/>
          <a:p>
            <a:r>
              <a:rPr lang="en-US" dirty="0"/>
              <a:t>SERVICE PROVIDERS</a:t>
            </a:r>
          </a:p>
        </p:txBody>
      </p:sp>
      <p:sp>
        <p:nvSpPr>
          <p:cNvPr id="37" name="Slide Number Placeholder 36">
            <a:extLst>
              <a:ext uri="{FF2B5EF4-FFF2-40B4-BE49-F238E27FC236}">
                <a16:creationId xmlns:a16="http://schemas.microsoft.com/office/drawing/2014/main" id="{7F883873-257E-75E8-155A-B3D2D4BC3D03}"/>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30543866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BF5B5E37-34F6-56D2-3491-F7D1F18C89CB}"/>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4E0F2C20-430F-3CBF-4084-AB096179675A}"/>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1F7F587B-BE95-0528-EDA6-5C5C9D92CDC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678DD5FD-47B8-F672-E447-140FB3531DC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1549C0F3-5E0A-1578-4740-F058F6D0B306}"/>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BFA1B6DB-7457-80C0-5764-F364BD9D4CFB}"/>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9BEBC02E-E21F-626C-AF72-EF0077873CF7}"/>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2548C2A9-87EC-087D-CD46-9F034B2A1C45}"/>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78FADAD5-FCEF-3A2F-0239-3B0293DC682E}"/>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3B46B171-06EC-196A-12CF-0F56F59FCCF1}"/>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1357795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09F021-ADA0-5DA4-846E-0A73208B29D5}"/>
              </a:ext>
            </a:extLst>
          </p:cNvPr>
          <p:cNvSpPr>
            <a:spLocks noGrp="1"/>
          </p:cNvSpPr>
          <p:nvPr>
            <p:ph type="sldNum" sz="quarter" idx="10"/>
          </p:nvPr>
        </p:nvSpPr>
        <p:spPr/>
        <p:txBody>
          <a:bodyPr/>
          <a:lstStyle/>
          <a:p>
            <a:fld id="{0246F002-FF83-614A-810B-169E974B53D7}" type="slidenum">
              <a:rPr lang="en-US" smtClean="0"/>
              <a:pPr/>
              <a:t>3</a:t>
            </a:fld>
            <a:r>
              <a:rPr lang="en-US"/>
              <a:t>  © 2026 MaiaEdge</a:t>
            </a:r>
            <a:endParaRPr lang="en-US" sz="900"/>
          </a:p>
        </p:txBody>
      </p:sp>
      <p:sp>
        <p:nvSpPr>
          <p:cNvPr id="4" name="Rectangle 3">
            <a:extLst>
              <a:ext uri="{FF2B5EF4-FFF2-40B4-BE49-F238E27FC236}">
                <a16:creationId xmlns:a16="http://schemas.microsoft.com/office/drawing/2014/main" id="{5F31E9F8-1BD0-2916-DFA2-952C3CD4C497}"/>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35CEA5B8-89D9-F6EA-F79B-0BCD21D57289}"/>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65B81F1-F733-FF9D-755C-B49C7672287E}"/>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0A4C08D8-4AB8-48F4-DE53-84804D0B8039}"/>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7C97C5C5-BEE8-F2A2-1B9B-9232BCE1DA87}"/>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E7095D60-16CD-A486-C3EF-1D8340727070}"/>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4BDD924F-2B34-F1F4-E2AB-001B5F645457}"/>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A3DCAC0C-1EF1-2500-9585-F0FE210C83D6}"/>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454AB03F-D495-BEFF-A0A9-0A14329C5B37}"/>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991086FC-C018-C859-D5AD-B00B103FB1EA}"/>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4C225DF6-4A62-A1FB-5AF8-8BF9A8803D3B}"/>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BC021B0D-77F4-108C-801A-4DF012D2FC7F}"/>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243990DD-C35C-3A69-B6CC-75ACA8E58494}"/>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5B8A1811-C30D-455D-3C5B-1413F5AB95A3}"/>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A9CAF24A-4180-D98C-2B65-0DF0ABAE5A69}"/>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15560F27-1C30-E0F9-A9A5-908511F6080B}"/>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15BC5FC6-B53D-0E36-053F-3C60CAC5AA90}"/>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234A0FE-4C99-3CE3-337D-7D6EF71229DA}"/>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70D3C965-2800-C8C4-6C5A-884F6657CA23}"/>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A3797002-0484-18EB-587D-ACF123CD64F3}"/>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A0F55026-AC77-E047-B5A3-374675FFE733}"/>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6BE065A0-F1A1-21EC-727E-38FB6CA6944E}"/>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29B5AEE5-9FA3-033A-A834-50429B28C813}"/>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A141B7BB-CBD9-33BD-BFE6-0A1938C9E356}"/>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4A45D5A4-CDEC-0553-8EF7-7C86671863B4}"/>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380113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AFE4-7B88-8564-EFE3-C0E64C6C8DE6}"/>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5654525-9104-8808-4DFC-680C4B302D96}"/>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30" name="Picture 29" descr="A black and white pattern&#10;&#10;AI-generated content may be incorrect.">
            <a:extLst>
              <a:ext uri="{FF2B5EF4-FFF2-40B4-BE49-F238E27FC236}">
                <a16:creationId xmlns:a16="http://schemas.microsoft.com/office/drawing/2014/main" id="{B848F6EF-954D-D25A-DAE0-8BB40925CA26}"/>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31" name="Fade">
            <a:extLst>
              <a:ext uri="{FF2B5EF4-FFF2-40B4-BE49-F238E27FC236}">
                <a16:creationId xmlns:a16="http://schemas.microsoft.com/office/drawing/2014/main" id="{25187A2F-729F-CC55-D875-A18B8B036964}"/>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7" name="Provider4">
            <a:extLst>
              <a:ext uri="{FF2B5EF4-FFF2-40B4-BE49-F238E27FC236}">
                <a16:creationId xmlns:a16="http://schemas.microsoft.com/office/drawing/2014/main" id="{61EFBACC-6BE3-ECE5-C039-76C71463E576}"/>
              </a:ext>
            </a:extLst>
          </p:cNvPr>
          <p:cNvSpPr/>
          <p:nvPr/>
        </p:nvSpPr>
        <p:spPr bwMode="auto">
          <a:xfrm>
            <a:off x="3105897"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4</a:t>
            </a:r>
          </a:p>
        </p:txBody>
      </p:sp>
      <p:sp>
        <p:nvSpPr>
          <p:cNvPr id="8" name="Provider5">
            <a:extLst>
              <a:ext uri="{FF2B5EF4-FFF2-40B4-BE49-F238E27FC236}">
                <a16:creationId xmlns:a16="http://schemas.microsoft.com/office/drawing/2014/main" id="{B6404C1D-55F0-1CDE-F253-1D4849FA2096}"/>
              </a:ext>
            </a:extLst>
          </p:cNvPr>
          <p:cNvSpPr/>
          <p:nvPr/>
        </p:nvSpPr>
        <p:spPr bwMode="auto">
          <a:xfrm>
            <a:off x="4753061"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5</a:t>
            </a:r>
          </a:p>
        </p:txBody>
      </p:sp>
      <p:sp>
        <p:nvSpPr>
          <p:cNvPr id="5" name="Provider2">
            <a:extLst>
              <a:ext uri="{FF2B5EF4-FFF2-40B4-BE49-F238E27FC236}">
                <a16:creationId xmlns:a16="http://schemas.microsoft.com/office/drawing/2014/main" id="{1DA63FF8-BD1D-CC81-7D79-8263929B0C70}"/>
              </a:ext>
            </a:extLst>
          </p:cNvPr>
          <p:cNvSpPr/>
          <p:nvPr/>
        </p:nvSpPr>
        <p:spPr bwMode="auto">
          <a:xfrm>
            <a:off x="3105897"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2</a:t>
            </a:r>
          </a:p>
        </p:txBody>
      </p:sp>
      <p:sp>
        <p:nvSpPr>
          <p:cNvPr id="6" name="Provider3">
            <a:extLst>
              <a:ext uri="{FF2B5EF4-FFF2-40B4-BE49-F238E27FC236}">
                <a16:creationId xmlns:a16="http://schemas.microsoft.com/office/drawing/2014/main" id="{B93E1B71-E8D2-F859-86C1-2D7B178830FD}"/>
              </a:ext>
            </a:extLst>
          </p:cNvPr>
          <p:cNvSpPr/>
          <p:nvPr/>
        </p:nvSpPr>
        <p:spPr bwMode="auto">
          <a:xfrm>
            <a:off x="4753061"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3</a:t>
            </a:r>
          </a:p>
        </p:txBody>
      </p:sp>
      <p:sp>
        <p:nvSpPr>
          <p:cNvPr id="2178" name="Curve">
            <a:extLst>
              <a:ext uri="{FF2B5EF4-FFF2-40B4-BE49-F238E27FC236}">
                <a16:creationId xmlns:a16="http://schemas.microsoft.com/office/drawing/2014/main" id="{916F6609-87A9-6DA6-7721-5B50EE05A02E}"/>
              </a:ext>
            </a:extLst>
          </p:cNvPr>
          <p:cNvSpPr/>
          <p:nvPr/>
        </p:nvSpPr>
        <p:spPr>
          <a:xfrm>
            <a:off x="2346428" y="3856568"/>
            <a:ext cx="4150175" cy="1681777"/>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17731" cap="flat">
            <a:solidFill>
              <a:srgbClr val="FFC200"/>
            </a:solidFill>
            <a:prstDash val="solid"/>
            <a:miter/>
          </a:ln>
        </p:spPr>
        <p:txBody>
          <a:bodyPr/>
          <a:lstStyle/>
          <a:p>
            <a:endParaRPr lang="en-US"/>
          </a:p>
        </p:txBody>
      </p:sp>
      <p:sp>
        <p:nvSpPr>
          <p:cNvPr id="2065" name="Provider1">
            <a:extLst>
              <a:ext uri="{FF2B5EF4-FFF2-40B4-BE49-F238E27FC236}">
                <a16:creationId xmlns:a16="http://schemas.microsoft.com/office/drawing/2014/main" id="{5A2D89B1-705D-E99B-D304-5ABA4DF02C48}"/>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sp>
        <p:nvSpPr>
          <p:cNvPr id="2114" name="Provider6">
            <a:extLst>
              <a:ext uri="{FF2B5EF4-FFF2-40B4-BE49-F238E27FC236}">
                <a16:creationId xmlns:a16="http://schemas.microsoft.com/office/drawing/2014/main" id="{0E53F6E0-74AE-BB4F-037B-447A92DA6F9F}"/>
              </a:ext>
            </a:extLst>
          </p:cNvPr>
          <p:cNvSpPr/>
          <p:nvPr/>
        </p:nvSpPr>
        <p:spPr bwMode="auto">
          <a:xfrm>
            <a:off x="6027501" y="29389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6</a:t>
            </a:r>
          </a:p>
        </p:txBody>
      </p:sp>
      <p:cxnSp>
        <p:nvCxnSpPr>
          <p:cNvPr id="42" name="Straight Connector 41">
            <a:extLst>
              <a:ext uri="{FF2B5EF4-FFF2-40B4-BE49-F238E27FC236}">
                <a16:creationId xmlns:a16="http://schemas.microsoft.com/office/drawing/2014/main" id="{6D98DBEB-57BF-8063-3BFD-E59CF1EA5592}"/>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9AC0D00-1E0A-B4D4-448A-B7564967B9D9}"/>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A80BC87A-85CE-894F-7222-3C95FC0FBB38}"/>
              </a:ext>
            </a:extLst>
          </p:cNvPr>
          <p:cNvSpPr>
            <a:spLocks noGrp="1"/>
          </p:cNvSpPr>
          <p:nvPr>
            <p:ph type="title"/>
          </p:nvPr>
        </p:nvSpPr>
        <p:spPr/>
        <p:txBody>
          <a:bodyPr/>
          <a:lstStyle/>
          <a:p>
            <a:r>
              <a:rPr lang="en-US" b="1" dirty="0"/>
              <a:t>Ethernet Islands </a:t>
            </a:r>
            <a:endParaRPr lang="en-US" dirty="0"/>
          </a:p>
        </p:txBody>
      </p:sp>
      <p:sp>
        <p:nvSpPr>
          <p:cNvPr id="2076" name="Rectangle 2075">
            <a:extLst>
              <a:ext uri="{FF2B5EF4-FFF2-40B4-BE49-F238E27FC236}">
                <a16:creationId xmlns:a16="http://schemas.microsoft.com/office/drawing/2014/main" id="{F1A0BB31-2087-96CC-4F54-77EDBAF1C019}"/>
              </a:ext>
            </a:extLst>
          </p:cNvPr>
          <p:cNvSpPr/>
          <p:nvPr/>
        </p:nvSpPr>
        <p:spPr bwMode="auto">
          <a:xfrm>
            <a:off x="8772144" y="2113631"/>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7BC2E388-DFA9-5394-5CA3-58C0D307410C}"/>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119F3683-A47C-A5FD-C454-33B24AF3CA0B}"/>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7D287746-5112-7CE9-F5A4-6BCE8A3C35C4}"/>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33134FD7-3A81-487F-0A7F-08B4DB3B92D9}"/>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867340BF-4C89-9054-C8DA-3226E86D8AD2}"/>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C4911B42-10F0-49DD-8F35-2B877CB2A3CD}"/>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9" name="Money">
            <a:extLst>
              <a:ext uri="{FF2B5EF4-FFF2-40B4-BE49-F238E27FC236}">
                <a16:creationId xmlns:a16="http://schemas.microsoft.com/office/drawing/2014/main" id="{977DB82A-4A3B-C157-77A9-8BB1F446049F}"/>
              </a:ext>
            </a:extLst>
          </p:cNvPr>
          <p:cNvGrpSpPr/>
          <p:nvPr/>
        </p:nvGrpSpPr>
        <p:grpSpPr>
          <a:xfrm>
            <a:off x="4276435" y="4737915"/>
            <a:ext cx="296984" cy="228600"/>
            <a:chOff x="4215713" y="4794516"/>
            <a:chExt cx="296984" cy="228600"/>
          </a:xfrm>
        </p:grpSpPr>
        <p:sp>
          <p:nvSpPr>
            <p:cNvPr id="2135" name="$">
              <a:extLst>
                <a:ext uri="{FF2B5EF4-FFF2-40B4-BE49-F238E27FC236}">
                  <a16:creationId xmlns:a16="http://schemas.microsoft.com/office/drawing/2014/main" id="{733EEDD3-C1F9-4F3E-5EF0-F1A322A918AC}"/>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79BB1C4A-F442-E54A-DCC9-0B4DAC0D0EAE}"/>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2153" name="Switch Icon">
            <a:extLst>
              <a:ext uri="{FF2B5EF4-FFF2-40B4-BE49-F238E27FC236}">
                <a16:creationId xmlns:a16="http://schemas.microsoft.com/office/drawing/2014/main" id="{2F8148C9-1F98-EE1F-96A7-5EC74A697BB4}"/>
              </a:ext>
            </a:extLst>
          </p:cNvPr>
          <p:cNvGrpSpPr>
            <a:grpSpLocks noChangeAspect="1"/>
          </p:cNvGrpSpPr>
          <p:nvPr/>
        </p:nvGrpSpPr>
        <p:grpSpPr>
          <a:xfrm>
            <a:off x="1885112" y="3754755"/>
            <a:ext cx="914400" cy="185302"/>
            <a:chOff x="733644" y="4493806"/>
            <a:chExt cx="965012" cy="195558"/>
          </a:xfrm>
        </p:grpSpPr>
        <p:sp>
          <p:nvSpPr>
            <p:cNvPr id="2151" name="Switch outline">
              <a:extLst>
                <a:ext uri="{FF2B5EF4-FFF2-40B4-BE49-F238E27FC236}">
                  <a16:creationId xmlns:a16="http://schemas.microsoft.com/office/drawing/2014/main" id="{DED0805A-6B63-7C50-DDF2-21E2DACFE18D}"/>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52" name="Side fill">
              <a:extLst>
                <a:ext uri="{FF2B5EF4-FFF2-40B4-BE49-F238E27FC236}">
                  <a16:creationId xmlns:a16="http://schemas.microsoft.com/office/drawing/2014/main" id="{24D50BB6-DB26-3996-4E30-9D348168BBC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58" name="Switch Icon">
            <a:extLst>
              <a:ext uri="{FF2B5EF4-FFF2-40B4-BE49-F238E27FC236}">
                <a16:creationId xmlns:a16="http://schemas.microsoft.com/office/drawing/2014/main" id="{921001F8-3A97-76D5-5DE0-C010143DE1D8}"/>
              </a:ext>
            </a:extLst>
          </p:cNvPr>
          <p:cNvGrpSpPr>
            <a:grpSpLocks noChangeAspect="1"/>
          </p:cNvGrpSpPr>
          <p:nvPr/>
        </p:nvGrpSpPr>
        <p:grpSpPr>
          <a:xfrm>
            <a:off x="6053259" y="3754756"/>
            <a:ext cx="914400" cy="185302"/>
            <a:chOff x="733644" y="4493807"/>
            <a:chExt cx="965012" cy="195558"/>
          </a:xfrm>
        </p:grpSpPr>
        <p:sp>
          <p:nvSpPr>
            <p:cNvPr id="2161" name="Switch outline">
              <a:extLst>
                <a:ext uri="{FF2B5EF4-FFF2-40B4-BE49-F238E27FC236}">
                  <a16:creationId xmlns:a16="http://schemas.microsoft.com/office/drawing/2014/main" id="{336E8E8C-EE02-1528-6740-F450CD46389C}"/>
                </a:ext>
              </a:extLst>
            </p:cNvPr>
            <p:cNvSpPr/>
            <p:nvPr/>
          </p:nvSpPr>
          <p:spPr>
            <a:xfrm>
              <a:off x="733644" y="4493807"/>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0" name="Side fill">
              <a:extLst>
                <a:ext uri="{FF2B5EF4-FFF2-40B4-BE49-F238E27FC236}">
                  <a16:creationId xmlns:a16="http://schemas.microsoft.com/office/drawing/2014/main" id="{0E9A793B-7CA0-8317-E44D-B5531EF238F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2" name="Switch Icon">
            <a:extLst>
              <a:ext uri="{FF2B5EF4-FFF2-40B4-BE49-F238E27FC236}">
                <a16:creationId xmlns:a16="http://schemas.microsoft.com/office/drawing/2014/main" id="{BC453633-B5CF-2EAD-4B37-25F92732A8BB}"/>
              </a:ext>
            </a:extLst>
          </p:cNvPr>
          <p:cNvGrpSpPr>
            <a:grpSpLocks noChangeAspect="1"/>
          </p:cNvGrpSpPr>
          <p:nvPr/>
        </p:nvGrpSpPr>
        <p:grpSpPr>
          <a:xfrm>
            <a:off x="5265742" y="2770613"/>
            <a:ext cx="914400" cy="185302"/>
            <a:chOff x="733644" y="4493806"/>
            <a:chExt cx="965012" cy="195558"/>
          </a:xfrm>
        </p:grpSpPr>
        <p:sp>
          <p:nvSpPr>
            <p:cNvPr id="2165" name="Switch outline">
              <a:extLst>
                <a:ext uri="{FF2B5EF4-FFF2-40B4-BE49-F238E27FC236}">
                  <a16:creationId xmlns:a16="http://schemas.microsoft.com/office/drawing/2014/main" id="{3A264B28-6477-B40C-BC19-3DB078AC0D29}"/>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4" name="Side fill">
              <a:extLst>
                <a:ext uri="{FF2B5EF4-FFF2-40B4-BE49-F238E27FC236}">
                  <a16:creationId xmlns:a16="http://schemas.microsoft.com/office/drawing/2014/main" id="{31132340-B805-0CC7-0A31-5FEFF4DFC74A}"/>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6" name="Switch Icon">
            <a:extLst>
              <a:ext uri="{FF2B5EF4-FFF2-40B4-BE49-F238E27FC236}">
                <a16:creationId xmlns:a16="http://schemas.microsoft.com/office/drawing/2014/main" id="{3DDB83BA-A134-E0DC-75EC-EF1133775B75}"/>
              </a:ext>
            </a:extLst>
          </p:cNvPr>
          <p:cNvGrpSpPr>
            <a:grpSpLocks noChangeAspect="1"/>
          </p:cNvGrpSpPr>
          <p:nvPr/>
        </p:nvGrpSpPr>
        <p:grpSpPr>
          <a:xfrm>
            <a:off x="3964505" y="2515036"/>
            <a:ext cx="914400" cy="185302"/>
            <a:chOff x="733644" y="4493806"/>
            <a:chExt cx="965012" cy="195558"/>
          </a:xfrm>
        </p:grpSpPr>
        <p:sp>
          <p:nvSpPr>
            <p:cNvPr id="2169" name="Switch outline">
              <a:extLst>
                <a:ext uri="{FF2B5EF4-FFF2-40B4-BE49-F238E27FC236}">
                  <a16:creationId xmlns:a16="http://schemas.microsoft.com/office/drawing/2014/main" id="{A5FE86E4-CE4B-72B7-787E-741EEE5F8E5D}"/>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8" name="Side fill">
              <a:extLst>
                <a:ext uri="{FF2B5EF4-FFF2-40B4-BE49-F238E27FC236}">
                  <a16:creationId xmlns:a16="http://schemas.microsoft.com/office/drawing/2014/main" id="{F99A96F3-4079-3F47-17BB-EF62AB8C7397}"/>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208" name="Clock">
            <a:extLst>
              <a:ext uri="{FF2B5EF4-FFF2-40B4-BE49-F238E27FC236}">
                <a16:creationId xmlns:a16="http://schemas.microsoft.com/office/drawing/2014/main" id="{8B971AE7-C659-84E0-77D2-694B79CC8CF4}"/>
              </a:ext>
            </a:extLst>
          </p:cNvPr>
          <p:cNvGrpSpPr/>
          <p:nvPr/>
        </p:nvGrpSpPr>
        <p:grpSpPr>
          <a:xfrm>
            <a:off x="2192172" y="2841683"/>
            <a:ext cx="274320" cy="274320"/>
            <a:chOff x="1997590" y="2392854"/>
            <a:chExt cx="274320" cy="274320"/>
          </a:xfrm>
        </p:grpSpPr>
        <p:sp>
          <p:nvSpPr>
            <p:cNvPr id="2207" name="White fill">
              <a:extLst>
                <a:ext uri="{FF2B5EF4-FFF2-40B4-BE49-F238E27FC236}">
                  <a16:creationId xmlns:a16="http://schemas.microsoft.com/office/drawing/2014/main" id="{3D244779-D31D-AE4F-48A6-A3C8C6AAA0A6}"/>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16618E5C-3B17-1214-016B-DAF1C8586EEC}"/>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38D9D246-6014-F768-0240-C169BE956466}"/>
              </a:ext>
            </a:extLst>
          </p:cNvPr>
          <p:cNvGrpSpPr/>
          <p:nvPr/>
        </p:nvGrpSpPr>
        <p:grpSpPr>
          <a:xfrm>
            <a:off x="6353768" y="2751737"/>
            <a:ext cx="274320" cy="274320"/>
            <a:chOff x="1997590" y="2392854"/>
            <a:chExt cx="274320" cy="274320"/>
          </a:xfrm>
        </p:grpSpPr>
        <p:sp>
          <p:nvSpPr>
            <p:cNvPr id="2210" name="White fill">
              <a:extLst>
                <a:ext uri="{FF2B5EF4-FFF2-40B4-BE49-F238E27FC236}">
                  <a16:creationId xmlns:a16="http://schemas.microsoft.com/office/drawing/2014/main" id="{5E1B8996-C841-C5BC-630A-41F3716662F8}"/>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2C2701EA-8AE0-FC16-1DCD-B60C921B6790}"/>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17" name="!!Data Center Icon2">
            <a:extLst>
              <a:ext uri="{FF2B5EF4-FFF2-40B4-BE49-F238E27FC236}">
                <a16:creationId xmlns:a16="http://schemas.microsoft.com/office/drawing/2014/main" id="{FE282EC2-C715-260E-95B4-FD4B005D49E6}"/>
              </a:ext>
            </a:extLst>
          </p:cNvPr>
          <p:cNvGrpSpPr/>
          <p:nvPr/>
        </p:nvGrpSpPr>
        <p:grpSpPr>
          <a:xfrm>
            <a:off x="3915783" y="5090294"/>
            <a:ext cx="1011845" cy="741000"/>
            <a:chOff x="3915783" y="5046954"/>
            <a:chExt cx="1011845" cy="741000"/>
          </a:xfrm>
        </p:grpSpPr>
        <p:sp>
          <p:nvSpPr>
            <p:cNvPr id="2218" name="White fill">
              <a:extLst>
                <a:ext uri="{FF2B5EF4-FFF2-40B4-BE49-F238E27FC236}">
                  <a16:creationId xmlns:a16="http://schemas.microsoft.com/office/drawing/2014/main" id="{0AEFDDC3-1BC3-F568-5145-B22BA2419A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219" name="Freeform: Shape 2218">
              <a:extLst>
                <a:ext uri="{FF2B5EF4-FFF2-40B4-BE49-F238E27FC236}">
                  <a16:creationId xmlns:a16="http://schemas.microsoft.com/office/drawing/2014/main" id="{6E2551BD-06BF-F2CE-CE4D-4FBE9A8D3CA0}"/>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endParaRPr lang="en-US"/>
            </a:p>
          </p:txBody>
        </p:sp>
        <p:sp>
          <p:nvSpPr>
            <p:cNvPr id="2220" name="Freeform: Shape 2219">
              <a:extLst>
                <a:ext uri="{FF2B5EF4-FFF2-40B4-BE49-F238E27FC236}">
                  <a16:creationId xmlns:a16="http://schemas.microsoft.com/office/drawing/2014/main" id="{15CB9C45-8C6A-E246-CFC5-18B6AC21B759}"/>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endParaRPr lang="en-US"/>
            </a:p>
          </p:txBody>
        </p:sp>
        <p:sp>
          <p:nvSpPr>
            <p:cNvPr id="2221" name="Freeform: Shape 2220">
              <a:extLst>
                <a:ext uri="{FF2B5EF4-FFF2-40B4-BE49-F238E27FC236}">
                  <a16:creationId xmlns:a16="http://schemas.microsoft.com/office/drawing/2014/main" id="{4E27BF95-0C6B-762A-41B9-5F626F07DD24}"/>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endParaRPr lang="en-US"/>
            </a:p>
          </p:txBody>
        </p:sp>
        <p:sp>
          <p:nvSpPr>
            <p:cNvPr id="2222" name="Freeform: Shape 2221">
              <a:extLst>
                <a:ext uri="{FF2B5EF4-FFF2-40B4-BE49-F238E27FC236}">
                  <a16:creationId xmlns:a16="http://schemas.microsoft.com/office/drawing/2014/main" id="{D29924C2-2AF1-1BC6-C47B-04FFA21031F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endParaRPr lang="en-US"/>
            </a:p>
          </p:txBody>
        </p:sp>
      </p:grpSp>
      <p:grpSp>
        <p:nvGrpSpPr>
          <p:cNvPr id="2181" name="!!Data Center Icon">
            <a:extLst>
              <a:ext uri="{FF2B5EF4-FFF2-40B4-BE49-F238E27FC236}">
                <a16:creationId xmlns:a16="http://schemas.microsoft.com/office/drawing/2014/main" id="{2AFD140D-50EC-48AD-B52D-4A8435BDFEB1}"/>
              </a:ext>
            </a:extLst>
          </p:cNvPr>
          <p:cNvGrpSpPr/>
          <p:nvPr/>
        </p:nvGrpSpPr>
        <p:grpSpPr>
          <a:xfrm>
            <a:off x="3915783" y="5090294"/>
            <a:ext cx="1011845" cy="741000"/>
            <a:chOff x="3915783" y="5046954"/>
            <a:chExt cx="1011845" cy="741000"/>
          </a:xfrm>
          <a:solidFill>
            <a:schemeClr val="bg1">
              <a:lumMod val="95000"/>
            </a:schemeClr>
          </a:solidFill>
        </p:grpSpPr>
        <p:sp>
          <p:nvSpPr>
            <p:cNvPr id="2180" name="White fill">
              <a:extLst>
                <a:ext uri="{FF2B5EF4-FFF2-40B4-BE49-F238E27FC236}">
                  <a16:creationId xmlns:a16="http://schemas.microsoft.com/office/drawing/2014/main" id="{E859914D-6ED7-F893-A360-A4EA82532BAF}"/>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43" name="Freeform: Shape 2142">
              <a:extLst>
                <a:ext uri="{FF2B5EF4-FFF2-40B4-BE49-F238E27FC236}">
                  <a16:creationId xmlns:a16="http://schemas.microsoft.com/office/drawing/2014/main" id="{24023022-B97A-796B-7C22-923620B357B1}"/>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144" name="Freeform: Shape 2143">
              <a:extLst>
                <a:ext uri="{FF2B5EF4-FFF2-40B4-BE49-F238E27FC236}">
                  <a16:creationId xmlns:a16="http://schemas.microsoft.com/office/drawing/2014/main" id="{014C1EF8-76FA-6B32-7180-CFA6E82E77C0}"/>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145" name="Freeform: Shape 2144">
              <a:extLst>
                <a:ext uri="{FF2B5EF4-FFF2-40B4-BE49-F238E27FC236}">
                  <a16:creationId xmlns:a16="http://schemas.microsoft.com/office/drawing/2014/main" id="{A443D1F5-0CA9-EB8C-1685-2B6EFDAC8F5E}"/>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146" name="Freeform: Shape 2145">
              <a:extLst>
                <a:ext uri="{FF2B5EF4-FFF2-40B4-BE49-F238E27FC236}">
                  <a16:creationId xmlns:a16="http://schemas.microsoft.com/office/drawing/2014/main" id="{0A508D02-8DB1-B66B-687D-6EB6D9D28A0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3" name="Rectangle 2">
            <a:extLst>
              <a:ext uri="{FF2B5EF4-FFF2-40B4-BE49-F238E27FC236}">
                <a16:creationId xmlns:a16="http://schemas.microsoft.com/office/drawing/2014/main" id="{2BF46169-C43C-1316-266E-348A61E6FA9C}"/>
              </a:ext>
            </a:extLst>
          </p:cNvPr>
          <p:cNvSpPr/>
          <p:nvPr/>
        </p:nvSpPr>
        <p:spPr bwMode="auto">
          <a:xfrm>
            <a:off x="3492634" y="5875021"/>
            <a:ext cx="1828800"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Meet-me Room</a:t>
            </a:r>
          </a:p>
        </p:txBody>
      </p:sp>
      <p:sp>
        <p:nvSpPr>
          <p:cNvPr id="17" name="Slide Number Placeholder 16">
            <a:extLst>
              <a:ext uri="{FF2B5EF4-FFF2-40B4-BE49-F238E27FC236}">
                <a16:creationId xmlns:a16="http://schemas.microsoft.com/office/drawing/2014/main" id="{DC09E831-706C-42E4-BDE5-9D92DAFF6F6F}"/>
              </a:ext>
            </a:extLst>
          </p:cNvPr>
          <p:cNvSpPr>
            <a:spLocks noGrp="1"/>
          </p:cNvSpPr>
          <p:nvPr>
            <p:ph type="sldNum" sz="quarter" idx="10"/>
          </p:nvPr>
        </p:nvSpPr>
        <p:spPr/>
        <p:txBody>
          <a:bodyPr/>
          <a:lstStyle/>
          <a:p>
            <a:fld id="{0246F002-FF83-614A-810B-169E974B53D7}" type="slidenum">
              <a:rPr lang="en-US" smtClean="0"/>
              <a:pPr/>
              <a:t>4</a:t>
            </a:fld>
            <a:r>
              <a:rPr lang="en-US"/>
              <a:t>  © 2026 MaiaEdge</a:t>
            </a:r>
            <a:endParaRPr lang="en-US" sz="900"/>
          </a:p>
        </p:txBody>
      </p:sp>
      <p:grpSp>
        <p:nvGrpSpPr>
          <p:cNvPr id="36" name="Maia Logo">
            <a:extLst>
              <a:ext uri="{FF2B5EF4-FFF2-40B4-BE49-F238E27FC236}">
                <a16:creationId xmlns:a16="http://schemas.microsoft.com/office/drawing/2014/main" id="{44B34AF1-5AE3-09AC-79FA-1DCF9ACD7AA1}"/>
              </a:ext>
            </a:extLst>
          </p:cNvPr>
          <p:cNvGrpSpPr/>
          <p:nvPr/>
        </p:nvGrpSpPr>
        <p:grpSpPr>
          <a:xfrm>
            <a:off x="9984505" y="6181344"/>
            <a:ext cx="1697132" cy="414708"/>
            <a:chOff x="1447800" y="2292350"/>
            <a:chExt cx="7774788" cy="1899831"/>
          </a:xfrm>
        </p:grpSpPr>
        <p:sp>
          <p:nvSpPr>
            <p:cNvPr id="37" name="Freeform 20">
              <a:extLst>
                <a:ext uri="{FF2B5EF4-FFF2-40B4-BE49-F238E27FC236}">
                  <a16:creationId xmlns:a16="http://schemas.microsoft.com/office/drawing/2014/main" id="{0E0A14ED-E24E-217D-12C3-8030213AC6CB}"/>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8" name="Freeform 21">
              <a:extLst>
                <a:ext uri="{FF2B5EF4-FFF2-40B4-BE49-F238E27FC236}">
                  <a16:creationId xmlns:a16="http://schemas.microsoft.com/office/drawing/2014/main" id="{2BCB7636-FDC4-76C3-2739-3356D3F568F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9" name="Freeform 22">
              <a:extLst>
                <a:ext uri="{FF2B5EF4-FFF2-40B4-BE49-F238E27FC236}">
                  <a16:creationId xmlns:a16="http://schemas.microsoft.com/office/drawing/2014/main" id="{1E81A579-B28B-F71D-F5D3-B2D020FE967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FA0372CB-7199-F9F6-EF9C-5FB0637EAB62}"/>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b="1" spc="100" dirty="0">
                <a:solidFill>
                  <a:srgbClr val="FFC200"/>
                </a:solidFill>
                <a:latin typeface="Tomorrow Medium"/>
              </a:rPr>
              <a:t>Complex</a:t>
            </a:r>
            <a:br>
              <a:rPr lang="en-US" sz="3200" spc="100" dirty="0">
                <a:solidFill>
                  <a:srgbClr val="1C180D"/>
                </a:solidFill>
              </a:rPr>
            </a:br>
            <a:r>
              <a:rPr lang="en-US" sz="1600" dirty="0">
                <a:solidFill>
                  <a:srgbClr val="D4D0C9"/>
                </a:solidFill>
              </a:rPr>
              <a:t>Interconnecting Ethernet islands requires complex provisioning. </a:t>
            </a:r>
          </a:p>
          <a:p>
            <a:pPr lvl="0">
              <a:lnSpc>
                <a:spcPct val="110000"/>
              </a:lnSpc>
              <a:spcAft>
                <a:spcPts val="2400"/>
              </a:spcAft>
              <a:defRPr/>
            </a:pPr>
            <a:r>
              <a:rPr lang="en-US" sz="2000" b="1" spc="100" dirty="0">
                <a:solidFill>
                  <a:srgbClr val="FFC200"/>
                </a:solidFill>
                <a:latin typeface="Tomorrow Medium"/>
              </a:rPr>
              <a:t>Manual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NNIs require months-long provisioning cycles, manual LOA &amp; complex configurations that don’t scale. Inflexible. </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noProof="0" dirty="0">
                <a:solidFill>
                  <a:srgbClr val="FFC200"/>
                </a:solidFill>
                <a:latin typeface="Tomorrow Medium"/>
              </a:rPr>
              <a:t>Blind</a:t>
            </a:r>
            <a:br>
              <a:rPr kumimoji="0" lang="en-US" sz="2000" b="1" i="0" u="none" strike="noStrike" kern="1200" cap="none" spc="100" normalizeH="0" baseline="0" noProof="0" dirty="0">
                <a:ln>
                  <a:noFill/>
                </a:ln>
                <a:solidFill>
                  <a:srgbClr val="FFFFFF"/>
                </a:solidFill>
                <a:effectLst/>
                <a:uLnTx/>
                <a:uFillTx/>
                <a:latin typeface="Tomorrow Medium"/>
                <a:ea typeface="+mn-ea"/>
                <a:cs typeface="+mn-cs"/>
              </a:rPr>
            </a:br>
            <a:r>
              <a:rPr lang="en-US" sz="1600" noProof="0" dirty="0">
                <a:solidFill>
                  <a:srgbClr val="D4D0C9"/>
                </a:solidFill>
                <a:latin typeface="Arial"/>
              </a:rPr>
              <a:t>Visibility, performance control, and automation end at your network edge.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grpSp>
        <p:nvGrpSpPr>
          <p:cNvPr id="4" name="Switch Icon">
            <a:extLst>
              <a:ext uri="{FF2B5EF4-FFF2-40B4-BE49-F238E27FC236}">
                <a16:creationId xmlns:a16="http://schemas.microsoft.com/office/drawing/2014/main" id="{E870B049-3B21-EB49-CBAF-A14C816FE702}"/>
              </a:ext>
            </a:extLst>
          </p:cNvPr>
          <p:cNvGrpSpPr>
            <a:grpSpLocks noChangeAspect="1"/>
          </p:cNvGrpSpPr>
          <p:nvPr/>
        </p:nvGrpSpPr>
        <p:grpSpPr>
          <a:xfrm>
            <a:off x="2695105" y="2811149"/>
            <a:ext cx="914400" cy="185302"/>
            <a:chOff x="733644" y="4493806"/>
            <a:chExt cx="965012" cy="195558"/>
          </a:xfrm>
        </p:grpSpPr>
        <p:sp>
          <p:nvSpPr>
            <p:cNvPr id="9" name="Switch outline">
              <a:extLst>
                <a:ext uri="{FF2B5EF4-FFF2-40B4-BE49-F238E27FC236}">
                  <a16:creationId xmlns:a16="http://schemas.microsoft.com/office/drawing/2014/main" id="{298D49C3-423F-34C2-DB24-F8B81DA3AF27}"/>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10" name="Side fill">
              <a:extLst>
                <a:ext uri="{FF2B5EF4-FFF2-40B4-BE49-F238E27FC236}">
                  <a16:creationId xmlns:a16="http://schemas.microsoft.com/office/drawing/2014/main" id="{6C130B13-3E2F-D042-6097-BC43DA662249}"/>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spTree>
    <p:custDataLst>
      <p:tags r:id="rId1"/>
    </p:custDataLst>
    <p:extLst>
      <p:ext uri="{BB962C8B-B14F-4D97-AF65-F5344CB8AC3E}">
        <p14:creationId xmlns:p14="http://schemas.microsoft.com/office/powerpoint/2010/main" val="4173236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65"/>
                                        </p:tgtEl>
                                        <p:attrNameLst>
                                          <p:attrName>style.visibility</p:attrName>
                                        </p:attrNameLst>
                                      </p:cBhvr>
                                      <p:to>
                                        <p:strVal val="visible"/>
                                      </p:to>
                                    </p:set>
                                    <p:animEffect transition="in" filter="fade">
                                      <p:cBhvr>
                                        <p:cTn id="7" dur="500"/>
                                        <p:tgtEl>
                                          <p:spTgt spid="20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4"/>
                                        </p:tgtEl>
                                        <p:attrNameLst>
                                          <p:attrName>style.visibility</p:attrName>
                                        </p:attrNameLst>
                                      </p:cBhvr>
                                      <p:to>
                                        <p:strVal val="visible"/>
                                      </p:to>
                                    </p:set>
                                    <p:animEffect transition="in" filter="fade">
                                      <p:cBhvr>
                                        <p:cTn id="10" dur="500"/>
                                        <p:tgtEl>
                                          <p:spTgt spid="2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500"/>
                            </p:stCondLst>
                            <p:childTnLst>
                              <p:par>
                                <p:cTn id="24" presetID="22" presetClass="entr" presetSubtype="2" fill="hold" nodeType="afterEffect">
                                  <p:stCondLst>
                                    <p:cond delay="500"/>
                                  </p:stCondLst>
                                  <p:childTnLst>
                                    <p:set>
                                      <p:cBhvr>
                                        <p:cTn id="25" dur="1" fill="hold">
                                          <p:stCondLst>
                                            <p:cond delay="0"/>
                                          </p:stCondLst>
                                        </p:cTn>
                                        <p:tgtEl>
                                          <p:spTgt spid="41"/>
                                        </p:tgtEl>
                                        <p:attrNameLst>
                                          <p:attrName>style.visibility</p:attrName>
                                        </p:attrNameLst>
                                      </p:cBhvr>
                                      <p:to>
                                        <p:strVal val="visible"/>
                                      </p:to>
                                    </p:set>
                                    <p:animEffect transition="in" filter="wipe(right)">
                                      <p:cBhvr>
                                        <p:cTn id="26" dur="500"/>
                                        <p:tgtEl>
                                          <p:spTgt spid="41"/>
                                        </p:tgtEl>
                                      </p:cBhvr>
                                    </p:animEffect>
                                  </p:childTnLst>
                                </p:cTn>
                              </p:par>
                              <p:par>
                                <p:cTn id="27" presetID="22" presetClass="entr" presetSubtype="8" fill="hold" nodeType="withEffect">
                                  <p:stCondLst>
                                    <p:cond delay="50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10" presetClass="entr" presetSubtype="0" fill="hold" nodeType="withEffect">
                                  <p:stCondLst>
                                    <p:cond delay="1000"/>
                                  </p:stCondLst>
                                  <p:childTnLst>
                                    <p:set>
                                      <p:cBhvr>
                                        <p:cTn id="31" dur="1" fill="hold">
                                          <p:stCondLst>
                                            <p:cond delay="0"/>
                                          </p:stCondLst>
                                        </p:cTn>
                                        <p:tgtEl>
                                          <p:spTgt spid="2129"/>
                                        </p:tgtEl>
                                        <p:attrNameLst>
                                          <p:attrName>style.visibility</p:attrName>
                                        </p:attrNameLst>
                                      </p:cBhvr>
                                      <p:to>
                                        <p:strVal val="visible"/>
                                      </p:to>
                                    </p:set>
                                    <p:animEffect transition="in" filter="fade">
                                      <p:cBhvr>
                                        <p:cTn id="32" dur="500"/>
                                        <p:tgtEl>
                                          <p:spTgt spid="2129"/>
                                        </p:tgtEl>
                                      </p:cBhvr>
                                    </p:animEffect>
                                  </p:childTnLst>
                                </p:cTn>
                              </p:par>
                              <p:par>
                                <p:cTn id="33" presetID="10" presetClass="entr" presetSubtype="0" fill="hold" nodeType="withEffect">
                                  <p:stCondLst>
                                    <p:cond delay="1000"/>
                                  </p:stCondLst>
                                  <p:childTnLst>
                                    <p:set>
                                      <p:cBhvr>
                                        <p:cTn id="34" dur="1" fill="hold">
                                          <p:stCondLst>
                                            <p:cond delay="0"/>
                                          </p:stCondLst>
                                        </p:cTn>
                                        <p:tgtEl>
                                          <p:spTgt spid="2132"/>
                                        </p:tgtEl>
                                        <p:attrNameLst>
                                          <p:attrName>style.visibility</p:attrName>
                                        </p:attrNameLst>
                                      </p:cBhvr>
                                      <p:to>
                                        <p:strVal val="visible"/>
                                      </p:to>
                                    </p:set>
                                    <p:animEffect transition="in" filter="fade">
                                      <p:cBhvr>
                                        <p:cTn id="35" dur="500"/>
                                        <p:tgtEl>
                                          <p:spTgt spid="2132"/>
                                        </p:tgtEl>
                                      </p:cBhvr>
                                    </p:animEffect>
                                  </p:childTnLst>
                                </p:cTn>
                              </p:par>
                              <p:par>
                                <p:cTn id="36" presetID="42" presetClass="entr" presetSubtype="0" fill="hold" nodeType="withEffect">
                                  <p:stCondLst>
                                    <p:cond delay="500"/>
                                  </p:stCondLst>
                                  <p:childTnLst>
                                    <p:set>
                                      <p:cBhvr>
                                        <p:cTn id="37" dur="1" fill="hold">
                                          <p:stCondLst>
                                            <p:cond delay="0"/>
                                          </p:stCondLst>
                                        </p:cTn>
                                        <p:tgtEl>
                                          <p:spTgt spid="2166"/>
                                        </p:tgtEl>
                                        <p:attrNameLst>
                                          <p:attrName>style.visibility</p:attrName>
                                        </p:attrNameLst>
                                      </p:cBhvr>
                                      <p:to>
                                        <p:strVal val="visible"/>
                                      </p:to>
                                    </p:set>
                                    <p:animEffect transition="in" filter="fade">
                                      <p:cBhvr>
                                        <p:cTn id="38" dur="500"/>
                                        <p:tgtEl>
                                          <p:spTgt spid="2166"/>
                                        </p:tgtEl>
                                      </p:cBhvr>
                                    </p:animEffect>
                                    <p:anim calcmode="lin" valueType="num">
                                      <p:cBhvr>
                                        <p:cTn id="39" dur="500" fill="hold"/>
                                        <p:tgtEl>
                                          <p:spTgt spid="2166"/>
                                        </p:tgtEl>
                                        <p:attrNameLst>
                                          <p:attrName>ppt_x</p:attrName>
                                        </p:attrNameLst>
                                      </p:cBhvr>
                                      <p:tavLst>
                                        <p:tav tm="0">
                                          <p:val>
                                            <p:strVal val="#ppt_x"/>
                                          </p:val>
                                        </p:tav>
                                        <p:tav tm="100000">
                                          <p:val>
                                            <p:strVal val="#ppt_x"/>
                                          </p:val>
                                        </p:tav>
                                      </p:tavLst>
                                    </p:anim>
                                    <p:anim calcmode="lin" valueType="num">
                                      <p:cBhvr>
                                        <p:cTn id="40" dur="500" fill="hold"/>
                                        <p:tgtEl>
                                          <p:spTgt spid="216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500"/>
                                  </p:stCondLst>
                                  <p:childTnLst>
                                    <p:set>
                                      <p:cBhvr>
                                        <p:cTn id="42" dur="1" fill="hold">
                                          <p:stCondLst>
                                            <p:cond delay="0"/>
                                          </p:stCondLst>
                                        </p:cTn>
                                        <p:tgtEl>
                                          <p:spTgt spid="2162"/>
                                        </p:tgtEl>
                                        <p:attrNameLst>
                                          <p:attrName>style.visibility</p:attrName>
                                        </p:attrNameLst>
                                      </p:cBhvr>
                                      <p:to>
                                        <p:strVal val="visible"/>
                                      </p:to>
                                    </p:set>
                                    <p:animEffect transition="in" filter="fade">
                                      <p:cBhvr>
                                        <p:cTn id="43" dur="500"/>
                                        <p:tgtEl>
                                          <p:spTgt spid="2162"/>
                                        </p:tgtEl>
                                      </p:cBhvr>
                                    </p:animEffect>
                                    <p:anim calcmode="lin" valueType="num">
                                      <p:cBhvr>
                                        <p:cTn id="44" dur="500" fill="hold"/>
                                        <p:tgtEl>
                                          <p:spTgt spid="2162"/>
                                        </p:tgtEl>
                                        <p:attrNameLst>
                                          <p:attrName>ppt_x</p:attrName>
                                        </p:attrNameLst>
                                      </p:cBhvr>
                                      <p:tavLst>
                                        <p:tav tm="0">
                                          <p:val>
                                            <p:strVal val="#ppt_x"/>
                                          </p:val>
                                        </p:tav>
                                        <p:tav tm="100000">
                                          <p:val>
                                            <p:strVal val="#ppt_x"/>
                                          </p:val>
                                        </p:tav>
                                      </p:tavLst>
                                    </p:anim>
                                    <p:anim calcmode="lin" valueType="num">
                                      <p:cBhvr>
                                        <p:cTn id="45" dur="500" fill="hold"/>
                                        <p:tgtEl>
                                          <p:spTgt spid="2162"/>
                                        </p:tgtEl>
                                        <p:attrNameLst>
                                          <p:attrName>ppt_y</p:attrName>
                                        </p:attrNameLst>
                                      </p:cBhvr>
                                      <p:tavLst>
                                        <p:tav tm="0">
                                          <p:val>
                                            <p:strVal val="#ppt_y+.1"/>
                                          </p:val>
                                        </p:tav>
                                        <p:tav tm="100000">
                                          <p:val>
                                            <p:strVal val="#ppt_y"/>
                                          </p:val>
                                        </p:tav>
                                      </p:tavLst>
                                    </p:anim>
                                  </p:childTnLst>
                                </p:cTn>
                              </p:par>
                              <p:par>
                                <p:cTn id="46" presetID="10" presetClass="exit" presetSubtype="0" fill="hold" nodeType="withEffect">
                                  <p:stCondLst>
                                    <p:cond delay="0"/>
                                  </p:stCondLst>
                                  <p:childTnLst>
                                    <p:animEffect transition="out" filter="fade">
                                      <p:cBhvr>
                                        <p:cTn id="47" dur="500"/>
                                        <p:tgtEl>
                                          <p:spTgt spid="2166"/>
                                        </p:tgtEl>
                                      </p:cBhvr>
                                    </p:animEffect>
                                    <p:set>
                                      <p:cBhvr>
                                        <p:cTn id="48" dur="1" fill="hold">
                                          <p:stCondLst>
                                            <p:cond delay="499"/>
                                          </p:stCondLst>
                                        </p:cTn>
                                        <p:tgtEl>
                                          <p:spTgt spid="2166"/>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500"/>
                                        <p:tgtEl>
                                          <p:spTgt spid="2162"/>
                                        </p:tgtEl>
                                      </p:cBhvr>
                                    </p:animEffect>
                                    <p:set>
                                      <p:cBhvr>
                                        <p:cTn id="51" dur="1" fill="hold">
                                          <p:stCondLst>
                                            <p:cond delay="499"/>
                                          </p:stCondLst>
                                        </p:cTn>
                                        <p:tgtEl>
                                          <p:spTgt spid="2162"/>
                                        </p:tgtEl>
                                        <p:attrNameLst>
                                          <p:attrName>style.visibility</p:attrName>
                                        </p:attrNameLst>
                                      </p:cBhvr>
                                      <p:to>
                                        <p:strVal val="hidden"/>
                                      </p:to>
                                    </p:se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2181"/>
                                        </p:tgtEl>
                                        <p:attrNameLst>
                                          <p:attrName>style.visibility</p:attrName>
                                        </p:attrNameLst>
                                      </p:cBhvr>
                                      <p:to>
                                        <p:strVal val="visible"/>
                                      </p:to>
                                    </p:set>
                                    <p:animEffect transition="in" filter="fade">
                                      <p:cBhvr>
                                        <p:cTn id="55" dur="500"/>
                                        <p:tgtEl>
                                          <p:spTgt spid="2181"/>
                                        </p:tgtEl>
                                      </p:cBhvr>
                                    </p:animEffect>
                                  </p:childTnLst>
                                </p:cTn>
                              </p:par>
                              <p:par>
                                <p:cTn id="56" presetID="47" presetClass="entr" presetSubtype="0"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anim calcmode="lin" valueType="num">
                                      <p:cBhvr>
                                        <p:cTn id="59" dur="500" fill="hold"/>
                                        <p:tgtEl>
                                          <p:spTgt spid="3"/>
                                        </p:tgtEl>
                                        <p:attrNameLst>
                                          <p:attrName>ppt_x</p:attrName>
                                        </p:attrNameLst>
                                      </p:cBhvr>
                                      <p:tavLst>
                                        <p:tav tm="0">
                                          <p:val>
                                            <p:strVal val="#ppt_x"/>
                                          </p:val>
                                        </p:tav>
                                        <p:tav tm="100000">
                                          <p:val>
                                            <p:strVal val="#ppt_x"/>
                                          </p:val>
                                        </p:tav>
                                      </p:tavLst>
                                    </p:anim>
                                    <p:anim calcmode="lin" valueType="num">
                                      <p:cBhvr>
                                        <p:cTn id="60" dur="500" fill="hold"/>
                                        <p:tgtEl>
                                          <p:spTgt spid="3"/>
                                        </p:tgtEl>
                                        <p:attrNameLst>
                                          <p:attrName>ppt_y</p:attrName>
                                        </p:attrNameLst>
                                      </p:cBhvr>
                                      <p:tavLst>
                                        <p:tav tm="0">
                                          <p:val>
                                            <p:strVal val="#ppt_y-.1"/>
                                          </p:val>
                                        </p:tav>
                                        <p:tav tm="100000">
                                          <p:val>
                                            <p:strVal val="#ppt_y"/>
                                          </p:val>
                                        </p:tav>
                                      </p:tavLst>
                                    </p:anim>
                                  </p:childTnLst>
                                </p:cTn>
                              </p:par>
                              <p:par>
                                <p:cTn id="61" presetID="10" presetClass="entr" presetSubtype="0" fill="hold" nodeType="withEffect">
                                  <p:stCondLst>
                                    <p:cond delay="250"/>
                                  </p:stCondLst>
                                  <p:childTnLst>
                                    <p:set>
                                      <p:cBhvr>
                                        <p:cTn id="62" dur="1" fill="hold">
                                          <p:stCondLst>
                                            <p:cond delay="0"/>
                                          </p:stCondLst>
                                        </p:cTn>
                                        <p:tgtEl>
                                          <p:spTgt spid="2217"/>
                                        </p:tgtEl>
                                        <p:attrNameLst>
                                          <p:attrName>style.visibility</p:attrName>
                                        </p:attrNameLst>
                                      </p:cBhvr>
                                      <p:to>
                                        <p:strVal val="visible"/>
                                      </p:to>
                                    </p:set>
                                    <p:animEffect transition="in" filter="fade">
                                      <p:cBhvr>
                                        <p:cTn id="63" dur="500"/>
                                        <p:tgtEl>
                                          <p:spTgt spid="2217"/>
                                        </p:tgtEl>
                                      </p:cBhvr>
                                    </p:animEffect>
                                  </p:childTnLst>
                                </p:cTn>
                              </p:par>
                              <p:par>
                                <p:cTn id="64" presetID="42" presetClass="entr" presetSubtype="0" fill="hold" nodeType="withEffect">
                                  <p:stCondLst>
                                    <p:cond delay="250"/>
                                  </p:stCondLst>
                                  <p:childTnLst>
                                    <p:set>
                                      <p:cBhvr>
                                        <p:cTn id="65" dur="1" fill="hold">
                                          <p:stCondLst>
                                            <p:cond delay="0"/>
                                          </p:stCondLst>
                                        </p:cTn>
                                        <p:tgtEl>
                                          <p:spTgt spid="2139"/>
                                        </p:tgtEl>
                                        <p:attrNameLst>
                                          <p:attrName>style.visibility</p:attrName>
                                        </p:attrNameLst>
                                      </p:cBhvr>
                                      <p:to>
                                        <p:strVal val="visible"/>
                                      </p:to>
                                    </p:set>
                                    <p:animEffect transition="in" filter="fade">
                                      <p:cBhvr>
                                        <p:cTn id="66" dur="500"/>
                                        <p:tgtEl>
                                          <p:spTgt spid="2139"/>
                                        </p:tgtEl>
                                      </p:cBhvr>
                                    </p:animEffect>
                                    <p:anim calcmode="lin" valueType="num">
                                      <p:cBhvr>
                                        <p:cTn id="67" dur="500" fill="hold"/>
                                        <p:tgtEl>
                                          <p:spTgt spid="2139"/>
                                        </p:tgtEl>
                                        <p:attrNameLst>
                                          <p:attrName>ppt_x</p:attrName>
                                        </p:attrNameLst>
                                      </p:cBhvr>
                                      <p:tavLst>
                                        <p:tav tm="0">
                                          <p:val>
                                            <p:strVal val="#ppt_x"/>
                                          </p:val>
                                        </p:tav>
                                        <p:tav tm="100000">
                                          <p:val>
                                            <p:strVal val="#ppt_x"/>
                                          </p:val>
                                        </p:tav>
                                      </p:tavLst>
                                    </p:anim>
                                    <p:anim calcmode="lin" valueType="num">
                                      <p:cBhvr>
                                        <p:cTn id="68" dur="500" fill="hold"/>
                                        <p:tgtEl>
                                          <p:spTgt spid="2139"/>
                                        </p:tgtEl>
                                        <p:attrNameLst>
                                          <p:attrName>ppt_y</p:attrName>
                                        </p:attrNameLst>
                                      </p:cBhvr>
                                      <p:tavLst>
                                        <p:tav tm="0">
                                          <p:val>
                                            <p:strVal val="#ppt_y+.1"/>
                                          </p:val>
                                        </p:tav>
                                        <p:tav tm="100000">
                                          <p:val>
                                            <p:strVal val="#ppt_y"/>
                                          </p:val>
                                        </p:tav>
                                      </p:tavLst>
                                    </p:anim>
                                  </p:childTnLst>
                                </p:cTn>
                              </p:par>
                              <p:par>
                                <p:cTn id="69" presetID="22" presetClass="entr" presetSubtype="4" fill="hold" grpId="0" nodeType="withEffect">
                                  <p:stCondLst>
                                    <p:cond delay="250"/>
                                  </p:stCondLst>
                                  <p:childTnLst>
                                    <p:set>
                                      <p:cBhvr>
                                        <p:cTn id="70" dur="1" fill="hold">
                                          <p:stCondLst>
                                            <p:cond delay="0"/>
                                          </p:stCondLst>
                                        </p:cTn>
                                        <p:tgtEl>
                                          <p:spTgt spid="2178"/>
                                        </p:tgtEl>
                                        <p:attrNameLst>
                                          <p:attrName>style.visibility</p:attrName>
                                        </p:attrNameLst>
                                      </p:cBhvr>
                                      <p:to>
                                        <p:strVal val="visible"/>
                                      </p:to>
                                    </p:set>
                                    <p:animEffect transition="in" filter="wipe(down)">
                                      <p:cBhvr>
                                        <p:cTn id="71" dur="500"/>
                                        <p:tgtEl>
                                          <p:spTgt spid="2178"/>
                                        </p:tgtEl>
                                      </p:cBhvr>
                                    </p:animEffect>
                                  </p:childTnLst>
                                </p:cTn>
                              </p:par>
                              <p:par>
                                <p:cTn id="72" presetID="42" presetClass="entr" presetSubtype="0" fill="hold" nodeType="withEffect">
                                  <p:stCondLst>
                                    <p:cond delay="0"/>
                                  </p:stCondLst>
                                  <p:childTnLst>
                                    <p:set>
                                      <p:cBhvr>
                                        <p:cTn id="73" dur="1" fill="hold">
                                          <p:stCondLst>
                                            <p:cond delay="0"/>
                                          </p:stCondLst>
                                        </p:cTn>
                                        <p:tgtEl>
                                          <p:spTgt spid="2153"/>
                                        </p:tgtEl>
                                        <p:attrNameLst>
                                          <p:attrName>style.visibility</p:attrName>
                                        </p:attrNameLst>
                                      </p:cBhvr>
                                      <p:to>
                                        <p:strVal val="visible"/>
                                      </p:to>
                                    </p:set>
                                    <p:animEffect transition="in" filter="fade">
                                      <p:cBhvr>
                                        <p:cTn id="74" dur="500"/>
                                        <p:tgtEl>
                                          <p:spTgt spid="2153"/>
                                        </p:tgtEl>
                                      </p:cBhvr>
                                    </p:animEffect>
                                    <p:anim calcmode="lin" valueType="num">
                                      <p:cBhvr>
                                        <p:cTn id="75" dur="500" fill="hold"/>
                                        <p:tgtEl>
                                          <p:spTgt spid="2153"/>
                                        </p:tgtEl>
                                        <p:attrNameLst>
                                          <p:attrName>ppt_x</p:attrName>
                                        </p:attrNameLst>
                                      </p:cBhvr>
                                      <p:tavLst>
                                        <p:tav tm="0">
                                          <p:val>
                                            <p:strVal val="#ppt_x"/>
                                          </p:val>
                                        </p:tav>
                                        <p:tav tm="100000">
                                          <p:val>
                                            <p:strVal val="#ppt_x"/>
                                          </p:val>
                                        </p:tav>
                                      </p:tavLst>
                                    </p:anim>
                                    <p:anim calcmode="lin" valueType="num">
                                      <p:cBhvr>
                                        <p:cTn id="76" dur="500" fill="hold"/>
                                        <p:tgtEl>
                                          <p:spTgt spid="2153"/>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2158"/>
                                        </p:tgtEl>
                                        <p:attrNameLst>
                                          <p:attrName>style.visibility</p:attrName>
                                        </p:attrNameLst>
                                      </p:cBhvr>
                                      <p:to>
                                        <p:strVal val="visible"/>
                                      </p:to>
                                    </p:set>
                                    <p:animEffect transition="in" filter="fade">
                                      <p:cBhvr>
                                        <p:cTn id="79" dur="500"/>
                                        <p:tgtEl>
                                          <p:spTgt spid="2158"/>
                                        </p:tgtEl>
                                      </p:cBhvr>
                                    </p:animEffect>
                                    <p:anim calcmode="lin" valueType="num">
                                      <p:cBhvr>
                                        <p:cTn id="80" dur="500" fill="hold"/>
                                        <p:tgtEl>
                                          <p:spTgt spid="2158"/>
                                        </p:tgtEl>
                                        <p:attrNameLst>
                                          <p:attrName>ppt_x</p:attrName>
                                        </p:attrNameLst>
                                      </p:cBhvr>
                                      <p:tavLst>
                                        <p:tav tm="0">
                                          <p:val>
                                            <p:strVal val="#ppt_x"/>
                                          </p:val>
                                        </p:tav>
                                        <p:tav tm="100000">
                                          <p:val>
                                            <p:strVal val="#ppt_x"/>
                                          </p:val>
                                        </p:tav>
                                      </p:tavLst>
                                    </p:anim>
                                    <p:anim calcmode="lin" valueType="num">
                                      <p:cBhvr>
                                        <p:cTn id="81" dur="500" fill="hold"/>
                                        <p:tgtEl>
                                          <p:spTgt spid="2158"/>
                                        </p:tgtEl>
                                        <p:attrNameLst>
                                          <p:attrName>ppt_y</p:attrName>
                                        </p:attrNameLst>
                                      </p:cBhvr>
                                      <p:tavLst>
                                        <p:tav tm="0">
                                          <p:val>
                                            <p:strVal val="#ppt_y+.1"/>
                                          </p:val>
                                        </p:tav>
                                        <p:tav tm="100000">
                                          <p:val>
                                            <p:strVal val="#ppt_y"/>
                                          </p:val>
                                        </p:tav>
                                      </p:tavLst>
                                    </p:anim>
                                  </p:childTnLst>
                                </p:cTn>
                              </p:par>
                              <p:par>
                                <p:cTn id="82" presetID="10" presetClass="exit" presetSubtype="0" fill="hold" nodeType="withEffect">
                                  <p:stCondLst>
                                    <p:cond delay="0"/>
                                  </p:stCondLst>
                                  <p:childTnLst>
                                    <p:animEffect transition="out" filter="fade">
                                      <p:cBhvr>
                                        <p:cTn id="83" dur="500"/>
                                        <p:tgtEl>
                                          <p:spTgt spid="4"/>
                                        </p:tgtEl>
                                      </p:cBhvr>
                                    </p:animEffect>
                                    <p:set>
                                      <p:cBhvr>
                                        <p:cTn id="84" dur="1" fill="hold">
                                          <p:stCondLst>
                                            <p:cond delay="499"/>
                                          </p:stCondLst>
                                        </p:cTn>
                                        <p:tgtEl>
                                          <p:spTgt spid="4"/>
                                        </p:tgtEl>
                                        <p:attrNameLst>
                                          <p:attrName>style.visibility</p:attrName>
                                        </p:attrNameLst>
                                      </p:cBhvr>
                                      <p:to>
                                        <p:strVal val="hidden"/>
                                      </p:to>
                                    </p:set>
                                  </p:childTnLst>
                                </p:cTn>
                              </p:par>
                            </p:childTnLst>
                          </p:cTn>
                        </p:par>
                        <p:par>
                          <p:cTn id="85" fill="hold">
                            <p:stCondLst>
                              <p:cond delay="2750"/>
                            </p:stCondLst>
                            <p:childTnLst>
                              <p:par>
                                <p:cTn id="86" presetID="53" presetClass="entr" presetSubtype="16" fill="hold" nodeType="afterEffect">
                                  <p:stCondLst>
                                    <p:cond delay="0"/>
                                  </p:stCondLst>
                                  <p:childTnLst>
                                    <p:set>
                                      <p:cBhvr>
                                        <p:cTn id="87" dur="1" fill="hold">
                                          <p:stCondLst>
                                            <p:cond delay="0"/>
                                          </p:stCondLst>
                                        </p:cTn>
                                        <p:tgtEl>
                                          <p:spTgt spid="2209"/>
                                        </p:tgtEl>
                                        <p:attrNameLst>
                                          <p:attrName>style.visibility</p:attrName>
                                        </p:attrNameLst>
                                      </p:cBhvr>
                                      <p:to>
                                        <p:strVal val="visible"/>
                                      </p:to>
                                    </p:set>
                                    <p:anim calcmode="lin" valueType="num">
                                      <p:cBhvr>
                                        <p:cTn id="88" dur="500" fill="hold"/>
                                        <p:tgtEl>
                                          <p:spTgt spid="2209"/>
                                        </p:tgtEl>
                                        <p:attrNameLst>
                                          <p:attrName>ppt_w</p:attrName>
                                        </p:attrNameLst>
                                      </p:cBhvr>
                                      <p:tavLst>
                                        <p:tav tm="0">
                                          <p:val>
                                            <p:fltVal val="0"/>
                                          </p:val>
                                        </p:tav>
                                        <p:tav tm="100000">
                                          <p:val>
                                            <p:strVal val="#ppt_w"/>
                                          </p:val>
                                        </p:tav>
                                      </p:tavLst>
                                    </p:anim>
                                    <p:anim calcmode="lin" valueType="num">
                                      <p:cBhvr>
                                        <p:cTn id="89" dur="500" fill="hold"/>
                                        <p:tgtEl>
                                          <p:spTgt spid="2209"/>
                                        </p:tgtEl>
                                        <p:attrNameLst>
                                          <p:attrName>ppt_h</p:attrName>
                                        </p:attrNameLst>
                                      </p:cBhvr>
                                      <p:tavLst>
                                        <p:tav tm="0">
                                          <p:val>
                                            <p:fltVal val="0"/>
                                          </p:val>
                                        </p:tav>
                                        <p:tav tm="100000">
                                          <p:val>
                                            <p:strVal val="#ppt_h"/>
                                          </p:val>
                                        </p:tav>
                                      </p:tavLst>
                                    </p:anim>
                                    <p:animEffect transition="in" filter="fade">
                                      <p:cBhvr>
                                        <p:cTn id="90" dur="500"/>
                                        <p:tgtEl>
                                          <p:spTgt spid="2209"/>
                                        </p:tgtEl>
                                      </p:cBhvr>
                                    </p:animEffect>
                                  </p:childTnLst>
                                </p:cTn>
                              </p:par>
                              <p:par>
                                <p:cTn id="91" presetID="53" presetClass="entr" presetSubtype="16" fill="hold" nodeType="withEffect">
                                  <p:stCondLst>
                                    <p:cond delay="0"/>
                                  </p:stCondLst>
                                  <p:childTnLst>
                                    <p:set>
                                      <p:cBhvr>
                                        <p:cTn id="92" dur="1" fill="hold">
                                          <p:stCondLst>
                                            <p:cond delay="0"/>
                                          </p:stCondLst>
                                        </p:cTn>
                                        <p:tgtEl>
                                          <p:spTgt spid="2208"/>
                                        </p:tgtEl>
                                        <p:attrNameLst>
                                          <p:attrName>style.visibility</p:attrName>
                                        </p:attrNameLst>
                                      </p:cBhvr>
                                      <p:to>
                                        <p:strVal val="visible"/>
                                      </p:to>
                                    </p:set>
                                    <p:anim calcmode="lin" valueType="num">
                                      <p:cBhvr>
                                        <p:cTn id="93" dur="500" fill="hold"/>
                                        <p:tgtEl>
                                          <p:spTgt spid="2208"/>
                                        </p:tgtEl>
                                        <p:attrNameLst>
                                          <p:attrName>ppt_w</p:attrName>
                                        </p:attrNameLst>
                                      </p:cBhvr>
                                      <p:tavLst>
                                        <p:tav tm="0">
                                          <p:val>
                                            <p:fltVal val="0"/>
                                          </p:val>
                                        </p:tav>
                                        <p:tav tm="100000">
                                          <p:val>
                                            <p:strVal val="#ppt_w"/>
                                          </p:val>
                                        </p:tav>
                                      </p:tavLst>
                                    </p:anim>
                                    <p:anim calcmode="lin" valueType="num">
                                      <p:cBhvr>
                                        <p:cTn id="94" dur="500" fill="hold"/>
                                        <p:tgtEl>
                                          <p:spTgt spid="2208"/>
                                        </p:tgtEl>
                                        <p:attrNameLst>
                                          <p:attrName>ppt_h</p:attrName>
                                        </p:attrNameLst>
                                      </p:cBhvr>
                                      <p:tavLst>
                                        <p:tav tm="0">
                                          <p:val>
                                            <p:fltVal val="0"/>
                                          </p:val>
                                        </p:tav>
                                        <p:tav tm="100000">
                                          <p:val>
                                            <p:strVal val="#ppt_h"/>
                                          </p:val>
                                        </p:tav>
                                      </p:tavLst>
                                    </p:anim>
                                    <p:animEffect transition="in" filter="fade">
                                      <p:cBhvr>
                                        <p:cTn id="95" dur="500"/>
                                        <p:tgtEl>
                                          <p:spTgt spid="2208"/>
                                        </p:tgtEl>
                                      </p:cBhvr>
                                    </p:animEffect>
                                  </p:childTnLst>
                                </p:cTn>
                              </p:par>
                              <p:par>
                                <p:cTn id="96" presetID="2" presetClass="entr" presetSubtype="4" fill="hold" grpId="0" nodeType="withEffect">
                                  <p:stCondLst>
                                    <p:cond delay="0"/>
                                  </p:stCondLst>
                                  <p:childTnLst>
                                    <p:set>
                                      <p:cBhvr>
                                        <p:cTn id="97" dur="1" fill="hold">
                                          <p:stCondLst>
                                            <p:cond delay="0"/>
                                          </p:stCondLst>
                                        </p:cTn>
                                        <p:tgtEl>
                                          <p:spTgt spid="2076"/>
                                        </p:tgtEl>
                                        <p:attrNameLst>
                                          <p:attrName>style.visibility</p:attrName>
                                        </p:attrNameLst>
                                      </p:cBhvr>
                                      <p:to>
                                        <p:strVal val="visible"/>
                                      </p:to>
                                    </p:set>
                                    <p:anim calcmode="lin" valueType="num">
                                      <p:cBhvr additive="base">
                                        <p:cTn id="98" dur="500" fill="hold"/>
                                        <p:tgtEl>
                                          <p:spTgt spid="2076"/>
                                        </p:tgtEl>
                                        <p:attrNameLst>
                                          <p:attrName>ppt_x</p:attrName>
                                        </p:attrNameLst>
                                      </p:cBhvr>
                                      <p:tavLst>
                                        <p:tav tm="0">
                                          <p:val>
                                            <p:strVal val="#ppt_x"/>
                                          </p:val>
                                        </p:tav>
                                        <p:tav tm="100000">
                                          <p:val>
                                            <p:strVal val="#ppt_x"/>
                                          </p:val>
                                        </p:tav>
                                      </p:tavLst>
                                    </p:anim>
                                    <p:anim calcmode="lin" valueType="num">
                                      <p:cBhvr additive="base">
                                        <p:cTn id="99" dur="500" fill="hold"/>
                                        <p:tgtEl>
                                          <p:spTgt spid="2076"/>
                                        </p:tgtEl>
                                        <p:attrNameLst>
                                          <p:attrName>ppt_y</p:attrName>
                                        </p:attrNameLst>
                                      </p:cBhvr>
                                      <p:tavLst>
                                        <p:tav tm="0">
                                          <p:val>
                                            <p:strVal val="1+#ppt_h/2"/>
                                          </p:val>
                                        </p:tav>
                                        <p:tav tm="100000">
                                          <p:val>
                                            <p:strVal val="#ppt_y"/>
                                          </p:val>
                                        </p:tav>
                                      </p:tavLst>
                                    </p:anim>
                                  </p:childTnLst>
                                </p:cTn>
                              </p:par>
                              <p:par>
                                <p:cTn id="100" presetID="10" presetClass="entr" presetSubtype="0" fill="hold" grpId="0" nodeType="withEffect">
                                  <p:stCondLst>
                                    <p:cond delay="500"/>
                                  </p:stCondLst>
                                  <p:childTnLst>
                                    <p:set>
                                      <p:cBhvr>
                                        <p:cTn id="101" dur="1" fill="hold">
                                          <p:stCondLst>
                                            <p:cond delay="0"/>
                                          </p:stCondLst>
                                        </p:cTn>
                                        <p:tgtEl>
                                          <p:spTgt spid="13"/>
                                        </p:tgtEl>
                                        <p:attrNameLst>
                                          <p:attrName>style.visibility</p:attrName>
                                        </p:attrNameLst>
                                      </p:cBhvr>
                                      <p:to>
                                        <p:strVal val="visible"/>
                                      </p:to>
                                    </p:set>
                                    <p:animEffect transition="in" filter="fade">
                                      <p:cBhvr>
                                        <p:cTn id="102" dur="500"/>
                                        <p:tgtEl>
                                          <p:spTgt spid="13"/>
                                        </p:tgtEl>
                                      </p:cBhvr>
                                    </p:animEffect>
                                  </p:childTnLst>
                                </p:cTn>
                              </p:par>
                              <p:par>
                                <p:cTn id="103" presetID="42" presetClass="entr" presetSubtype="0" fill="hold" nodeType="withEffect">
                                  <p:stCondLst>
                                    <p:cond delay="500"/>
                                  </p:stCondLst>
                                  <p:childTnLst>
                                    <p:set>
                                      <p:cBhvr>
                                        <p:cTn id="104" dur="1" fill="hold">
                                          <p:stCondLst>
                                            <p:cond delay="0"/>
                                          </p:stCondLst>
                                        </p:cTn>
                                        <p:tgtEl>
                                          <p:spTgt spid="4"/>
                                        </p:tgtEl>
                                        <p:attrNameLst>
                                          <p:attrName>style.visibility</p:attrName>
                                        </p:attrNameLst>
                                      </p:cBhvr>
                                      <p:to>
                                        <p:strVal val="visible"/>
                                      </p:to>
                                    </p:set>
                                    <p:animEffect transition="in" filter="fade">
                                      <p:cBhvr>
                                        <p:cTn id="105" dur="500"/>
                                        <p:tgtEl>
                                          <p:spTgt spid="4"/>
                                        </p:tgtEl>
                                      </p:cBhvr>
                                    </p:animEffect>
                                    <p:anim calcmode="lin" valueType="num">
                                      <p:cBhvr>
                                        <p:cTn id="106" dur="500" fill="hold"/>
                                        <p:tgtEl>
                                          <p:spTgt spid="4"/>
                                        </p:tgtEl>
                                        <p:attrNameLst>
                                          <p:attrName>ppt_x</p:attrName>
                                        </p:attrNameLst>
                                      </p:cBhvr>
                                      <p:tavLst>
                                        <p:tav tm="0">
                                          <p:val>
                                            <p:strVal val="#ppt_x"/>
                                          </p:val>
                                        </p:tav>
                                        <p:tav tm="100000">
                                          <p:val>
                                            <p:strVal val="#ppt_x"/>
                                          </p:val>
                                        </p:tav>
                                      </p:tavLst>
                                    </p:anim>
                                    <p:anim calcmode="lin" valueType="num">
                                      <p:cBhvr>
                                        <p:cTn id="107"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6" grpId="0" animBg="1"/>
      <p:bldP spid="2178" grpId="0" animBg="1"/>
      <p:bldP spid="2065" grpId="0" animBg="1"/>
      <p:bldP spid="2114" grpId="0" animBg="1"/>
      <p:bldP spid="2076" grpId="0" animBg="1"/>
      <p:bldP spid="3"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F9464-D5C2-0626-D6E4-2800F32BF103}"/>
            </a:ext>
          </a:extLst>
        </p:cNvPr>
        <p:cNvGrpSpPr/>
        <p:nvPr/>
      </p:nvGrpSpPr>
      <p:grpSpPr>
        <a:xfrm>
          <a:off x="0" y="0"/>
          <a:ext cx="0" cy="0"/>
          <a:chOff x="0" y="0"/>
          <a:chExt cx="0" cy="0"/>
        </a:xfrm>
      </p:grpSpPr>
      <p:pic>
        <p:nvPicPr>
          <p:cNvPr id="30" name="Picture 29" descr="A black and white pattern&#10;&#10;AI-generated content may be incorrect.">
            <a:extLst>
              <a:ext uri="{FF2B5EF4-FFF2-40B4-BE49-F238E27FC236}">
                <a16:creationId xmlns:a16="http://schemas.microsoft.com/office/drawing/2014/main" id="{8DBF536F-D659-2C68-5F25-38B62C6FE8BC}"/>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7" name="Provider4">
            <a:extLst>
              <a:ext uri="{FF2B5EF4-FFF2-40B4-BE49-F238E27FC236}">
                <a16:creationId xmlns:a16="http://schemas.microsoft.com/office/drawing/2014/main" id="{05FBE226-FBAD-13B8-76EA-C2FF352E8DB2}"/>
              </a:ext>
            </a:extLst>
          </p:cNvPr>
          <p:cNvSpPr/>
          <p:nvPr/>
        </p:nvSpPr>
        <p:spPr bwMode="auto">
          <a:xfrm>
            <a:off x="3105897"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4</a:t>
            </a:r>
          </a:p>
        </p:txBody>
      </p:sp>
      <p:sp>
        <p:nvSpPr>
          <p:cNvPr id="8" name="Provider5">
            <a:extLst>
              <a:ext uri="{FF2B5EF4-FFF2-40B4-BE49-F238E27FC236}">
                <a16:creationId xmlns:a16="http://schemas.microsoft.com/office/drawing/2014/main" id="{DB305BD1-0CA1-328A-3FA4-8ECEB4DA200F}"/>
              </a:ext>
            </a:extLst>
          </p:cNvPr>
          <p:cNvSpPr/>
          <p:nvPr/>
        </p:nvSpPr>
        <p:spPr bwMode="auto">
          <a:xfrm>
            <a:off x="4753061" y="39579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5</a:t>
            </a:r>
          </a:p>
        </p:txBody>
      </p:sp>
      <p:sp>
        <p:nvSpPr>
          <p:cNvPr id="5" name="Provider2">
            <a:extLst>
              <a:ext uri="{FF2B5EF4-FFF2-40B4-BE49-F238E27FC236}">
                <a16:creationId xmlns:a16="http://schemas.microsoft.com/office/drawing/2014/main" id="{A981BE7C-C037-CA91-B1B2-DA918CEEADEF}"/>
              </a:ext>
            </a:extLst>
          </p:cNvPr>
          <p:cNvSpPr/>
          <p:nvPr/>
        </p:nvSpPr>
        <p:spPr bwMode="auto">
          <a:xfrm>
            <a:off x="3105897"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2</a:t>
            </a:r>
          </a:p>
        </p:txBody>
      </p:sp>
      <p:sp>
        <p:nvSpPr>
          <p:cNvPr id="6" name="Provider3">
            <a:extLst>
              <a:ext uri="{FF2B5EF4-FFF2-40B4-BE49-F238E27FC236}">
                <a16:creationId xmlns:a16="http://schemas.microsoft.com/office/drawing/2014/main" id="{AA0B093D-5C46-447E-B7CF-A90A072766A4}"/>
              </a:ext>
            </a:extLst>
          </p:cNvPr>
          <p:cNvSpPr/>
          <p:nvPr/>
        </p:nvSpPr>
        <p:spPr bwMode="auto">
          <a:xfrm>
            <a:off x="4753061" y="185047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3</a:t>
            </a:r>
          </a:p>
        </p:txBody>
      </p:sp>
      <p:sp>
        <p:nvSpPr>
          <p:cNvPr id="2178" name="Curve">
            <a:extLst>
              <a:ext uri="{FF2B5EF4-FFF2-40B4-BE49-F238E27FC236}">
                <a16:creationId xmlns:a16="http://schemas.microsoft.com/office/drawing/2014/main" id="{43D64254-4F88-8204-4ADB-78239E9763FF}"/>
              </a:ext>
            </a:extLst>
          </p:cNvPr>
          <p:cNvSpPr/>
          <p:nvPr/>
        </p:nvSpPr>
        <p:spPr>
          <a:xfrm>
            <a:off x="2346428" y="3856568"/>
            <a:ext cx="4150175" cy="1681777"/>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17731" cap="flat">
            <a:solidFill>
              <a:srgbClr val="FFC200"/>
            </a:solidFill>
            <a:prstDash val="solid"/>
            <a:miter/>
          </a:ln>
        </p:spPr>
        <p:txBody>
          <a:bodyPr/>
          <a:lstStyle/>
          <a:p>
            <a:endParaRPr lang="en-US"/>
          </a:p>
        </p:txBody>
      </p:sp>
      <p:sp>
        <p:nvSpPr>
          <p:cNvPr id="2065" name="Provider1">
            <a:extLst>
              <a:ext uri="{FF2B5EF4-FFF2-40B4-BE49-F238E27FC236}">
                <a16:creationId xmlns:a16="http://schemas.microsoft.com/office/drawing/2014/main" id="{AE0470B0-25E6-5D37-CD1A-E7CA57D98DE5}"/>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sp>
        <p:nvSpPr>
          <p:cNvPr id="2114" name="Provider6">
            <a:extLst>
              <a:ext uri="{FF2B5EF4-FFF2-40B4-BE49-F238E27FC236}">
                <a16:creationId xmlns:a16="http://schemas.microsoft.com/office/drawing/2014/main" id="{8A06A2CD-24DB-DAE9-B59A-A506BED84CDC}"/>
              </a:ext>
            </a:extLst>
          </p:cNvPr>
          <p:cNvSpPr/>
          <p:nvPr/>
        </p:nvSpPr>
        <p:spPr bwMode="auto">
          <a:xfrm>
            <a:off x="6027501" y="29389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6</a:t>
            </a:r>
          </a:p>
        </p:txBody>
      </p:sp>
      <p:cxnSp>
        <p:nvCxnSpPr>
          <p:cNvPr id="42" name="Straight Connector 41">
            <a:extLst>
              <a:ext uri="{FF2B5EF4-FFF2-40B4-BE49-F238E27FC236}">
                <a16:creationId xmlns:a16="http://schemas.microsoft.com/office/drawing/2014/main" id="{3BBEB440-C3FD-166C-6346-3AE62C2B137A}"/>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7DF9C3-B2A6-F119-BB5F-E5EF06256CA8}"/>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D7A47322-F66B-3072-EE3C-C6ACE9EA850F}"/>
              </a:ext>
            </a:extLst>
          </p:cNvPr>
          <p:cNvSpPr>
            <a:spLocks noGrp="1"/>
          </p:cNvSpPr>
          <p:nvPr>
            <p:ph type="title"/>
          </p:nvPr>
        </p:nvSpPr>
        <p:spPr/>
        <p:txBody>
          <a:bodyPr/>
          <a:lstStyle/>
          <a:p>
            <a:r>
              <a:rPr lang="en-US" b="1" dirty="0"/>
              <a:t>Connected but not Integrated </a:t>
            </a:r>
            <a:endParaRPr lang="en-US" dirty="0"/>
          </a:p>
        </p:txBody>
      </p:sp>
      <p:sp>
        <p:nvSpPr>
          <p:cNvPr id="2076" name="Rectangle 2075">
            <a:extLst>
              <a:ext uri="{FF2B5EF4-FFF2-40B4-BE49-F238E27FC236}">
                <a16:creationId xmlns:a16="http://schemas.microsoft.com/office/drawing/2014/main" id="{4ADDD0CC-8A55-F08B-E7BD-C925FC51F2E9}"/>
              </a:ext>
            </a:extLst>
          </p:cNvPr>
          <p:cNvSpPr/>
          <p:nvPr/>
        </p:nvSpPr>
        <p:spPr bwMode="auto">
          <a:xfrm>
            <a:off x="8772144" y="2113631"/>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19441A28-BEF7-5964-2E58-ABC9770D3C38}"/>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93BC3B72-4346-94BC-8245-DD0B39C03EBC}"/>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40795DDA-FD00-0529-252D-F6681D234B47}"/>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54D71E74-0F29-EBD8-BF4A-E1D99960B9EB}"/>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3DEE4479-8442-4813-3FCC-2F45AD5633D6}"/>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A993E9CF-A056-F738-A0EA-565669F4D644}"/>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9" name="Money">
            <a:extLst>
              <a:ext uri="{FF2B5EF4-FFF2-40B4-BE49-F238E27FC236}">
                <a16:creationId xmlns:a16="http://schemas.microsoft.com/office/drawing/2014/main" id="{8BB0B311-C812-756C-C482-92A8421C318C}"/>
              </a:ext>
            </a:extLst>
          </p:cNvPr>
          <p:cNvGrpSpPr/>
          <p:nvPr/>
        </p:nvGrpSpPr>
        <p:grpSpPr>
          <a:xfrm>
            <a:off x="4276435" y="4737915"/>
            <a:ext cx="296984" cy="228600"/>
            <a:chOff x="4215713" y="4794516"/>
            <a:chExt cx="296984" cy="228600"/>
          </a:xfrm>
        </p:grpSpPr>
        <p:sp>
          <p:nvSpPr>
            <p:cNvPr id="2135" name="$">
              <a:extLst>
                <a:ext uri="{FF2B5EF4-FFF2-40B4-BE49-F238E27FC236}">
                  <a16:creationId xmlns:a16="http://schemas.microsoft.com/office/drawing/2014/main" id="{18E99640-060C-BC9F-DC90-0D83E62477B3}"/>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82E7458F-35B6-6C74-76B9-8591D8F0898A}"/>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2153" name="Switch Icon">
            <a:extLst>
              <a:ext uri="{FF2B5EF4-FFF2-40B4-BE49-F238E27FC236}">
                <a16:creationId xmlns:a16="http://schemas.microsoft.com/office/drawing/2014/main" id="{769DB274-4B2D-9097-82DA-63A29B15F0E5}"/>
              </a:ext>
            </a:extLst>
          </p:cNvPr>
          <p:cNvGrpSpPr>
            <a:grpSpLocks noChangeAspect="1"/>
          </p:cNvGrpSpPr>
          <p:nvPr/>
        </p:nvGrpSpPr>
        <p:grpSpPr>
          <a:xfrm>
            <a:off x="1885112" y="3754755"/>
            <a:ext cx="914400" cy="185302"/>
            <a:chOff x="733644" y="4493806"/>
            <a:chExt cx="965012" cy="195558"/>
          </a:xfrm>
        </p:grpSpPr>
        <p:sp>
          <p:nvSpPr>
            <p:cNvPr id="2151" name="Switch outline">
              <a:extLst>
                <a:ext uri="{FF2B5EF4-FFF2-40B4-BE49-F238E27FC236}">
                  <a16:creationId xmlns:a16="http://schemas.microsoft.com/office/drawing/2014/main" id="{3CC5223C-C33A-3FEA-8794-97FF92A8C2C8}"/>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52" name="Side fill">
              <a:extLst>
                <a:ext uri="{FF2B5EF4-FFF2-40B4-BE49-F238E27FC236}">
                  <a16:creationId xmlns:a16="http://schemas.microsoft.com/office/drawing/2014/main" id="{D31AFAB6-6A39-AA0B-0194-57C54B56AC0B}"/>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58" name="Switch Icon">
            <a:extLst>
              <a:ext uri="{FF2B5EF4-FFF2-40B4-BE49-F238E27FC236}">
                <a16:creationId xmlns:a16="http://schemas.microsoft.com/office/drawing/2014/main" id="{A94E0824-1F44-2733-7410-520A09D50D3F}"/>
              </a:ext>
            </a:extLst>
          </p:cNvPr>
          <p:cNvGrpSpPr>
            <a:grpSpLocks noChangeAspect="1"/>
          </p:cNvGrpSpPr>
          <p:nvPr/>
        </p:nvGrpSpPr>
        <p:grpSpPr>
          <a:xfrm>
            <a:off x="6053259" y="3754756"/>
            <a:ext cx="914400" cy="185302"/>
            <a:chOff x="733644" y="4493807"/>
            <a:chExt cx="965012" cy="195558"/>
          </a:xfrm>
        </p:grpSpPr>
        <p:sp>
          <p:nvSpPr>
            <p:cNvPr id="2161" name="Switch outline">
              <a:extLst>
                <a:ext uri="{FF2B5EF4-FFF2-40B4-BE49-F238E27FC236}">
                  <a16:creationId xmlns:a16="http://schemas.microsoft.com/office/drawing/2014/main" id="{9334B6BD-A0B8-AE94-60B3-C541EE4983FD}"/>
                </a:ext>
              </a:extLst>
            </p:cNvPr>
            <p:cNvSpPr/>
            <p:nvPr/>
          </p:nvSpPr>
          <p:spPr>
            <a:xfrm>
              <a:off x="733644" y="4493807"/>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0" name="Side fill">
              <a:extLst>
                <a:ext uri="{FF2B5EF4-FFF2-40B4-BE49-F238E27FC236}">
                  <a16:creationId xmlns:a16="http://schemas.microsoft.com/office/drawing/2014/main" id="{C69B751E-023B-BCFF-8683-F9E2ADF0CB6C}"/>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2" name="Switch Icon">
            <a:extLst>
              <a:ext uri="{FF2B5EF4-FFF2-40B4-BE49-F238E27FC236}">
                <a16:creationId xmlns:a16="http://schemas.microsoft.com/office/drawing/2014/main" id="{EBC95C77-AE2B-E9AE-F92B-B30C3A24A07F}"/>
              </a:ext>
            </a:extLst>
          </p:cNvPr>
          <p:cNvGrpSpPr>
            <a:grpSpLocks noChangeAspect="1"/>
          </p:cNvGrpSpPr>
          <p:nvPr/>
        </p:nvGrpSpPr>
        <p:grpSpPr>
          <a:xfrm>
            <a:off x="5265742" y="2770613"/>
            <a:ext cx="914400" cy="185302"/>
            <a:chOff x="733644" y="4493806"/>
            <a:chExt cx="965012" cy="195558"/>
          </a:xfrm>
        </p:grpSpPr>
        <p:sp>
          <p:nvSpPr>
            <p:cNvPr id="2165" name="Switch outline">
              <a:extLst>
                <a:ext uri="{FF2B5EF4-FFF2-40B4-BE49-F238E27FC236}">
                  <a16:creationId xmlns:a16="http://schemas.microsoft.com/office/drawing/2014/main" id="{D3C48709-659C-A5C0-C510-57E748CB128B}"/>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4" name="Side fill">
              <a:extLst>
                <a:ext uri="{FF2B5EF4-FFF2-40B4-BE49-F238E27FC236}">
                  <a16:creationId xmlns:a16="http://schemas.microsoft.com/office/drawing/2014/main" id="{0A7C21B8-4B4D-7C82-A67C-336E67D1B994}"/>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66" name="Switch Icon">
            <a:extLst>
              <a:ext uri="{FF2B5EF4-FFF2-40B4-BE49-F238E27FC236}">
                <a16:creationId xmlns:a16="http://schemas.microsoft.com/office/drawing/2014/main" id="{CBA4460B-D340-FED4-47DB-08D106EF51C6}"/>
              </a:ext>
            </a:extLst>
          </p:cNvPr>
          <p:cNvGrpSpPr>
            <a:grpSpLocks noChangeAspect="1"/>
          </p:cNvGrpSpPr>
          <p:nvPr/>
        </p:nvGrpSpPr>
        <p:grpSpPr>
          <a:xfrm>
            <a:off x="3964505" y="2515036"/>
            <a:ext cx="914400" cy="185302"/>
            <a:chOff x="733644" y="4493806"/>
            <a:chExt cx="965012" cy="195558"/>
          </a:xfrm>
        </p:grpSpPr>
        <p:sp>
          <p:nvSpPr>
            <p:cNvPr id="2169" name="Switch outline">
              <a:extLst>
                <a:ext uri="{FF2B5EF4-FFF2-40B4-BE49-F238E27FC236}">
                  <a16:creationId xmlns:a16="http://schemas.microsoft.com/office/drawing/2014/main" id="{381DC369-98BC-EE28-6AE0-174A2219D5D8}"/>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rgbClr val="000000"/>
              </a:solidFill>
              <a:prstDash val="solid"/>
              <a:miter/>
            </a:ln>
          </p:spPr>
          <p:txBody>
            <a:bodyPr/>
            <a:lstStyle/>
            <a:p>
              <a:endParaRPr lang="en-US"/>
            </a:p>
          </p:txBody>
        </p:sp>
        <p:sp>
          <p:nvSpPr>
            <p:cNvPr id="2168" name="Side fill">
              <a:extLst>
                <a:ext uri="{FF2B5EF4-FFF2-40B4-BE49-F238E27FC236}">
                  <a16:creationId xmlns:a16="http://schemas.microsoft.com/office/drawing/2014/main" id="{250BC502-9C48-877C-6FAD-C8A6D17AD545}"/>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solidFill>
            <a:ln w="5420" cap="flat">
              <a:noFill/>
              <a:prstDash val="solid"/>
              <a:miter/>
            </a:ln>
          </p:spPr>
          <p:txBody>
            <a:bodyPr/>
            <a:lstStyle/>
            <a:p>
              <a:endParaRPr lang="en-US"/>
            </a:p>
          </p:txBody>
        </p:sp>
      </p:grpSp>
      <p:grpSp>
        <p:nvGrpSpPr>
          <p:cNvPr id="2182" name="Switch Icon Red">
            <a:extLst>
              <a:ext uri="{FF2B5EF4-FFF2-40B4-BE49-F238E27FC236}">
                <a16:creationId xmlns:a16="http://schemas.microsoft.com/office/drawing/2014/main" id="{2ED4ED80-8D46-992E-7736-7D7EA30477BC}"/>
              </a:ext>
            </a:extLst>
          </p:cNvPr>
          <p:cNvGrpSpPr>
            <a:grpSpLocks noChangeAspect="1"/>
          </p:cNvGrpSpPr>
          <p:nvPr/>
        </p:nvGrpSpPr>
        <p:grpSpPr>
          <a:xfrm>
            <a:off x="2667910" y="2770613"/>
            <a:ext cx="914400" cy="185302"/>
            <a:chOff x="733644" y="4493806"/>
            <a:chExt cx="965012" cy="195558"/>
          </a:xfrm>
        </p:grpSpPr>
        <p:sp>
          <p:nvSpPr>
            <p:cNvPr id="2185" name="Switch outline">
              <a:extLst>
                <a:ext uri="{FF2B5EF4-FFF2-40B4-BE49-F238E27FC236}">
                  <a16:creationId xmlns:a16="http://schemas.microsoft.com/office/drawing/2014/main" id="{9200F876-08F1-A8C0-4424-1002AD42F750}"/>
                </a:ext>
              </a:extLst>
            </p:cNvPr>
            <p:cNvSpPr/>
            <p:nvPr/>
          </p:nvSpPr>
          <p:spPr>
            <a:xfrm>
              <a:off x="733644" y="4493806"/>
              <a:ext cx="965012" cy="195558"/>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bg1">
                <a:lumMod val="95000"/>
              </a:schemeClr>
            </a:solidFill>
            <a:ln w="19050" cap="flat">
              <a:solidFill>
                <a:schemeClr val="accent2"/>
              </a:solidFill>
              <a:prstDash val="solid"/>
              <a:miter/>
            </a:ln>
          </p:spPr>
          <p:txBody>
            <a:bodyPr/>
            <a:lstStyle/>
            <a:p>
              <a:endParaRPr lang="en-US"/>
            </a:p>
          </p:txBody>
        </p:sp>
        <p:sp>
          <p:nvSpPr>
            <p:cNvPr id="2184" name="Side fill">
              <a:extLst>
                <a:ext uri="{FF2B5EF4-FFF2-40B4-BE49-F238E27FC236}">
                  <a16:creationId xmlns:a16="http://schemas.microsoft.com/office/drawing/2014/main" id="{C13E261C-7F9E-2409-FDFE-8B44BFF40B0C}"/>
                </a:ext>
              </a:extLst>
            </p:cNvPr>
            <p:cNvSpPr/>
            <p:nvPr/>
          </p:nvSpPr>
          <p:spPr>
            <a:xfrm>
              <a:off x="733644" y="4546613"/>
              <a:ext cx="965012" cy="14275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accent2"/>
            </a:solidFill>
            <a:ln w="5420" cap="flat">
              <a:noFill/>
              <a:prstDash val="solid"/>
              <a:miter/>
            </a:ln>
          </p:spPr>
          <p:txBody>
            <a:bodyPr/>
            <a:lstStyle/>
            <a:p>
              <a:endParaRPr lang="en-US"/>
            </a:p>
          </p:txBody>
        </p:sp>
      </p:grpSp>
      <p:grpSp>
        <p:nvGrpSpPr>
          <p:cNvPr id="2208" name="Clock">
            <a:extLst>
              <a:ext uri="{FF2B5EF4-FFF2-40B4-BE49-F238E27FC236}">
                <a16:creationId xmlns:a16="http://schemas.microsoft.com/office/drawing/2014/main" id="{BF46A781-CB0C-F6E3-6ADC-BD126E457B82}"/>
              </a:ext>
            </a:extLst>
          </p:cNvPr>
          <p:cNvGrpSpPr/>
          <p:nvPr/>
        </p:nvGrpSpPr>
        <p:grpSpPr>
          <a:xfrm>
            <a:off x="2192172" y="2841683"/>
            <a:ext cx="274320" cy="274320"/>
            <a:chOff x="1997590" y="2392854"/>
            <a:chExt cx="274320" cy="274320"/>
          </a:xfrm>
        </p:grpSpPr>
        <p:sp>
          <p:nvSpPr>
            <p:cNvPr id="2207" name="White fill">
              <a:extLst>
                <a:ext uri="{FF2B5EF4-FFF2-40B4-BE49-F238E27FC236}">
                  <a16:creationId xmlns:a16="http://schemas.microsoft.com/office/drawing/2014/main" id="{074CE179-39F4-C810-2ECD-D93AF8ED3E4A}"/>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8E75DD8E-40D0-A05C-6D95-7E7A1C770B2E}"/>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5D594844-00FC-E413-4C7A-ACBAD183238F}"/>
              </a:ext>
            </a:extLst>
          </p:cNvPr>
          <p:cNvGrpSpPr/>
          <p:nvPr/>
        </p:nvGrpSpPr>
        <p:grpSpPr>
          <a:xfrm>
            <a:off x="6353768" y="2751737"/>
            <a:ext cx="274320" cy="274320"/>
            <a:chOff x="1997590" y="2392854"/>
            <a:chExt cx="274320" cy="274320"/>
          </a:xfrm>
        </p:grpSpPr>
        <p:sp>
          <p:nvSpPr>
            <p:cNvPr id="2210" name="White fill">
              <a:extLst>
                <a:ext uri="{FF2B5EF4-FFF2-40B4-BE49-F238E27FC236}">
                  <a16:creationId xmlns:a16="http://schemas.microsoft.com/office/drawing/2014/main" id="{EB33780E-8C45-1539-ABE4-FFD1F387D601}"/>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7957BAFB-5D7B-2972-8DED-194F03095B58}"/>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17" name="!!Data Center Icon2">
            <a:extLst>
              <a:ext uri="{FF2B5EF4-FFF2-40B4-BE49-F238E27FC236}">
                <a16:creationId xmlns:a16="http://schemas.microsoft.com/office/drawing/2014/main" id="{B79612F8-522C-D856-5428-BE6E930C8779}"/>
              </a:ext>
            </a:extLst>
          </p:cNvPr>
          <p:cNvGrpSpPr/>
          <p:nvPr/>
        </p:nvGrpSpPr>
        <p:grpSpPr>
          <a:xfrm>
            <a:off x="3915783" y="5090294"/>
            <a:ext cx="1011845" cy="741000"/>
            <a:chOff x="3915783" y="5046954"/>
            <a:chExt cx="1011845" cy="741000"/>
          </a:xfrm>
        </p:grpSpPr>
        <p:sp>
          <p:nvSpPr>
            <p:cNvPr id="2218" name="White fill">
              <a:extLst>
                <a:ext uri="{FF2B5EF4-FFF2-40B4-BE49-F238E27FC236}">
                  <a16:creationId xmlns:a16="http://schemas.microsoft.com/office/drawing/2014/main" id="{7E2CF6F8-E09B-9C09-026E-3E7FC58E991B}"/>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219" name="Freeform: Shape 2218">
              <a:extLst>
                <a:ext uri="{FF2B5EF4-FFF2-40B4-BE49-F238E27FC236}">
                  <a16:creationId xmlns:a16="http://schemas.microsoft.com/office/drawing/2014/main" id="{B01E89AA-D7BC-BB7D-31AC-1E5B80D34E39}"/>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endParaRPr lang="en-US"/>
            </a:p>
          </p:txBody>
        </p:sp>
        <p:sp>
          <p:nvSpPr>
            <p:cNvPr id="2220" name="Freeform: Shape 2219">
              <a:extLst>
                <a:ext uri="{FF2B5EF4-FFF2-40B4-BE49-F238E27FC236}">
                  <a16:creationId xmlns:a16="http://schemas.microsoft.com/office/drawing/2014/main" id="{10957AEC-84F0-0119-9AAB-0E688A5647B6}"/>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endParaRPr lang="en-US"/>
            </a:p>
          </p:txBody>
        </p:sp>
        <p:sp>
          <p:nvSpPr>
            <p:cNvPr id="2221" name="Freeform: Shape 2220">
              <a:extLst>
                <a:ext uri="{FF2B5EF4-FFF2-40B4-BE49-F238E27FC236}">
                  <a16:creationId xmlns:a16="http://schemas.microsoft.com/office/drawing/2014/main" id="{6A616524-F3D4-AD71-9C10-4DC44A3B617F}"/>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endParaRPr lang="en-US"/>
            </a:p>
          </p:txBody>
        </p:sp>
        <p:sp>
          <p:nvSpPr>
            <p:cNvPr id="2222" name="Freeform: Shape 2221">
              <a:extLst>
                <a:ext uri="{FF2B5EF4-FFF2-40B4-BE49-F238E27FC236}">
                  <a16:creationId xmlns:a16="http://schemas.microsoft.com/office/drawing/2014/main" id="{188E1870-45D6-0579-BAD2-20CC4BDE4E5C}"/>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endParaRPr lang="en-US"/>
            </a:p>
          </p:txBody>
        </p:sp>
      </p:grpSp>
      <p:grpSp>
        <p:nvGrpSpPr>
          <p:cNvPr id="2181" name="!!Data Center Icon">
            <a:extLst>
              <a:ext uri="{FF2B5EF4-FFF2-40B4-BE49-F238E27FC236}">
                <a16:creationId xmlns:a16="http://schemas.microsoft.com/office/drawing/2014/main" id="{12EA76E7-6812-0D4A-A259-59E0DA130A9E}"/>
              </a:ext>
            </a:extLst>
          </p:cNvPr>
          <p:cNvGrpSpPr/>
          <p:nvPr/>
        </p:nvGrpSpPr>
        <p:grpSpPr>
          <a:xfrm>
            <a:off x="3915783" y="5090294"/>
            <a:ext cx="1011845" cy="741000"/>
            <a:chOff x="3915783" y="5046954"/>
            <a:chExt cx="1011845" cy="741000"/>
          </a:xfrm>
          <a:solidFill>
            <a:schemeClr val="bg1">
              <a:lumMod val="95000"/>
            </a:schemeClr>
          </a:solidFill>
        </p:grpSpPr>
        <p:sp>
          <p:nvSpPr>
            <p:cNvPr id="2180" name="White fill">
              <a:extLst>
                <a:ext uri="{FF2B5EF4-FFF2-40B4-BE49-F238E27FC236}">
                  <a16:creationId xmlns:a16="http://schemas.microsoft.com/office/drawing/2014/main" id="{613A6BD9-F186-827C-5007-8D75C49D36D8}"/>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43" name="Freeform: Shape 2142">
              <a:extLst>
                <a:ext uri="{FF2B5EF4-FFF2-40B4-BE49-F238E27FC236}">
                  <a16:creationId xmlns:a16="http://schemas.microsoft.com/office/drawing/2014/main" id="{E2799611-6573-CA14-EA05-0BBEEE84DE2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144" name="Freeform: Shape 2143">
              <a:extLst>
                <a:ext uri="{FF2B5EF4-FFF2-40B4-BE49-F238E27FC236}">
                  <a16:creationId xmlns:a16="http://schemas.microsoft.com/office/drawing/2014/main" id="{2C9AF73B-1903-A39A-DAE3-19D10753B49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145" name="Freeform: Shape 2144">
              <a:extLst>
                <a:ext uri="{FF2B5EF4-FFF2-40B4-BE49-F238E27FC236}">
                  <a16:creationId xmlns:a16="http://schemas.microsoft.com/office/drawing/2014/main" id="{74A5F382-436E-6636-34AB-9476B8326ED4}"/>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146" name="Freeform: Shape 2145">
              <a:extLst>
                <a:ext uri="{FF2B5EF4-FFF2-40B4-BE49-F238E27FC236}">
                  <a16:creationId xmlns:a16="http://schemas.microsoft.com/office/drawing/2014/main" id="{2F233C8D-19C2-7BB3-4C7F-853A4086AA0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3" name="Rectangle 2">
            <a:extLst>
              <a:ext uri="{FF2B5EF4-FFF2-40B4-BE49-F238E27FC236}">
                <a16:creationId xmlns:a16="http://schemas.microsoft.com/office/drawing/2014/main" id="{235601E5-FCDB-B3C0-73BC-BC13AA3EF8DC}"/>
              </a:ext>
            </a:extLst>
          </p:cNvPr>
          <p:cNvSpPr/>
          <p:nvPr/>
        </p:nvSpPr>
        <p:spPr bwMode="auto">
          <a:xfrm>
            <a:off x="3492634" y="5875021"/>
            <a:ext cx="1828800"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Meet-me Room</a:t>
            </a:r>
          </a:p>
        </p:txBody>
      </p:sp>
      <p:sp>
        <p:nvSpPr>
          <p:cNvPr id="17" name="Slide Number Placeholder 16">
            <a:extLst>
              <a:ext uri="{FF2B5EF4-FFF2-40B4-BE49-F238E27FC236}">
                <a16:creationId xmlns:a16="http://schemas.microsoft.com/office/drawing/2014/main" id="{5FA79DFD-0F57-7C75-CE1B-CDE53FD9EF26}"/>
              </a:ext>
            </a:extLst>
          </p:cNvPr>
          <p:cNvSpPr>
            <a:spLocks noGrp="1"/>
          </p:cNvSpPr>
          <p:nvPr>
            <p:ph type="sldNum" sz="quarter" idx="10"/>
          </p:nvPr>
        </p:nvSpPr>
        <p:spPr/>
        <p:txBody>
          <a:bodyPr/>
          <a:lstStyle/>
          <a:p>
            <a:fld id="{0246F002-FF83-614A-810B-169E974B53D7}" type="slidenum">
              <a:rPr lang="en-US" smtClean="0"/>
              <a:pPr/>
              <a:t>5</a:t>
            </a:fld>
            <a:r>
              <a:rPr lang="en-US"/>
              <a:t>  © 2026 MaiaEdge</a:t>
            </a:r>
            <a:endParaRPr lang="en-US" sz="900"/>
          </a:p>
        </p:txBody>
      </p:sp>
      <p:grpSp>
        <p:nvGrpSpPr>
          <p:cNvPr id="36" name="Maia Logo">
            <a:extLst>
              <a:ext uri="{FF2B5EF4-FFF2-40B4-BE49-F238E27FC236}">
                <a16:creationId xmlns:a16="http://schemas.microsoft.com/office/drawing/2014/main" id="{19A67635-1692-3923-930B-2E2ED7B24424}"/>
              </a:ext>
            </a:extLst>
          </p:cNvPr>
          <p:cNvGrpSpPr/>
          <p:nvPr/>
        </p:nvGrpSpPr>
        <p:grpSpPr>
          <a:xfrm>
            <a:off x="9984505" y="6181344"/>
            <a:ext cx="1697132" cy="414708"/>
            <a:chOff x="1447800" y="2292350"/>
            <a:chExt cx="7774788" cy="1899831"/>
          </a:xfrm>
        </p:grpSpPr>
        <p:sp>
          <p:nvSpPr>
            <p:cNvPr id="37" name="Freeform 20">
              <a:extLst>
                <a:ext uri="{FF2B5EF4-FFF2-40B4-BE49-F238E27FC236}">
                  <a16:creationId xmlns:a16="http://schemas.microsoft.com/office/drawing/2014/main" id="{DF94A906-124F-03C6-D32D-DD82B7FEB07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8" name="Freeform 21">
              <a:extLst>
                <a:ext uri="{FF2B5EF4-FFF2-40B4-BE49-F238E27FC236}">
                  <a16:creationId xmlns:a16="http://schemas.microsoft.com/office/drawing/2014/main" id="{F79D5850-62A4-F355-9F1B-6643A52059C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9" name="Freeform 22">
              <a:extLst>
                <a:ext uri="{FF2B5EF4-FFF2-40B4-BE49-F238E27FC236}">
                  <a16:creationId xmlns:a16="http://schemas.microsoft.com/office/drawing/2014/main" id="{3400D020-141B-B868-CC54-B8174F4233A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4" name="Rectangle 3">
            <a:extLst>
              <a:ext uri="{FF2B5EF4-FFF2-40B4-BE49-F238E27FC236}">
                <a16:creationId xmlns:a16="http://schemas.microsoft.com/office/drawing/2014/main" id="{F96576FF-5438-42B0-0A2C-8370B73514DA}"/>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9" name="Picture 8" descr="A black and white pattern&#10;&#10;AI-generated content may be incorrect.">
            <a:extLst>
              <a:ext uri="{FF2B5EF4-FFF2-40B4-BE49-F238E27FC236}">
                <a16:creationId xmlns:a16="http://schemas.microsoft.com/office/drawing/2014/main" id="{A10D22DB-51BB-ACEF-9F83-4D2A8A481F39}"/>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10" name="Fade">
            <a:extLst>
              <a:ext uri="{FF2B5EF4-FFF2-40B4-BE49-F238E27FC236}">
                <a16:creationId xmlns:a16="http://schemas.microsoft.com/office/drawing/2014/main" id="{6533F6D7-C3CB-5385-6DA9-D86E1890600A}"/>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13" name="Maia Logo">
            <a:extLst>
              <a:ext uri="{FF2B5EF4-FFF2-40B4-BE49-F238E27FC236}">
                <a16:creationId xmlns:a16="http://schemas.microsoft.com/office/drawing/2014/main" id="{946E3484-42CB-9132-0470-65D7D37B4447}"/>
              </a:ext>
            </a:extLst>
          </p:cNvPr>
          <p:cNvGrpSpPr/>
          <p:nvPr/>
        </p:nvGrpSpPr>
        <p:grpSpPr>
          <a:xfrm>
            <a:off x="9984505" y="6181344"/>
            <a:ext cx="1697132" cy="414708"/>
            <a:chOff x="1447800" y="2292350"/>
            <a:chExt cx="7774788" cy="1899831"/>
          </a:xfrm>
        </p:grpSpPr>
        <p:sp>
          <p:nvSpPr>
            <p:cNvPr id="14" name="Freeform 20">
              <a:extLst>
                <a:ext uri="{FF2B5EF4-FFF2-40B4-BE49-F238E27FC236}">
                  <a16:creationId xmlns:a16="http://schemas.microsoft.com/office/drawing/2014/main" id="{77748DDE-D6E4-B0EB-5932-8F705332B2B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5" name="Freeform 21">
              <a:extLst>
                <a:ext uri="{FF2B5EF4-FFF2-40B4-BE49-F238E27FC236}">
                  <a16:creationId xmlns:a16="http://schemas.microsoft.com/office/drawing/2014/main" id="{1A4A24A6-3EB1-8B21-E488-D7AD9213781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6" name="Freeform 22">
              <a:extLst>
                <a:ext uri="{FF2B5EF4-FFF2-40B4-BE49-F238E27FC236}">
                  <a16:creationId xmlns:a16="http://schemas.microsoft.com/office/drawing/2014/main" id="{02BC10D2-AC4B-0905-E772-63F3E6447250}"/>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8" name="TextBox 17">
            <a:extLst>
              <a:ext uri="{FF2B5EF4-FFF2-40B4-BE49-F238E27FC236}">
                <a16:creationId xmlns:a16="http://schemas.microsoft.com/office/drawing/2014/main" id="{1F22E9A1-0B69-297A-DB38-64CDF628F73A}"/>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spc="100" dirty="0">
                <a:solidFill>
                  <a:schemeClr val="bg1"/>
                </a:solidFill>
                <a:latin typeface="Tomorrow" pitchFamily="2" charset="0"/>
              </a:rPr>
              <a:t>Integration timelines are unpredictable. </a:t>
            </a:r>
            <a:endParaRPr lang="en-US" sz="1600" dirty="0">
              <a:solidFill>
                <a:schemeClr val="bg1"/>
              </a:solidFill>
              <a:latin typeface="Tomorrow" pitchFamily="2" charset="0"/>
            </a:endParaRPr>
          </a:p>
          <a:p>
            <a:r>
              <a:rPr lang="en-US" sz="2000" dirty="0">
                <a:solidFill>
                  <a:schemeClr val="accent1"/>
                </a:solidFill>
                <a:latin typeface="+mj-lt"/>
              </a:rPr>
              <a:t>Customers </a:t>
            </a:r>
          </a:p>
          <a:p>
            <a:r>
              <a:rPr lang="en-US" sz="2000" dirty="0">
                <a:solidFill>
                  <a:schemeClr val="accent1"/>
                </a:solidFill>
                <a:latin typeface="+mj-lt"/>
              </a:rPr>
              <a:t>expect seamless connectivity </a:t>
            </a:r>
          </a:p>
          <a:p>
            <a:r>
              <a:rPr lang="en-US" sz="2000" dirty="0">
                <a:solidFill>
                  <a:schemeClr val="accent1"/>
                </a:solidFill>
                <a:latin typeface="+mj-lt"/>
              </a:rPr>
              <a:t>from day one.</a:t>
            </a:r>
          </a:p>
          <a:p>
            <a:endParaRPr lang="en-US" sz="2000" b="1" dirty="0">
              <a:solidFill>
                <a:schemeClr val="bg1"/>
              </a:solidFill>
              <a:latin typeface="Tomorrow" pitchFamily="2" charset="0"/>
            </a:endParaRPr>
          </a:p>
        </p:txBody>
      </p:sp>
    </p:spTree>
    <p:custDataLst>
      <p:tags r:id="rId1"/>
    </p:custDataLst>
    <p:extLst>
      <p:ext uri="{BB962C8B-B14F-4D97-AF65-F5344CB8AC3E}">
        <p14:creationId xmlns:p14="http://schemas.microsoft.com/office/powerpoint/2010/main" val="308358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65"/>
                                        </p:tgtEl>
                                        <p:attrNameLst>
                                          <p:attrName>style.visibility</p:attrName>
                                        </p:attrNameLst>
                                      </p:cBhvr>
                                      <p:to>
                                        <p:strVal val="visible"/>
                                      </p:to>
                                    </p:set>
                                    <p:animEffect transition="in" filter="fade">
                                      <p:cBhvr>
                                        <p:cTn id="7" dur="500"/>
                                        <p:tgtEl>
                                          <p:spTgt spid="20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14"/>
                                        </p:tgtEl>
                                        <p:attrNameLst>
                                          <p:attrName>style.visibility</p:attrName>
                                        </p:attrNameLst>
                                      </p:cBhvr>
                                      <p:to>
                                        <p:strVal val="visible"/>
                                      </p:to>
                                    </p:set>
                                    <p:animEffect transition="in" filter="fade">
                                      <p:cBhvr>
                                        <p:cTn id="10" dur="500"/>
                                        <p:tgtEl>
                                          <p:spTgt spid="21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500"/>
                            </p:stCondLst>
                            <p:childTnLst>
                              <p:par>
                                <p:cTn id="24" presetID="22" presetClass="entr" presetSubtype="2" fill="hold" nodeType="afterEffect">
                                  <p:stCondLst>
                                    <p:cond delay="500"/>
                                  </p:stCondLst>
                                  <p:childTnLst>
                                    <p:set>
                                      <p:cBhvr>
                                        <p:cTn id="25" dur="1" fill="hold">
                                          <p:stCondLst>
                                            <p:cond delay="0"/>
                                          </p:stCondLst>
                                        </p:cTn>
                                        <p:tgtEl>
                                          <p:spTgt spid="41"/>
                                        </p:tgtEl>
                                        <p:attrNameLst>
                                          <p:attrName>style.visibility</p:attrName>
                                        </p:attrNameLst>
                                      </p:cBhvr>
                                      <p:to>
                                        <p:strVal val="visible"/>
                                      </p:to>
                                    </p:set>
                                    <p:animEffect transition="in" filter="wipe(right)">
                                      <p:cBhvr>
                                        <p:cTn id="26" dur="500"/>
                                        <p:tgtEl>
                                          <p:spTgt spid="41"/>
                                        </p:tgtEl>
                                      </p:cBhvr>
                                    </p:animEffect>
                                  </p:childTnLst>
                                </p:cTn>
                              </p:par>
                              <p:par>
                                <p:cTn id="27" presetID="22" presetClass="entr" presetSubtype="8" fill="hold" nodeType="withEffect">
                                  <p:stCondLst>
                                    <p:cond delay="50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10" presetClass="entr" presetSubtype="0" fill="hold" nodeType="withEffect">
                                  <p:stCondLst>
                                    <p:cond delay="1000"/>
                                  </p:stCondLst>
                                  <p:childTnLst>
                                    <p:set>
                                      <p:cBhvr>
                                        <p:cTn id="31" dur="1" fill="hold">
                                          <p:stCondLst>
                                            <p:cond delay="0"/>
                                          </p:stCondLst>
                                        </p:cTn>
                                        <p:tgtEl>
                                          <p:spTgt spid="2129"/>
                                        </p:tgtEl>
                                        <p:attrNameLst>
                                          <p:attrName>style.visibility</p:attrName>
                                        </p:attrNameLst>
                                      </p:cBhvr>
                                      <p:to>
                                        <p:strVal val="visible"/>
                                      </p:to>
                                    </p:set>
                                    <p:animEffect transition="in" filter="fade">
                                      <p:cBhvr>
                                        <p:cTn id="32" dur="500"/>
                                        <p:tgtEl>
                                          <p:spTgt spid="2129"/>
                                        </p:tgtEl>
                                      </p:cBhvr>
                                    </p:animEffect>
                                  </p:childTnLst>
                                </p:cTn>
                              </p:par>
                              <p:par>
                                <p:cTn id="33" presetID="10" presetClass="entr" presetSubtype="0" fill="hold" nodeType="withEffect">
                                  <p:stCondLst>
                                    <p:cond delay="1000"/>
                                  </p:stCondLst>
                                  <p:childTnLst>
                                    <p:set>
                                      <p:cBhvr>
                                        <p:cTn id="34" dur="1" fill="hold">
                                          <p:stCondLst>
                                            <p:cond delay="0"/>
                                          </p:stCondLst>
                                        </p:cTn>
                                        <p:tgtEl>
                                          <p:spTgt spid="2132"/>
                                        </p:tgtEl>
                                        <p:attrNameLst>
                                          <p:attrName>style.visibility</p:attrName>
                                        </p:attrNameLst>
                                      </p:cBhvr>
                                      <p:to>
                                        <p:strVal val="visible"/>
                                      </p:to>
                                    </p:set>
                                    <p:animEffect transition="in" filter="fade">
                                      <p:cBhvr>
                                        <p:cTn id="35" dur="500"/>
                                        <p:tgtEl>
                                          <p:spTgt spid="2132"/>
                                        </p:tgtEl>
                                      </p:cBhvr>
                                    </p:animEffect>
                                  </p:childTnLst>
                                </p:cTn>
                              </p:par>
                              <p:par>
                                <p:cTn id="36" presetID="42" presetClass="entr" presetSubtype="0" fill="hold" nodeType="withEffect">
                                  <p:stCondLst>
                                    <p:cond delay="500"/>
                                  </p:stCondLst>
                                  <p:childTnLst>
                                    <p:set>
                                      <p:cBhvr>
                                        <p:cTn id="37" dur="1" fill="hold">
                                          <p:stCondLst>
                                            <p:cond delay="0"/>
                                          </p:stCondLst>
                                        </p:cTn>
                                        <p:tgtEl>
                                          <p:spTgt spid="2166"/>
                                        </p:tgtEl>
                                        <p:attrNameLst>
                                          <p:attrName>style.visibility</p:attrName>
                                        </p:attrNameLst>
                                      </p:cBhvr>
                                      <p:to>
                                        <p:strVal val="visible"/>
                                      </p:to>
                                    </p:set>
                                    <p:animEffect transition="in" filter="fade">
                                      <p:cBhvr>
                                        <p:cTn id="38" dur="500"/>
                                        <p:tgtEl>
                                          <p:spTgt spid="2166"/>
                                        </p:tgtEl>
                                      </p:cBhvr>
                                    </p:animEffect>
                                    <p:anim calcmode="lin" valueType="num">
                                      <p:cBhvr>
                                        <p:cTn id="39" dur="500" fill="hold"/>
                                        <p:tgtEl>
                                          <p:spTgt spid="2166"/>
                                        </p:tgtEl>
                                        <p:attrNameLst>
                                          <p:attrName>ppt_x</p:attrName>
                                        </p:attrNameLst>
                                      </p:cBhvr>
                                      <p:tavLst>
                                        <p:tav tm="0">
                                          <p:val>
                                            <p:strVal val="#ppt_x"/>
                                          </p:val>
                                        </p:tav>
                                        <p:tav tm="100000">
                                          <p:val>
                                            <p:strVal val="#ppt_x"/>
                                          </p:val>
                                        </p:tav>
                                      </p:tavLst>
                                    </p:anim>
                                    <p:anim calcmode="lin" valueType="num">
                                      <p:cBhvr>
                                        <p:cTn id="40" dur="500" fill="hold"/>
                                        <p:tgtEl>
                                          <p:spTgt spid="2166"/>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500"/>
                                  </p:stCondLst>
                                  <p:childTnLst>
                                    <p:set>
                                      <p:cBhvr>
                                        <p:cTn id="42" dur="1" fill="hold">
                                          <p:stCondLst>
                                            <p:cond delay="0"/>
                                          </p:stCondLst>
                                        </p:cTn>
                                        <p:tgtEl>
                                          <p:spTgt spid="2162"/>
                                        </p:tgtEl>
                                        <p:attrNameLst>
                                          <p:attrName>style.visibility</p:attrName>
                                        </p:attrNameLst>
                                      </p:cBhvr>
                                      <p:to>
                                        <p:strVal val="visible"/>
                                      </p:to>
                                    </p:set>
                                    <p:animEffect transition="in" filter="fade">
                                      <p:cBhvr>
                                        <p:cTn id="43" dur="500"/>
                                        <p:tgtEl>
                                          <p:spTgt spid="2162"/>
                                        </p:tgtEl>
                                      </p:cBhvr>
                                    </p:animEffect>
                                    <p:anim calcmode="lin" valueType="num">
                                      <p:cBhvr>
                                        <p:cTn id="44" dur="500" fill="hold"/>
                                        <p:tgtEl>
                                          <p:spTgt spid="2162"/>
                                        </p:tgtEl>
                                        <p:attrNameLst>
                                          <p:attrName>ppt_x</p:attrName>
                                        </p:attrNameLst>
                                      </p:cBhvr>
                                      <p:tavLst>
                                        <p:tav tm="0">
                                          <p:val>
                                            <p:strVal val="#ppt_x"/>
                                          </p:val>
                                        </p:tav>
                                        <p:tav tm="100000">
                                          <p:val>
                                            <p:strVal val="#ppt_x"/>
                                          </p:val>
                                        </p:tav>
                                      </p:tavLst>
                                    </p:anim>
                                    <p:anim calcmode="lin" valueType="num">
                                      <p:cBhvr>
                                        <p:cTn id="45" dur="500" fill="hold"/>
                                        <p:tgtEl>
                                          <p:spTgt spid="2162"/>
                                        </p:tgtEl>
                                        <p:attrNameLst>
                                          <p:attrName>ppt_y</p:attrName>
                                        </p:attrNameLst>
                                      </p:cBhvr>
                                      <p:tavLst>
                                        <p:tav tm="0">
                                          <p:val>
                                            <p:strVal val="#ppt_y+.1"/>
                                          </p:val>
                                        </p:tav>
                                        <p:tav tm="100000">
                                          <p:val>
                                            <p:strVal val="#ppt_y"/>
                                          </p:val>
                                        </p:tav>
                                      </p:tavLst>
                                    </p:anim>
                                  </p:childTnLst>
                                </p:cTn>
                              </p:par>
                              <p:par>
                                <p:cTn id="46" presetID="10" presetClass="entr" presetSubtype="0" fill="hold" nodeType="withEffect">
                                  <p:stCondLst>
                                    <p:cond delay="0"/>
                                  </p:stCondLst>
                                  <p:childTnLst>
                                    <p:set>
                                      <p:cBhvr>
                                        <p:cTn id="47" dur="1" fill="hold">
                                          <p:stCondLst>
                                            <p:cond delay="0"/>
                                          </p:stCondLst>
                                        </p:cTn>
                                        <p:tgtEl>
                                          <p:spTgt spid="2182"/>
                                        </p:tgtEl>
                                        <p:attrNameLst>
                                          <p:attrName>style.visibility</p:attrName>
                                        </p:attrNameLst>
                                      </p:cBhvr>
                                      <p:to>
                                        <p:strVal val="visible"/>
                                      </p:to>
                                    </p:set>
                                    <p:animEffect transition="in" filter="fade">
                                      <p:cBhvr>
                                        <p:cTn id="48" dur="500"/>
                                        <p:tgtEl>
                                          <p:spTgt spid="2182"/>
                                        </p:tgtEl>
                                      </p:cBhvr>
                                    </p:animEffect>
                                  </p:childTnLst>
                                </p:cTn>
                              </p:par>
                              <p:par>
                                <p:cTn id="49" presetID="10" presetClass="exit" presetSubtype="0" fill="hold" nodeType="withEffect">
                                  <p:stCondLst>
                                    <p:cond delay="0"/>
                                  </p:stCondLst>
                                  <p:childTnLst>
                                    <p:animEffect transition="out" filter="fade">
                                      <p:cBhvr>
                                        <p:cTn id="50" dur="500"/>
                                        <p:tgtEl>
                                          <p:spTgt spid="2166"/>
                                        </p:tgtEl>
                                      </p:cBhvr>
                                    </p:animEffect>
                                    <p:set>
                                      <p:cBhvr>
                                        <p:cTn id="51" dur="1" fill="hold">
                                          <p:stCondLst>
                                            <p:cond delay="499"/>
                                          </p:stCondLst>
                                        </p:cTn>
                                        <p:tgtEl>
                                          <p:spTgt spid="2166"/>
                                        </p:tgtEl>
                                        <p:attrNameLst>
                                          <p:attrName>style.visibility</p:attrName>
                                        </p:attrNameLst>
                                      </p:cBhvr>
                                      <p:to>
                                        <p:strVal val="hidden"/>
                                      </p:to>
                                    </p:set>
                                  </p:childTnLst>
                                </p:cTn>
                              </p:par>
                              <p:par>
                                <p:cTn id="52" presetID="10" presetClass="exit" presetSubtype="0" fill="hold" nodeType="withEffect">
                                  <p:stCondLst>
                                    <p:cond delay="0"/>
                                  </p:stCondLst>
                                  <p:childTnLst>
                                    <p:animEffect transition="out" filter="fade">
                                      <p:cBhvr>
                                        <p:cTn id="53" dur="500"/>
                                        <p:tgtEl>
                                          <p:spTgt spid="2162"/>
                                        </p:tgtEl>
                                      </p:cBhvr>
                                    </p:animEffect>
                                    <p:set>
                                      <p:cBhvr>
                                        <p:cTn id="54" dur="1" fill="hold">
                                          <p:stCondLst>
                                            <p:cond delay="499"/>
                                          </p:stCondLst>
                                        </p:cTn>
                                        <p:tgtEl>
                                          <p:spTgt spid="2162"/>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2182"/>
                                        </p:tgtEl>
                                      </p:cBhvr>
                                    </p:animEffect>
                                    <p:set>
                                      <p:cBhvr>
                                        <p:cTn id="57" dur="1" fill="hold">
                                          <p:stCondLst>
                                            <p:cond delay="499"/>
                                          </p:stCondLst>
                                        </p:cTn>
                                        <p:tgtEl>
                                          <p:spTgt spid="2182"/>
                                        </p:tgtEl>
                                        <p:attrNameLst>
                                          <p:attrName>style.visibility</p:attrName>
                                        </p:attrNameLst>
                                      </p:cBhvr>
                                      <p:to>
                                        <p:strVal val="hidden"/>
                                      </p:to>
                                    </p:set>
                                  </p:childTnLst>
                                </p:cTn>
                              </p:par>
                            </p:childTnLst>
                          </p:cTn>
                        </p:par>
                        <p:par>
                          <p:cTn id="58" fill="hold">
                            <p:stCondLst>
                              <p:cond delay="2000"/>
                            </p:stCondLst>
                            <p:childTnLst>
                              <p:par>
                                <p:cTn id="59" presetID="10" presetClass="entr" presetSubtype="0" fill="hold" nodeType="afterEffect">
                                  <p:stCondLst>
                                    <p:cond delay="0"/>
                                  </p:stCondLst>
                                  <p:childTnLst>
                                    <p:set>
                                      <p:cBhvr>
                                        <p:cTn id="60" dur="1" fill="hold">
                                          <p:stCondLst>
                                            <p:cond delay="0"/>
                                          </p:stCondLst>
                                        </p:cTn>
                                        <p:tgtEl>
                                          <p:spTgt spid="2181"/>
                                        </p:tgtEl>
                                        <p:attrNameLst>
                                          <p:attrName>style.visibility</p:attrName>
                                        </p:attrNameLst>
                                      </p:cBhvr>
                                      <p:to>
                                        <p:strVal val="visible"/>
                                      </p:to>
                                    </p:set>
                                    <p:animEffect transition="in" filter="fade">
                                      <p:cBhvr>
                                        <p:cTn id="61" dur="500"/>
                                        <p:tgtEl>
                                          <p:spTgt spid="2181"/>
                                        </p:tgtEl>
                                      </p:cBhvr>
                                    </p:animEffect>
                                  </p:childTnLst>
                                </p:cTn>
                              </p:par>
                              <p:par>
                                <p:cTn id="62" presetID="47" presetClass="entr" presetSubtype="0" fill="hold" grpId="0" nodeType="with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fade">
                                      <p:cBhvr>
                                        <p:cTn id="64" dur="500"/>
                                        <p:tgtEl>
                                          <p:spTgt spid="3"/>
                                        </p:tgtEl>
                                      </p:cBhvr>
                                    </p:animEffect>
                                    <p:anim calcmode="lin" valueType="num">
                                      <p:cBhvr>
                                        <p:cTn id="65" dur="500" fill="hold"/>
                                        <p:tgtEl>
                                          <p:spTgt spid="3"/>
                                        </p:tgtEl>
                                        <p:attrNameLst>
                                          <p:attrName>ppt_x</p:attrName>
                                        </p:attrNameLst>
                                      </p:cBhvr>
                                      <p:tavLst>
                                        <p:tav tm="0">
                                          <p:val>
                                            <p:strVal val="#ppt_x"/>
                                          </p:val>
                                        </p:tav>
                                        <p:tav tm="100000">
                                          <p:val>
                                            <p:strVal val="#ppt_x"/>
                                          </p:val>
                                        </p:tav>
                                      </p:tavLst>
                                    </p:anim>
                                    <p:anim calcmode="lin" valueType="num">
                                      <p:cBhvr>
                                        <p:cTn id="66" dur="500" fill="hold"/>
                                        <p:tgtEl>
                                          <p:spTgt spid="3"/>
                                        </p:tgtEl>
                                        <p:attrNameLst>
                                          <p:attrName>ppt_y</p:attrName>
                                        </p:attrNameLst>
                                      </p:cBhvr>
                                      <p:tavLst>
                                        <p:tav tm="0">
                                          <p:val>
                                            <p:strVal val="#ppt_y-.1"/>
                                          </p:val>
                                        </p:tav>
                                        <p:tav tm="100000">
                                          <p:val>
                                            <p:strVal val="#ppt_y"/>
                                          </p:val>
                                        </p:tav>
                                      </p:tavLst>
                                    </p:anim>
                                  </p:childTnLst>
                                </p:cTn>
                              </p:par>
                              <p:par>
                                <p:cTn id="67" presetID="10" presetClass="entr" presetSubtype="0" fill="hold" nodeType="withEffect">
                                  <p:stCondLst>
                                    <p:cond delay="250"/>
                                  </p:stCondLst>
                                  <p:childTnLst>
                                    <p:set>
                                      <p:cBhvr>
                                        <p:cTn id="68" dur="1" fill="hold">
                                          <p:stCondLst>
                                            <p:cond delay="0"/>
                                          </p:stCondLst>
                                        </p:cTn>
                                        <p:tgtEl>
                                          <p:spTgt spid="2217"/>
                                        </p:tgtEl>
                                        <p:attrNameLst>
                                          <p:attrName>style.visibility</p:attrName>
                                        </p:attrNameLst>
                                      </p:cBhvr>
                                      <p:to>
                                        <p:strVal val="visible"/>
                                      </p:to>
                                    </p:set>
                                    <p:animEffect transition="in" filter="fade">
                                      <p:cBhvr>
                                        <p:cTn id="69" dur="500"/>
                                        <p:tgtEl>
                                          <p:spTgt spid="2217"/>
                                        </p:tgtEl>
                                      </p:cBhvr>
                                    </p:animEffect>
                                  </p:childTnLst>
                                </p:cTn>
                              </p:par>
                              <p:par>
                                <p:cTn id="70" presetID="42" presetClass="entr" presetSubtype="0" fill="hold" nodeType="withEffect">
                                  <p:stCondLst>
                                    <p:cond delay="250"/>
                                  </p:stCondLst>
                                  <p:childTnLst>
                                    <p:set>
                                      <p:cBhvr>
                                        <p:cTn id="71" dur="1" fill="hold">
                                          <p:stCondLst>
                                            <p:cond delay="0"/>
                                          </p:stCondLst>
                                        </p:cTn>
                                        <p:tgtEl>
                                          <p:spTgt spid="2139"/>
                                        </p:tgtEl>
                                        <p:attrNameLst>
                                          <p:attrName>style.visibility</p:attrName>
                                        </p:attrNameLst>
                                      </p:cBhvr>
                                      <p:to>
                                        <p:strVal val="visible"/>
                                      </p:to>
                                    </p:set>
                                    <p:animEffect transition="in" filter="fade">
                                      <p:cBhvr>
                                        <p:cTn id="72" dur="500"/>
                                        <p:tgtEl>
                                          <p:spTgt spid="2139"/>
                                        </p:tgtEl>
                                      </p:cBhvr>
                                    </p:animEffect>
                                    <p:anim calcmode="lin" valueType="num">
                                      <p:cBhvr>
                                        <p:cTn id="73" dur="500" fill="hold"/>
                                        <p:tgtEl>
                                          <p:spTgt spid="2139"/>
                                        </p:tgtEl>
                                        <p:attrNameLst>
                                          <p:attrName>ppt_x</p:attrName>
                                        </p:attrNameLst>
                                      </p:cBhvr>
                                      <p:tavLst>
                                        <p:tav tm="0">
                                          <p:val>
                                            <p:strVal val="#ppt_x"/>
                                          </p:val>
                                        </p:tav>
                                        <p:tav tm="100000">
                                          <p:val>
                                            <p:strVal val="#ppt_x"/>
                                          </p:val>
                                        </p:tav>
                                      </p:tavLst>
                                    </p:anim>
                                    <p:anim calcmode="lin" valueType="num">
                                      <p:cBhvr>
                                        <p:cTn id="74" dur="500" fill="hold"/>
                                        <p:tgtEl>
                                          <p:spTgt spid="2139"/>
                                        </p:tgtEl>
                                        <p:attrNameLst>
                                          <p:attrName>ppt_y</p:attrName>
                                        </p:attrNameLst>
                                      </p:cBhvr>
                                      <p:tavLst>
                                        <p:tav tm="0">
                                          <p:val>
                                            <p:strVal val="#ppt_y+.1"/>
                                          </p:val>
                                        </p:tav>
                                        <p:tav tm="100000">
                                          <p:val>
                                            <p:strVal val="#ppt_y"/>
                                          </p:val>
                                        </p:tav>
                                      </p:tavLst>
                                    </p:anim>
                                  </p:childTnLst>
                                </p:cTn>
                              </p:par>
                              <p:par>
                                <p:cTn id="75" presetID="22" presetClass="entr" presetSubtype="4" fill="hold" grpId="0" nodeType="withEffect">
                                  <p:stCondLst>
                                    <p:cond delay="250"/>
                                  </p:stCondLst>
                                  <p:childTnLst>
                                    <p:set>
                                      <p:cBhvr>
                                        <p:cTn id="76" dur="1" fill="hold">
                                          <p:stCondLst>
                                            <p:cond delay="0"/>
                                          </p:stCondLst>
                                        </p:cTn>
                                        <p:tgtEl>
                                          <p:spTgt spid="2178"/>
                                        </p:tgtEl>
                                        <p:attrNameLst>
                                          <p:attrName>style.visibility</p:attrName>
                                        </p:attrNameLst>
                                      </p:cBhvr>
                                      <p:to>
                                        <p:strVal val="visible"/>
                                      </p:to>
                                    </p:set>
                                    <p:animEffect transition="in" filter="wipe(down)">
                                      <p:cBhvr>
                                        <p:cTn id="77" dur="500"/>
                                        <p:tgtEl>
                                          <p:spTgt spid="2178"/>
                                        </p:tgtEl>
                                      </p:cBhvr>
                                    </p:animEffect>
                                  </p:childTnLst>
                                </p:cTn>
                              </p:par>
                              <p:par>
                                <p:cTn id="78" presetID="42" presetClass="entr" presetSubtype="0" fill="hold" nodeType="withEffect">
                                  <p:stCondLst>
                                    <p:cond delay="0"/>
                                  </p:stCondLst>
                                  <p:childTnLst>
                                    <p:set>
                                      <p:cBhvr>
                                        <p:cTn id="79" dur="1" fill="hold">
                                          <p:stCondLst>
                                            <p:cond delay="0"/>
                                          </p:stCondLst>
                                        </p:cTn>
                                        <p:tgtEl>
                                          <p:spTgt spid="2153"/>
                                        </p:tgtEl>
                                        <p:attrNameLst>
                                          <p:attrName>style.visibility</p:attrName>
                                        </p:attrNameLst>
                                      </p:cBhvr>
                                      <p:to>
                                        <p:strVal val="visible"/>
                                      </p:to>
                                    </p:set>
                                    <p:animEffect transition="in" filter="fade">
                                      <p:cBhvr>
                                        <p:cTn id="80" dur="500"/>
                                        <p:tgtEl>
                                          <p:spTgt spid="2153"/>
                                        </p:tgtEl>
                                      </p:cBhvr>
                                    </p:animEffect>
                                    <p:anim calcmode="lin" valueType="num">
                                      <p:cBhvr>
                                        <p:cTn id="81" dur="500" fill="hold"/>
                                        <p:tgtEl>
                                          <p:spTgt spid="2153"/>
                                        </p:tgtEl>
                                        <p:attrNameLst>
                                          <p:attrName>ppt_x</p:attrName>
                                        </p:attrNameLst>
                                      </p:cBhvr>
                                      <p:tavLst>
                                        <p:tav tm="0">
                                          <p:val>
                                            <p:strVal val="#ppt_x"/>
                                          </p:val>
                                        </p:tav>
                                        <p:tav tm="100000">
                                          <p:val>
                                            <p:strVal val="#ppt_x"/>
                                          </p:val>
                                        </p:tav>
                                      </p:tavLst>
                                    </p:anim>
                                    <p:anim calcmode="lin" valueType="num">
                                      <p:cBhvr>
                                        <p:cTn id="82" dur="500" fill="hold"/>
                                        <p:tgtEl>
                                          <p:spTgt spid="2153"/>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2158"/>
                                        </p:tgtEl>
                                        <p:attrNameLst>
                                          <p:attrName>style.visibility</p:attrName>
                                        </p:attrNameLst>
                                      </p:cBhvr>
                                      <p:to>
                                        <p:strVal val="visible"/>
                                      </p:to>
                                    </p:set>
                                    <p:animEffect transition="in" filter="fade">
                                      <p:cBhvr>
                                        <p:cTn id="85" dur="500"/>
                                        <p:tgtEl>
                                          <p:spTgt spid="2158"/>
                                        </p:tgtEl>
                                      </p:cBhvr>
                                    </p:animEffect>
                                    <p:anim calcmode="lin" valueType="num">
                                      <p:cBhvr>
                                        <p:cTn id="86" dur="500" fill="hold"/>
                                        <p:tgtEl>
                                          <p:spTgt spid="2158"/>
                                        </p:tgtEl>
                                        <p:attrNameLst>
                                          <p:attrName>ppt_x</p:attrName>
                                        </p:attrNameLst>
                                      </p:cBhvr>
                                      <p:tavLst>
                                        <p:tav tm="0">
                                          <p:val>
                                            <p:strVal val="#ppt_x"/>
                                          </p:val>
                                        </p:tav>
                                        <p:tav tm="100000">
                                          <p:val>
                                            <p:strVal val="#ppt_x"/>
                                          </p:val>
                                        </p:tav>
                                      </p:tavLst>
                                    </p:anim>
                                    <p:anim calcmode="lin" valueType="num">
                                      <p:cBhvr>
                                        <p:cTn id="87" dur="500" fill="hold"/>
                                        <p:tgtEl>
                                          <p:spTgt spid="2158"/>
                                        </p:tgtEl>
                                        <p:attrNameLst>
                                          <p:attrName>ppt_y</p:attrName>
                                        </p:attrNameLst>
                                      </p:cBhvr>
                                      <p:tavLst>
                                        <p:tav tm="0">
                                          <p:val>
                                            <p:strVal val="#ppt_y+.1"/>
                                          </p:val>
                                        </p:tav>
                                        <p:tav tm="100000">
                                          <p:val>
                                            <p:strVal val="#ppt_y"/>
                                          </p:val>
                                        </p:tav>
                                      </p:tavLst>
                                    </p:anim>
                                  </p:childTnLst>
                                </p:cTn>
                              </p:par>
                            </p:childTnLst>
                          </p:cTn>
                        </p:par>
                        <p:par>
                          <p:cTn id="88" fill="hold">
                            <p:stCondLst>
                              <p:cond delay="2750"/>
                            </p:stCondLst>
                            <p:childTnLst>
                              <p:par>
                                <p:cTn id="89" presetID="53" presetClass="entr" presetSubtype="16" fill="hold" nodeType="afterEffect">
                                  <p:stCondLst>
                                    <p:cond delay="0"/>
                                  </p:stCondLst>
                                  <p:childTnLst>
                                    <p:set>
                                      <p:cBhvr>
                                        <p:cTn id="90" dur="1" fill="hold">
                                          <p:stCondLst>
                                            <p:cond delay="0"/>
                                          </p:stCondLst>
                                        </p:cTn>
                                        <p:tgtEl>
                                          <p:spTgt spid="2209"/>
                                        </p:tgtEl>
                                        <p:attrNameLst>
                                          <p:attrName>style.visibility</p:attrName>
                                        </p:attrNameLst>
                                      </p:cBhvr>
                                      <p:to>
                                        <p:strVal val="visible"/>
                                      </p:to>
                                    </p:set>
                                    <p:anim calcmode="lin" valueType="num">
                                      <p:cBhvr>
                                        <p:cTn id="91" dur="500" fill="hold"/>
                                        <p:tgtEl>
                                          <p:spTgt spid="2209"/>
                                        </p:tgtEl>
                                        <p:attrNameLst>
                                          <p:attrName>ppt_w</p:attrName>
                                        </p:attrNameLst>
                                      </p:cBhvr>
                                      <p:tavLst>
                                        <p:tav tm="0">
                                          <p:val>
                                            <p:fltVal val="0"/>
                                          </p:val>
                                        </p:tav>
                                        <p:tav tm="100000">
                                          <p:val>
                                            <p:strVal val="#ppt_w"/>
                                          </p:val>
                                        </p:tav>
                                      </p:tavLst>
                                    </p:anim>
                                    <p:anim calcmode="lin" valueType="num">
                                      <p:cBhvr>
                                        <p:cTn id="92" dur="500" fill="hold"/>
                                        <p:tgtEl>
                                          <p:spTgt spid="2209"/>
                                        </p:tgtEl>
                                        <p:attrNameLst>
                                          <p:attrName>ppt_h</p:attrName>
                                        </p:attrNameLst>
                                      </p:cBhvr>
                                      <p:tavLst>
                                        <p:tav tm="0">
                                          <p:val>
                                            <p:fltVal val="0"/>
                                          </p:val>
                                        </p:tav>
                                        <p:tav tm="100000">
                                          <p:val>
                                            <p:strVal val="#ppt_h"/>
                                          </p:val>
                                        </p:tav>
                                      </p:tavLst>
                                    </p:anim>
                                    <p:animEffect transition="in" filter="fade">
                                      <p:cBhvr>
                                        <p:cTn id="93" dur="500"/>
                                        <p:tgtEl>
                                          <p:spTgt spid="2209"/>
                                        </p:tgtEl>
                                      </p:cBhvr>
                                    </p:animEffect>
                                  </p:childTnLst>
                                </p:cTn>
                              </p:par>
                              <p:par>
                                <p:cTn id="94" presetID="53" presetClass="entr" presetSubtype="16" fill="hold" nodeType="withEffect">
                                  <p:stCondLst>
                                    <p:cond delay="0"/>
                                  </p:stCondLst>
                                  <p:childTnLst>
                                    <p:set>
                                      <p:cBhvr>
                                        <p:cTn id="95" dur="1" fill="hold">
                                          <p:stCondLst>
                                            <p:cond delay="0"/>
                                          </p:stCondLst>
                                        </p:cTn>
                                        <p:tgtEl>
                                          <p:spTgt spid="2208"/>
                                        </p:tgtEl>
                                        <p:attrNameLst>
                                          <p:attrName>style.visibility</p:attrName>
                                        </p:attrNameLst>
                                      </p:cBhvr>
                                      <p:to>
                                        <p:strVal val="visible"/>
                                      </p:to>
                                    </p:set>
                                    <p:anim calcmode="lin" valueType="num">
                                      <p:cBhvr>
                                        <p:cTn id="96" dur="500" fill="hold"/>
                                        <p:tgtEl>
                                          <p:spTgt spid="2208"/>
                                        </p:tgtEl>
                                        <p:attrNameLst>
                                          <p:attrName>ppt_w</p:attrName>
                                        </p:attrNameLst>
                                      </p:cBhvr>
                                      <p:tavLst>
                                        <p:tav tm="0">
                                          <p:val>
                                            <p:fltVal val="0"/>
                                          </p:val>
                                        </p:tav>
                                        <p:tav tm="100000">
                                          <p:val>
                                            <p:strVal val="#ppt_w"/>
                                          </p:val>
                                        </p:tav>
                                      </p:tavLst>
                                    </p:anim>
                                    <p:anim calcmode="lin" valueType="num">
                                      <p:cBhvr>
                                        <p:cTn id="97" dur="500" fill="hold"/>
                                        <p:tgtEl>
                                          <p:spTgt spid="2208"/>
                                        </p:tgtEl>
                                        <p:attrNameLst>
                                          <p:attrName>ppt_h</p:attrName>
                                        </p:attrNameLst>
                                      </p:cBhvr>
                                      <p:tavLst>
                                        <p:tav tm="0">
                                          <p:val>
                                            <p:fltVal val="0"/>
                                          </p:val>
                                        </p:tav>
                                        <p:tav tm="100000">
                                          <p:val>
                                            <p:strVal val="#ppt_h"/>
                                          </p:val>
                                        </p:tav>
                                      </p:tavLst>
                                    </p:anim>
                                    <p:animEffect transition="in" filter="fade">
                                      <p:cBhvr>
                                        <p:cTn id="98" dur="500"/>
                                        <p:tgtEl>
                                          <p:spTgt spid="2208"/>
                                        </p:tgtEl>
                                      </p:cBhvr>
                                    </p:animEffect>
                                  </p:childTnLst>
                                </p:cTn>
                              </p:par>
                              <p:par>
                                <p:cTn id="99" presetID="2" presetClass="entr" presetSubtype="4" fill="hold" grpId="0" nodeType="withEffect">
                                  <p:stCondLst>
                                    <p:cond delay="0"/>
                                  </p:stCondLst>
                                  <p:childTnLst>
                                    <p:set>
                                      <p:cBhvr>
                                        <p:cTn id="100" dur="1" fill="hold">
                                          <p:stCondLst>
                                            <p:cond delay="0"/>
                                          </p:stCondLst>
                                        </p:cTn>
                                        <p:tgtEl>
                                          <p:spTgt spid="2076"/>
                                        </p:tgtEl>
                                        <p:attrNameLst>
                                          <p:attrName>style.visibility</p:attrName>
                                        </p:attrNameLst>
                                      </p:cBhvr>
                                      <p:to>
                                        <p:strVal val="visible"/>
                                      </p:to>
                                    </p:set>
                                    <p:anim calcmode="lin" valueType="num">
                                      <p:cBhvr additive="base">
                                        <p:cTn id="101" dur="500" fill="hold"/>
                                        <p:tgtEl>
                                          <p:spTgt spid="2076"/>
                                        </p:tgtEl>
                                        <p:attrNameLst>
                                          <p:attrName>ppt_x</p:attrName>
                                        </p:attrNameLst>
                                      </p:cBhvr>
                                      <p:tavLst>
                                        <p:tav tm="0">
                                          <p:val>
                                            <p:strVal val="#ppt_x"/>
                                          </p:val>
                                        </p:tav>
                                        <p:tav tm="100000">
                                          <p:val>
                                            <p:strVal val="#ppt_x"/>
                                          </p:val>
                                        </p:tav>
                                      </p:tavLst>
                                    </p:anim>
                                    <p:anim calcmode="lin" valueType="num">
                                      <p:cBhvr additive="base">
                                        <p:cTn id="102" dur="500" fill="hold"/>
                                        <p:tgtEl>
                                          <p:spTgt spid="2076"/>
                                        </p:tgtEl>
                                        <p:attrNameLst>
                                          <p:attrName>ppt_y</p:attrName>
                                        </p:attrNameLst>
                                      </p:cBhvr>
                                      <p:tavLst>
                                        <p:tav tm="0">
                                          <p:val>
                                            <p:strVal val="1+#ppt_h/2"/>
                                          </p:val>
                                        </p:tav>
                                        <p:tav tm="100000">
                                          <p:val>
                                            <p:strVal val="#ppt_y"/>
                                          </p:val>
                                        </p:tav>
                                      </p:tavLst>
                                    </p:anim>
                                  </p:childTnLst>
                                </p:cTn>
                              </p:par>
                              <p:par>
                                <p:cTn id="103" presetID="10" presetClass="entr" presetSubtype="0" fill="hold" grpId="0" nodeType="withEffect">
                                  <p:stCondLst>
                                    <p:cond delay="500"/>
                                  </p:stCondLst>
                                  <p:childTnLst>
                                    <p:set>
                                      <p:cBhvr>
                                        <p:cTn id="104" dur="1" fill="hold">
                                          <p:stCondLst>
                                            <p:cond delay="0"/>
                                          </p:stCondLst>
                                        </p:cTn>
                                        <p:tgtEl>
                                          <p:spTgt spid="18"/>
                                        </p:tgtEl>
                                        <p:attrNameLst>
                                          <p:attrName>style.visibility</p:attrName>
                                        </p:attrNameLst>
                                      </p:cBhvr>
                                      <p:to>
                                        <p:strVal val="visible"/>
                                      </p:to>
                                    </p:set>
                                    <p:animEffect transition="in" filter="fade">
                                      <p:cBhvr>
                                        <p:cTn id="10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5" grpId="0" animBg="1"/>
      <p:bldP spid="6" grpId="0" animBg="1"/>
      <p:bldP spid="2178" grpId="0" animBg="1"/>
      <p:bldP spid="2065" grpId="0" animBg="1"/>
      <p:bldP spid="2114" grpId="0" animBg="1"/>
      <p:bldP spid="2076" grpId="0" animBg="1"/>
      <p:bldP spid="3"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CEE0E-7396-7BFF-C7CE-81E9C2816AF1}"/>
            </a:ext>
          </a:extLst>
        </p:cNvPr>
        <p:cNvGrpSpPr/>
        <p:nvPr/>
      </p:nvGrpSpPr>
      <p:grpSpPr>
        <a:xfrm>
          <a:off x="0" y="0"/>
          <a:ext cx="0" cy="0"/>
          <a:chOff x="0" y="0"/>
          <a:chExt cx="0" cy="0"/>
        </a:xfrm>
      </p:grpSpPr>
      <p:grpSp>
        <p:nvGrpSpPr>
          <p:cNvPr id="2139" name="Money">
            <a:extLst>
              <a:ext uri="{FF2B5EF4-FFF2-40B4-BE49-F238E27FC236}">
                <a16:creationId xmlns:a16="http://schemas.microsoft.com/office/drawing/2014/main" id="{9665B58C-BB67-8AB7-2889-2232A13DEDC7}"/>
              </a:ext>
            </a:extLst>
          </p:cNvPr>
          <p:cNvGrpSpPr/>
          <p:nvPr/>
        </p:nvGrpSpPr>
        <p:grpSpPr>
          <a:xfrm>
            <a:off x="2920667" y="4607986"/>
            <a:ext cx="296984" cy="228600"/>
            <a:chOff x="4215713" y="4794516"/>
            <a:chExt cx="296984" cy="228600"/>
          </a:xfrm>
        </p:grpSpPr>
        <p:sp>
          <p:nvSpPr>
            <p:cNvPr id="2135" name="$">
              <a:extLst>
                <a:ext uri="{FF2B5EF4-FFF2-40B4-BE49-F238E27FC236}">
                  <a16:creationId xmlns:a16="http://schemas.microsoft.com/office/drawing/2014/main" id="{8338F9FF-7DBD-3405-E1D3-40079686A4E6}"/>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2138" name="$">
              <a:extLst>
                <a:ext uri="{FF2B5EF4-FFF2-40B4-BE49-F238E27FC236}">
                  <a16:creationId xmlns:a16="http://schemas.microsoft.com/office/drawing/2014/main" id="{62208B69-7067-BE13-D45E-627C5EC1FB4A}"/>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grpSp>
        <p:nvGrpSpPr>
          <p:cNvPr id="17" name="Money">
            <a:extLst>
              <a:ext uri="{FF2B5EF4-FFF2-40B4-BE49-F238E27FC236}">
                <a16:creationId xmlns:a16="http://schemas.microsoft.com/office/drawing/2014/main" id="{0136AE4A-CAC4-F0A4-34F1-FC960F4357DC}"/>
              </a:ext>
            </a:extLst>
          </p:cNvPr>
          <p:cNvGrpSpPr/>
          <p:nvPr/>
        </p:nvGrpSpPr>
        <p:grpSpPr>
          <a:xfrm>
            <a:off x="5634874" y="4607986"/>
            <a:ext cx="296984" cy="228600"/>
            <a:chOff x="4215713" y="4794516"/>
            <a:chExt cx="296984" cy="228600"/>
          </a:xfrm>
        </p:grpSpPr>
        <p:sp>
          <p:nvSpPr>
            <p:cNvPr id="18" name="$">
              <a:extLst>
                <a:ext uri="{FF2B5EF4-FFF2-40B4-BE49-F238E27FC236}">
                  <a16:creationId xmlns:a16="http://schemas.microsoft.com/office/drawing/2014/main" id="{4778BE7B-5FC6-6DF6-8162-F8C0726AA62A}"/>
                </a:ext>
              </a:extLst>
            </p:cNvPr>
            <p:cNvSpPr txBox="1"/>
            <p:nvPr/>
          </p:nvSpPr>
          <p:spPr bwMode="auto">
            <a:xfrm>
              <a:off x="4215713"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sp>
          <p:nvSpPr>
            <p:cNvPr id="19" name="$">
              <a:extLst>
                <a:ext uri="{FF2B5EF4-FFF2-40B4-BE49-F238E27FC236}">
                  <a16:creationId xmlns:a16="http://schemas.microsoft.com/office/drawing/2014/main" id="{A00C80E4-E3CC-2C39-559F-7C7A1D7948AE}"/>
                </a:ext>
              </a:extLst>
            </p:cNvPr>
            <p:cNvSpPr txBox="1"/>
            <p:nvPr/>
          </p:nvSpPr>
          <p:spPr bwMode="auto">
            <a:xfrm>
              <a:off x="4375537" y="4794516"/>
              <a:ext cx="137160" cy="228600"/>
            </a:xfrm>
            <a:prstGeom prst="rect">
              <a:avLst/>
            </a:prstGeom>
            <a:noFill/>
          </p:spPr>
          <p:txBody>
            <a:bodyPr wrap="none" lIns="0" tIns="0" rIns="0" bIns="0" rtlCol="0" anchor="ctr" anchorCtr="0">
              <a:noAutofit/>
            </a:bodyPr>
            <a:lstStyle/>
            <a:p>
              <a:pPr algn="ctr"/>
              <a:r>
                <a:rPr lang="en-US">
                  <a:solidFill>
                    <a:schemeClr val="accent2"/>
                  </a:solidFill>
                  <a:latin typeface="+mj-lt"/>
                </a:rPr>
                <a:t>$</a:t>
              </a:r>
            </a:p>
          </p:txBody>
        </p:sp>
      </p:grpSp>
      <p:sp>
        <p:nvSpPr>
          <p:cNvPr id="2091" name="Rectangle 2090">
            <a:extLst>
              <a:ext uri="{FF2B5EF4-FFF2-40B4-BE49-F238E27FC236}">
                <a16:creationId xmlns:a16="http://schemas.microsoft.com/office/drawing/2014/main" id="{0AC29C5F-AE33-921C-A269-FDB80851DE37}"/>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pic>
        <p:nvPicPr>
          <p:cNvPr id="2214" name="Picture 2213" descr="A black and white pattern&#10;&#10;AI-generated content may be incorrect.">
            <a:extLst>
              <a:ext uri="{FF2B5EF4-FFF2-40B4-BE49-F238E27FC236}">
                <a16:creationId xmlns:a16="http://schemas.microsoft.com/office/drawing/2014/main" id="{27C37806-946E-B2E3-F522-0E3065929F07}"/>
              </a:ext>
            </a:extLst>
          </p:cNvPr>
          <p:cNvPicPr>
            <a:picLocks noChangeAspect="1"/>
          </p:cNvPicPr>
          <p:nvPr/>
        </p:nvPicPr>
        <p:blipFill>
          <a:blip r:embed="rId4"/>
          <a:srcRect l="55617" r="382" b="6488"/>
          <a:stretch>
            <a:fillRect/>
          </a:stretch>
        </p:blipFill>
        <p:spPr>
          <a:xfrm>
            <a:off x="8772144" y="2761154"/>
            <a:ext cx="3419856" cy="4092545"/>
          </a:xfrm>
          <a:prstGeom prst="rect">
            <a:avLst/>
          </a:prstGeom>
        </p:spPr>
      </p:pic>
      <p:sp>
        <p:nvSpPr>
          <p:cNvPr id="2215" name="Fade">
            <a:extLst>
              <a:ext uri="{FF2B5EF4-FFF2-40B4-BE49-F238E27FC236}">
                <a16:creationId xmlns:a16="http://schemas.microsoft.com/office/drawing/2014/main" id="{D1476C82-948C-86FB-7EF4-02BACB8372E9}"/>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065" name="Oval 2064">
            <a:extLst>
              <a:ext uri="{FF2B5EF4-FFF2-40B4-BE49-F238E27FC236}">
                <a16:creationId xmlns:a16="http://schemas.microsoft.com/office/drawing/2014/main" id="{D305AB15-AAE2-BFE2-7297-C4B5762E7B55}"/>
              </a:ext>
            </a:extLst>
          </p:cNvPr>
          <p:cNvSpPr/>
          <p:nvPr/>
        </p:nvSpPr>
        <p:spPr bwMode="auto">
          <a:xfrm>
            <a:off x="1840125" y="2934473"/>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1</a:t>
            </a:r>
          </a:p>
        </p:txBody>
      </p:sp>
      <p:cxnSp>
        <p:nvCxnSpPr>
          <p:cNvPr id="42" name="Straight Connector 41">
            <a:extLst>
              <a:ext uri="{FF2B5EF4-FFF2-40B4-BE49-F238E27FC236}">
                <a16:creationId xmlns:a16="http://schemas.microsoft.com/office/drawing/2014/main" id="{56D6C5A9-205E-3A31-0908-29EEEB993D9F}"/>
              </a:ext>
            </a:extLst>
          </p:cNvPr>
          <p:cNvCxnSpPr/>
          <p:nvPr/>
        </p:nvCxnSpPr>
        <p:spPr>
          <a:xfrm>
            <a:off x="7013509" y="3429000"/>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10CE78-D43A-6992-247E-07047A3C1CAF}"/>
              </a:ext>
            </a:extLst>
          </p:cNvPr>
          <p:cNvCxnSpPr/>
          <p:nvPr/>
        </p:nvCxnSpPr>
        <p:spPr>
          <a:xfrm>
            <a:off x="1384176" y="3429808"/>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itle 3">
            <a:extLst>
              <a:ext uri="{FF2B5EF4-FFF2-40B4-BE49-F238E27FC236}">
                <a16:creationId xmlns:a16="http://schemas.microsoft.com/office/drawing/2014/main" id="{7EF40D8A-B2B5-FE22-95D4-01B8A4C22272}"/>
              </a:ext>
            </a:extLst>
          </p:cNvPr>
          <p:cNvSpPr>
            <a:spLocks noGrp="1"/>
          </p:cNvSpPr>
          <p:nvPr>
            <p:ph type="title"/>
          </p:nvPr>
        </p:nvSpPr>
        <p:spPr/>
        <p:txBody>
          <a:bodyPr/>
          <a:lstStyle/>
          <a:p>
            <a:r>
              <a:rPr lang="en-US"/>
              <a:t>The Challenge with NaaS   </a:t>
            </a:r>
          </a:p>
        </p:txBody>
      </p:sp>
      <p:sp>
        <p:nvSpPr>
          <p:cNvPr id="2076" name="Rectangle 2075">
            <a:extLst>
              <a:ext uri="{FF2B5EF4-FFF2-40B4-BE49-F238E27FC236}">
                <a16:creationId xmlns:a16="http://schemas.microsoft.com/office/drawing/2014/main" id="{AEDEC619-2B65-54B5-C09D-1048D80B3271}"/>
              </a:ext>
            </a:extLst>
          </p:cNvPr>
          <p:cNvSpPr/>
          <p:nvPr/>
        </p:nvSpPr>
        <p:spPr bwMode="auto">
          <a:xfrm>
            <a:off x="8772144" y="2100360"/>
            <a:ext cx="36576" cy="2356418"/>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2129" name="Building Icon">
            <a:extLst>
              <a:ext uri="{FF2B5EF4-FFF2-40B4-BE49-F238E27FC236}">
                <a16:creationId xmlns:a16="http://schemas.microsoft.com/office/drawing/2014/main" id="{88024A68-33A5-9862-C7B9-AB1BADA30F60}"/>
              </a:ext>
            </a:extLst>
          </p:cNvPr>
          <p:cNvGrpSpPr/>
          <p:nvPr/>
        </p:nvGrpSpPr>
        <p:grpSpPr>
          <a:xfrm>
            <a:off x="711987" y="2989560"/>
            <a:ext cx="728696" cy="779848"/>
            <a:chOff x="6614921" y="2562225"/>
            <a:chExt cx="1614677" cy="1728025"/>
          </a:xfrm>
          <a:noFill/>
        </p:grpSpPr>
        <p:sp>
          <p:nvSpPr>
            <p:cNvPr id="2130" name="Freeform: Shape 2129">
              <a:extLst>
                <a:ext uri="{FF2B5EF4-FFF2-40B4-BE49-F238E27FC236}">
                  <a16:creationId xmlns:a16="http://schemas.microsoft.com/office/drawing/2014/main" id="{510F147A-63D7-5324-F182-8ADB95FDAB95}"/>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1" name="Freeform: Shape 2130">
              <a:extLst>
                <a:ext uri="{FF2B5EF4-FFF2-40B4-BE49-F238E27FC236}">
                  <a16:creationId xmlns:a16="http://schemas.microsoft.com/office/drawing/2014/main" id="{DAAF3BFC-B8FD-00BC-D421-6B5A7837E91A}"/>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132" name="Building Icon">
            <a:extLst>
              <a:ext uri="{FF2B5EF4-FFF2-40B4-BE49-F238E27FC236}">
                <a16:creationId xmlns:a16="http://schemas.microsoft.com/office/drawing/2014/main" id="{C2D60E8F-C092-7689-8F36-51C3773205F9}"/>
              </a:ext>
            </a:extLst>
          </p:cNvPr>
          <p:cNvGrpSpPr/>
          <p:nvPr/>
        </p:nvGrpSpPr>
        <p:grpSpPr>
          <a:xfrm>
            <a:off x="7402728" y="2989560"/>
            <a:ext cx="728696" cy="779848"/>
            <a:chOff x="6614921" y="2562225"/>
            <a:chExt cx="1614677" cy="1728025"/>
          </a:xfrm>
          <a:noFill/>
        </p:grpSpPr>
        <p:sp>
          <p:nvSpPr>
            <p:cNvPr id="2133" name="Freeform: Shape 2132">
              <a:extLst>
                <a:ext uri="{FF2B5EF4-FFF2-40B4-BE49-F238E27FC236}">
                  <a16:creationId xmlns:a16="http://schemas.microsoft.com/office/drawing/2014/main" id="{81344E83-E4CB-01D9-96EC-94AF386C264F}"/>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134" name="Freeform: Shape 2133">
              <a:extLst>
                <a:ext uri="{FF2B5EF4-FFF2-40B4-BE49-F238E27FC236}">
                  <a16:creationId xmlns:a16="http://schemas.microsoft.com/office/drawing/2014/main" id="{57980D17-B8C9-33BA-0390-31DA52DD6EE2}"/>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nvGrpSpPr>
          <p:cNvPr id="2206" name="Cloud group">
            <a:extLst>
              <a:ext uri="{FF2B5EF4-FFF2-40B4-BE49-F238E27FC236}">
                <a16:creationId xmlns:a16="http://schemas.microsoft.com/office/drawing/2014/main" id="{2AFE5E36-832D-01AE-898B-D1D2A890F897}"/>
              </a:ext>
            </a:extLst>
          </p:cNvPr>
          <p:cNvGrpSpPr/>
          <p:nvPr/>
        </p:nvGrpSpPr>
        <p:grpSpPr>
          <a:xfrm>
            <a:off x="3249243" y="2674127"/>
            <a:ext cx="2355148" cy="1460950"/>
            <a:chOff x="3094849" y="2604513"/>
            <a:chExt cx="2653333" cy="1645920"/>
          </a:xfrm>
        </p:grpSpPr>
        <p:sp>
          <p:nvSpPr>
            <p:cNvPr id="2120" name="Cloud icon">
              <a:extLst>
                <a:ext uri="{FF2B5EF4-FFF2-40B4-BE49-F238E27FC236}">
                  <a16:creationId xmlns:a16="http://schemas.microsoft.com/office/drawing/2014/main" id="{33334024-D987-F77D-0BE8-24BC6A5D7BED}"/>
                </a:ext>
              </a:extLst>
            </p:cNvPr>
            <p:cNvSpPr>
              <a:spLocks noChangeAspect="1"/>
            </p:cNvSpPr>
            <p:nvPr/>
          </p:nvSpPr>
          <p:spPr>
            <a:xfrm>
              <a:off x="3094849" y="2604513"/>
              <a:ext cx="2653333" cy="1645920"/>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bg2">
                  <a:alpha val="40000"/>
                </a:schemeClr>
              </a:solidFill>
              <a:prstDash val="solid"/>
              <a:miter/>
            </a:ln>
            <a:effectLst>
              <a:glow rad="101600">
                <a:schemeClr val="accent3">
                  <a:satMod val="175000"/>
                  <a:alpha val="20000"/>
                </a:schemeClr>
              </a:glow>
            </a:effectLst>
          </p:spPr>
          <p:txBody>
            <a:bodyPr/>
            <a:lstStyle/>
            <a:p>
              <a:endParaRPr lang="en-US"/>
            </a:p>
          </p:txBody>
        </p:sp>
        <p:pic>
          <p:nvPicPr>
            <p:cNvPr id="2187" name="AWS logo">
              <a:extLst>
                <a:ext uri="{FF2B5EF4-FFF2-40B4-BE49-F238E27FC236}">
                  <a16:creationId xmlns:a16="http://schemas.microsoft.com/office/drawing/2014/main" id="{FBAAA30A-887D-49DE-A38C-3291DFCD57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02098" y="2931698"/>
              <a:ext cx="458203" cy="274320"/>
            </a:xfrm>
            <a:prstGeom prst="rect">
              <a:avLst/>
            </a:prstGeom>
          </p:spPr>
        </p:pic>
        <p:pic>
          <p:nvPicPr>
            <p:cNvPr id="2189" name="Azure logo">
              <a:extLst>
                <a:ext uri="{FF2B5EF4-FFF2-40B4-BE49-F238E27FC236}">
                  <a16:creationId xmlns:a16="http://schemas.microsoft.com/office/drawing/2014/main" id="{0C32B451-01E9-A745-D974-6FEB045EB9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1143" y="3379072"/>
              <a:ext cx="882866" cy="256032"/>
            </a:xfrm>
            <a:prstGeom prst="rect">
              <a:avLst/>
            </a:prstGeom>
          </p:spPr>
        </p:pic>
        <p:pic>
          <p:nvPicPr>
            <p:cNvPr id="2190" name="Megaport logo">
              <a:extLst>
                <a:ext uri="{FF2B5EF4-FFF2-40B4-BE49-F238E27FC236}">
                  <a16:creationId xmlns:a16="http://schemas.microsoft.com/office/drawing/2014/main" id="{CE2F83F1-3398-CE62-B0F1-51B8A189F4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1691" y="3808158"/>
              <a:ext cx="1079648" cy="256032"/>
            </a:xfrm>
            <a:prstGeom prst="rect">
              <a:avLst/>
            </a:prstGeom>
          </p:spPr>
        </p:pic>
        <p:grpSp>
          <p:nvGrpSpPr>
            <p:cNvPr id="2203" name="Equifax logo">
              <a:extLst>
                <a:ext uri="{FF2B5EF4-FFF2-40B4-BE49-F238E27FC236}">
                  <a16:creationId xmlns:a16="http://schemas.microsoft.com/office/drawing/2014/main" id="{A847412E-D9CF-07B9-D117-6619A1E7DF9F}"/>
                </a:ext>
              </a:extLst>
            </p:cNvPr>
            <p:cNvGrpSpPr>
              <a:grpSpLocks noChangeAspect="1"/>
            </p:cNvGrpSpPr>
            <p:nvPr/>
          </p:nvGrpSpPr>
          <p:grpSpPr>
            <a:xfrm>
              <a:off x="3752722" y="3379072"/>
              <a:ext cx="465299" cy="256032"/>
              <a:chOff x="5260847" y="2429970"/>
              <a:chExt cx="2064762" cy="1136141"/>
            </a:xfrm>
            <a:solidFill>
              <a:schemeClr val="bg2">
                <a:lumMod val="50000"/>
              </a:schemeClr>
            </a:solidFill>
          </p:grpSpPr>
          <p:sp>
            <p:nvSpPr>
              <p:cNvPr id="2194" name="Freeform: Shape 2193">
                <a:extLst>
                  <a:ext uri="{FF2B5EF4-FFF2-40B4-BE49-F238E27FC236}">
                    <a16:creationId xmlns:a16="http://schemas.microsoft.com/office/drawing/2014/main" id="{9FA10E1A-13F4-A74B-6D32-813CFC034ADE}"/>
                  </a:ext>
                </a:extLst>
              </p:cNvPr>
              <p:cNvSpPr/>
              <p:nvPr/>
            </p:nvSpPr>
            <p:spPr>
              <a:xfrm>
                <a:off x="5260847" y="2429970"/>
                <a:ext cx="1737969" cy="1136141"/>
              </a:xfrm>
              <a:custGeom>
                <a:avLst/>
                <a:gdLst>
                  <a:gd name="csX0" fmla="*/ 1621917 w 1737969"/>
                  <a:gd name="csY0" fmla="*/ 263509 h 1136141"/>
                  <a:gd name="csX1" fmla="*/ 1621917 w 1737969"/>
                  <a:gd name="csY1" fmla="*/ 771096 h 1136141"/>
                  <a:gd name="csX2" fmla="*/ 1505903 w 1737969"/>
                  <a:gd name="csY2" fmla="*/ 810987 h 1136141"/>
                  <a:gd name="csX3" fmla="*/ 1505903 w 1737969"/>
                  <a:gd name="csY3" fmla="*/ 223580 h 1136141"/>
                  <a:gd name="csX4" fmla="*/ 1157859 w 1737969"/>
                  <a:gd name="csY4" fmla="*/ 101565 h 1136141"/>
                  <a:gd name="csX5" fmla="*/ 1157859 w 1737969"/>
                  <a:gd name="csY5" fmla="*/ 933098 h 1136141"/>
                  <a:gd name="csX6" fmla="*/ 1042988 w 1737969"/>
                  <a:gd name="csY6" fmla="*/ 972988 h 1136141"/>
                  <a:gd name="csX7" fmla="*/ 1042988 w 1737969"/>
                  <a:gd name="csY7" fmla="*/ 61636 h 1136141"/>
                  <a:gd name="csX8" fmla="*/ 868966 w 1737969"/>
                  <a:gd name="csY8" fmla="*/ 0 h 1136141"/>
                  <a:gd name="csX9" fmla="*/ 694944 w 1737969"/>
                  <a:gd name="csY9" fmla="*/ 61636 h 1136141"/>
                  <a:gd name="csX10" fmla="*/ 694944 w 1737969"/>
                  <a:gd name="csY10" fmla="*/ 972988 h 1136141"/>
                  <a:gd name="csX11" fmla="*/ 578930 w 1737969"/>
                  <a:gd name="csY11" fmla="*/ 933098 h 1136141"/>
                  <a:gd name="csX12" fmla="*/ 578930 w 1737969"/>
                  <a:gd name="csY12" fmla="*/ 101565 h 1136141"/>
                  <a:gd name="csX13" fmla="*/ 232029 w 1737969"/>
                  <a:gd name="csY13" fmla="*/ 223580 h 1136141"/>
                  <a:gd name="csX14" fmla="*/ 232029 w 1737969"/>
                  <a:gd name="csY14" fmla="*/ 810987 h 1136141"/>
                  <a:gd name="csX15" fmla="*/ 116014 w 1737969"/>
                  <a:gd name="csY15" fmla="*/ 771096 h 1136141"/>
                  <a:gd name="csX16" fmla="*/ 116014 w 1737969"/>
                  <a:gd name="csY16" fmla="*/ 263509 h 1136141"/>
                  <a:gd name="csX17" fmla="*/ 0 w 1737969"/>
                  <a:gd name="csY17" fmla="*/ 303400 h 1136141"/>
                  <a:gd name="csX18" fmla="*/ 0 w 1737969"/>
                  <a:gd name="csY18" fmla="*/ 853278 h 1136141"/>
                  <a:gd name="csX19" fmla="*/ 346900 w 1737969"/>
                  <a:gd name="csY19" fmla="*/ 974150 h 1136141"/>
                  <a:gd name="csX20" fmla="*/ 346900 w 1737969"/>
                  <a:gd name="csY20" fmla="*/ 305781 h 1136141"/>
                  <a:gd name="csX21" fmla="*/ 462915 w 1737969"/>
                  <a:gd name="csY21" fmla="*/ 264700 h 1136141"/>
                  <a:gd name="csX22" fmla="*/ 462915 w 1737969"/>
                  <a:gd name="csY22" fmla="*/ 1015270 h 1136141"/>
                  <a:gd name="csX23" fmla="*/ 810959 w 1737969"/>
                  <a:gd name="csY23" fmla="*/ 1136142 h 1136141"/>
                  <a:gd name="csX24" fmla="*/ 810959 w 1737969"/>
                  <a:gd name="csY24" fmla="*/ 143637 h 1136141"/>
                  <a:gd name="csX25" fmla="*/ 869004 w 1737969"/>
                  <a:gd name="csY25" fmla="*/ 123082 h 1136141"/>
                  <a:gd name="csX26" fmla="*/ 927011 w 1737969"/>
                  <a:gd name="csY26" fmla="*/ 143637 h 1136141"/>
                  <a:gd name="csX27" fmla="*/ 927011 w 1737969"/>
                  <a:gd name="csY27" fmla="*/ 1136142 h 1136141"/>
                  <a:gd name="csX28" fmla="*/ 1273912 w 1737969"/>
                  <a:gd name="csY28" fmla="*/ 1015270 h 1136141"/>
                  <a:gd name="csX29" fmla="*/ 1273912 w 1737969"/>
                  <a:gd name="csY29" fmla="*/ 264700 h 1136141"/>
                  <a:gd name="csX30" fmla="*/ 1389926 w 1737969"/>
                  <a:gd name="csY30" fmla="*/ 305781 h 1136141"/>
                  <a:gd name="csX31" fmla="*/ 1389926 w 1737969"/>
                  <a:gd name="csY31" fmla="*/ 974150 h 1136141"/>
                  <a:gd name="csX32" fmla="*/ 1737970 w 1737969"/>
                  <a:gd name="csY32" fmla="*/ 853278 h 1136141"/>
                  <a:gd name="csX33" fmla="*/ 1737970 w 1737969"/>
                  <a:gd name="csY33" fmla="*/ 303400 h 11361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737969" h="1136141">
                    <a:moveTo>
                      <a:pt x="1621917" y="263509"/>
                    </a:moveTo>
                    <a:lnTo>
                      <a:pt x="1621917" y="771096"/>
                    </a:lnTo>
                    <a:lnTo>
                      <a:pt x="1505903" y="810987"/>
                    </a:lnTo>
                    <a:lnTo>
                      <a:pt x="1505903" y="223580"/>
                    </a:lnTo>
                    <a:lnTo>
                      <a:pt x="1157859" y="101565"/>
                    </a:lnTo>
                    <a:lnTo>
                      <a:pt x="1157859" y="933098"/>
                    </a:lnTo>
                    <a:lnTo>
                      <a:pt x="1042988" y="972988"/>
                    </a:lnTo>
                    <a:lnTo>
                      <a:pt x="1042988" y="61636"/>
                    </a:lnTo>
                    <a:lnTo>
                      <a:pt x="868966" y="0"/>
                    </a:lnTo>
                    <a:lnTo>
                      <a:pt x="694944" y="61636"/>
                    </a:lnTo>
                    <a:lnTo>
                      <a:pt x="694944" y="972988"/>
                    </a:lnTo>
                    <a:lnTo>
                      <a:pt x="578930" y="933098"/>
                    </a:lnTo>
                    <a:lnTo>
                      <a:pt x="578930" y="101565"/>
                    </a:lnTo>
                    <a:lnTo>
                      <a:pt x="232029" y="223580"/>
                    </a:lnTo>
                    <a:lnTo>
                      <a:pt x="232029" y="810987"/>
                    </a:lnTo>
                    <a:lnTo>
                      <a:pt x="116014" y="771096"/>
                    </a:lnTo>
                    <a:lnTo>
                      <a:pt x="116014" y="263509"/>
                    </a:lnTo>
                    <a:lnTo>
                      <a:pt x="0" y="303400"/>
                    </a:lnTo>
                    <a:lnTo>
                      <a:pt x="0" y="853278"/>
                    </a:lnTo>
                    <a:lnTo>
                      <a:pt x="346900" y="974150"/>
                    </a:lnTo>
                    <a:lnTo>
                      <a:pt x="346900" y="305781"/>
                    </a:lnTo>
                    <a:lnTo>
                      <a:pt x="462915" y="264700"/>
                    </a:lnTo>
                    <a:lnTo>
                      <a:pt x="462915" y="1015270"/>
                    </a:lnTo>
                    <a:lnTo>
                      <a:pt x="810959" y="1136142"/>
                    </a:lnTo>
                    <a:lnTo>
                      <a:pt x="810959" y="143637"/>
                    </a:lnTo>
                    <a:lnTo>
                      <a:pt x="869004" y="123082"/>
                    </a:lnTo>
                    <a:lnTo>
                      <a:pt x="927011" y="143637"/>
                    </a:lnTo>
                    <a:lnTo>
                      <a:pt x="927011" y="1136142"/>
                    </a:lnTo>
                    <a:lnTo>
                      <a:pt x="1273912" y="1015270"/>
                    </a:lnTo>
                    <a:lnTo>
                      <a:pt x="1273912" y="264700"/>
                    </a:lnTo>
                    <a:lnTo>
                      <a:pt x="1389926" y="305781"/>
                    </a:lnTo>
                    <a:lnTo>
                      <a:pt x="1389926" y="974150"/>
                    </a:lnTo>
                    <a:lnTo>
                      <a:pt x="1737970" y="853278"/>
                    </a:lnTo>
                    <a:lnTo>
                      <a:pt x="1737970" y="303400"/>
                    </a:lnTo>
                    <a:close/>
                  </a:path>
                </a:pathLst>
              </a:custGeom>
              <a:grpFill/>
              <a:ln w="9525" cap="flat">
                <a:noFill/>
                <a:prstDash val="solid"/>
                <a:miter/>
              </a:ln>
            </p:spPr>
            <p:txBody>
              <a:bodyPr/>
              <a:lstStyle/>
              <a:p>
                <a:endParaRPr lang="en-US"/>
              </a:p>
            </p:txBody>
          </p:sp>
          <p:sp>
            <p:nvSpPr>
              <p:cNvPr id="2202" name="Freeform: Shape 2201">
                <a:extLst>
                  <a:ext uri="{FF2B5EF4-FFF2-40B4-BE49-F238E27FC236}">
                    <a16:creationId xmlns:a16="http://schemas.microsoft.com/office/drawing/2014/main" id="{D5010B26-1420-29F0-310D-1A75392733D4}"/>
                  </a:ext>
                </a:extLst>
              </p:cNvPr>
              <p:cNvSpPr/>
              <p:nvPr/>
            </p:nvSpPr>
            <p:spPr>
              <a:xfrm>
                <a:off x="7116441" y="3061911"/>
                <a:ext cx="209168" cy="210311"/>
              </a:xfrm>
              <a:custGeom>
                <a:avLst/>
                <a:gdLst>
                  <a:gd name="csX0" fmla="*/ 88268 w 209168"/>
                  <a:gd name="csY0" fmla="*/ 101532 h 210311"/>
                  <a:gd name="csX1" fmla="*/ 88268 w 209168"/>
                  <a:gd name="csY1" fmla="*/ 71347 h 210311"/>
                  <a:gd name="csX2" fmla="*/ 110052 w 209168"/>
                  <a:gd name="csY2" fmla="*/ 71347 h 210311"/>
                  <a:gd name="csX3" fmla="*/ 129388 w 209168"/>
                  <a:gd name="csY3" fmla="*/ 87054 h 210311"/>
                  <a:gd name="csX4" fmla="*/ 110052 w 209168"/>
                  <a:gd name="csY4" fmla="*/ 101532 h 210311"/>
                  <a:gd name="csX5" fmla="*/ 61713 w 209168"/>
                  <a:gd name="csY5" fmla="*/ 157129 h 210311"/>
                  <a:gd name="csX6" fmla="*/ 88268 w 209168"/>
                  <a:gd name="csY6" fmla="*/ 157129 h 210311"/>
                  <a:gd name="csX7" fmla="*/ 88268 w 209168"/>
                  <a:gd name="csY7" fmla="*/ 123315 h 210311"/>
                  <a:gd name="csX8" fmla="*/ 104013 w 209168"/>
                  <a:gd name="csY8" fmla="*/ 123315 h 210311"/>
                  <a:gd name="csX9" fmla="*/ 128159 w 209168"/>
                  <a:gd name="csY9" fmla="*/ 157129 h 210311"/>
                  <a:gd name="csX10" fmla="*/ 159611 w 209168"/>
                  <a:gd name="csY10" fmla="*/ 157129 h 210311"/>
                  <a:gd name="csX11" fmla="*/ 131788 w 209168"/>
                  <a:gd name="csY11" fmla="*/ 118458 h 210311"/>
                  <a:gd name="csX12" fmla="*/ 155981 w 209168"/>
                  <a:gd name="csY12" fmla="*/ 84644 h 210311"/>
                  <a:gd name="csX13" fmla="*/ 112452 w 209168"/>
                  <a:gd name="csY13" fmla="*/ 48382 h 210311"/>
                  <a:gd name="csX14" fmla="*/ 61703 w 209168"/>
                  <a:gd name="csY14" fmla="*/ 48382 h 210311"/>
                  <a:gd name="csX15" fmla="*/ 104013 w 209168"/>
                  <a:gd name="csY15" fmla="*/ 199430 h 210311"/>
                  <a:gd name="csX16" fmla="*/ 12144 w 209168"/>
                  <a:gd name="csY16" fmla="*/ 106380 h 210311"/>
                  <a:gd name="csX17" fmla="*/ 12144 w 209168"/>
                  <a:gd name="csY17" fmla="*/ 105156 h 210311"/>
                  <a:gd name="csX18" fmla="*/ 104013 w 209168"/>
                  <a:gd name="csY18" fmla="*/ 12106 h 210311"/>
                  <a:gd name="csX19" fmla="*/ 197063 w 209168"/>
                  <a:gd name="csY19" fmla="*/ 105156 h 210311"/>
                  <a:gd name="csX20" fmla="*/ 104013 w 209168"/>
                  <a:gd name="csY20" fmla="*/ 199425 h 210311"/>
                  <a:gd name="csX21" fmla="*/ 104013 w 209168"/>
                  <a:gd name="csY21" fmla="*/ 210312 h 210311"/>
                  <a:gd name="csX22" fmla="*/ 209169 w 209168"/>
                  <a:gd name="csY22" fmla="*/ 105156 h 210311"/>
                  <a:gd name="csX23" fmla="*/ 104013 w 209168"/>
                  <a:gd name="csY23" fmla="*/ 0 h 210311"/>
                  <a:gd name="csX24" fmla="*/ 0 w 209168"/>
                  <a:gd name="csY24" fmla="*/ 105156 h 210311"/>
                  <a:gd name="csX25" fmla="*/ 0 w 209168"/>
                  <a:gd name="csY25" fmla="*/ 106380 h 210311"/>
                  <a:gd name="csX26" fmla="*/ 104013 w 209168"/>
                  <a:gd name="csY26" fmla="*/ 210298 h 2103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09168" h="210311">
                    <a:moveTo>
                      <a:pt x="88268" y="101532"/>
                    </a:moveTo>
                    <a:lnTo>
                      <a:pt x="88268" y="71347"/>
                    </a:lnTo>
                    <a:lnTo>
                      <a:pt x="110052" y="71347"/>
                    </a:lnTo>
                    <a:cubicBezTo>
                      <a:pt x="122129" y="71347"/>
                      <a:pt x="129388" y="77384"/>
                      <a:pt x="129388" y="87054"/>
                    </a:cubicBezTo>
                    <a:cubicBezTo>
                      <a:pt x="129388" y="95498"/>
                      <a:pt x="122127" y="101532"/>
                      <a:pt x="110052" y="101532"/>
                    </a:cubicBezTo>
                    <a:close/>
                    <a:moveTo>
                      <a:pt x="61713" y="157129"/>
                    </a:moveTo>
                    <a:lnTo>
                      <a:pt x="88268" y="157129"/>
                    </a:lnTo>
                    <a:lnTo>
                      <a:pt x="88268" y="123315"/>
                    </a:lnTo>
                    <a:lnTo>
                      <a:pt x="104013" y="123315"/>
                    </a:lnTo>
                    <a:cubicBezTo>
                      <a:pt x="128159" y="157129"/>
                      <a:pt x="128159" y="157129"/>
                      <a:pt x="128159" y="157129"/>
                    </a:cubicBezTo>
                    <a:lnTo>
                      <a:pt x="159611" y="157129"/>
                    </a:lnTo>
                    <a:cubicBezTo>
                      <a:pt x="131788" y="118458"/>
                      <a:pt x="131788" y="118458"/>
                      <a:pt x="131788" y="118458"/>
                    </a:cubicBezTo>
                    <a:cubicBezTo>
                      <a:pt x="146313" y="113644"/>
                      <a:pt x="155981" y="102751"/>
                      <a:pt x="155981" y="84644"/>
                    </a:cubicBezTo>
                    <a:cubicBezTo>
                      <a:pt x="155981" y="60450"/>
                      <a:pt x="137827" y="48382"/>
                      <a:pt x="112452" y="48382"/>
                    </a:cubicBezTo>
                    <a:lnTo>
                      <a:pt x="61703" y="48382"/>
                    </a:lnTo>
                    <a:close/>
                    <a:moveTo>
                      <a:pt x="104013" y="199430"/>
                    </a:moveTo>
                    <a:cubicBezTo>
                      <a:pt x="52044" y="199430"/>
                      <a:pt x="12144" y="157129"/>
                      <a:pt x="12144" y="106380"/>
                    </a:cubicBezTo>
                    <a:lnTo>
                      <a:pt x="12144" y="105156"/>
                    </a:lnTo>
                    <a:cubicBezTo>
                      <a:pt x="12144" y="54407"/>
                      <a:pt x="52035" y="12106"/>
                      <a:pt x="104013" y="12106"/>
                    </a:cubicBezTo>
                    <a:cubicBezTo>
                      <a:pt x="157163" y="12106"/>
                      <a:pt x="197063" y="53188"/>
                      <a:pt x="197063" y="105156"/>
                    </a:cubicBezTo>
                    <a:cubicBezTo>
                      <a:pt x="197063" y="155943"/>
                      <a:pt x="157163" y="199425"/>
                      <a:pt x="104013" y="199425"/>
                    </a:cubicBezTo>
                    <a:moveTo>
                      <a:pt x="104013" y="210312"/>
                    </a:moveTo>
                    <a:cubicBezTo>
                      <a:pt x="163201" y="210312"/>
                      <a:pt x="209169" y="161973"/>
                      <a:pt x="209169" y="105156"/>
                    </a:cubicBezTo>
                    <a:cubicBezTo>
                      <a:pt x="209169" y="47149"/>
                      <a:pt x="163239" y="0"/>
                      <a:pt x="104013" y="0"/>
                    </a:cubicBezTo>
                    <a:cubicBezTo>
                      <a:pt x="45968" y="0"/>
                      <a:pt x="0" y="48339"/>
                      <a:pt x="0" y="105156"/>
                    </a:cubicBezTo>
                    <a:lnTo>
                      <a:pt x="0" y="106380"/>
                    </a:lnTo>
                    <a:cubicBezTo>
                      <a:pt x="0" y="163206"/>
                      <a:pt x="45929" y="210298"/>
                      <a:pt x="104013" y="210298"/>
                    </a:cubicBezTo>
                  </a:path>
                </a:pathLst>
              </a:custGeom>
              <a:grpFill/>
              <a:ln w="9525" cap="flat">
                <a:noFill/>
                <a:prstDash val="solid"/>
                <a:miter/>
              </a:ln>
            </p:spPr>
            <p:txBody>
              <a:bodyPr/>
              <a:lstStyle/>
              <a:p>
                <a:endParaRPr lang="en-US"/>
              </a:p>
            </p:txBody>
          </p:sp>
        </p:grpSp>
      </p:grpSp>
      <p:grpSp>
        <p:nvGrpSpPr>
          <p:cNvPr id="2208" name="Clock">
            <a:extLst>
              <a:ext uri="{FF2B5EF4-FFF2-40B4-BE49-F238E27FC236}">
                <a16:creationId xmlns:a16="http://schemas.microsoft.com/office/drawing/2014/main" id="{7A82AB5D-E0A1-4D6C-5E50-65C628C08565}"/>
              </a:ext>
            </a:extLst>
          </p:cNvPr>
          <p:cNvGrpSpPr/>
          <p:nvPr/>
        </p:nvGrpSpPr>
        <p:grpSpPr>
          <a:xfrm>
            <a:off x="2195969" y="4156796"/>
            <a:ext cx="274320" cy="274320"/>
            <a:chOff x="1997590" y="2392854"/>
            <a:chExt cx="274320" cy="274320"/>
          </a:xfrm>
        </p:grpSpPr>
        <p:sp>
          <p:nvSpPr>
            <p:cNvPr id="2207" name="White fill">
              <a:extLst>
                <a:ext uri="{FF2B5EF4-FFF2-40B4-BE49-F238E27FC236}">
                  <a16:creationId xmlns:a16="http://schemas.microsoft.com/office/drawing/2014/main" id="{87B812BE-8015-EE37-F590-1C3FAD032E57}"/>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17" name="Clock icon">
              <a:extLst>
                <a:ext uri="{FF2B5EF4-FFF2-40B4-BE49-F238E27FC236}">
                  <a16:creationId xmlns:a16="http://schemas.microsoft.com/office/drawing/2014/main" id="{E56F33D2-1090-CDF9-C527-B19775C2B44E}"/>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209" name="Clock">
            <a:extLst>
              <a:ext uri="{FF2B5EF4-FFF2-40B4-BE49-F238E27FC236}">
                <a16:creationId xmlns:a16="http://schemas.microsoft.com/office/drawing/2014/main" id="{3E3ABAB4-F382-578B-47AE-518F781F9765}"/>
              </a:ext>
            </a:extLst>
          </p:cNvPr>
          <p:cNvGrpSpPr/>
          <p:nvPr/>
        </p:nvGrpSpPr>
        <p:grpSpPr>
          <a:xfrm>
            <a:off x="6383345" y="4156796"/>
            <a:ext cx="274320" cy="274320"/>
            <a:chOff x="1997590" y="2392854"/>
            <a:chExt cx="274320" cy="274320"/>
          </a:xfrm>
        </p:grpSpPr>
        <p:sp>
          <p:nvSpPr>
            <p:cNvPr id="2210" name="White fill">
              <a:extLst>
                <a:ext uri="{FF2B5EF4-FFF2-40B4-BE49-F238E27FC236}">
                  <a16:creationId xmlns:a16="http://schemas.microsoft.com/office/drawing/2014/main" id="{14E663E8-B68B-1479-F676-7A51047A127C}"/>
                </a:ext>
              </a:extLst>
            </p:cNvPr>
            <p:cNvSpPr>
              <a:spLocks noChangeAspect="1"/>
            </p:cNvSpPr>
            <p:nvPr/>
          </p:nvSpPr>
          <p:spPr bwMode="auto">
            <a:xfrm>
              <a:off x="1997590" y="2392854"/>
              <a:ext cx="274320" cy="274320"/>
            </a:xfrm>
            <a:prstGeom prst="ellipse">
              <a:avLst/>
            </a:prstGeom>
            <a:solidFill>
              <a:schemeClr val="bg1"/>
            </a:solidFill>
            <a:ln w="98425" cap="sq" algn="ctr">
              <a:solidFill>
                <a:schemeClr val="bg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11" name="Clock icon">
              <a:extLst>
                <a:ext uri="{FF2B5EF4-FFF2-40B4-BE49-F238E27FC236}">
                  <a16:creationId xmlns:a16="http://schemas.microsoft.com/office/drawing/2014/main" id="{6A1E2559-D7D2-6BDD-5EEF-606512A9C8F6}"/>
                </a:ext>
              </a:extLst>
            </p:cNvPr>
            <p:cNvSpPr>
              <a:spLocks noChangeAspect="1"/>
            </p:cNvSpPr>
            <p:nvPr/>
          </p:nvSpPr>
          <p:spPr>
            <a:xfrm>
              <a:off x="1997590" y="2392854"/>
              <a:ext cx="274320" cy="274320"/>
            </a:xfrm>
            <a:custGeom>
              <a:avLst/>
              <a:gdLst>
                <a:gd name="csX0" fmla="*/ 1049465 w 2098929"/>
                <a:gd name="csY0" fmla="*/ 316135 h 2086355"/>
                <a:gd name="csX1" fmla="*/ 1049465 w 2098929"/>
                <a:gd name="csY1" fmla="*/ 1038606 h 2086355"/>
                <a:gd name="csX2" fmla="*/ 644843 w 2098929"/>
                <a:gd name="csY2" fmla="*/ 1530001 h 2086355"/>
                <a:gd name="csX3" fmla="*/ 0 w 2098929"/>
                <a:gd name="csY3" fmla="*/ 1043178 h 2086355"/>
                <a:gd name="csX4" fmla="*/ 1049465 w 2098929"/>
                <a:gd name="csY4" fmla="*/ 2086356 h 2086355"/>
                <a:gd name="csX5" fmla="*/ 2098929 w 2098929"/>
                <a:gd name="csY5" fmla="*/ 1043178 h 2086355"/>
                <a:gd name="csX6" fmla="*/ 1049465 w 2098929"/>
                <a:gd name="csY6" fmla="*/ 0 h 2086355"/>
                <a:gd name="csX7" fmla="*/ 0 w 2098929"/>
                <a:gd name="csY7" fmla="*/ 1043178 h 2086355"/>
                <a:gd name="csX8" fmla="*/ 0 w 2098929"/>
                <a:gd name="csY8" fmla="*/ 1043178 h 2086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8929" h="2086355">
                  <a:moveTo>
                    <a:pt x="1049465" y="316135"/>
                  </a:moveTo>
                  <a:lnTo>
                    <a:pt x="1049465" y="1038606"/>
                  </a:lnTo>
                  <a:lnTo>
                    <a:pt x="644843" y="1530001"/>
                  </a:lnTo>
                  <a:moveTo>
                    <a:pt x="0" y="1043178"/>
                  </a:moveTo>
                  <a:cubicBezTo>
                    <a:pt x="0" y="1619345"/>
                    <a:pt x="469868" y="2086356"/>
                    <a:pt x="1049465" y="2086356"/>
                  </a:cubicBezTo>
                  <a:cubicBezTo>
                    <a:pt x="1629061" y="2086356"/>
                    <a:pt x="2098929" y="1619345"/>
                    <a:pt x="2098929" y="1043178"/>
                  </a:cubicBezTo>
                  <a:cubicBezTo>
                    <a:pt x="2098929" y="467011"/>
                    <a:pt x="1629061" y="0"/>
                    <a:pt x="1049465" y="0"/>
                  </a:cubicBezTo>
                  <a:cubicBezTo>
                    <a:pt x="469868" y="0"/>
                    <a:pt x="0" y="467011"/>
                    <a:pt x="0" y="1043178"/>
                  </a:cubicBezTo>
                  <a:lnTo>
                    <a:pt x="0" y="1043178"/>
                  </a:lnTo>
                  <a:close/>
                </a:path>
              </a:pathLst>
            </a:custGeom>
            <a:noFill/>
            <a:ln w="22225" cap="sq">
              <a:solidFill>
                <a:schemeClr val="accent2"/>
              </a:solidFill>
              <a:prstDash val="solid"/>
              <a:miter lim="800000"/>
            </a:ln>
          </p:spPr>
          <p:txBody>
            <a:bodyPr/>
            <a:lstStyle/>
            <a:p>
              <a:endParaRPr lang="en-US"/>
            </a:p>
          </p:txBody>
        </p:sp>
      </p:grpSp>
      <p:grpSp>
        <p:nvGrpSpPr>
          <p:cNvPr id="2" name="!!Data Center Icon2">
            <a:extLst>
              <a:ext uri="{FF2B5EF4-FFF2-40B4-BE49-F238E27FC236}">
                <a16:creationId xmlns:a16="http://schemas.microsoft.com/office/drawing/2014/main" id="{251227C9-B6C9-23F5-3943-028F1B740D79}"/>
              </a:ext>
            </a:extLst>
          </p:cNvPr>
          <p:cNvGrpSpPr/>
          <p:nvPr/>
        </p:nvGrpSpPr>
        <p:grpSpPr>
          <a:xfrm>
            <a:off x="5277444" y="3772672"/>
            <a:ext cx="1011845" cy="741000"/>
            <a:chOff x="3915783" y="5046954"/>
            <a:chExt cx="1011845" cy="741000"/>
          </a:xfrm>
          <a:solidFill>
            <a:schemeClr val="bg1">
              <a:lumMod val="95000"/>
            </a:schemeClr>
          </a:solidFill>
        </p:grpSpPr>
        <p:sp>
          <p:nvSpPr>
            <p:cNvPr id="3" name="White fill">
              <a:extLst>
                <a:ext uri="{FF2B5EF4-FFF2-40B4-BE49-F238E27FC236}">
                  <a16:creationId xmlns:a16="http://schemas.microsoft.com/office/drawing/2014/main" id="{E5FD6215-0B5C-E335-6A92-ECC87B630B0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4" name="Freeform: Shape 3">
              <a:extLst>
                <a:ext uri="{FF2B5EF4-FFF2-40B4-BE49-F238E27FC236}">
                  <a16:creationId xmlns:a16="http://schemas.microsoft.com/office/drawing/2014/main" id="{ECC13A51-ED49-8DEC-6157-2AD1DA11B669}"/>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5" name="Freeform: Shape 4">
              <a:extLst>
                <a:ext uri="{FF2B5EF4-FFF2-40B4-BE49-F238E27FC236}">
                  <a16:creationId xmlns:a16="http://schemas.microsoft.com/office/drawing/2014/main" id="{C2086017-02DB-6B4C-7827-813F6BE3C048}"/>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6" name="Freeform: Shape 5">
              <a:extLst>
                <a:ext uri="{FF2B5EF4-FFF2-40B4-BE49-F238E27FC236}">
                  <a16:creationId xmlns:a16="http://schemas.microsoft.com/office/drawing/2014/main" id="{895DE4F4-1A00-F55C-64AF-45EB57937DB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7" name="Freeform: Shape 6">
              <a:extLst>
                <a:ext uri="{FF2B5EF4-FFF2-40B4-BE49-F238E27FC236}">
                  <a16:creationId xmlns:a16="http://schemas.microsoft.com/office/drawing/2014/main" id="{AA9135D8-6ACE-323C-3593-1364315287BE}"/>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8" name="!!Data Center Icon">
            <a:extLst>
              <a:ext uri="{FF2B5EF4-FFF2-40B4-BE49-F238E27FC236}">
                <a16:creationId xmlns:a16="http://schemas.microsoft.com/office/drawing/2014/main" id="{1378BC26-9637-0AD4-3906-D963CD658DA9}"/>
              </a:ext>
            </a:extLst>
          </p:cNvPr>
          <p:cNvGrpSpPr/>
          <p:nvPr/>
        </p:nvGrpSpPr>
        <p:grpSpPr>
          <a:xfrm>
            <a:off x="2563237" y="3782019"/>
            <a:ext cx="1011845" cy="741000"/>
            <a:chOff x="3915783" y="5046954"/>
            <a:chExt cx="1011845" cy="741000"/>
          </a:xfrm>
          <a:solidFill>
            <a:schemeClr val="bg1">
              <a:lumMod val="95000"/>
            </a:schemeClr>
          </a:solidFill>
        </p:grpSpPr>
        <p:sp>
          <p:nvSpPr>
            <p:cNvPr id="9" name="White fill">
              <a:extLst>
                <a:ext uri="{FF2B5EF4-FFF2-40B4-BE49-F238E27FC236}">
                  <a16:creationId xmlns:a16="http://schemas.microsoft.com/office/drawing/2014/main" id="{EF6926E4-9D19-C41F-046F-0552BA6114FA}"/>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0" name="Freeform: Shape 9">
              <a:extLst>
                <a:ext uri="{FF2B5EF4-FFF2-40B4-BE49-F238E27FC236}">
                  <a16:creationId xmlns:a16="http://schemas.microsoft.com/office/drawing/2014/main" id="{C3C600A9-20A3-8D05-8B34-1555CD955CFF}"/>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4" name="Freeform: Shape 13">
              <a:extLst>
                <a:ext uri="{FF2B5EF4-FFF2-40B4-BE49-F238E27FC236}">
                  <a16:creationId xmlns:a16="http://schemas.microsoft.com/office/drawing/2014/main" id="{6025ED39-606E-B4F6-2FC4-AC1513C82965}"/>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5" name="Freeform: Shape 14">
              <a:extLst>
                <a:ext uri="{FF2B5EF4-FFF2-40B4-BE49-F238E27FC236}">
                  <a16:creationId xmlns:a16="http://schemas.microsoft.com/office/drawing/2014/main" id="{620457CB-84D4-228D-BBE4-8CC580AFA41C}"/>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6" name="Freeform: Shape 15">
              <a:extLst>
                <a:ext uri="{FF2B5EF4-FFF2-40B4-BE49-F238E27FC236}">
                  <a16:creationId xmlns:a16="http://schemas.microsoft.com/office/drawing/2014/main" id="{6730130F-BCEB-1307-4784-6E5D5CA8EEE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13" name="Rectangle 12">
            <a:extLst>
              <a:ext uri="{FF2B5EF4-FFF2-40B4-BE49-F238E27FC236}">
                <a16:creationId xmlns:a16="http://schemas.microsoft.com/office/drawing/2014/main" id="{1C556B67-3905-9029-B989-5EC920ED9915}"/>
              </a:ext>
            </a:extLst>
          </p:cNvPr>
          <p:cNvSpPr/>
          <p:nvPr/>
        </p:nvSpPr>
        <p:spPr bwMode="auto">
          <a:xfrm>
            <a:off x="3129235" y="4991475"/>
            <a:ext cx="2555598" cy="365760"/>
          </a:xfrm>
          <a:prstGeom prst="rect">
            <a:avLst/>
          </a:prstGeom>
          <a:noFill/>
          <a:ln w="12700" cap="sq" algn="ctr">
            <a:noFill/>
            <a:miter lim="800000"/>
            <a:headEnd/>
            <a:tailEnd/>
          </a:ln>
          <a:effectLst/>
        </p:spPr>
        <p:txBody>
          <a:bodyPr wrap="square" lIns="0" tIns="0" rIns="0" bIns="0" rtlCol="0" anchor="ctr" anchorCtr="0"/>
          <a:lstStyle/>
          <a:p>
            <a:pPr algn="ctr">
              <a:lnSpc>
                <a:spcPct val="95000"/>
              </a:lnSpc>
              <a:spcBef>
                <a:spcPts val="1080"/>
              </a:spcBef>
            </a:pPr>
            <a:r>
              <a:rPr lang="en-US" sz="1400" b="1">
                <a:latin typeface="+mj-lt"/>
              </a:rPr>
              <a:t>Centralized </a:t>
            </a:r>
            <a:r>
              <a:rPr lang="en-US" sz="1400" b="1" err="1">
                <a:latin typeface="+mj-lt"/>
              </a:rPr>
              <a:t>NaaS</a:t>
            </a:r>
            <a:r>
              <a:rPr lang="en-US" sz="1400" b="1">
                <a:latin typeface="+mj-lt"/>
              </a:rPr>
              <a:t> Fabrics </a:t>
            </a:r>
          </a:p>
        </p:txBody>
      </p:sp>
      <p:sp>
        <p:nvSpPr>
          <p:cNvPr id="12" name="Slide Number Placeholder 11">
            <a:extLst>
              <a:ext uri="{FF2B5EF4-FFF2-40B4-BE49-F238E27FC236}">
                <a16:creationId xmlns:a16="http://schemas.microsoft.com/office/drawing/2014/main" id="{F7D28D36-BA6D-4F6A-B26A-59871F6A3DD8}"/>
              </a:ext>
            </a:extLst>
          </p:cNvPr>
          <p:cNvSpPr>
            <a:spLocks noGrp="1"/>
          </p:cNvSpPr>
          <p:nvPr>
            <p:ph type="sldNum" sz="quarter" idx="10"/>
          </p:nvPr>
        </p:nvSpPr>
        <p:spPr/>
        <p:txBody>
          <a:bodyPr/>
          <a:lstStyle/>
          <a:p>
            <a:fld id="{0246F002-FF83-614A-810B-169E974B53D7}" type="slidenum">
              <a:rPr lang="en-US" smtClean="0"/>
              <a:pPr/>
              <a:t>6</a:t>
            </a:fld>
            <a:r>
              <a:rPr lang="en-US"/>
              <a:t>  © 2026 MaiaEdge</a:t>
            </a:r>
            <a:endParaRPr lang="en-US" sz="900"/>
          </a:p>
        </p:txBody>
      </p:sp>
      <p:grpSp>
        <p:nvGrpSpPr>
          <p:cNvPr id="30" name="Maia Logo">
            <a:extLst>
              <a:ext uri="{FF2B5EF4-FFF2-40B4-BE49-F238E27FC236}">
                <a16:creationId xmlns:a16="http://schemas.microsoft.com/office/drawing/2014/main" id="{C3830FE1-895F-2F94-16EF-51918F3B6BDA}"/>
              </a:ext>
            </a:extLst>
          </p:cNvPr>
          <p:cNvGrpSpPr/>
          <p:nvPr/>
        </p:nvGrpSpPr>
        <p:grpSpPr>
          <a:xfrm>
            <a:off x="9984505" y="6181344"/>
            <a:ext cx="1697132" cy="414708"/>
            <a:chOff x="1447800" y="2292350"/>
            <a:chExt cx="7774788" cy="1899831"/>
          </a:xfrm>
        </p:grpSpPr>
        <p:sp>
          <p:nvSpPr>
            <p:cNvPr id="31" name="Freeform 20">
              <a:extLst>
                <a:ext uri="{FF2B5EF4-FFF2-40B4-BE49-F238E27FC236}">
                  <a16:creationId xmlns:a16="http://schemas.microsoft.com/office/drawing/2014/main" id="{F877B792-75AF-E019-C3CC-C688F1BF777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2" name="Freeform 21">
              <a:extLst>
                <a:ext uri="{FF2B5EF4-FFF2-40B4-BE49-F238E27FC236}">
                  <a16:creationId xmlns:a16="http://schemas.microsoft.com/office/drawing/2014/main" id="{DC7C0424-9D0E-6298-C41A-CFF3E5F0D6A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3" name="Freeform 22">
              <a:extLst>
                <a:ext uri="{FF2B5EF4-FFF2-40B4-BE49-F238E27FC236}">
                  <a16:creationId xmlns:a16="http://schemas.microsoft.com/office/drawing/2014/main" id="{947C1A3A-0956-4B7A-537E-4AA4B570195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1" name="Oval 20">
            <a:extLst>
              <a:ext uri="{FF2B5EF4-FFF2-40B4-BE49-F238E27FC236}">
                <a16:creationId xmlns:a16="http://schemas.microsoft.com/office/drawing/2014/main" id="{267AC6EA-D4B2-74E7-74DA-809E227CCB4D}"/>
              </a:ext>
            </a:extLst>
          </p:cNvPr>
          <p:cNvSpPr/>
          <p:nvPr/>
        </p:nvSpPr>
        <p:spPr bwMode="auto">
          <a:xfrm>
            <a:off x="6030705" y="299504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Ethernet</a:t>
            </a:r>
          </a:p>
          <a:p>
            <a:pPr algn="ctr">
              <a:lnSpc>
                <a:spcPct val="95000"/>
              </a:lnSpc>
            </a:pPr>
            <a:r>
              <a:rPr lang="en-US" sz="1600" b="1">
                <a:latin typeface="+mj-lt"/>
              </a:rPr>
              <a:t>N</a:t>
            </a:r>
          </a:p>
        </p:txBody>
      </p:sp>
      <p:sp>
        <p:nvSpPr>
          <p:cNvPr id="22" name="TextBox 21">
            <a:extLst>
              <a:ext uri="{FF2B5EF4-FFF2-40B4-BE49-F238E27FC236}">
                <a16:creationId xmlns:a16="http://schemas.microsoft.com/office/drawing/2014/main" id="{9C4FD1C0-0CF2-695B-148A-F81FBFC779ED}"/>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lang="en-US" sz="2000" b="1" spc="100" dirty="0">
                <a:solidFill>
                  <a:srgbClr val="FFC200"/>
                </a:solidFill>
                <a:latin typeface="Tomorrow Medium"/>
              </a:rPr>
              <a:t>Reach </a:t>
            </a:r>
            <a:br>
              <a:rPr lang="en-US" sz="3200" spc="100" dirty="0">
                <a:solidFill>
                  <a:srgbClr val="1C180D"/>
                </a:solidFill>
              </a:rPr>
            </a:br>
            <a:r>
              <a:rPr lang="en-US" sz="1600" dirty="0">
                <a:solidFill>
                  <a:srgbClr val="D4D0C9"/>
                </a:solidFill>
              </a:rPr>
              <a:t>Many can’t reach these fabrics easily. </a:t>
            </a:r>
          </a:p>
          <a:p>
            <a:pPr lvl="0">
              <a:lnSpc>
                <a:spcPct val="110000"/>
              </a:lnSpc>
              <a:spcAft>
                <a:spcPts val="2400"/>
              </a:spcAft>
              <a:defRPr/>
            </a:pPr>
            <a:r>
              <a:rPr lang="en-US" sz="2000" b="1" spc="100" dirty="0">
                <a:solidFill>
                  <a:srgbClr val="FFC200"/>
                </a:solidFill>
                <a:latin typeface="Tomorrow Medium"/>
              </a:rPr>
              <a:t>Control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Lose full ownership of the customer experience. </a:t>
            </a:r>
          </a:p>
          <a:p>
            <a:pPr lvl="0">
              <a:lnSpc>
                <a:spcPct val="110000"/>
              </a:lnSpc>
              <a:spcAft>
                <a:spcPts val="2400"/>
              </a:spcAft>
              <a:defRPr/>
            </a:pPr>
            <a:r>
              <a:rPr lang="en-US" sz="2000" b="1" spc="100" dirty="0">
                <a:solidFill>
                  <a:srgbClr val="FFC200"/>
                </a:solidFill>
                <a:latin typeface="Tomorrow Medium"/>
              </a:rPr>
              <a:t>Cost &amp; </a:t>
            </a:r>
            <a:r>
              <a:rPr lang="en-US" sz="2000" b="1" spc="100" noProof="0" dirty="0">
                <a:solidFill>
                  <a:srgbClr val="FFC200"/>
                </a:solidFill>
                <a:latin typeface="Tomorrow Medium"/>
              </a:rPr>
              <a:t>Complexity</a:t>
            </a:r>
            <a:br>
              <a:rPr kumimoji="0" lang="en-US" sz="2000" b="1" i="0" u="none" strike="noStrike" kern="1200" cap="none" spc="100" normalizeH="0" baseline="0" noProof="0" dirty="0">
                <a:ln>
                  <a:noFill/>
                </a:ln>
                <a:solidFill>
                  <a:srgbClr val="FFFFFF"/>
                </a:solidFill>
                <a:effectLst/>
                <a:uLnTx/>
                <a:uFillTx/>
                <a:latin typeface="Tomorrow Medium"/>
                <a:ea typeface="+mn-ea"/>
                <a:cs typeface="+mn-cs"/>
              </a:rPr>
            </a:br>
            <a:r>
              <a:rPr lang="en-US" sz="1600" noProof="0" dirty="0">
                <a:solidFill>
                  <a:srgbClr val="D4D0C9"/>
                </a:solidFill>
              </a:rPr>
              <a:t>Cloud connectivity s</a:t>
            </a:r>
            <a:r>
              <a:rPr lang="en-US" sz="1600" dirty="0">
                <a:solidFill>
                  <a:srgbClr val="D4D0C9"/>
                </a:solidFill>
              </a:rPr>
              <a:t>till requires a virtual router for multi-cloud and expensive long-haul transport.</a:t>
            </a:r>
          </a:p>
        </p:txBody>
      </p:sp>
    </p:spTree>
    <p:custDataLst>
      <p:tags r:id="rId1"/>
    </p:custDataLst>
    <p:extLst>
      <p:ext uri="{BB962C8B-B14F-4D97-AF65-F5344CB8AC3E}">
        <p14:creationId xmlns:p14="http://schemas.microsoft.com/office/powerpoint/2010/main" val="447640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250"/>
                                  </p:stCondLst>
                                  <p:childTnLst>
                                    <p:set>
                                      <p:cBhvr>
                                        <p:cTn id="6" dur="1" fill="hold">
                                          <p:stCondLst>
                                            <p:cond delay="0"/>
                                          </p:stCondLst>
                                        </p:cTn>
                                        <p:tgtEl>
                                          <p:spTgt spid="2139"/>
                                        </p:tgtEl>
                                        <p:attrNameLst>
                                          <p:attrName>style.visibility</p:attrName>
                                        </p:attrNameLst>
                                      </p:cBhvr>
                                      <p:to>
                                        <p:strVal val="visible"/>
                                      </p:to>
                                    </p:set>
                                    <p:animEffect transition="in" filter="fade">
                                      <p:cBhvr>
                                        <p:cTn id="7" dur="500"/>
                                        <p:tgtEl>
                                          <p:spTgt spid="2139"/>
                                        </p:tgtEl>
                                      </p:cBhvr>
                                    </p:animEffect>
                                    <p:anim calcmode="lin" valueType="num">
                                      <p:cBhvr>
                                        <p:cTn id="8" dur="500" fill="hold"/>
                                        <p:tgtEl>
                                          <p:spTgt spid="2139"/>
                                        </p:tgtEl>
                                        <p:attrNameLst>
                                          <p:attrName>ppt_x</p:attrName>
                                        </p:attrNameLst>
                                      </p:cBhvr>
                                      <p:tavLst>
                                        <p:tav tm="0">
                                          <p:val>
                                            <p:strVal val="#ppt_x"/>
                                          </p:val>
                                        </p:tav>
                                        <p:tav tm="100000">
                                          <p:val>
                                            <p:strVal val="#ppt_x"/>
                                          </p:val>
                                        </p:tav>
                                      </p:tavLst>
                                    </p:anim>
                                    <p:anim calcmode="lin" valueType="num">
                                      <p:cBhvr>
                                        <p:cTn id="9" dur="500" fill="hold"/>
                                        <p:tgtEl>
                                          <p:spTgt spid="2139"/>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25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anim calcmode="lin" valueType="num">
                                      <p:cBhvr>
                                        <p:cTn id="13" dur="500" fill="hold"/>
                                        <p:tgtEl>
                                          <p:spTgt spid="17"/>
                                        </p:tgtEl>
                                        <p:attrNameLst>
                                          <p:attrName>ppt_x</p:attrName>
                                        </p:attrNameLst>
                                      </p:cBhvr>
                                      <p:tavLst>
                                        <p:tav tm="0">
                                          <p:val>
                                            <p:strVal val="#ppt_x"/>
                                          </p:val>
                                        </p:tav>
                                        <p:tav tm="100000">
                                          <p:val>
                                            <p:strVal val="#ppt_x"/>
                                          </p:val>
                                        </p:tav>
                                      </p:tavLst>
                                    </p:anim>
                                    <p:anim calcmode="lin" valueType="num">
                                      <p:cBhvr>
                                        <p:cTn id="14" dur="500" fill="hold"/>
                                        <p:tgtEl>
                                          <p:spTgt spid="17"/>
                                        </p:tgtEl>
                                        <p:attrNameLst>
                                          <p:attrName>ppt_y</p:attrName>
                                        </p:attrNameLst>
                                      </p:cBhvr>
                                      <p:tavLst>
                                        <p:tav tm="0">
                                          <p:val>
                                            <p:strVal val="#ppt_y-.1"/>
                                          </p:val>
                                        </p:tav>
                                        <p:tav tm="100000">
                                          <p:val>
                                            <p:strVal val="#ppt_y"/>
                                          </p:val>
                                        </p:tav>
                                      </p:tavLst>
                                    </p:anim>
                                  </p:childTnLst>
                                </p:cTn>
                              </p:par>
                            </p:childTnLst>
                          </p:cTn>
                        </p:par>
                        <p:par>
                          <p:cTn id="15" fill="hold">
                            <p:stCondLst>
                              <p:cond delay="750"/>
                            </p:stCondLst>
                            <p:childTnLst>
                              <p:par>
                                <p:cTn id="16" presetID="53" presetClass="entr" presetSubtype="16" fill="hold" nodeType="afterEffect">
                                  <p:stCondLst>
                                    <p:cond delay="0"/>
                                  </p:stCondLst>
                                  <p:childTnLst>
                                    <p:set>
                                      <p:cBhvr>
                                        <p:cTn id="17" dur="1" fill="hold">
                                          <p:stCondLst>
                                            <p:cond delay="0"/>
                                          </p:stCondLst>
                                        </p:cTn>
                                        <p:tgtEl>
                                          <p:spTgt spid="2209"/>
                                        </p:tgtEl>
                                        <p:attrNameLst>
                                          <p:attrName>style.visibility</p:attrName>
                                        </p:attrNameLst>
                                      </p:cBhvr>
                                      <p:to>
                                        <p:strVal val="visible"/>
                                      </p:to>
                                    </p:set>
                                    <p:anim calcmode="lin" valueType="num">
                                      <p:cBhvr>
                                        <p:cTn id="18" dur="500" fill="hold"/>
                                        <p:tgtEl>
                                          <p:spTgt spid="2209"/>
                                        </p:tgtEl>
                                        <p:attrNameLst>
                                          <p:attrName>ppt_w</p:attrName>
                                        </p:attrNameLst>
                                      </p:cBhvr>
                                      <p:tavLst>
                                        <p:tav tm="0">
                                          <p:val>
                                            <p:fltVal val="0"/>
                                          </p:val>
                                        </p:tav>
                                        <p:tav tm="100000">
                                          <p:val>
                                            <p:strVal val="#ppt_w"/>
                                          </p:val>
                                        </p:tav>
                                      </p:tavLst>
                                    </p:anim>
                                    <p:anim calcmode="lin" valueType="num">
                                      <p:cBhvr>
                                        <p:cTn id="19" dur="500" fill="hold"/>
                                        <p:tgtEl>
                                          <p:spTgt spid="2209"/>
                                        </p:tgtEl>
                                        <p:attrNameLst>
                                          <p:attrName>ppt_h</p:attrName>
                                        </p:attrNameLst>
                                      </p:cBhvr>
                                      <p:tavLst>
                                        <p:tav tm="0">
                                          <p:val>
                                            <p:fltVal val="0"/>
                                          </p:val>
                                        </p:tav>
                                        <p:tav tm="100000">
                                          <p:val>
                                            <p:strVal val="#ppt_h"/>
                                          </p:val>
                                        </p:tav>
                                      </p:tavLst>
                                    </p:anim>
                                    <p:animEffect transition="in" filter="fade">
                                      <p:cBhvr>
                                        <p:cTn id="20" dur="500"/>
                                        <p:tgtEl>
                                          <p:spTgt spid="2209"/>
                                        </p:tgtEl>
                                      </p:cBhvr>
                                    </p:animEffect>
                                  </p:childTnLst>
                                </p:cTn>
                              </p:par>
                              <p:par>
                                <p:cTn id="21" presetID="53" presetClass="entr" presetSubtype="16" fill="hold" nodeType="withEffect">
                                  <p:stCondLst>
                                    <p:cond delay="0"/>
                                  </p:stCondLst>
                                  <p:childTnLst>
                                    <p:set>
                                      <p:cBhvr>
                                        <p:cTn id="22" dur="1" fill="hold">
                                          <p:stCondLst>
                                            <p:cond delay="0"/>
                                          </p:stCondLst>
                                        </p:cTn>
                                        <p:tgtEl>
                                          <p:spTgt spid="2208"/>
                                        </p:tgtEl>
                                        <p:attrNameLst>
                                          <p:attrName>style.visibility</p:attrName>
                                        </p:attrNameLst>
                                      </p:cBhvr>
                                      <p:to>
                                        <p:strVal val="visible"/>
                                      </p:to>
                                    </p:set>
                                    <p:anim calcmode="lin" valueType="num">
                                      <p:cBhvr>
                                        <p:cTn id="23" dur="500" fill="hold"/>
                                        <p:tgtEl>
                                          <p:spTgt spid="2208"/>
                                        </p:tgtEl>
                                        <p:attrNameLst>
                                          <p:attrName>ppt_w</p:attrName>
                                        </p:attrNameLst>
                                      </p:cBhvr>
                                      <p:tavLst>
                                        <p:tav tm="0">
                                          <p:val>
                                            <p:fltVal val="0"/>
                                          </p:val>
                                        </p:tav>
                                        <p:tav tm="100000">
                                          <p:val>
                                            <p:strVal val="#ppt_w"/>
                                          </p:val>
                                        </p:tav>
                                      </p:tavLst>
                                    </p:anim>
                                    <p:anim calcmode="lin" valueType="num">
                                      <p:cBhvr>
                                        <p:cTn id="24" dur="500" fill="hold"/>
                                        <p:tgtEl>
                                          <p:spTgt spid="2208"/>
                                        </p:tgtEl>
                                        <p:attrNameLst>
                                          <p:attrName>ppt_h</p:attrName>
                                        </p:attrNameLst>
                                      </p:cBhvr>
                                      <p:tavLst>
                                        <p:tav tm="0">
                                          <p:val>
                                            <p:fltVal val="0"/>
                                          </p:val>
                                        </p:tav>
                                        <p:tav tm="100000">
                                          <p:val>
                                            <p:strVal val="#ppt_h"/>
                                          </p:val>
                                        </p:tav>
                                      </p:tavLst>
                                    </p:anim>
                                    <p:animEffect transition="in" filter="fade">
                                      <p:cBhvr>
                                        <p:cTn id="25" dur="500"/>
                                        <p:tgtEl>
                                          <p:spTgt spid="220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076"/>
                                        </p:tgtEl>
                                        <p:attrNameLst>
                                          <p:attrName>style.visibility</p:attrName>
                                        </p:attrNameLst>
                                      </p:cBhvr>
                                      <p:to>
                                        <p:strVal val="visible"/>
                                      </p:to>
                                    </p:set>
                                    <p:anim calcmode="lin" valueType="num">
                                      <p:cBhvr additive="base">
                                        <p:cTn id="30" dur="500" fill="hold"/>
                                        <p:tgtEl>
                                          <p:spTgt spid="2076"/>
                                        </p:tgtEl>
                                        <p:attrNameLst>
                                          <p:attrName>ppt_x</p:attrName>
                                        </p:attrNameLst>
                                      </p:cBhvr>
                                      <p:tavLst>
                                        <p:tav tm="0">
                                          <p:val>
                                            <p:strVal val="#ppt_x"/>
                                          </p:val>
                                        </p:tav>
                                        <p:tav tm="100000">
                                          <p:val>
                                            <p:strVal val="#ppt_x"/>
                                          </p:val>
                                        </p:tav>
                                      </p:tavLst>
                                    </p:anim>
                                    <p:anim calcmode="lin" valueType="num">
                                      <p:cBhvr additive="base">
                                        <p:cTn id="31" dur="500" fill="hold"/>
                                        <p:tgtEl>
                                          <p:spTgt spid="2076"/>
                                        </p:tgtEl>
                                        <p:attrNameLst>
                                          <p:attrName>ppt_y</p:attrName>
                                        </p:attrNameLst>
                                      </p:cBhvr>
                                      <p:tavLst>
                                        <p:tav tm="0">
                                          <p:val>
                                            <p:strVal val="1+#ppt_h/2"/>
                                          </p:val>
                                        </p:tav>
                                        <p:tav tm="100000">
                                          <p:val>
                                            <p:strVal val="#ppt_y"/>
                                          </p:val>
                                        </p:tav>
                                      </p:tavLst>
                                    </p:anim>
                                  </p:childTnLst>
                                </p:cTn>
                              </p:par>
                              <p:par>
                                <p:cTn id="32" presetID="10" presetClass="entr" presetSubtype="0" fill="hold" grpId="0" nodeType="withEffect">
                                  <p:stCondLst>
                                    <p:cond delay="50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6" grpId="0" animBg="1"/>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B9F315-BD9A-323A-F1CB-82BF071A1949}"/>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E4FA4873-4E9B-59DE-1109-E4C48B0E9FCB}"/>
              </a:ext>
            </a:extLst>
          </p:cNvPr>
          <p:cNvGrpSpPr/>
          <p:nvPr/>
        </p:nvGrpSpPr>
        <p:grpSpPr>
          <a:xfrm>
            <a:off x="-1" y="4685114"/>
            <a:ext cx="12192000" cy="2187331"/>
            <a:chOff x="0" y="4390275"/>
            <a:chExt cx="12192000" cy="2467725"/>
          </a:xfrm>
        </p:grpSpPr>
        <p:sp>
          <p:nvSpPr>
            <p:cNvPr id="15" name="Rectangle 14">
              <a:extLst>
                <a:ext uri="{FF2B5EF4-FFF2-40B4-BE49-F238E27FC236}">
                  <a16:creationId xmlns:a16="http://schemas.microsoft.com/office/drawing/2014/main" id="{F10B72B7-776A-0BC2-68D1-54654B5F732F}"/>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889AC321-857B-3D26-15E2-F361FB8E2A0A}"/>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7DDF0A76-1452-7AFD-6CC1-9A6B5F9A78FA}"/>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C85CD263-31D6-17A2-A0D6-EC5D926496BA}"/>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2EBA3C35-40BA-878A-25E0-901A40794823}"/>
              </a:ext>
            </a:extLst>
          </p:cNvPr>
          <p:cNvSpPr txBox="1"/>
          <p:nvPr/>
        </p:nvSpPr>
        <p:spPr>
          <a:xfrm>
            <a:off x="507270" y="4245409"/>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C5F4CD41-4195-AEAC-ECA2-16F5232C9322}"/>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0C9AF722-E6AC-F59C-6FD2-C1CE9E18C5B3}"/>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B6BCD079-0438-2C37-D587-2264019DB8AD}"/>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8DF06EEF-D65D-50AB-74D9-E2325B00F897}"/>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854BC067-66AC-17C5-FD8E-EA3C45015EB5}"/>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5646F99A-CCAA-2ACF-2E68-19CB57449943}"/>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C48C3597-846A-0422-190A-D69BDDC758C0}"/>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9563621-C1CD-7487-8BAE-AC26F46AF052}"/>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5B10B90A-203F-66E8-B6D7-C9EF84B4A380}"/>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26AB2B07-5614-6135-F394-E90CBB6FE982}"/>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1740AA8-10AB-1AC2-4DEE-50BFD8BF612B}"/>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7A000602-F2CD-1875-BA3E-2891770CD792}"/>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30D32E6B-261F-742F-BEE2-BF0331FA6D4F}"/>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BC643D34-9653-7D29-79EA-D5F84293A8A6}"/>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122FFC4-C2B6-A023-CA97-03BCB6ED8213}"/>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150B8C9A-7F51-CC28-FEFA-4728D893E844}"/>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6610452E-F49A-F13E-363A-8015776944FB}"/>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B0C02FA-1C17-AF06-DFFE-9213F9664963}"/>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2B22E37-EDAB-4374-F712-63B447FCBACD}"/>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2AD1D1A9-CE23-1F05-3CEA-C3E02136498C}"/>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12A6505A-272C-B462-6F16-022238ED003F}"/>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71592E3-8FE2-AA47-B984-0E9A50A9208F}"/>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B035C86C-F788-23CC-0B8B-38605E33E318}"/>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8882EA99-BD78-F9CE-3444-1E8A267A9009}"/>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A66589F-E99B-4262-9BB7-F670D9CC64CD}"/>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91560F6-AB3F-1B1A-1ED8-8FAF2C33C684}"/>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3FD1F770-4742-45E3-623A-6D87ED52A0CB}"/>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777BB1FA-0607-4E35-021C-E6A1142B7FEC}"/>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3644EF53-3D90-E04A-2F1C-28B5DB5AC0C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5B961DE1-469D-B206-086B-D8DC370F8A87}"/>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E3C349C2-BA47-F714-E2D8-DB98BFCBB5C6}"/>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D53A7FA5-A556-AD2C-8733-D03A0C80D6D5}"/>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15095E09-4B96-8D46-1253-16E6DBD2BCB3}"/>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5D691D6D-C004-98E2-B307-E0193726D25E}"/>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B53853E7-9B71-8F61-92C6-1224628A14C9}"/>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B85DB29B-11C5-6362-3490-1621B6D693E2}"/>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B18F496A-D086-87B7-3A35-93FDC03D0488}"/>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ED4B1406-0FFD-945F-9EC6-BB8DB56A9979}"/>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AC4B480C-98A2-8EC7-AED7-91B5ADD4C882}"/>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E64F87C8-ED4F-53C2-FCD1-0FA6793D212B}"/>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1215338D-2039-84CD-D2E3-927A81F26C93}"/>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sp>
        <p:nvSpPr>
          <p:cNvPr id="105" name="TextBox 65">
            <a:extLst>
              <a:ext uri="{FF2B5EF4-FFF2-40B4-BE49-F238E27FC236}">
                <a16:creationId xmlns:a16="http://schemas.microsoft.com/office/drawing/2014/main" id="{914B3DE3-BB22-7BF1-C812-B44B45086316}"/>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106" name="TextBox 68">
            <a:extLst>
              <a:ext uri="{FF2B5EF4-FFF2-40B4-BE49-F238E27FC236}">
                <a16:creationId xmlns:a16="http://schemas.microsoft.com/office/drawing/2014/main" id="{021A8FC0-0D2C-019D-E785-543501CDA918}"/>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sp>
        <p:nvSpPr>
          <p:cNvPr id="107" name="Freeform 74">
            <a:extLst>
              <a:ext uri="{FF2B5EF4-FFF2-40B4-BE49-F238E27FC236}">
                <a16:creationId xmlns:a16="http://schemas.microsoft.com/office/drawing/2014/main" id="{70B51535-CBF8-6CF3-F04A-CD56FCE31A5D}"/>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0"/>
            <a:stretch>
              <a:fillRect/>
            </a:stretch>
          </a:blipFill>
        </p:spPr>
        <p:txBody>
          <a:bodyPr/>
          <a:lstStyle/>
          <a:p>
            <a:endParaRPr lang="en-US"/>
          </a:p>
        </p:txBody>
      </p:sp>
      <p:sp>
        <p:nvSpPr>
          <p:cNvPr id="108" name="Freeform 75">
            <a:extLst>
              <a:ext uri="{FF2B5EF4-FFF2-40B4-BE49-F238E27FC236}">
                <a16:creationId xmlns:a16="http://schemas.microsoft.com/office/drawing/2014/main" id="{BF6DFFEA-8A50-2F39-A9CF-5F2309895642}"/>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0"/>
            <a:stretch>
              <a:fillRect/>
            </a:stretch>
          </a:blipFill>
        </p:spPr>
        <p:txBody>
          <a:bodyPr/>
          <a:lstStyle/>
          <a:p>
            <a:endParaRPr lang="en-US"/>
          </a:p>
        </p:txBody>
      </p:sp>
      <p:grpSp>
        <p:nvGrpSpPr>
          <p:cNvPr id="109" name="Group 76">
            <a:extLst>
              <a:ext uri="{FF2B5EF4-FFF2-40B4-BE49-F238E27FC236}">
                <a16:creationId xmlns:a16="http://schemas.microsoft.com/office/drawing/2014/main" id="{1674044B-CEEA-62F0-2B46-852CCD65514C}"/>
              </a:ext>
            </a:extLst>
          </p:cNvPr>
          <p:cNvGrpSpPr/>
          <p:nvPr/>
        </p:nvGrpSpPr>
        <p:grpSpPr>
          <a:xfrm>
            <a:off x="10163391" y="2332989"/>
            <a:ext cx="1497143" cy="901935"/>
            <a:chOff x="0" y="0"/>
            <a:chExt cx="1996191" cy="1202580"/>
          </a:xfrm>
        </p:grpSpPr>
        <p:sp>
          <p:nvSpPr>
            <p:cNvPr id="110" name="Freeform 77">
              <a:extLst>
                <a:ext uri="{FF2B5EF4-FFF2-40B4-BE49-F238E27FC236}">
                  <a16:creationId xmlns:a16="http://schemas.microsoft.com/office/drawing/2014/main" id="{546E8410-B969-57AD-65ED-89E390B3415C}"/>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E006B7CB-24D5-B916-2478-02514B1550AC}"/>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F1D0281A-7245-AFDB-1E3E-F7367462A5E4}"/>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6FB5BD61-6E5A-11DF-BD03-CB6A0BE9385D}"/>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1"/>
              <a:stretch>
                <a:fillRect l="-89563" r="-93613" b="-65656"/>
              </a:stretch>
            </a:blipFill>
          </p:spPr>
          <p:txBody>
            <a:bodyPr/>
            <a:lstStyle/>
            <a:p>
              <a:endParaRPr lang="en-US"/>
            </a:p>
          </p:txBody>
        </p:sp>
        <p:sp>
          <p:nvSpPr>
            <p:cNvPr id="114" name="Freeform 81">
              <a:extLst>
                <a:ext uri="{FF2B5EF4-FFF2-40B4-BE49-F238E27FC236}">
                  <a16:creationId xmlns:a16="http://schemas.microsoft.com/office/drawing/2014/main" id="{F46A38C1-3FA5-BA84-DBA1-C5C03A746D31}"/>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2"/>
              <a:stretch>
                <a:fillRect/>
              </a:stretch>
            </a:blipFill>
          </p:spPr>
          <p:txBody>
            <a:bodyPr/>
            <a:lstStyle/>
            <a:p>
              <a:endParaRPr lang="en-US"/>
            </a:p>
          </p:txBody>
        </p:sp>
        <p:sp>
          <p:nvSpPr>
            <p:cNvPr id="115" name="Freeform 82">
              <a:extLst>
                <a:ext uri="{FF2B5EF4-FFF2-40B4-BE49-F238E27FC236}">
                  <a16:creationId xmlns:a16="http://schemas.microsoft.com/office/drawing/2014/main" id="{3DC34257-9BEA-CFFC-7BF2-83130F258C47}"/>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123" name="Group 122">
            <a:extLst>
              <a:ext uri="{FF2B5EF4-FFF2-40B4-BE49-F238E27FC236}">
                <a16:creationId xmlns:a16="http://schemas.microsoft.com/office/drawing/2014/main" id="{FCD4D924-30F8-6EE5-B7EA-E7C068ECF97E}"/>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AAC21FF4-5D67-754B-A524-B67AA93369A0}"/>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solidFill>
                    <a:srgbClr val="FFFFFF"/>
                  </a:solidFill>
                  <a:latin typeface="Arial"/>
                </a:rPr>
                <a:t>Provision Layer 2 Ethernet paths across any network, any transport. </a:t>
              </a: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117" name="TextBox 116">
              <a:extLst>
                <a:ext uri="{FF2B5EF4-FFF2-40B4-BE49-F238E27FC236}">
                  <a16:creationId xmlns:a16="http://schemas.microsoft.com/office/drawing/2014/main" id="{D5F92197-230D-D1D9-05AE-86EA9CA5C913}"/>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FAE39561-54C3-D82C-9159-66B7E78FE6E8}"/>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DA3B7881-ED3D-88E4-0E0B-B215D403A565}"/>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Deterministic connectivity across network boundaries. </a:t>
              </a:r>
            </a:p>
            <a:p>
              <a:pPr lvl="0">
                <a:defRPr/>
              </a:pPr>
              <a:endParaRPr lang="en-US" sz="1600">
                <a:solidFill>
                  <a:srgbClr val="FFFFFF"/>
                </a:solidFill>
              </a:endParaRPr>
            </a:p>
          </p:txBody>
        </p:sp>
        <p:sp>
          <p:nvSpPr>
            <p:cNvPr id="118" name="TextBox 117">
              <a:extLst>
                <a:ext uri="{FF2B5EF4-FFF2-40B4-BE49-F238E27FC236}">
                  <a16:creationId xmlns:a16="http://schemas.microsoft.com/office/drawing/2014/main" id="{63BC2F2C-3F72-A9B9-4A0B-B3E15BE587D2}"/>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5A45AD48-5D63-1E6D-24CE-CDFA382C499F}"/>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1448404B-C3E9-540E-DD85-860DE66EF19F}"/>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723989A4-6801-C08F-9873-1A10D18FEA77}"/>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E5F696E4-FCA0-1E98-2303-945BB301B500}"/>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A9ACF46C-B682-2EDA-A018-973B7D2D9CC9}"/>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Your Network</a:t>
            </a:r>
            <a:endParaRPr lang="en-US" sz="1600" b="1">
              <a:latin typeface="+mj-lt"/>
            </a:endParaRPr>
          </a:p>
        </p:txBody>
      </p:sp>
    </p:spTree>
    <p:extLst>
      <p:ext uri="{BB962C8B-B14F-4D97-AF65-F5344CB8AC3E}">
        <p14:creationId xmlns:p14="http://schemas.microsoft.com/office/powerpoint/2010/main" val="1177891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79A177-1FA3-3EAF-B128-5ED2849265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8422E8-13CB-0FD6-8D35-BD25469CEF7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D343610-E3BE-E5EE-4B49-9E72B40CB834}"/>
              </a:ext>
            </a:extLst>
          </p:cNvPr>
          <p:cNvSpPr>
            <a:spLocks noGrp="1"/>
          </p:cNvSpPr>
          <p:nvPr>
            <p:ph type="title"/>
          </p:nvPr>
        </p:nvSpPr>
        <p:spPr/>
        <p:txBody>
          <a:bodyPr/>
          <a:lstStyle/>
          <a:p>
            <a:r>
              <a:rPr lang="en-US" sz="2800" dirty="0"/>
              <a:t>Instant Private Fabric</a:t>
            </a:r>
          </a:p>
        </p:txBody>
      </p:sp>
      <p:sp>
        <p:nvSpPr>
          <p:cNvPr id="11" name="Rectangle 10">
            <a:extLst>
              <a:ext uri="{FF2B5EF4-FFF2-40B4-BE49-F238E27FC236}">
                <a16:creationId xmlns:a16="http://schemas.microsoft.com/office/drawing/2014/main" id="{70C4AB17-ECCD-8A53-2B67-A1D992DFD265}"/>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40BA0B61-4F61-6E6F-15B3-3C9184AB3DC3}"/>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B28B44A3-D18D-E570-C16F-A5CE2B80FC12}"/>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2DA74F7B-7AD6-67EC-A50C-83FBE43D63A3}"/>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Programmable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Deliver layer 2 Ethernet services instantly over</a:t>
            </a:r>
            <a:r>
              <a:rPr kumimoji="0" lang="en-US" sz="1600" b="0" i="0" u="none" strike="noStrike" kern="1200" cap="none" spc="0" normalizeH="0" noProof="0" dirty="0">
                <a:ln>
                  <a:noFill/>
                </a:ln>
                <a:solidFill>
                  <a:srgbClr val="D4D0C9"/>
                </a:solidFill>
                <a:effectLst/>
                <a:uLnTx/>
                <a:uFillTx/>
                <a:latin typeface="Arial"/>
                <a:ea typeface="+mn-ea"/>
                <a:cs typeface="+mn-cs"/>
              </a:rPr>
              <a:t> fiber or DIA. No routing complexity.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Federate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Reach beyond your network edge. Monetize underutilized capacity. </a:t>
            </a:r>
          </a:p>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noProof="0" dirty="0">
                <a:ln>
                  <a:noFill/>
                </a:ln>
                <a:solidFill>
                  <a:srgbClr val="FFC200"/>
                </a:solidFill>
                <a:effectLst/>
                <a:uLnTx/>
                <a:uFillTx/>
                <a:latin typeface="Tomorrow Medium"/>
                <a:ea typeface="+mn-ea"/>
                <a:cs typeface="+mn-cs"/>
              </a:rPr>
              <a:t>Control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Interconnect with partners, NaaS fabrics,</a:t>
            </a:r>
            <a:r>
              <a:rPr kumimoji="0" lang="en-US" sz="1600" b="0" i="0" u="none" strike="noStrike" kern="1200" cap="none" spc="0" normalizeH="0" noProof="0" dirty="0">
                <a:ln>
                  <a:noFill/>
                </a:ln>
                <a:solidFill>
                  <a:srgbClr val="D4D0C9"/>
                </a:solidFill>
                <a:effectLst/>
                <a:uLnTx/>
                <a:uFillTx/>
                <a:latin typeface="Arial"/>
                <a:ea typeface="+mn-ea"/>
                <a:cs typeface="+mn-cs"/>
              </a:rPr>
              <a:t> </a:t>
            </a:r>
            <a:r>
              <a:rPr kumimoji="0" lang="en-US" sz="1600" b="0" i="0" u="none" strike="noStrike" kern="1200" cap="none" spc="0" normalizeH="0" baseline="0" noProof="0" dirty="0">
                <a:ln>
                  <a:noFill/>
                </a:ln>
                <a:solidFill>
                  <a:srgbClr val="D4D0C9"/>
                </a:solidFill>
                <a:effectLst/>
                <a:uLnTx/>
                <a:uFillTx/>
                <a:latin typeface="Arial"/>
                <a:ea typeface="+mn-ea"/>
                <a:cs typeface="+mn-cs"/>
              </a:rPr>
              <a:t>and clouds, while maintaining</a:t>
            </a:r>
            <a:r>
              <a:rPr kumimoji="0" lang="en-US" sz="1600" b="0" i="0" u="none" strike="noStrike" kern="1200" cap="none" spc="0" normalizeH="0" noProof="0" dirty="0">
                <a:ln>
                  <a:noFill/>
                </a:ln>
                <a:solidFill>
                  <a:srgbClr val="D4D0C9"/>
                </a:solidFill>
                <a:effectLst/>
                <a:uLnTx/>
                <a:uFillTx/>
                <a:latin typeface="Arial"/>
                <a:ea typeface="+mn-ea"/>
                <a:cs typeface="+mn-cs"/>
              </a:rPr>
              <a:t> complete</a:t>
            </a:r>
            <a:r>
              <a:rPr kumimoji="0" lang="en-US" sz="1600" b="0" i="0" u="none" strike="noStrike" kern="1200" cap="none" spc="0" normalizeH="0" baseline="0" noProof="0" dirty="0">
                <a:ln>
                  <a:noFill/>
                </a:ln>
                <a:solidFill>
                  <a:srgbClr val="D4D0C9"/>
                </a:solidFill>
                <a:effectLst/>
                <a:uLnTx/>
                <a:uFillTx/>
                <a:latin typeface="Arial"/>
                <a:ea typeface="+mn-ea"/>
                <a:cs typeface="+mn-cs"/>
              </a:rPr>
              <a:t> customer ownership. </a:t>
            </a:r>
          </a:p>
        </p:txBody>
      </p:sp>
      <p:sp>
        <p:nvSpPr>
          <p:cNvPr id="54" name="Slide Number Placeholder 11">
            <a:extLst>
              <a:ext uri="{FF2B5EF4-FFF2-40B4-BE49-F238E27FC236}">
                <a16:creationId xmlns:a16="http://schemas.microsoft.com/office/drawing/2014/main" id="{2996E189-05A3-C252-5A01-DFE45A7FD3BC}"/>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F22A7A85-0D2C-A774-DB1B-8772F525C748}"/>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FCBEB29-8CE6-541F-C8BF-53A7653D558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4499CF97-394C-1721-5F56-3A88CFFCEB5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CF25C2C3-68DD-5D6B-4C64-AF7BD89B615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90E67ED6-D96B-7739-D1BA-DE803476C5F0}"/>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35" name="Curve">
            <a:extLst>
              <a:ext uri="{FF2B5EF4-FFF2-40B4-BE49-F238E27FC236}">
                <a16:creationId xmlns:a16="http://schemas.microsoft.com/office/drawing/2014/main" id="{435BC093-01F2-3331-F250-F27AD0DF260B}"/>
              </a:ext>
            </a:extLst>
          </p:cNvPr>
          <p:cNvSpPr/>
          <p:nvPr/>
        </p:nvSpPr>
        <p:spPr>
          <a:xfrm rot="10800000">
            <a:off x="2169537" y="2943965"/>
            <a:ext cx="4597820" cy="1471776"/>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25400" cap="flat">
            <a:solidFill>
              <a:srgbClr val="FFC2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7" name="AutoShape 44">
            <a:extLst>
              <a:ext uri="{FF2B5EF4-FFF2-40B4-BE49-F238E27FC236}">
                <a16:creationId xmlns:a16="http://schemas.microsoft.com/office/drawing/2014/main" id="{3B1951C5-8990-CA09-CECC-00D271A38F08}"/>
              </a:ext>
            </a:extLst>
          </p:cNvPr>
          <p:cNvSpPr/>
          <p:nvPr/>
        </p:nvSpPr>
        <p:spPr>
          <a:xfrm flipV="1">
            <a:off x="2221344" y="4370439"/>
            <a:ext cx="4523337" cy="3100"/>
          </a:xfrm>
          <a:prstGeom prst="line">
            <a:avLst/>
          </a:prstGeom>
          <a:ln w="38100" cap="flat">
            <a:solidFill>
              <a:srgbClr val="FFC2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FAE856F1-3131-536B-AC09-7DC917196E8C}"/>
              </a:ext>
            </a:extLst>
          </p:cNvPr>
          <p:cNvSpPr/>
          <p:nvPr/>
        </p:nvSpPr>
        <p:spPr bwMode="auto">
          <a:xfrm>
            <a:off x="3584743" y="5965845"/>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Tomorrow Medium"/>
                <a:ea typeface="+mn-ea"/>
                <a:cs typeface="+mn-cs"/>
              </a:rPr>
              <a:t>Meet-me Room</a:t>
            </a:r>
          </a:p>
        </p:txBody>
      </p:sp>
      <p:sp>
        <p:nvSpPr>
          <p:cNvPr id="30" name="Curve">
            <a:extLst>
              <a:ext uri="{FF2B5EF4-FFF2-40B4-BE49-F238E27FC236}">
                <a16:creationId xmlns:a16="http://schemas.microsoft.com/office/drawing/2014/main" id="{BCE9D151-39FB-3723-A857-97DD112B6B43}"/>
              </a:ext>
            </a:extLst>
          </p:cNvPr>
          <p:cNvSpPr/>
          <p:nvPr/>
        </p:nvSpPr>
        <p:spPr>
          <a:xfrm>
            <a:off x="2155130" y="4428593"/>
            <a:ext cx="4597820" cy="1471776"/>
          </a:xfrm>
          <a:custGeom>
            <a:avLst/>
            <a:gdLst>
              <a:gd name="csX0" fmla="*/ 0 w 4150175"/>
              <a:gd name="csY0" fmla="*/ 0 h 1681777"/>
              <a:gd name="csX1" fmla="*/ 2075025 w 4150175"/>
              <a:gd name="csY1" fmla="*/ 1681778 h 1681777"/>
              <a:gd name="csX2" fmla="*/ 4150175 w 4150175"/>
              <a:gd name="csY2" fmla="*/ 0 h 1681777"/>
            </a:gdLst>
            <a:ahLst/>
            <a:cxnLst>
              <a:cxn ang="0">
                <a:pos x="csX0" y="csY0"/>
              </a:cxn>
              <a:cxn ang="0">
                <a:pos x="csX1" y="csY1"/>
              </a:cxn>
              <a:cxn ang="0">
                <a:pos x="csX2" y="csY2"/>
              </a:cxn>
            </a:cxnLst>
            <a:rect l="l" t="t" r="r" b="b"/>
            <a:pathLst>
              <a:path w="4150175" h="1681777">
                <a:moveTo>
                  <a:pt x="0" y="0"/>
                </a:moveTo>
                <a:cubicBezTo>
                  <a:pt x="202226" y="960638"/>
                  <a:pt x="1054323" y="1681778"/>
                  <a:pt x="2075025" y="1681778"/>
                </a:cubicBezTo>
                <a:cubicBezTo>
                  <a:pt x="3095727" y="1681778"/>
                  <a:pt x="3947949" y="960512"/>
                  <a:pt x="4150175" y="0"/>
                </a:cubicBezTo>
              </a:path>
            </a:pathLst>
          </a:custGeom>
          <a:noFill/>
          <a:ln w="25400" cap="flat">
            <a:gradFill flip="none" rotWithShape="1">
              <a:gsLst>
                <a:gs pos="72000">
                  <a:schemeClr val="accent1"/>
                </a:gs>
                <a:gs pos="100000">
                  <a:schemeClr val="accent2"/>
                </a:gs>
              </a:gsLst>
              <a:lin ang="5400000" scaled="1"/>
              <a:tileRect/>
            </a:gra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31" name="!!Data Center Icon2">
            <a:extLst>
              <a:ext uri="{FF2B5EF4-FFF2-40B4-BE49-F238E27FC236}">
                <a16:creationId xmlns:a16="http://schemas.microsoft.com/office/drawing/2014/main" id="{CB3C3030-C228-ADCB-0F5C-E6F2E80D5648}"/>
              </a:ext>
            </a:extLst>
          </p:cNvPr>
          <p:cNvGrpSpPr/>
          <p:nvPr/>
        </p:nvGrpSpPr>
        <p:grpSpPr>
          <a:xfrm>
            <a:off x="3995063" y="5185567"/>
            <a:ext cx="1011845" cy="741000"/>
            <a:chOff x="3915783" y="5046954"/>
            <a:chExt cx="1011845" cy="741000"/>
          </a:xfrm>
        </p:grpSpPr>
        <p:sp>
          <p:nvSpPr>
            <p:cNvPr id="32" name="White fill">
              <a:extLst>
                <a:ext uri="{FF2B5EF4-FFF2-40B4-BE49-F238E27FC236}">
                  <a16:creationId xmlns:a16="http://schemas.microsoft.com/office/drawing/2014/main" id="{7F83FDCE-A14D-D461-097A-451B4AB26B0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33" name="Freeform: Shape 2218">
              <a:extLst>
                <a:ext uri="{FF2B5EF4-FFF2-40B4-BE49-F238E27FC236}">
                  <a16:creationId xmlns:a16="http://schemas.microsoft.com/office/drawing/2014/main" id="{9FB7EA9E-A396-C058-A5C3-2921F4A4D6C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4" name="Freeform: Shape 2219">
              <a:extLst>
                <a:ext uri="{FF2B5EF4-FFF2-40B4-BE49-F238E27FC236}">
                  <a16:creationId xmlns:a16="http://schemas.microsoft.com/office/drawing/2014/main" id="{EC8739D6-3240-BF5A-6278-44912C105E3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5" name="Freeform: Shape 2220">
              <a:extLst>
                <a:ext uri="{FF2B5EF4-FFF2-40B4-BE49-F238E27FC236}">
                  <a16:creationId xmlns:a16="http://schemas.microsoft.com/office/drawing/2014/main" id="{69B21949-DF5C-C7A3-9C06-893E6F084210}"/>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6" name="Freeform: Shape 2221">
              <a:extLst>
                <a:ext uri="{FF2B5EF4-FFF2-40B4-BE49-F238E27FC236}">
                  <a16:creationId xmlns:a16="http://schemas.microsoft.com/office/drawing/2014/main" id="{3E5107FC-CB99-79C4-658D-52DEBD3459F0}"/>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 name="Cloud icon">
            <a:extLst>
              <a:ext uri="{FF2B5EF4-FFF2-40B4-BE49-F238E27FC236}">
                <a16:creationId xmlns:a16="http://schemas.microsoft.com/office/drawing/2014/main" id="{442B8AA9-6863-B98D-FE2D-9588581A242A}"/>
              </a:ext>
            </a:extLst>
          </p:cNvPr>
          <p:cNvSpPr>
            <a:spLocks noChangeAspect="1"/>
          </p:cNvSpPr>
          <p:nvPr/>
        </p:nvSpPr>
        <p:spPr>
          <a:xfrm>
            <a:off x="3614227" y="3656186"/>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lvl="0" algn="ctr"/>
            <a:r>
              <a:rPr lang="en-US" sz="1400" dirty="0">
                <a:solidFill>
                  <a:srgbClr val="000000"/>
                </a:solidFill>
                <a:latin typeface="Tomorrow Medium"/>
              </a:rPr>
              <a:t>DIA</a:t>
            </a:r>
            <a:endParaRPr kumimoji="0" lang="en-US" sz="1400" b="0" i="0" u="none" strike="noStrike" kern="1200" cap="none" spc="0" normalizeH="0" baseline="0" noProof="0" dirty="0">
              <a:ln>
                <a:noFill/>
              </a:ln>
              <a:solidFill>
                <a:srgbClr val="000000"/>
              </a:solidFill>
              <a:effectLst/>
              <a:uLnTx/>
              <a:uFillTx/>
              <a:latin typeface="Tomorrow Medium"/>
              <a:ea typeface="+mn-ea"/>
              <a:cs typeface="+mn-cs"/>
            </a:endParaRPr>
          </a:p>
        </p:txBody>
      </p:sp>
      <p:grpSp>
        <p:nvGrpSpPr>
          <p:cNvPr id="21" name="Group 20">
            <a:extLst>
              <a:ext uri="{FF2B5EF4-FFF2-40B4-BE49-F238E27FC236}">
                <a16:creationId xmlns:a16="http://schemas.microsoft.com/office/drawing/2014/main" id="{CDB26C93-1A99-0A18-1CAE-4DA639829798}"/>
              </a:ext>
            </a:extLst>
          </p:cNvPr>
          <p:cNvGrpSpPr/>
          <p:nvPr/>
        </p:nvGrpSpPr>
        <p:grpSpPr>
          <a:xfrm>
            <a:off x="7260361" y="3608934"/>
            <a:ext cx="457200" cy="103995"/>
            <a:chOff x="7260361" y="3608934"/>
            <a:chExt cx="457200" cy="103995"/>
          </a:xfrm>
        </p:grpSpPr>
        <p:cxnSp>
          <p:nvCxnSpPr>
            <p:cNvPr id="125" name="Straight Connector 124">
              <a:extLst>
                <a:ext uri="{FF2B5EF4-FFF2-40B4-BE49-F238E27FC236}">
                  <a16:creationId xmlns:a16="http://schemas.microsoft.com/office/drawing/2014/main" id="{5CC4343C-3552-3D03-38F1-23F1F24DC097}"/>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CD3620E-31EB-DFB7-57D1-A7C6F2835338}"/>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63CCE97-F96B-27AB-C0BE-93A4A9BB93EA}"/>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B5EC144F-BAE1-DCAB-BCE3-127AB0326D48}"/>
              </a:ext>
            </a:extLst>
          </p:cNvPr>
          <p:cNvGrpSpPr/>
          <p:nvPr/>
        </p:nvGrpSpPr>
        <p:grpSpPr>
          <a:xfrm>
            <a:off x="7649580" y="3223134"/>
            <a:ext cx="728696" cy="787559"/>
            <a:chOff x="7649580" y="3223134"/>
            <a:chExt cx="728696" cy="787559"/>
          </a:xfrm>
        </p:grpSpPr>
        <p:sp>
          <p:nvSpPr>
            <p:cNvPr id="127" name="Freeform: Shape 2132">
              <a:extLst>
                <a:ext uri="{FF2B5EF4-FFF2-40B4-BE49-F238E27FC236}">
                  <a16:creationId xmlns:a16="http://schemas.microsoft.com/office/drawing/2014/main" id="{67293106-743F-AC3A-2D73-A9D61F240859}"/>
                </a:ext>
              </a:extLst>
            </p:cNvPr>
            <p:cNvSpPr/>
            <p:nvPr/>
          </p:nvSpPr>
          <p:spPr>
            <a:xfrm>
              <a:off x="7714059" y="322313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8" name="Freeform: Shape 2133">
              <a:extLst>
                <a:ext uri="{FF2B5EF4-FFF2-40B4-BE49-F238E27FC236}">
                  <a16:creationId xmlns:a16="http://schemas.microsoft.com/office/drawing/2014/main" id="{7B72CB8A-2BF8-E6E3-4E15-16616C23EE94}"/>
                </a:ext>
              </a:extLst>
            </p:cNvPr>
            <p:cNvSpPr/>
            <p:nvPr/>
          </p:nvSpPr>
          <p:spPr>
            <a:xfrm>
              <a:off x="7649580" y="400639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3" name="Group 22">
            <a:extLst>
              <a:ext uri="{FF2B5EF4-FFF2-40B4-BE49-F238E27FC236}">
                <a16:creationId xmlns:a16="http://schemas.microsoft.com/office/drawing/2014/main" id="{35D10646-82D4-C2FF-DF6F-CEEE31BEB7AC}"/>
              </a:ext>
            </a:extLst>
          </p:cNvPr>
          <p:cNvGrpSpPr/>
          <p:nvPr/>
        </p:nvGrpSpPr>
        <p:grpSpPr>
          <a:xfrm>
            <a:off x="1163876" y="3608934"/>
            <a:ext cx="457200" cy="103995"/>
            <a:chOff x="7260361" y="3608934"/>
            <a:chExt cx="457200" cy="103995"/>
          </a:xfrm>
        </p:grpSpPr>
        <p:cxnSp>
          <p:nvCxnSpPr>
            <p:cNvPr id="24" name="Straight Connector 23">
              <a:extLst>
                <a:ext uri="{FF2B5EF4-FFF2-40B4-BE49-F238E27FC236}">
                  <a16:creationId xmlns:a16="http://schemas.microsoft.com/office/drawing/2014/main" id="{1389217E-1C34-AD39-8463-5F772FBF7E48}"/>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C6676D-0EBC-2279-9BAA-B7E40731F284}"/>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494F7F4-13F4-4159-3236-8BBA2B2A43BF}"/>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A9CB6719-6D8E-4CB9-C721-59DBDFE10B23}"/>
              </a:ext>
            </a:extLst>
          </p:cNvPr>
          <p:cNvGrpSpPr/>
          <p:nvPr/>
        </p:nvGrpSpPr>
        <p:grpSpPr>
          <a:xfrm>
            <a:off x="510840" y="3240243"/>
            <a:ext cx="728696" cy="784147"/>
            <a:chOff x="510840" y="3240243"/>
            <a:chExt cx="728696" cy="784147"/>
          </a:xfrm>
        </p:grpSpPr>
        <p:sp>
          <p:nvSpPr>
            <p:cNvPr id="122" name="Freeform: Shape 2129">
              <a:extLst>
                <a:ext uri="{FF2B5EF4-FFF2-40B4-BE49-F238E27FC236}">
                  <a16:creationId xmlns:a16="http://schemas.microsoft.com/office/drawing/2014/main" id="{CD7405F4-F15F-FDBE-C703-04CA1BB8BF5A}"/>
                </a:ext>
              </a:extLst>
            </p:cNvPr>
            <p:cNvSpPr/>
            <p:nvPr/>
          </p:nvSpPr>
          <p:spPr>
            <a:xfrm>
              <a:off x="575319" y="3240243"/>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3" name="Freeform: Shape 2130">
              <a:extLst>
                <a:ext uri="{FF2B5EF4-FFF2-40B4-BE49-F238E27FC236}">
                  <a16:creationId xmlns:a16="http://schemas.microsoft.com/office/drawing/2014/main" id="{DC94C22C-9B21-B893-66D0-22467F370DEA}"/>
                </a:ext>
              </a:extLst>
            </p:cNvPr>
            <p:cNvSpPr/>
            <p:nvPr/>
          </p:nvSpPr>
          <p:spPr>
            <a:xfrm>
              <a:off x="510840" y="4020091"/>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19" name="Oval 118">
            <a:extLst>
              <a:ext uri="{FF2B5EF4-FFF2-40B4-BE49-F238E27FC236}">
                <a16:creationId xmlns:a16="http://schemas.microsoft.com/office/drawing/2014/main" id="{2DC8ECBC-002D-701B-36D1-36FBFE58E916}"/>
              </a:ext>
            </a:extLst>
          </p:cNvPr>
          <p:cNvSpPr/>
          <p:nvPr/>
        </p:nvSpPr>
        <p:spPr bwMode="auto">
          <a:xfrm>
            <a:off x="1638978" y="3185156"/>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Ethernet </a:t>
            </a:r>
            <a:r>
              <a:rPr kumimoji="0" lang="en-US" sz="1600" b="1" i="0" u="none" strike="noStrike" kern="1200" cap="none" spc="0" normalizeH="0" baseline="0" noProof="0">
                <a:ln>
                  <a:noFill/>
                </a:ln>
                <a:solidFill>
                  <a:srgbClr val="000000"/>
                </a:solidFill>
                <a:effectLst/>
                <a:uLnTx/>
                <a:uFillTx/>
                <a:latin typeface="Tomorrow Medium"/>
                <a:ea typeface="+mn-ea"/>
                <a:cs typeface="+mn-cs"/>
              </a:rPr>
              <a:t>1</a:t>
            </a:r>
          </a:p>
        </p:txBody>
      </p:sp>
      <p:sp>
        <p:nvSpPr>
          <p:cNvPr id="124" name="Oval 123">
            <a:extLst>
              <a:ext uri="{FF2B5EF4-FFF2-40B4-BE49-F238E27FC236}">
                <a16:creationId xmlns:a16="http://schemas.microsoft.com/office/drawing/2014/main" id="{A9EC15AC-9E18-2083-77CB-93EBA135640D}"/>
              </a:ext>
            </a:extLst>
          </p:cNvPr>
          <p:cNvSpPr/>
          <p:nvPr/>
        </p:nvSpPr>
        <p:spPr bwMode="auto">
          <a:xfrm>
            <a:off x="6274353" y="3172564"/>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Ethernet</a:t>
            </a: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Tomorrow Medium"/>
                <a:ea typeface="+mn-ea"/>
                <a:cs typeface="+mn-cs"/>
              </a:rPr>
              <a:t>N</a:t>
            </a:r>
          </a:p>
        </p:txBody>
      </p:sp>
      <p:sp>
        <p:nvSpPr>
          <p:cNvPr id="103" name="Cloud icon">
            <a:extLst>
              <a:ext uri="{FF2B5EF4-FFF2-40B4-BE49-F238E27FC236}">
                <a16:creationId xmlns:a16="http://schemas.microsoft.com/office/drawing/2014/main" id="{2D4BF4AE-D526-878E-02D3-B5DFEC97F64E}"/>
              </a:ext>
            </a:extLst>
          </p:cNvPr>
          <p:cNvSpPr>
            <a:spLocks noChangeAspect="1"/>
          </p:cNvSpPr>
          <p:nvPr/>
        </p:nvSpPr>
        <p:spPr>
          <a:xfrm>
            <a:off x="3400522" y="2108843"/>
            <a:ext cx="2082368" cy="1291738"/>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bg2">
                <a:alpha val="40000"/>
              </a:schemeClr>
            </a:solidFill>
            <a:prstDash val="solid"/>
            <a:miter/>
          </a:ln>
          <a:effectLst>
            <a:glow rad="101600">
              <a:schemeClr val="accent3">
                <a:satMod val="175000"/>
                <a:alpha val="20000"/>
              </a:schemeClr>
            </a:glo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1026" name="AWS">
            <a:extLst>
              <a:ext uri="{FF2B5EF4-FFF2-40B4-BE49-F238E27FC236}">
                <a16:creationId xmlns:a16="http://schemas.microsoft.com/office/drawing/2014/main" id="{9D24ED25-5922-C9DB-8A96-A69B32305E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1770" y="2364751"/>
            <a:ext cx="357953" cy="21439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Azure">
            <a:extLst>
              <a:ext uri="{FF2B5EF4-FFF2-40B4-BE49-F238E27FC236}">
                <a16:creationId xmlns:a16="http://schemas.microsoft.com/office/drawing/2014/main" id="{4DB8461E-480C-5ACC-ACE7-728FDF9D4780}"/>
              </a:ext>
            </a:extLst>
          </p:cNvPr>
          <p:cNvGrpSpPr/>
          <p:nvPr/>
        </p:nvGrpSpPr>
        <p:grpSpPr>
          <a:xfrm>
            <a:off x="4532850" y="2702508"/>
            <a:ext cx="657708" cy="228948"/>
            <a:chOff x="4532850" y="2703270"/>
            <a:chExt cx="657708" cy="228948"/>
          </a:xfrm>
        </p:grpSpPr>
        <p:pic>
          <p:nvPicPr>
            <p:cNvPr id="1028" name="Picture 4">
              <a:extLst>
                <a:ext uri="{FF2B5EF4-FFF2-40B4-BE49-F238E27FC236}">
                  <a16:creationId xmlns:a16="http://schemas.microsoft.com/office/drawing/2014/main" id="{D7A161B5-FAB7-0E94-7E33-2766934C90C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7835"/>
            <a:stretch>
              <a:fillRect/>
            </a:stretch>
          </p:blipFill>
          <p:spPr bwMode="auto">
            <a:xfrm>
              <a:off x="4761798" y="2716053"/>
              <a:ext cx="428760" cy="198830"/>
            </a:xfrm>
            <a:prstGeom prst="rect">
              <a:avLst/>
            </a:prstGeom>
            <a:noFill/>
            <a:extLst>
              <a:ext uri="{909E8E84-426E-40DD-AFC4-6F175D3DCCD1}">
                <a14:hiddenFill xmlns:a14="http://schemas.microsoft.com/office/drawing/2010/main">
                  <a:solidFill>
                    <a:srgbClr val="FFFFFF"/>
                  </a:solidFill>
                </a14:hiddenFill>
              </a:ext>
            </a:extLst>
          </p:spPr>
        </p:pic>
        <p:sp>
          <p:nvSpPr>
            <p:cNvPr id="140" name="Freeform 58">
              <a:extLst>
                <a:ext uri="{FF2B5EF4-FFF2-40B4-BE49-F238E27FC236}">
                  <a16:creationId xmlns:a16="http://schemas.microsoft.com/office/drawing/2014/main" id="{E98D0065-74F4-7D89-E366-A39A610B098C}"/>
                </a:ext>
              </a:extLst>
            </p:cNvPr>
            <p:cNvSpPr/>
            <p:nvPr/>
          </p:nvSpPr>
          <p:spPr>
            <a:xfrm>
              <a:off x="4532850" y="2703270"/>
              <a:ext cx="228948" cy="228948"/>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pic>
        <p:nvPicPr>
          <p:cNvPr id="1030" name="Megaport" descr="Megaport - DataBank | Data Center Evolved">
            <a:extLst>
              <a:ext uri="{FF2B5EF4-FFF2-40B4-BE49-F238E27FC236}">
                <a16:creationId xmlns:a16="http://schemas.microsoft.com/office/drawing/2014/main" id="{0CF30604-2CCB-B165-9FA2-5474654D0D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7640" y="3017181"/>
            <a:ext cx="920495" cy="264642"/>
          </a:xfrm>
          <a:prstGeom prst="rect">
            <a:avLst/>
          </a:prstGeom>
          <a:noFill/>
          <a:extLst>
            <a:ext uri="{909E8E84-426E-40DD-AFC4-6F175D3DCCD1}">
              <a14:hiddenFill xmlns:a14="http://schemas.microsoft.com/office/drawing/2010/main">
                <a:solidFill>
                  <a:srgbClr val="FFFFFF"/>
                </a:solidFill>
              </a14:hiddenFill>
            </a:ext>
          </a:extLst>
        </p:spPr>
      </p:pic>
      <p:pic>
        <p:nvPicPr>
          <p:cNvPr id="1034" name="Equinix">
            <a:extLst>
              <a:ext uri="{FF2B5EF4-FFF2-40B4-BE49-F238E27FC236}">
                <a16:creationId xmlns:a16="http://schemas.microsoft.com/office/drawing/2014/main" id="{25BCDFB0-380F-3292-24DF-7F0EB203C8D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9472" r="27851" b="42374"/>
          <a:stretch>
            <a:fillRect/>
          </a:stretch>
        </p:blipFill>
        <p:spPr bwMode="auto">
          <a:xfrm>
            <a:off x="3884271" y="2701747"/>
            <a:ext cx="352949" cy="230471"/>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565E5076-6B78-6B3A-3EDF-475C16A40543}"/>
              </a:ext>
            </a:extLst>
          </p:cNvPr>
          <p:cNvGrpSpPr/>
          <p:nvPr/>
        </p:nvGrpSpPr>
        <p:grpSpPr>
          <a:xfrm>
            <a:off x="2774377" y="4293578"/>
            <a:ext cx="855580" cy="141335"/>
            <a:chOff x="7260361" y="3608934"/>
            <a:chExt cx="457200" cy="103995"/>
          </a:xfrm>
        </p:grpSpPr>
        <p:cxnSp>
          <p:nvCxnSpPr>
            <p:cNvPr id="53" name="Straight Connector 52">
              <a:extLst>
                <a:ext uri="{FF2B5EF4-FFF2-40B4-BE49-F238E27FC236}">
                  <a16:creationId xmlns:a16="http://schemas.microsoft.com/office/drawing/2014/main" id="{009E6E4B-7465-0707-4FC4-7D74D4A9D0E8}"/>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94FFFE6-8B3D-AAB4-C49C-02805F8F3C49}"/>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3115F1A-07A8-DC50-AA8C-5BDF9CF9A065}"/>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61" name="Group 60">
            <a:extLst>
              <a:ext uri="{FF2B5EF4-FFF2-40B4-BE49-F238E27FC236}">
                <a16:creationId xmlns:a16="http://schemas.microsoft.com/office/drawing/2014/main" id="{B0071DC4-C3EE-367F-5508-A9A7A026965B}"/>
              </a:ext>
            </a:extLst>
          </p:cNvPr>
          <p:cNvGrpSpPr/>
          <p:nvPr/>
        </p:nvGrpSpPr>
        <p:grpSpPr>
          <a:xfrm>
            <a:off x="5337015" y="4293578"/>
            <a:ext cx="855580" cy="141335"/>
            <a:chOff x="7260361" y="3608934"/>
            <a:chExt cx="457200" cy="103995"/>
          </a:xfrm>
        </p:grpSpPr>
        <p:cxnSp>
          <p:nvCxnSpPr>
            <p:cNvPr id="62" name="Straight Connector 61">
              <a:extLst>
                <a:ext uri="{FF2B5EF4-FFF2-40B4-BE49-F238E27FC236}">
                  <a16:creationId xmlns:a16="http://schemas.microsoft.com/office/drawing/2014/main" id="{443E5AA8-5140-C2EA-9577-FE2BB7086167}"/>
                </a:ext>
              </a:extLst>
            </p:cNvPr>
            <p:cNvCxnSpPr>
              <a:cxnSpLocks/>
            </p:cNvCxnSpPr>
            <p:nvPr/>
          </p:nvCxnSpPr>
          <p:spPr>
            <a:xfrm>
              <a:off x="7260361" y="3662574"/>
              <a:ext cx="457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6B96F9A-E40A-E0A4-C6A0-3565D5A65020}"/>
                </a:ext>
              </a:extLst>
            </p:cNvPr>
            <p:cNvCxnSpPr>
              <a:cxnSpLocks/>
            </p:cNvCxnSpPr>
            <p:nvPr/>
          </p:nvCxnSpPr>
          <p:spPr>
            <a:xfrm>
              <a:off x="7397521" y="3608934"/>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93CA5E0-2E28-890C-4E92-53D2FE1FE917}"/>
                </a:ext>
              </a:extLst>
            </p:cNvPr>
            <p:cNvCxnSpPr>
              <a:cxnSpLocks/>
            </p:cNvCxnSpPr>
            <p:nvPr/>
          </p:nvCxnSpPr>
          <p:spPr>
            <a:xfrm>
              <a:off x="7260361" y="3712929"/>
              <a:ext cx="320040" cy="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37" name="PBC 1">
            <a:extLst>
              <a:ext uri="{FF2B5EF4-FFF2-40B4-BE49-F238E27FC236}">
                <a16:creationId xmlns:a16="http://schemas.microsoft.com/office/drawing/2014/main" id="{C9ED5C6D-B6FC-63B2-807D-697FE7CAD8F7}"/>
              </a:ext>
            </a:extLst>
          </p:cNvPr>
          <p:cNvGrpSpPr>
            <a:grpSpLocks noChangeAspect="1"/>
          </p:cNvGrpSpPr>
          <p:nvPr/>
        </p:nvGrpSpPr>
        <p:grpSpPr>
          <a:xfrm>
            <a:off x="1541966" y="4248817"/>
            <a:ext cx="1180032" cy="228600"/>
            <a:chOff x="2364562" y="2976326"/>
            <a:chExt cx="7053344" cy="1366399"/>
          </a:xfrm>
        </p:grpSpPr>
        <p:sp>
          <p:nvSpPr>
            <p:cNvPr id="38" name="Freeform 37">
              <a:extLst>
                <a:ext uri="{FF2B5EF4-FFF2-40B4-BE49-F238E27FC236}">
                  <a16:creationId xmlns:a16="http://schemas.microsoft.com/office/drawing/2014/main" id="{81DD3F99-5B80-08BE-A4FA-15F5C9032C3E}"/>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38">
              <a:extLst>
                <a:ext uri="{FF2B5EF4-FFF2-40B4-BE49-F238E27FC236}">
                  <a16:creationId xmlns:a16="http://schemas.microsoft.com/office/drawing/2014/main" id="{B225CC97-2B2B-FFE0-F62B-CD4D9DC3251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40" name="Graphic 38">
              <a:extLst>
                <a:ext uri="{FF2B5EF4-FFF2-40B4-BE49-F238E27FC236}">
                  <a16:creationId xmlns:a16="http://schemas.microsoft.com/office/drawing/2014/main" id="{F7606162-0CAA-9A9E-D922-5511694DF720}"/>
                </a:ext>
              </a:extLst>
            </p:cNvPr>
            <p:cNvGrpSpPr/>
            <p:nvPr/>
          </p:nvGrpSpPr>
          <p:grpSpPr>
            <a:xfrm>
              <a:off x="5658852" y="3694387"/>
              <a:ext cx="466200" cy="483019"/>
              <a:chOff x="5042020" y="5214715"/>
              <a:chExt cx="466200" cy="483019"/>
            </a:xfrm>
          </p:grpSpPr>
          <p:sp>
            <p:nvSpPr>
              <p:cNvPr id="73" name="Freeform 72">
                <a:extLst>
                  <a:ext uri="{FF2B5EF4-FFF2-40B4-BE49-F238E27FC236}">
                    <a16:creationId xmlns:a16="http://schemas.microsoft.com/office/drawing/2014/main" id="{150F7683-19FD-5E34-523B-D05090FB2C0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73">
                <a:extLst>
                  <a:ext uri="{FF2B5EF4-FFF2-40B4-BE49-F238E27FC236}">
                    <a16:creationId xmlns:a16="http://schemas.microsoft.com/office/drawing/2014/main" id="{95F1A0D3-FF15-FD25-8BAD-97EB19B901E9}"/>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EAECDCA2-7E72-6F6D-851E-227346668D61}"/>
                </a:ext>
              </a:extLst>
            </p:cNvPr>
            <p:cNvGrpSpPr/>
            <p:nvPr/>
          </p:nvGrpSpPr>
          <p:grpSpPr>
            <a:xfrm>
              <a:off x="6411669" y="3594476"/>
              <a:ext cx="2479697" cy="681402"/>
              <a:chOff x="6154005" y="2371943"/>
              <a:chExt cx="2479697" cy="681402"/>
            </a:xfrm>
          </p:grpSpPr>
          <p:sp>
            <p:nvSpPr>
              <p:cNvPr id="71" name="Freeform 70">
                <a:extLst>
                  <a:ext uri="{FF2B5EF4-FFF2-40B4-BE49-F238E27FC236}">
                    <a16:creationId xmlns:a16="http://schemas.microsoft.com/office/drawing/2014/main" id="{036F743A-304F-E4B9-0E61-D7513A8DA00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2" name="Freeform 71">
                <a:extLst>
                  <a:ext uri="{FF2B5EF4-FFF2-40B4-BE49-F238E27FC236}">
                    <a16:creationId xmlns:a16="http://schemas.microsoft.com/office/drawing/2014/main" id="{A96F3674-AD78-8352-4FEF-17FAF500C3D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2" name="Group 41">
              <a:extLst>
                <a:ext uri="{FF2B5EF4-FFF2-40B4-BE49-F238E27FC236}">
                  <a16:creationId xmlns:a16="http://schemas.microsoft.com/office/drawing/2014/main" id="{164DDB51-226A-68F8-AE6B-73AD8453C02C}"/>
                </a:ext>
              </a:extLst>
            </p:cNvPr>
            <p:cNvGrpSpPr/>
            <p:nvPr/>
          </p:nvGrpSpPr>
          <p:grpSpPr>
            <a:xfrm>
              <a:off x="2892539" y="3594476"/>
              <a:ext cx="2479697" cy="681402"/>
              <a:chOff x="6154005" y="2371943"/>
              <a:chExt cx="2479697" cy="681402"/>
            </a:xfrm>
          </p:grpSpPr>
          <p:sp>
            <p:nvSpPr>
              <p:cNvPr id="69" name="Freeform 68">
                <a:extLst>
                  <a:ext uri="{FF2B5EF4-FFF2-40B4-BE49-F238E27FC236}">
                    <a16:creationId xmlns:a16="http://schemas.microsoft.com/office/drawing/2014/main" id="{4EE29C36-9B61-8078-22C0-CC318D9F8AD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0" name="Freeform 69">
                <a:extLst>
                  <a:ext uri="{FF2B5EF4-FFF2-40B4-BE49-F238E27FC236}">
                    <a16:creationId xmlns:a16="http://schemas.microsoft.com/office/drawing/2014/main" id="{A758DE0E-256D-1FCA-FB2A-172C948C975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3" name="Group 42">
              <a:extLst>
                <a:ext uri="{FF2B5EF4-FFF2-40B4-BE49-F238E27FC236}">
                  <a16:creationId xmlns:a16="http://schemas.microsoft.com/office/drawing/2014/main" id="{80A32A35-9787-B5BF-323E-5EA7808BB040}"/>
                </a:ext>
              </a:extLst>
            </p:cNvPr>
            <p:cNvGrpSpPr/>
            <p:nvPr/>
          </p:nvGrpSpPr>
          <p:grpSpPr>
            <a:xfrm>
              <a:off x="9070232" y="3528349"/>
              <a:ext cx="347674" cy="800719"/>
              <a:chOff x="8812568" y="2305815"/>
              <a:chExt cx="347674" cy="800719"/>
            </a:xfrm>
          </p:grpSpPr>
          <p:sp>
            <p:nvSpPr>
              <p:cNvPr id="49" name="Freeform 48">
                <a:extLst>
                  <a:ext uri="{FF2B5EF4-FFF2-40B4-BE49-F238E27FC236}">
                    <a16:creationId xmlns:a16="http://schemas.microsoft.com/office/drawing/2014/main" id="{C23D04FF-FD52-B33D-8C85-B8B51E01EA8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0" name="Group 49">
                <a:extLst>
                  <a:ext uri="{FF2B5EF4-FFF2-40B4-BE49-F238E27FC236}">
                    <a16:creationId xmlns:a16="http://schemas.microsoft.com/office/drawing/2014/main" id="{34B1635B-4ED5-4F79-A419-6B2F83B11FFF}"/>
                  </a:ext>
                </a:extLst>
              </p:cNvPr>
              <p:cNvGrpSpPr/>
              <p:nvPr/>
            </p:nvGrpSpPr>
            <p:grpSpPr>
              <a:xfrm flipH="1">
                <a:off x="8852795" y="2372662"/>
                <a:ext cx="262193" cy="679246"/>
                <a:chOff x="1433816" y="2372662"/>
                <a:chExt cx="262193" cy="679246"/>
              </a:xfrm>
              <a:solidFill>
                <a:schemeClr val="bg1"/>
              </a:solidFill>
            </p:grpSpPr>
            <p:sp>
              <p:nvSpPr>
                <p:cNvPr id="51" name="Rounded Rectangle 50">
                  <a:extLst>
                    <a:ext uri="{FF2B5EF4-FFF2-40B4-BE49-F238E27FC236}">
                      <a16:creationId xmlns:a16="http://schemas.microsoft.com/office/drawing/2014/main" id="{12D71B95-6314-A48B-45DB-E82E0136FFB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8" name="Rounded Rectangle 67">
                  <a:extLst>
                    <a:ext uri="{FF2B5EF4-FFF2-40B4-BE49-F238E27FC236}">
                      <a16:creationId xmlns:a16="http://schemas.microsoft.com/office/drawing/2014/main" id="{2275D36F-1588-377C-849D-BAE364165C7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44" name="Group 43">
              <a:extLst>
                <a:ext uri="{FF2B5EF4-FFF2-40B4-BE49-F238E27FC236}">
                  <a16:creationId xmlns:a16="http://schemas.microsoft.com/office/drawing/2014/main" id="{DF7F034E-719C-9B11-1037-98EDE1E20DFA}"/>
                </a:ext>
              </a:extLst>
            </p:cNvPr>
            <p:cNvGrpSpPr/>
            <p:nvPr/>
          </p:nvGrpSpPr>
          <p:grpSpPr>
            <a:xfrm flipV="1">
              <a:off x="2364562" y="3528349"/>
              <a:ext cx="347674" cy="800719"/>
              <a:chOff x="8812568" y="2305815"/>
              <a:chExt cx="347674" cy="800719"/>
            </a:xfrm>
          </p:grpSpPr>
          <p:sp>
            <p:nvSpPr>
              <p:cNvPr id="45" name="Freeform 44">
                <a:extLst>
                  <a:ext uri="{FF2B5EF4-FFF2-40B4-BE49-F238E27FC236}">
                    <a16:creationId xmlns:a16="http://schemas.microsoft.com/office/drawing/2014/main" id="{D5A1FF7B-9302-C578-EA4E-C710081F73E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46" name="Group 45">
                <a:extLst>
                  <a:ext uri="{FF2B5EF4-FFF2-40B4-BE49-F238E27FC236}">
                    <a16:creationId xmlns:a16="http://schemas.microsoft.com/office/drawing/2014/main" id="{823D19FF-792A-B92A-1C00-36D4D4778283}"/>
                  </a:ext>
                </a:extLst>
              </p:cNvPr>
              <p:cNvGrpSpPr/>
              <p:nvPr/>
            </p:nvGrpSpPr>
            <p:grpSpPr>
              <a:xfrm flipH="1">
                <a:off x="8852795" y="2372662"/>
                <a:ext cx="262193" cy="679246"/>
                <a:chOff x="1433816" y="2372662"/>
                <a:chExt cx="262193" cy="679246"/>
              </a:xfrm>
              <a:solidFill>
                <a:schemeClr val="bg1"/>
              </a:solidFill>
            </p:grpSpPr>
            <p:sp>
              <p:nvSpPr>
                <p:cNvPr id="47" name="Rounded Rectangle 46">
                  <a:extLst>
                    <a:ext uri="{FF2B5EF4-FFF2-40B4-BE49-F238E27FC236}">
                      <a16:creationId xmlns:a16="http://schemas.microsoft.com/office/drawing/2014/main" id="{B05741A3-A25C-EC72-3184-6BFA1EAF1EB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48" name="Rounded Rectangle 47">
                  <a:extLst>
                    <a:ext uri="{FF2B5EF4-FFF2-40B4-BE49-F238E27FC236}">
                      <a16:creationId xmlns:a16="http://schemas.microsoft.com/office/drawing/2014/main" id="{E87C21D7-3446-5054-0731-B44FB748335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75" name="PBC 1">
            <a:extLst>
              <a:ext uri="{FF2B5EF4-FFF2-40B4-BE49-F238E27FC236}">
                <a16:creationId xmlns:a16="http://schemas.microsoft.com/office/drawing/2014/main" id="{9116A719-B0F9-4DD6-4ECA-D61798FE8715}"/>
              </a:ext>
            </a:extLst>
          </p:cNvPr>
          <p:cNvGrpSpPr>
            <a:grpSpLocks noChangeAspect="1"/>
          </p:cNvGrpSpPr>
          <p:nvPr/>
        </p:nvGrpSpPr>
        <p:grpSpPr>
          <a:xfrm>
            <a:off x="6177572" y="4240057"/>
            <a:ext cx="1180032" cy="228600"/>
            <a:chOff x="2364562" y="2976326"/>
            <a:chExt cx="7053344" cy="1366399"/>
          </a:xfrm>
        </p:grpSpPr>
        <p:sp>
          <p:nvSpPr>
            <p:cNvPr id="76" name="Freeform 75">
              <a:extLst>
                <a:ext uri="{FF2B5EF4-FFF2-40B4-BE49-F238E27FC236}">
                  <a16:creationId xmlns:a16="http://schemas.microsoft.com/office/drawing/2014/main" id="{8CA2E7E6-3DDD-02C8-FBAA-0F8FB9FEBE16}"/>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76">
              <a:extLst>
                <a:ext uri="{FF2B5EF4-FFF2-40B4-BE49-F238E27FC236}">
                  <a16:creationId xmlns:a16="http://schemas.microsoft.com/office/drawing/2014/main" id="{C28F8DA7-EBFC-6EA3-4D1F-38F0DDC7845D}"/>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78" name="Graphic 38">
              <a:extLst>
                <a:ext uri="{FF2B5EF4-FFF2-40B4-BE49-F238E27FC236}">
                  <a16:creationId xmlns:a16="http://schemas.microsoft.com/office/drawing/2014/main" id="{170CBAB7-4566-7857-BE09-33227F346675}"/>
                </a:ext>
              </a:extLst>
            </p:cNvPr>
            <p:cNvGrpSpPr/>
            <p:nvPr/>
          </p:nvGrpSpPr>
          <p:grpSpPr>
            <a:xfrm>
              <a:off x="5658852" y="3694387"/>
              <a:ext cx="466200" cy="483019"/>
              <a:chOff x="5042020" y="5214715"/>
              <a:chExt cx="466200" cy="483019"/>
            </a:xfrm>
          </p:grpSpPr>
          <p:sp>
            <p:nvSpPr>
              <p:cNvPr id="133" name="Freeform 132">
                <a:extLst>
                  <a:ext uri="{FF2B5EF4-FFF2-40B4-BE49-F238E27FC236}">
                    <a16:creationId xmlns:a16="http://schemas.microsoft.com/office/drawing/2014/main" id="{6E3670F2-7B46-D839-A868-D941959E3F5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4" name="Freeform 133">
                <a:extLst>
                  <a:ext uri="{FF2B5EF4-FFF2-40B4-BE49-F238E27FC236}">
                    <a16:creationId xmlns:a16="http://schemas.microsoft.com/office/drawing/2014/main" id="{6BE85B07-0253-D676-C760-30FD557D62F6}"/>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9" name="Group 78">
              <a:extLst>
                <a:ext uri="{FF2B5EF4-FFF2-40B4-BE49-F238E27FC236}">
                  <a16:creationId xmlns:a16="http://schemas.microsoft.com/office/drawing/2014/main" id="{1CF31BB2-3F15-4AFC-3A2D-27F658584E2C}"/>
                </a:ext>
              </a:extLst>
            </p:cNvPr>
            <p:cNvGrpSpPr/>
            <p:nvPr/>
          </p:nvGrpSpPr>
          <p:grpSpPr>
            <a:xfrm>
              <a:off x="6411669" y="3594476"/>
              <a:ext cx="2479697" cy="681402"/>
              <a:chOff x="6154005" y="2371943"/>
              <a:chExt cx="2479697" cy="681402"/>
            </a:xfrm>
          </p:grpSpPr>
          <p:sp>
            <p:nvSpPr>
              <p:cNvPr id="131" name="Freeform 130">
                <a:extLst>
                  <a:ext uri="{FF2B5EF4-FFF2-40B4-BE49-F238E27FC236}">
                    <a16:creationId xmlns:a16="http://schemas.microsoft.com/office/drawing/2014/main" id="{FDB31B76-118A-6E15-DBDC-A9674A4A3B9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2" name="Freeform 131">
                <a:extLst>
                  <a:ext uri="{FF2B5EF4-FFF2-40B4-BE49-F238E27FC236}">
                    <a16:creationId xmlns:a16="http://schemas.microsoft.com/office/drawing/2014/main" id="{CB678439-ACCE-0232-B74E-37BF139084E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80" name="Group 79">
              <a:extLst>
                <a:ext uri="{FF2B5EF4-FFF2-40B4-BE49-F238E27FC236}">
                  <a16:creationId xmlns:a16="http://schemas.microsoft.com/office/drawing/2014/main" id="{490F95BC-93E8-5268-2731-768AD319B25B}"/>
                </a:ext>
              </a:extLst>
            </p:cNvPr>
            <p:cNvGrpSpPr/>
            <p:nvPr/>
          </p:nvGrpSpPr>
          <p:grpSpPr>
            <a:xfrm>
              <a:off x="2892539" y="3594476"/>
              <a:ext cx="2479697" cy="681402"/>
              <a:chOff x="6154005" y="2371943"/>
              <a:chExt cx="2479697" cy="681402"/>
            </a:xfrm>
          </p:grpSpPr>
          <p:sp>
            <p:nvSpPr>
              <p:cNvPr id="129" name="Freeform 128">
                <a:extLst>
                  <a:ext uri="{FF2B5EF4-FFF2-40B4-BE49-F238E27FC236}">
                    <a16:creationId xmlns:a16="http://schemas.microsoft.com/office/drawing/2014/main" id="{41D5E995-2ED0-1395-72D1-0503F2F44C1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30" name="Freeform 129">
                <a:extLst>
                  <a:ext uri="{FF2B5EF4-FFF2-40B4-BE49-F238E27FC236}">
                    <a16:creationId xmlns:a16="http://schemas.microsoft.com/office/drawing/2014/main" id="{A36F7B90-D02D-3125-15F7-B7E7DAE7192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81" name="Group 80">
              <a:extLst>
                <a:ext uri="{FF2B5EF4-FFF2-40B4-BE49-F238E27FC236}">
                  <a16:creationId xmlns:a16="http://schemas.microsoft.com/office/drawing/2014/main" id="{4CE28C9F-3F1E-DAD5-5403-303E749C0270}"/>
                </a:ext>
              </a:extLst>
            </p:cNvPr>
            <p:cNvGrpSpPr/>
            <p:nvPr/>
          </p:nvGrpSpPr>
          <p:grpSpPr>
            <a:xfrm>
              <a:off x="9070232" y="3528349"/>
              <a:ext cx="347674" cy="800719"/>
              <a:chOff x="8812568" y="2305815"/>
              <a:chExt cx="347674" cy="800719"/>
            </a:xfrm>
          </p:grpSpPr>
          <p:sp>
            <p:nvSpPr>
              <p:cNvPr id="117" name="Freeform 116">
                <a:extLst>
                  <a:ext uri="{FF2B5EF4-FFF2-40B4-BE49-F238E27FC236}">
                    <a16:creationId xmlns:a16="http://schemas.microsoft.com/office/drawing/2014/main" id="{1C18F97E-BD7D-5946-09A1-D76C03927D7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18" name="Group 117">
                <a:extLst>
                  <a:ext uri="{FF2B5EF4-FFF2-40B4-BE49-F238E27FC236}">
                    <a16:creationId xmlns:a16="http://schemas.microsoft.com/office/drawing/2014/main" id="{12966771-8E88-FACE-99AB-8A6036BE6D2E}"/>
                  </a:ext>
                </a:extLst>
              </p:cNvPr>
              <p:cNvGrpSpPr/>
              <p:nvPr/>
            </p:nvGrpSpPr>
            <p:grpSpPr>
              <a:xfrm flipH="1">
                <a:off x="8852795" y="2372662"/>
                <a:ext cx="262193" cy="679246"/>
                <a:chOff x="1433816" y="2372662"/>
                <a:chExt cx="262193" cy="679246"/>
              </a:xfrm>
              <a:solidFill>
                <a:schemeClr val="bg1"/>
              </a:solidFill>
            </p:grpSpPr>
            <p:sp>
              <p:nvSpPr>
                <p:cNvPr id="121" name="Rounded Rectangle 120">
                  <a:extLst>
                    <a:ext uri="{FF2B5EF4-FFF2-40B4-BE49-F238E27FC236}">
                      <a16:creationId xmlns:a16="http://schemas.microsoft.com/office/drawing/2014/main" id="{174B97CA-5A12-ACF4-C264-6C47EA2B9653}"/>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26" name="Rounded Rectangle 125">
                  <a:extLst>
                    <a:ext uri="{FF2B5EF4-FFF2-40B4-BE49-F238E27FC236}">
                      <a16:creationId xmlns:a16="http://schemas.microsoft.com/office/drawing/2014/main" id="{BD51DB02-7119-EF72-E9E6-DCBC162CFF0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82" name="Group 81">
              <a:extLst>
                <a:ext uri="{FF2B5EF4-FFF2-40B4-BE49-F238E27FC236}">
                  <a16:creationId xmlns:a16="http://schemas.microsoft.com/office/drawing/2014/main" id="{368C8273-7CBD-AF9E-D577-CDD6E9F073EA}"/>
                </a:ext>
              </a:extLst>
            </p:cNvPr>
            <p:cNvGrpSpPr/>
            <p:nvPr/>
          </p:nvGrpSpPr>
          <p:grpSpPr>
            <a:xfrm flipV="1">
              <a:off x="2364562" y="3528349"/>
              <a:ext cx="347674" cy="800719"/>
              <a:chOff x="8812568" y="2305815"/>
              <a:chExt cx="347674" cy="800719"/>
            </a:xfrm>
          </p:grpSpPr>
          <p:sp>
            <p:nvSpPr>
              <p:cNvPr id="83" name="Freeform 82">
                <a:extLst>
                  <a:ext uri="{FF2B5EF4-FFF2-40B4-BE49-F238E27FC236}">
                    <a16:creationId xmlns:a16="http://schemas.microsoft.com/office/drawing/2014/main" id="{D2A2D40B-0951-6E9F-4D1A-C1DC6208D64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97" name="Group 96">
                <a:extLst>
                  <a:ext uri="{FF2B5EF4-FFF2-40B4-BE49-F238E27FC236}">
                    <a16:creationId xmlns:a16="http://schemas.microsoft.com/office/drawing/2014/main" id="{94ED2993-460E-FD9B-192C-8E31D46E240B}"/>
                  </a:ext>
                </a:extLst>
              </p:cNvPr>
              <p:cNvGrpSpPr/>
              <p:nvPr/>
            </p:nvGrpSpPr>
            <p:grpSpPr>
              <a:xfrm flipH="1">
                <a:off x="8852795" y="2372662"/>
                <a:ext cx="262193" cy="679246"/>
                <a:chOff x="1433816" y="2372662"/>
                <a:chExt cx="262193" cy="679246"/>
              </a:xfrm>
              <a:solidFill>
                <a:schemeClr val="bg1"/>
              </a:solidFill>
            </p:grpSpPr>
            <p:sp>
              <p:nvSpPr>
                <p:cNvPr id="98" name="Rounded Rectangle 97">
                  <a:extLst>
                    <a:ext uri="{FF2B5EF4-FFF2-40B4-BE49-F238E27FC236}">
                      <a16:creationId xmlns:a16="http://schemas.microsoft.com/office/drawing/2014/main" id="{41F57480-34C3-0CBA-9D1A-F68AB5A4AAB9}"/>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9" name="Rounded Rectangle 108">
                  <a:extLst>
                    <a:ext uri="{FF2B5EF4-FFF2-40B4-BE49-F238E27FC236}">
                      <a16:creationId xmlns:a16="http://schemas.microsoft.com/office/drawing/2014/main" id="{8805B464-29C6-97AE-24F0-5332E12866E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spTree>
    <p:extLst>
      <p:ext uri="{BB962C8B-B14F-4D97-AF65-F5344CB8AC3E}">
        <p14:creationId xmlns:p14="http://schemas.microsoft.com/office/powerpoint/2010/main" val="72029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anim calcmode="lin" valueType="num">
                                      <p:cBhvr>
                                        <p:cTn id="11" dur="500" fill="hold"/>
                                        <p:tgtEl>
                                          <p:spTgt spid="116"/>
                                        </p:tgtEl>
                                        <p:attrNameLst>
                                          <p:attrName>ppt_x</p:attrName>
                                        </p:attrNameLst>
                                      </p:cBhvr>
                                      <p:tavLst>
                                        <p:tav tm="0">
                                          <p:val>
                                            <p:strVal val="#ppt_x"/>
                                          </p:val>
                                        </p:tav>
                                        <p:tav tm="100000">
                                          <p:val>
                                            <p:strVal val="#ppt_x"/>
                                          </p:val>
                                        </p:tav>
                                      </p:tavLst>
                                    </p:anim>
                                    <p:anim calcmode="lin" valueType="num">
                                      <p:cBhvr>
                                        <p:cTn id="12" dur="500" fill="hold"/>
                                        <p:tgtEl>
                                          <p:spTgt spid="116"/>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25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anim calcmode="lin" valueType="num">
                                      <p:cBhvr>
                                        <p:cTn id="20" dur="500" fill="hold"/>
                                        <p:tgtEl>
                                          <p:spTgt spid="31"/>
                                        </p:tgtEl>
                                        <p:attrNameLst>
                                          <p:attrName>ppt_x</p:attrName>
                                        </p:attrNameLst>
                                      </p:cBhvr>
                                      <p:tavLst>
                                        <p:tav tm="0">
                                          <p:val>
                                            <p:strVal val="#ppt_x"/>
                                          </p:val>
                                        </p:tav>
                                        <p:tav tm="100000">
                                          <p:val>
                                            <p:strVal val="#ppt_x"/>
                                          </p:val>
                                        </p:tav>
                                      </p:tavLst>
                                    </p:anim>
                                    <p:anim calcmode="lin" valueType="num">
                                      <p:cBhvr>
                                        <p:cTn id="21" dur="500" fill="hold"/>
                                        <p:tgtEl>
                                          <p:spTgt spid="31"/>
                                        </p:tgtEl>
                                        <p:attrNameLst>
                                          <p:attrName>ppt_y</p:attrName>
                                        </p:attrNameLst>
                                      </p:cBhvr>
                                      <p:tavLst>
                                        <p:tav tm="0">
                                          <p:val>
                                            <p:strVal val="#ppt_y+.1"/>
                                          </p:val>
                                        </p:tav>
                                        <p:tav tm="100000">
                                          <p:val>
                                            <p:strVal val="#ppt_y"/>
                                          </p:val>
                                        </p:tav>
                                      </p:tavLst>
                                    </p:anim>
                                  </p:childTnLst>
                                </p:cTn>
                              </p:par>
                              <p:par>
                                <p:cTn id="22" presetID="22" presetClass="entr" presetSubtype="4" fill="hold" grpId="0" nodeType="withEffect">
                                  <p:stCondLst>
                                    <p:cond delay="250"/>
                                  </p:stCondLst>
                                  <p:childTnLst>
                                    <p:set>
                                      <p:cBhvr>
                                        <p:cTn id="23" dur="1" fill="hold">
                                          <p:stCondLst>
                                            <p:cond delay="0"/>
                                          </p:stCondLst>
                                        </p:cTn>
                                        <p:tgtEl>
                                          <p:spTgt spid="135"/>
                                        </p:tgtEl>
                                        <p:attrNameLst>
                                          <p:attrName>style.visibility</p:attrName>
                                        </p:attrNameLst>
                                      </p:cBhvr>
                                      <p:to>
                                        <p:strVal val="visible"/>
                                      </p:to>
                                    </p:set>
                                    <p:animEffect transition="in" filter="wipe(down)">
                                      <p:cBhvr>
                                        <p:cTn id="24"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35" grpId="0" animBg="1"/>
      <p:bldP spid="116" grpId="0"/>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n 5">
            <a:extLst>
              <a:ext uri="{FF2B5EF4-FFF2-40B4-BE49-F238E27FC236}">
                <a16:creationId xmlns:a16="http://schemas.microsoft.com/office/drawing/2014/main" id="{99772C30-CC8F-ACA0-9FFB-5EB789AE9E65}"/>
              </a:ext>
            </a:extLst>
          </p:cNvPr>
          <p:cNvSpPr/>
          <p:nvPr/>
        </p:nvSpPr>
        <p:spPr>
          <a:xfrm rot="16200000">
            <a:off x="4744617" y="254985"/>
            <a:ext cx="315358" cy="3565334"/>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BA0BF954-1DC1-7F11-EFF2-5319F0AEA130}"/>
              </a:ext>
            </a:extLst>
          </p:cNvPr>
          <p:cNvSpPr txBox="1"/>
          <p:nvPr/>
        </p:nvSpPr>
        <p:spPr>
          <a:xfrm>
            <a:off x="3944341" y="1510641"/>
            <a:ext cx="17524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PON or DOCSIS</a:t>
            </a:r>
          </a:p>
        </p:txBody>
      </p:sp>
      <p:sp>
        <p:nvSpPr>
          <p:cNvPr id="9" name="TextBox 8">
            <a:extLst>
              <a:ext uri="{FF2B5EF4-FFF2-40B4-BE49-F238E27FC236}">
                <a16:creationId xmlns:a16="http://schemas.microsoft.com/office/drawing/2014/main" id="{7DA4C0CD-D8CD-1843-88CF-F4892761EAC9}"/>
              </a:ext>
            </a:extLst>
          </p:cNvPr>
          <p:cNvSpPr txBox="1"/>
          <p:nvPr/>
        </p:nvSpPr>
        <p:spPr>
          <a:xfrm>
            <a:off x="2637587" y="2353010"/>
            <a:ext cx="442659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02B93"/>
                </a:solidFill>
                <a:effectLst/>
                <a:uLnTx/>
                <a:uFillTx/>
                <a:latin typeface="Aptos" panose="02110004020202020204"/>
                <a:ea typeface="+mn-ea"/>
                <a:cs typeface="+mn-cs"/>
              </a:rPr>
              <a:t>[MEF 140] Carrier Ethernet over Broadband</a:t>
            </a:r>
          </a:p>
        </p:txBody>
      </p:sp>
      <p:cxnSp>
        <p:nvCxnSpPr>
          <p:cNvPr id="10" name="Straight Connector 9">
            <a:extLst>
              <a:ext uri="{FF2B5EF4-FFF2-40B4-BE49-F238E27FC236}">
                <a16:creationId xmlns:a16="http://schemas.microsoft.com/office/drawing/2014/main" id="{B69866B8-407F-3F6E-F382-52E20CFA7A28}"/>
              </a:ext>
            </a:extLst>
          </p:cNvPr>
          <p:cNvCxnSpPr/>
          <p:nvPr/>
        </p:nvCxnSpPr>
        <p:spPr>
          <a:xfrm>
            <a:off x="2288717" y="2052109"/>
            <a:ext cx="5376231" cy="0"/>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F2C3615-C03D-DAFB-9DE0-DC132246A2BC}"/>
              </a:ext>
            </a:extLst>
          </p:cNvPr>
          <p:cNvSpPr txBox="1"/>
          <p:nvPr/>
        </p:nvSpPr>
        <p:spPr>
          <a:xfrm>
            <a:off x="2244287" y="1840995"/>
            <a:ext cx="5645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UNI</a:t>
            </a:r>
          </a:p>
        </p:txBody>
      </p:sp>
      <p:sp>
        <p:nvSpPr>
          <p:cNvPr id="16" name="Rectangle 15">
            <a:extLst>
              <a:ext uri="{FF2B5EF4-FFF2-40B4-BE49-F238E27FC236}">
                <a16:creationId xmlns:a16="http://schemas.microsoft.com/office/drawing/2014/main" id="{6FCFDB35-4756-8BF6-444E-59269317ADC1}"/>
              </a:ext>
            </a:extLst>
          </p:cNvPr>
          <p:cNvSpPr/>
          <p:nvPr/>
        </p:nvSpPr>
        <p:spPr>
          <a:xfrm>
            <a:off x="1990233" y="1740070"/>
            <a:ext cx="275422" cy="579763"/>
          </a:xfrm>
          <a:prstGeom prst="rect">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246E635D-FAB6-EF74-7775-9FCBA393D4D6}"/>
              </a:ext>
            </a:extLst>
          </p:cNvPr>
          <p:cNvSpPr/>
          <p:nvPr/>
        </p:nvSpPr>
        <p:spPr>
          <a:xfrm>
            <a:off x="7179662" y="1747769"/>
            <a:ext cx="275422" cy="579763"/>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Oval 17">
            <a:extLst>
              <a:ext uri="{FF2B5EF4-FFF2-40B4-BE49-F238E27FC236}">
                <a16:creationId xmlns:a16="http://schemas.microsoft.com/office/drawing/2014/main" id="{869666A5-F1BA-D896-F36B-A44F95DFFC23}"/>
              </a:ext>
            </a:extLst>
          </p:cNvPr>
          <p:cNvSpPr/>
          <p:nvPr/>
        </p:nvSpPr>
        <p:spPr>
          <a:xfrm>
            <a:off x="6684963" y="1773247"/>
            <a:ext cx="356398" cy="5797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Oval 18">
            <a:extLst>
              <a:ext uri="{FF2B5EF4-FFF2-40B4-BE49-F238E27FC236}">
                <a16:creationId xmlns:a16="http://schemas.microsoft.com/office/drawing/2014/main" id="{C1B8BA12-D7BB-282C-4478-17B4CEC366D1}"/>
              </a:ext>
            </a:extLst>
          </p:cNvPr>
          <p:cNvSpPr/>
          <p:nvPr/>
        </p:nvSpPr>
        <p:spPr>
          <a:xfrm>
            <a:off x="2740409" y="1753835"/>
            <a:ext cx="356398" cy="5797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7642093D-8DEA-0E0B-262A-1623F8518408}"/>
              </a:ext>
            </a:extLst>
          </p:cNvPr>
          <p:cNvSpPr txBox="1"/>
          <p:nvPr/>
        </p:nvSpPr>
        <p:spPr>
          <a:xfrm>
            <a:off x="6492726" y="1306795"/>
            <a:ext cx="611065"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OLT</a:t>
            </a:r>
          </a:p>
        </p:txBody>
      </p:sp>
      <p:sp>
        <p:nvSpPr>
          <p:cNvPr id="22" name="TextBox 21">
            <a:extLst>
              <a:ext uri="{FF2B5EF4-FFF2-40B4-BE49-F238E27FC236}">
                <a16:creationId xmlns:a16="http://schemas.microsoft.com/office/drawing/2014/main" id="{250C358C-AD85-102D-55CB-C3249FBB75F0}"/>
              </a:ext>
            </a:extLst>
          </p:cNvPr>
          <p:cNvSpPr txBox="1"/>
          <p:nvPr/>
        </p:nvSpPr>
        <p:spPr>
          <a:xfrm>
            <a:off x="6864364" y="2429078"/>
            <a:ext cx="90601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Comcast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ENNI Switch</a:t>
            </a:r>
          </a:p>
        </p:txBody>
      </p:sp>
      <p:sp>
        <p:nvSpPr>
          <p:cNvPr id="24" name="TextBox 23">
            <a:extLst>
              <a:ext uri="{FF2B5EF4-FFF2-40B4-BE49-F238E27FC236}">
                <a16:creationId xmlns:a16="http://schemas.microsoft.com/office/drawing/2014/main" id="{5BA1EDDA-0B77-FC9C-72A2-004D90041A1E}"/>
              </a:ext>
            </a:extLst>
          </p:cNvPr>
          <p:cNvSpPr txBox="1"/>
          <p:nvPr/>
        </p:nvSpPr>
        <p:spPr>
          <a:xfrm>
            <a:off x="2582462" y="1326348"/>
            <a:ext cx="747320"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ONU/OLT</a:t>
            </a:r>
          </a:p>
        </p:txBody>
      </p:sp>
      <p:sp>
        <p:nvSpPr>
          <p:cNvPr id="25" name="TextBox 24">
            <a:extLst>
              <a:ext uri="{FF2B5EF4-FFF2-40B4-BE49-F238E27FC236}">
                <a16:creationId xmlns:a16="http://schemas.microsoft.com/office/drawing/2014/main" id="{F262AF5A-2C68-7DFB-3AA3-032F43CFADF2}"/>
              </a:ext>
            </a:extLst>
          </p:cNvPr>
          <p:cNvSpPr txBox="1"/>
          <p:nvPr/>
        </p:nvSpPr>
        <p:spPr>
          <a:xfrm>
            <a:off x="1707208" y="1138814"/>
            <a:ext cx="766557"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CE CPE</a:t>
            </a:r>
          </a:p>
        </p:txBody>
      </p:sp>
      <p:cxnSp>
        <p:nvCxnSpPr>
          <p:cNvPr id="26" name="Straight Connector 25">
            <a:extLst>
              <a:ext uri="{FF2B5EF4-FFF2-40B4-BE49-F238E27FC236}">
                <a16:creationId xmlns:a16="http://schemas.microsoft.com/office/drawing/2014/main" id="{D61488A3-792C-E202-8E65-F2CF99F51679}"/>
              </a:ext>
            </a:extLst>
          </p:cNvPr>
          <p:cNvCxnSpPr>
            <a:cxnSpLocks/>
            <a:stCxn id="17" idx="3"/>
            <a:endCxn id="59" idx="1"/>
          </p:cNvCxnSpPr>
          <p:nvPr/>
        </p:nvCxnSpPr>
        <p:spPr>
          <a:xfrm>
            <a:off x="7455084" y="2037651"/>
            <a:ext cx="3094733" cy="14458"/>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BB5D207-1DA3-A453-6617-2A1AD2C50B95}"/>
              </a:ext>
            </a:extLst>
          </p:cNvPr>
          <p:cNvSpPr txBox="1"/>
          <p:nvPr/>
        </p:nvSpPr>
        <p:spPr>
          <a:xfrm>
            <a:off x="7579394" y="1841969"/>
            <a:ext cx="6992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ENNI</a:t>
            </a:r>
          </a:p>
        </p:txBody>
      </p:sp>
      <p:sp>
        <p:nvSpPr>
          <p:cNvPr id="31" name="Rectangle 30">
            <a:extLst>
              <a:ext uri="{FF2B5EF4-FFF2-40B4-BE49-F238E27FC236}">
                <a16:creationId xmlns:a16="http://schemas.microsoft.com/office/drawing/2014/main" id="{7931F131-5A8D-25F8-40F7-D9FDF58E9181}"/>
              </a:ext>
            </a:extLst>
          </p:cNvPr>
          <p:cNvSpPr/>
          <p:nvPr/>
        </p:nvSpPr>
        <p:spPr>
          <a:xfrm>
            <a:off x="8277413" y="1747768"/>
            <a:ext cx="275422" cy="5797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TextBox 31">
            <a:extLst>
              <a:ext uri="{FF2B5EF4-FFF2-40B4-BE49-F238E27FC236}">
                <a16:creationId xmlns:a16="http://schemas.microsoft.com/office/drawing/2014/main" id="{A5268BE8-E530-235E-B47F-B72A7B5C517B}"/>
              </a:ext>
            </a:extLst>
          </p:cNvPr>
          <p:cNvSpPr txBox="1"/>
          <p:nvPr/>
        </p:nvSpPr>
        <p:spPr>
          <a:xfrm>
            <a:off x="7962117" y="2429078"/>
            <a:ext cx="90601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ENNI Switch</a:t>
            </a:r>
          </a:p>
        </p:txBody>
      </p:sp>
      <p:sp>
        <p:nvSpPr>
          <p:cNvPr id="33" name="Can 32">
            <a:extLst>
              <a:ext uri="{FF2B5EF4-FFF2-40B4-BE49-F238E27FC236}">
                <a16:creationId xmlns:a16="http://schemas.microsoft.com/office/drawing/2014/main" id="{617F16E0-39FA-DF84-C87C-925A2D832090}"/>
              </a:ext>
            </a:extLst>
          </p:cNvPr>
          <p:cNvSpPr/>
          <p:nvPr/>
        </p:nvSpPr>
        <p:spPr>
          <a:xfrm rot="16200000">
            <a:off x="4942342" y="3279451"/>
            <a:ext cx="315358" cy="3565334"/>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TextBox 33">
            <a:extLst>
              <a:ext uri="{FF2B5EF4-FFF2-40B4-BE49-F238E27FC236}">
                <a16:creationId xmlns:a16="http://schemas.microsoft.com/office/drawing/2014/main" id="{F5B29113-E426-533D-D070-6B916B2C5E80}"/>
              </a:ext>
            </a:extLst>
          </p:cNvPr>
          <p:cNvSpPr txBox="1"/>
          <p:nvPr/>
        </p:nvSpPr>
        <p:spPr>
          <a:xfrm>
            <a:off x="4474638" y="4547843"/>
            <a:ext cx="12875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56082"/>
                </a:solidFill>
                <a:effectLst/>
                <a:uLnTx/>
                <a:uFillTx/>
                <a:latin typeface="Aptos" panose="02110004020202020204"/>
                <a:ea typeface="+mn-ea"/>
                <a:cs typeface="+mn-cs"/>
              </a:rPr>
              <a:t>Broadband</a:t>
            </a:r>
          </a:p>
        </p:txBody>
      </p:sp>
      <p:cxnSp>
        <p:nvCxnSpPr>
          <p:cNvPr id="36" name="Straight Connector 35">
            <a:extLst>
              <a:ext uri="{FF2B5EF4-FFF2-40B4-BE49-F238E27FC236}">
                <a16:creationId xmlns:a16="http://schemas.microsoft.com/office/drawing/2014/main" id="{B267CE8D-8313-E379-BDCE-175D8639B718}"/>
              </a:ext>
            </a:extLst>
          </p:cNvPr>
          <p:cNvCxnSpPr>
            <a:cxnSpLocks/>
          </p:cNvCxnSpPr>
          <p:nvPr/>
        </p:nvCxnSpPr>
        <p:spPr>
          <a:xfrm flipV="1">
            <a:off x="1883380" y="5062116"/>
            <a:ext cx="6277135" cy="25479"/>
          </a:xfrm>
          <a:prstGeom prst="line">
            <a:avLst/>
          </a:prstGeom>
          <a:ln w="57150">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7DBD4505-29F4-D137-1460-131F6E9E091D}"/>
              </a:ext>
            </a:extLst>
          </p:cNvPr>
          <p:cNvSpPr txBox="1"/>
          <p:nvPr/>
        </p:nvSpPr>
        <p:spPr>
          <a:xfrm>
            <a:off x="2310007" y="4902928"/>
            <a:ext cx="5645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UNI</a:t>
            </a:r>
          </a:p>
        </p:txBody>
      </p:sp>
      <p:sp>
        <p:nvSpPr>
          <p:cNvPr id="40" name="Oval 39">
            <a:extLst>
              <a:ext uri="{FF2B5EF4-FFF2-40B4-BE49-F238E27FC236}">
                <a16:creationId xmlns:a16="http://schemas.microsoft.com/office/drawing/2014/main" id="{A71A092A-E6BC-2B36-CC7C-B79A7376B206}"/>
              </a:ext>
            </a:extLst>
          </p:cNvPr>
          <p:cNvSpPr/>
          <p:nvPr/>
        </p:nvSpPr>
        <p:spPr>
          <a:xfrm>
            <a:off x="6882688" y="4797713"/>
            <a:ext cx="356398" cy="5797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1" name="Oval 40">
            <a:extLst>
              <a:ext uri="{FF2B5EF4-FFF2-40B4-BE49-F238E27FC236}">
                <a16:creationId xmlns:a16="http://schemas.microsoft.com/office/drawing/2014/main" id="{D1EE1D57-7109-A435-0F21-93A4586F13F5}"/>
              </a:ext>
            </a:extLst>
          </p:cNvPr>
          <p:cNvSpPr/>
          <p:nvPr/>
        </p:nvSpPr>
        <p:spPr>
          <a:xfrm>
            <a:off x="2938134" y="4778301"/>
            <a:ext cx="356398" cy="5797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3" name="TextBox 42">
            <a:extLst>
              <a:ext uri="{FF2B5EF4-FFF2-40B4-BE49-F238E27FC236}">
                <a16:creationId xmlns:a16="http://schemas.microsoft.com/office/drawing/2014/main" id="{73CC3F51-7601-9467-A5CC-75C20311C559}"/>
              </a:ext>
            </a:extLst>
          </p:cNvPr>
          <p:cNvSpPr txBox="1"/>
          <p:nvPr/>
        </p:nvSpPr>
        <p:spPr>
          <a:xfrm>
            <a:off x="6727302" y="4387005"/>
            <a:ext cx="667170"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IP BB I/F</a:t>
            </a:r>
          </a:p>
        </p:txBody>
      </p:sp>
      <p:sp>
        <p:nvSpPr>
          <p:cNvPr id="44" name="TextBox 43">
            <a:extLst>
              <a:ext uri="{FF2B5EF4-FFF2-40B4-BE49-F238E27FC236}">
                <a16:creationId xmlns:a16="http://schemas.microsoft.com/office/drawing/2014/main" id="{86746019-9B25-7935-AB7E-F792328C08BA}"/>
              </a:ext>
            </a:extLst>
          </p:cNvPr>
          <p:cNvSpPr txBox="1"/>
          <p:nvPr/>
        </p:nvSpPr>
        <p:spPr>
          <a:xfrm>
            <a:off x="2763222" y="4354473"/>
            <a:ext cx="667170"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IP BB I/F</a:t>
            </a:r>
          </a:p>
        </p:txBody>
      </p:sp>
      <p:cxnSp>
        <p:nvCxnSpPr>
          <p:cNvPr id="46" name="Straight Connector 45">
            <a:extLst>
              <a:ext uri="{FF2B5EF4-FFF2-40B4-BE49-F238E27FC236}">
                <a16:creationId xmlns:a16="http://schemas.microsoft.com/office/drawing/2014/main" id="{C03622C8-FB4A-6052-C0E4-F647223F841F}"/>
              </a:ext>
            </a:extLst>
          </p:cNvPr>
          <p:cNvCxnSpPr>
            <a:cxnSpLocks/>
          </p:cNvCxnSpPr>
          <p:nvPr/>
        </p:nvCxnSpPr>
        <p:spPr>
          <a:xfrm>
            <a:off x="8083454" y="5045455"/>
            <a:ext cx="2249242" cy="0"/>
          </a:xfrm>
          <a:prstGeom prst="line">
            <a:avLst/>
          </a:prstGeom>
          <a:ln w="57150">
            <a:solidFill>
              <a:schemeClr val="accent5"/>
            </a:solidFill>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9D050ED4-8013-FD71-2E3C-329B9CD7DB44}"/>
              </a:ext>
            </a:extLst>
          </p:cNvPr>
          <p:cNvSpPr/>
          <p:nvPr/>
        </p:nvSpPr>
        <p:spPr>
          <a:xfrm>
            <a:off x="7992044" y="4772235"/>
            <a:ext cx="294105" cy="579763"/>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a:extLst>
              <a:ext uri="{FF2B5EF4-FFF2-40B4-BE49-F238E27FC236}">
                <a16:creationId xmlns:a16="http://schemas.microsoft.com/office/drawing/2014/main" id="{4ACEAC4B-0B31-86E3-BB6D-2EBB4F58802E}"/>
              </a:ext>
            </a:extLst>
          </p:cNvPr>
          <p:cNvSpPr txBox="1"/>
          <p:nvPr/>
        </p:nvSpPr>
        <p:spPr>
          <a:xfrm>
            <a:off x="8848299" y="4782982"/>
            <a:ext cx="870751"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CE Network</a:t>
            </a:r>
          </a:p>
        </p:txBody>
      </p:sp>
      <p:sp>
        <p:nvSpPr>
          <p:cNvPr id="54" name="TextBox 53">
            <a:extLst>
              <a:ext uri="{FF2B5EF4-FFF2-40B4-BE49-F238E27FC236}">
                <a16:creationId xmlns:a16="http://schemas.microsoft.com/office/drawing/2014/main" id="{9BF4D7D1-BFD2-FFE4-E7E7-D772FB95D516}"/>
              </a:ext>
            </a:extLst>
          </p:cNvPr>
          <p:cNvSpPr txBox="1"/>
          <p:nvPr/>
        </p:nvSpPr>
        <p:spPr>
          <a:xfrm>
            <a:off x="7786561" y="5409809"/>
            <a:ext cx="792205"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L2 over BB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 Switch</a:t>
            </a:r>
          </a:p>
        </p:txBody>
      </p:sp>
      <p:sp>
        <p:nvSpPr>
          <p:cNvPr id="56" name="TextBox 55">
            <a:extLst>
              <a:ext uri="{FF2B5EF4-FFF2-40B4-BE49-F238E27FC236}">
                <a16:creationId xmlns:a16="http://schemas.microsoft.com/office/drawing/2014/main" id="{F66BE8D5-DEDD-1BFB-9A3D-A92583B3F85E}"/>
              </a:ext>
            </a:extLst>
          </p:cNvPr>
          <p:cNvSpPr txBox="1"/>
          <p:nvPr/>
        </p:nvSpPr>
        <p:spPr>
          <a:xfrm>
            <a:off x="3669965" y="5409809"/>
            <a:ext cx="29949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EA72E">
                    <a:lumMod val="60000"/>
                    <a:lumOff val="40000"/>
                  </a:srgbClr>
                </a:solidFill>
                <a:effectLst/>
                <a:uLnTx/>
                <a:uFillTx/>
                <a:latin typeface="Aptos" panose="02110004020202020204"/>
                <a:ea typeface="+mn-ea"/>
                <a:cs typeface="+mn-cs"/>
              </a:rPr>
              <a:t>L2 Tunnel over IP Broadband</a:t>
            </a:r>
          </a:p>
        </p:txBody>
      </p:sp>
      <p:sp>
        <p:nvSpPr>
          <p:cNvPr id="57" name="TextBox 56">
            <a:extLst>
              <a:ext uri="{FF2B5EF4-FFF2-40B4-BE49-F238E27FC236}">
                <a16:creationId xmlns:a16="http://schemas.microsoft.com/office/drawing/2014/main" id="{8D6A17F3-C076-45DE-B7A3-B8219665E841}"/>
              </a:ext>
            </a:extLst>
          </p:cNvPr>
          <p:cNvSpPr txBox="1"/>
          <p:nvPr/>
        </p:nvSpPr>
        <p:spPr>
          <a:xfrm>
            <a:off x="7357506" y="4878620"/>
            <a:ext cx="57099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NNI</a:t>
            </a:r>
          </a:p>
        </p:txBody>
      </p:sp>
      <p:sp>
        <p:nvSpPr>
          <p:cNvPr id="58" name="TextBox 57">
            <a:extLst>
              <a:ext uri="{FF2B5EF4-FFF2-40B4-BE49-F238E27FC236}">
                <a16:creationId xmlns:a16="http://schemas.microsoft.com/office/drawing/2014/main" id="{34C2CB52-3C17-43A8-FC04-A2CDE9080BCC}"/>
              </a:ext>
            </a:extLst>
          </p:cNvPr>
          <p:cNvSpPr txBox="1"/>
          <p:nvPr/>
        </p:nvSpPr>
        <p:spPr>
          <a:xfrm>
            <a:off x="9085117" y="1785444"/>
            <a:ext cx="870751"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CE Network</a:t>
            </a:r>
          </a:p>
        </p:txBody>
      </p:sp>
      <p:sp>
        <p:nvSpPr>
          <p:cNvPr id="59" name="Rectangle 58">
            <a:extLst>
              <a:ext uri="{FF2B5EF4-FFF2-40B4-BE49-F238E27FC236}">
                <a16:creationId xmlns:a16="http://schemas.microsoft.com/office/drawing/2014/main" id="{6FBED605-12F4-129E-12DA-47BD378D4D9B}"/>
              </a:ext>
            </a:extLst>
          </p:cNvPr>
          <p:cNvSpPr/>
          <p:nvPr/>
        </p:nvSpPr>
        <p:spPr>
          <a:xfrm>
            <a:off x="10549817" y="1762227"/>
            <a:ext cx="275422" cy="579763"/>
          </a:xfrm>
          <a:prstGeom prst="rect">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4" name="TextBox 63">
            <a:extLst>
              <a:ext uri="{FF2B5EF4-FFF2-40B4-BE49-F238E27FC236}">
                <a16:creationId xmlns:a16="http://schemas.microsoft.com/office/drawing/2014/main" id="{E0FC93CC-F79A-19F7-7680-2ADB2291E8A4}"/>
              </a:ext>
            </a:extLst>
          </p:cNvPr>
          <p:cNvSpPr txBox="1"/>
          <p:nvPr/>
        </p:nvSpPr>
        <p:spPr>
          <a:xfrm>
            <a:off x="892366" y="580048"/>
            <a:ext cx="1018439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Use Case 1: Verizon Carrier Ethernet extension with CE over Broadband </a:t>
            </a:r>
            <a:r>
              <a:rPr kumimoji="0" lang="en-US" sz="1600" b="1" i="0" u="sng" strike="noStrike" kern="1200" cap="none" spc="0" normalizeH="0" baseline="0" noProof="0" dirty="0">
                <a:ln>
                  <a:noFill/>
                </a:ln>
                <a:solidFill>
                  <a:prstClr val="black"/>
                </a:solidFill>
                <a:effectLst/>
                <a:uLnTx/>
                <a:uFillTx/>
                <a:latin typeface="Aptos" panose="02110004020202020204"/>
                <a:ea typeface="+mn-ea"/>
                <a:cs typeface="+mn-cs"/>
              </a:rPr>
              <a:t>with</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end-to-end performance guaranteed</a:t>
            </a:r>
          </a:p>
        </p:txBody>
      </p:sp>
      <p:sp>
        <p:nvSpPr>
          <p:cNvPr id="65" name="TextBox 64">
            <a:extLst>
              <a:ext uri="{FF2B5EF4-FFF2-40B4-BE49-F238E27FC236}">
                <a16:creationId xmlns:a16="http://schemas.microsoft.com/office/drawing/2014/main" id="{23C5564D-2040-C02F-253C-8EA991073315}"/>
              </a:ext>
            </a:extLst>
          </p:cNvPr>
          <p:cNvSpPr txBox="1"/>
          <p:nvPr/>
        </p:nvSpPr>
        <p:spPr>
          <a:xfrm>
            <a:off x="1035587" y="3431530"/>
            <a:ext cx="10588836"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Use Case 2:  Verizon CE extension over BB </a:t>
            </a:r>
            <a:r>
              <a:rPr kumimoji="0" lang="en-US" sz="1600" b="1" i="0" u="sng" strike="noStrike" kern="1200" cap="none" spc="0" normalizeH="0" baseline="0" noProof="0" dirty="0">
                <a:ln>
                  <a:noFill/>
                </a:ln>
                <a:solidFill>
                  <a:prstClr val="black"/>
                </a:solidFill>
                <a:effectLst/>
                <a:uLnTx/>
                <a:uFillTx/>
                <a:latin typeface="Aptos" panose="02110004020202020204"/>
                <a:ea typeface="+mn-ea"/>
                <a:cs typeface="+mn-cs"/>
              </a:rPr>
              <a:t>without</a:t>
            </a:r>
            <a:r>
              <a:rPr kumimoji="0" lang="en-US" sz="1600" b="0" i="0" u="none" strike="noStrike" kern="1200" cap="none" spc="0" normalizeH="0" baseline="0" noProof="0" dirty="0">
                <a:ln>
                  <a:noFill/>
                </a:ln>
                <a:solidFill>
                  <a:prstClr val="black"/>
                </a:solidFill>
                <a:effectLst/>
                <a:uLnTx/>
                <a:uFillTx/>
                <a:latin typeface="Aptos" panose="02110004020202020204"/>
                <a:ea typeface="+mn-ea"/>
                <a:cs typeface="+mn-cs"/>
              </a:rPr>
              <a:t> end-to-end performance guaranteed</a:t>
            </a:r>
          </a:p>
        </p:txBody>
      </p:sp>
      <p:sp>
        <p:nvSpPr>
          <p:cNvPr id="74" name="Rectangle 73">
            <a:extLst>
              <a:ext uri="{FF2B5EF4-FFF2-40B4-BE49-F238E27FC236}">
                <a16:creationId xmlns:a16="http://schemas.microsoft.com/office/drawing/2014/main" id="{1EC8074F-FB5E-8623-89C1-777D980429EB}"/>
              </a:ext>
            </a:extLst>
          </p:cNvPr>
          <p:cNvSpPr/>
          <p:nvPr/>
        </p:nvSpPr>
        <p:spPr>
          <a:xfrm>
            <a:off x="396456" y="3445393"/>
            <a:ext cx="11227967" cy="32638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5" name="Rectangle 74">
            <a:extLst>
              <a:ext uri="{FF2B5EF4-FFF2-40B4-BE49-F238E27FC236}">
                <a16:creationId xmlns:a16="http://schemas.microsoft.com/office/drawing/2014/main" id="{054B5398-2DDA-12EC-BCA6-F6D6E030319D}"/>
              </a:ext>
            </a:extLst>
          </p:cNvPr>
          <p:cNvSpPr/>
          <p:nvPr/>
        </p:nvSpPr>
        <p:spPr>
          <a:xfrm>
            <a:off x="7822235" y="3896412"/>
            <a:ext cx="3588657" cy="2533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75">
            <a:extLst>
              <a:ext uri="{FF2B5EF4-FFF2-40B4-BE49-F238E27FC236}">
                <a16:creationId xmlns:a16="http://schemas.microsoft.com/office/drawing/2014/main" id="{F216165D-4004-F836-921B-E0BBDEF0F8F2}"/>
              </a:ext>
            </a:extLst>
          </p:cNvPr>
          <p:cNvSpPr txBox="1"/>
          <p:nvPr/>
        </p:nvSpPr>
        <p:spPr>
          <a:xfrm>
            <a:off x="8658017" y="4027770"/>
            <a:ext cx="2087431" cy="25391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 Carrier Ethernet Network</a:t>
            </a:r>
          </a:p>
        </p:txBody>
      </p:sp>
      <p:sp>
        <p:nvSpPr>
          <p:cNvPr id="77" name="Rectangle 76">
            <a:extLst>
              <a:ext uri="{FF2B5EF4-FFF2-40B4-BE49-F238E27FC236}">
                <a16:creationId xmlns:a16="http://schemas.microsoft.com/office/drawing/2014/main" id="{F5B55FB9-B69E-123B-B31B-B201EA83B0B5}"/>
              </a:ext>
            </a:extLst>
          </p:cNvPr>
          <p:cNvSpPr/>
          <p:nvPr/>
        </p:nvSpPr>
        <p:spPr>
          <a:xfrm>
            <a:off x="2637587" y="3858958"/>
            <a:ext cx="4793829" cy="25330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TextBox 77">
            <a:extLst>
              <a:ext uri="{FF2B5EF4-FFF2-40B4-BE49-F238E27FC236}">
                <a16:creationId xmlns:a16="http://schemas.microsoft.com/office/drawing/2014/main" id="{91303B4A-992A-F1C0-0ABE-CF5E78CE8ACB}"/>
              </a:ext>
            </a:extLst>
          </p:cNvPr>
          <p:cNvSpPr txBox="1"/>
          <p:nvPr/>
        </p:nvSpPr>
        <p:spPr>
          <a:xfrm>
            <a:off x="4199774" y="3928238"/>
            <a:ext cx="1800494"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 Broadband Network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0" name="TextBox 79">
            <a:extLst>
              <a:ext uri="{FF2B5EF4-FFF2-40B4-BE49-F238E27FC236}">
                <a16:creationId xmlns:a16="http://schemas.microsoft.com/office/drawing/2014/main" id="{D2B1BBDC-1056-A6ED-5C81-314C391B2059}"/>
              </a:ext>
            </a:extLst>
          </p:cNvPr>
          <p:cNvSpPr txBox="1"/>
          <p:nvPr/>
        </p:nvSpPr>
        <p:spPr>
          <a:xfrm>
            <a:off x="1623454" y="4267748"/>
            <a:ext cx="766557"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CPE</a:t>
            </a:r>
          </a:p>
        </p:txBody>
      </p:sp>
      <p:sp>
        <p:nvSpPr>
          <p:cNvPr id="81" name="Rectangle 80">
            <a:extLst>
              <a:ext uri="{FF2B5EF4-FFF2-40B4-BE49-F238E27FC236}">
                <a16:creationId xmlns:a16="http://schemas.microsoft.com/office/drawing/2014/main" id="{5B28CE00-C609-49DA-BFB6-17E5F99D28C5}"/>
              </a:ext>
            </a:extLst>
          </p:cNvPr>
          <p:cNvSpPr/>
          <p:nvPr/>
        </p:nvSpPr>
        <p:spPr>
          <a:xfrm>
            <a:off x="1856507" y="4793372"/>
            <a:ext cx="275422" cy="579763"/>
          </a:xfrm>
          <a:prstGeom prst="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D7539394-9797-4EAC-D4CF-A292F5AB4B63}"/>
              </a:ext>
            </a:extLst>
          </p:cNvPr>
          <p:cNvSpPr/>
          <p:nvPr/>
        </p:nvSpPr>
        <p:spPr>
          <a:xfrm>
            <a:off x="396456" y="504941"/>
            <a:ext cx="11180436" cy="24212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3" name="TextBox 82">
            <a:extLst>
              <a:ext uri="{FF2B5EF4-FFF2-40B4-BE49-F238E27FC236}">
                <a16:creationId xmlns:a16="http://schemas.microsoft.com/office/drawing/2014/main" id="{7A4AB55B-9257-90C3-946B-03D697A17B50}"/>
              </a:ext>
            </a:extLst>
          </p:cNvPr>
          <p:cNvSpPr txBox="1"/>
          <p:nvPr/>
        </p:nvSpPr>
        <p:spPr>
          <a:xfrm>
            <a:off x="3504322" y="1084040"/>
            <a:ext cx="2795958"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Partner MEF 140 CE over Broadband Network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5" name="Oval 84">
            <a:extLst>
              <a:ext uri="{FF2B5EF4-FFF2-40B4-BE49-F238E27FC236}">
                <a16:creationId xmlns:a16="http://schemas.microsoft.com/office/drawing/2014/main" id="{FDDD7CFD-6949-9460-F0EB-E2DF410ED417}"/>
              </a:ext>
            </a:extLst>
          </p:cNvPr>
          <p:cNvSpPr/>
          <p:nvPr/>
        </p:nvSpPr>
        <p:spPr>
          <a:xfrm>
            <a:off x="8281713" y="4690077"/>
            <a:ext cx="2014061" cy="7257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524864D1-356C-1312-5C5A-3410C33CE59A}"/>
              </a:ext>
            </a:extLst>
          </p:cNvPr>
          <p:cNvSpPr/>
          <p:nvPr/>
        </p:nvSpPr>
        <p:spPr>
          <a:xfrm>
            <a:off x="10237565" y="4735561"/>
            <a:ext cx="275422" cy="579763"/>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7" name="TextBox 86">
            <a:extLst>
              <a:ext uri="{FF2B5EF4-FFF2-40B4-BE49-F238E27FC236}">
                <a16:creationId xmlns:a16="http://schemas.microsoft.com/office/drawing/2014/main" id="{BE8D30AB-B803-B241-0845-B64E5379E784}"/>
              </a:ext>
            </a:extLst>
          </p:cNvPr>
          <p:cNvSpPr txBox="1"/>
          <p:nvPr/>
        </p:nvSpPr>
        <p:spPr>
          <a:xfrm>
            <a:off x="10044906" y="5373135"/>
            <a:ext cx="766557"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CE CPE</a:t>
            </a:r>
          </a:p>
        </p:txBody>
      </p:sp>
      <p:sp>
        <p:nvSpPr>
          <p:cNvPr id="88" name="TextBox 87">
            <a:extLst>
              <a:ext uri="{FF2B5EF4-FFF2-40B4-BE49-F238E27FC236}">
                <a16:creationId xmlns:a16="http://schemas.microsoft.com/office/drawing/2014/main" id="{F7E04DC5-550D-2066-C76C-7B24C7104502}"/>
              </a:ext>
            </a:extLst>
          </p:cNvPr>
          <p:cNvSpPr txBox="1"/>
          <p:nvPr/>
        </p:nvSpPr>
        <p:spPr>
          <a:xfrm>
            <a:off x="10304249" y="2272791"/>
            <a:ext cx="766557"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Verizon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Customer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CE CPE</a:t>
            </a:r>
          </a:p>
        </p:txBody>
      </p:sp>
      <p:sp>
        <p:nvSpPr>
          <p:cNvPr id="89" name="Oval 88">
            <a:extLst>
              <a:ext uri="{FF2B5EF4-FFF2-40B4-BE49-F238E27FC236}">
                <a16:creationId xmlns:a16="http://schemas.microsoft.com/office/drawing/2014/main" id="{1F2C8EDA-DED7-8113-86F3-00578AF31A70}"/>
              </a:ext>
            </a:extLst>
          </p:cNvPr>
          <p:cNvSpPr/>
          <p:nvPr/>
        </p:nvSpPr>
        <p:spPr>
          <a:xfrm>
            <a:off x="8532274" y="1669568"/>
            <a:ext cx="2014061" cy="7257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1" name="Rectangle 90">
            <a:extLst>
              <a:ext uri="{FF2B5EF4-FFF2-40B4-BE49-F238E27FC236}">
                <a16:creationId xmlns:a16="http://schemas.microsoft.com/office/drawing/2014/main" id="{C3A1D97D-1C3E-D0E7-22BA-B1CCD47C962A}"/>
              </a:ext>
            </a:extLst>
          </p:cNvPr>
          <p:cNvSpPr/>
          <p:nvPr/>
        </p:nvSpPr>
        <p:spPr>
          <a:xfrm>
            <a:off x="8112178" y="4769971"/>
            <a:ext cx="165235" cy="57976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77191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6585733A-0158-D103-537D-446973372ADA}"/>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5CB7D91-D894-999F-2601-F3FFDD0FBBF0}"/>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0AA154B4-C3D0-AFB3-8B4A-B83625E86F9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BB7F4B68-305A-5971-DAD6-CB6D7A2A377A}"/>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2DB41DD2-ED41-A939-7E4C-977BEC3469A8}"/>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6CF07D0A-6A11-E22D-9B76-BEB462D6543F}"/>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6C36CA8D-FAF9-3EB6-F31E-4E9A4428A0CC}"/>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13D208A1-C49E-F89E-EC96-4DFA8CE8AD7D}"/>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E6DC610C-61EE-93F0-E3B0-55E6EACBF1AF}"/>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DB709C0-5059-5949-4A05-27E950A0834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536DCB50-5F41-785C-6585-239D7B770E2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CF7F0BD0-1A9B-51DD-3146-4361FA153D09}"/>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471FA251-35A2-C0CA-BA47-F811936191BC}"/>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767198F7-284B-0A15-F3E0-EFF568074CE3}"/>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8C5AED1F-70C7-8F40-63CA-B9474A977938}"/>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EDA1D260-56CF-932A-253A-24865555B37A}"/>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indent="-182880">
              <a:spcBef>
                <a:spcPts val="600"/>
              </a:spcBef>
              <a:buClr>
                <a:srgbClr val="FF9400"/>
              </a:buClr>
              <a:defRPr/>
            </a:pPr>
            <a:r>
              <a:rPr lang="en-US" sz="1400" dirty="0">
                <a:solidFill>
                  <a:srgbClr val="000000"/>
                </a:solidFill>
              </a:rPr>
              <a:t>End-to-end encryption</a:t>
            </a:r>
            <a:endPar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endParaRP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lang="en-US" sz="1400" dirty="0">
                <a:solidFill>
                  <a:srgbClr val="000000"/>
                </a:solidFill>
                <a:latin typeface="Arial"/>
              </a:rPr>
              <a:t>1 G device </a:t>
            </a:r>
            <a:endPar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endParaRP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FB63F46F-A867-7794-D347-FA2AECAEFEAD}"/>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D7EF6C3E-E066-0616-A8F0-72B14C7FF008}"/>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5BE439BE-3E12-E7A9-4C62-474BECEAB320}"/>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0B01E309-DB21-BA90-E78E-D45198205E6C}"/>
              </a:ext>
            </a:extLst>
          </p:cNvPr>
          <p:cNvSpPr txBox="1"/>
          <p:nvPr/>
        </p:nvSpPr>
        <p:spPr bwMode="auto">
          <a:xfrm>
            <a:off x="-858982" y="5417127"/>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182992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7C32E246-D5EC-A638-B854-B4DDA129057E}"/>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CAAD0D98-B3D8-C8CE-2842-814162C3EFE1}"/>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1A125BE-641A-BFAC-6E8A-3B49B2A6E6AA}"/>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E86D3EB7-BF4B-3B2C-7405-C3003218CD2E}"/>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349DD931-2DC3-6F69-99D7-4058376D05A1}"/>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E62A8ECC-42C9-4A1F-0EA3-0EC76046E18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607F9A90-2506-572A-6A66-9F1732889152}"/>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8D73562B-C091-53AD-4DB0-6F8A7474BE5A}"/>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0B754E1-0A92-7F5E-D4F2-173BC9C60100}"/>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4B4B1289-2889-E268-523C-1FEB48CAD9FF}"/>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FF1073DC-67F0-F69F-E950-64907517BEF3}"/>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7C2E4CC-2456-398D-D9EB-D3EBB247F074}"/>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C5B39B4C-AAD9-7EDF-DBAB-17D2E426F35F}"/>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B3685193-B341-7E96-74D0-F6C529FBF3AC}"/>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D66C6F90-669B-FC09-44AF-8527E328023B}"/>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F36CE136-AB21-0E84-1167-E56AF4825DA0}"/>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937D3D67-E63C-7DF6-B4D8-0494F71DFA62}"/>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7C79D411-D8F3-503A-4CFC-682FCDAE60F1}"/>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5272A261-5BF9-9CD2-BB4A-4C20D1A2D463}"/>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B8DF77DF-D963-9155-AF86-61C63199C95F}"/>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63C5DC95-EED6-DB6B-AE98-473608320B11}"/>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1C61182F-25E5-DC6F-41F7-97D3AA83E3DC}"/>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1691BC2B-3A7E-D5F7-6EBB-FCBD6977BD6A}"/>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1633703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A35167-03DE-6984-C745-EBD3CACC09F9}"/>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AFBC2157-D399-AF3D-1EEB-A7C80DAED8EB}"/>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5238FF02-A474-03D7-0793-CEAAD080803F}"/>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88AE2E77-E3A4-989C-4247-AF38B0B0B92F}"/>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C9B31AED-9C3E-C948-A42F-D1253C3DB64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7421D8B9-1B30-C80C-1C87-31432CEAB58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86ABCE3E-63ED-CCE3-1526-3903B4773F90}"/>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B75A3C8E-72FB-B710-A11B-9662190679AF}"/>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B3397DFC-0B1A-D1A3-C610-3B5AF4352DB6}"/>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2714EFFC-D847-BC38-80AE-1B67BB0A0D3B}"/>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3B1BA01C-CAC1-0914-ED30-2BDEEEE8AB3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80C33B32-3E9F-E1A1-F3B8-0F387F8B4CB8}"/>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12</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423512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1941-31D4-F868-B9D9-68563B50012F}"/>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52F0969-5ACC-047C-A910-127C9CFF3785}"/>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48EF9353-7544-B2D3-7F39-E16CAB25E047}"/>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B2763FF8-DAA8-1943-5666-4B9CF29DA2DA}"/>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2402039B-1C25-B77A-D521-4ABED5A7AC95}"/>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DA95F8D9-A3E5-740D-6870-44C38CC0FE35}"/>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8172079D-60E4-965D-3A53-252A5BE548AA}"/>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13</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E5758C56-D770-09E8-81F0-F9C4E620A116}"/>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C3CA2956-390C-C672-1B13-9B6ED109B49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901C623F-80EC-6FCA-03DB-DA98E48A411B}"/>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89E9D944-B6CF-3654-B150-3560E7F26F79}"/>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C5B52CFC-AB77-5CE7-1334-79A7E282F669}"/>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F3ECC26B-7EAB-667A-F0E6-F290C01F5E6B}"/>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9A869C2E-FF91-38C5-B498-332CB36E443F}"/>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1AA2848C-DD0F-802B-7652-ED974D77D018}"/>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CA662B2D-4ED8-BC8F-5B0A-DC97D60E9443}"/>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413633D9-59B8-0BBE-134D-1CA3A0F63416}"/>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4BA36C34-7631-2014-2227-0E8454875024}"/>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35BEF87B-E7B7-5144-18AD-C45B596C2195}"/>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view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37F80883-8EA2-DFA1-9A65-AA4F79E64E40}"/>
              </a:ext>
            </a:extLst>
          </p:cNvPr>
          <p:cNvSpPr/>
          <p:nvPr/>
        </p:nvSpPr>
        <p:spPr>
          <a:xfrm>
            <a:off x="6495605" y="5016508"/>
            <a:ext cx="4922124"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F6C2FD8A-9A69-1CE8-49AA-D966B25FA593}"/>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226427236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0B1C9-3026-799B-7E8F-A0CE5B0647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E654B0-CC75-F193-837E-3CAA147FE9B8}"/>
              </a:ext>
            </a:extLst>
          </p:cNvPr>
          <p:cNvSpPr>
            <a:spLocks noGrp="1"/>
          </p:cNvSpPr>
          <p:nvPr>
            <p:ph type="ctrTitle"/>
          </p:nvPr>
        </p:nvSpPr>
        <p:spPr>
          <a:xfrm>
            <a:off x="510362" y="2560320"/>
            <a:ext cx="7452360" cy="1682495"/>
          </a:xfrm>
        </p:spPr>
        <p:txBody>
          <a:bodyPr/>
          <a:lstStyle/>
          <a:p>
            <a:r>
              <a:rPr lang="en-US" dirty="0"/>
              <a:t>Connecting Distributed AI</a:t>
            </a:r>
          </a:p>
        </p:txBody>
      </p:sp>
      <p:sp>
        <p:nvSpPr>
          <p:cNvPr id="5" name="Subtitle 4">
            <a:extLst>
              <a:ext uri="{FF2B5EF4-FFF2-40B4-BE49-F238E27FC236}">
                <a16:creationId xmlns:a16="http://schemas.microsoft.com/office/drawing/2014/main" id="{55C25F96-51C2-B3C8-9F85-4FFA79F85B5C}"/>
              </a:ext>
            </a:extLst>
          </p:cNvPr>
          <p:cNvSpPr>
            <a:spLocks noGrp="1"/>
          </p:cNvSpPr>
          <p:nvPr>
            <p:ph type="subTitle" idx="1"/>
          </p:nvPr>
        </p:nvSpPr>
        <p:spPr>
          <a:xfrm>
            <a:off x="510362" y="4506932"/>
            <a:ext cx="7452360" cy="914400"/>
          </a:xfrm>
        </p:spPr>
        <p:txBody>
          <a:bodyPr/>
          <a:lstStyle/>
          <a:p>
            <a:r>
              <a:rPr lang="en-US" dirty="0"/>
              <a:t>Simple, programmable, and sovereign networking </a:t>
            </a:r>
            <a:br>
              <a:rPr lang="en-US" dirty="0"/>
            </a:br>
            <a:r>
              <a:rPr lang="en-US" dirty="0"/>
              <a:t>for modern AI infrastructure</a:t>
            </a:r>
          </a:p>
        </p:txBody>
      </p:sp>
      <p:sp>
        <p:nvSpPr>
          <p:cNvPr id="36" name="Text Placeholder 35">
            <a:extLst>
              <a:ext uri="{FF2B5EF4-FFF2-40B4-BE49-F238E27FC236}">
                <a16:creationId xmlns:a16="http://schemas.microsoft.com/office/drawing/2014/main" id="{758DCB88-37C1-3469-49A3-D13D7FE75DEC}"/>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63FFFDB6-DF2C-58D1-83CB-B39FEB4956B3}"/>
              </a:ext>
            </a:extLst>
          </p:cNvPr>
          <p:cNvSpPr>
            <a:spLocks noGrp="1"/>
          </p:cNvSpPr>
          <p:nvPr>
            <p:ph type="body" sz="quarter" idx="12"/>
          </p:nvPr>
        </p:nvSpPr>
        <p:spPr>
          <a:xfrm>
            <a:off x="510362" y="2103120"/>
            <a:ext cx="7452360" cy="457200"/>
          </a:xfrm>
        </p:spPr>
        <p:txBody>
          <a:bodyPr/>
          <a:lstStyle/>
          <a:p>
            <a:r>
              <a:rPr lang="en-US" dirty="0"/>
              <a:t>AI INFRASTRUCTURE </a:t>
            </a:r>
          </a:p>
        </p:txBody>
      </p:sp>
      <p:sp>
        <p:nvSpPr>
          <p:cNvPr id="37" name="Slide Number Placeholder 36">
            <a:extLst>
              <a:ext uri="{FF2B5EF4-FFF2-40B4-BE49-F238E27FC236}">
                <a16:creationId xmlns:a16="http://schemas.microsoft.com/office/drawing/2014/main" id="{10202341-B882-30E9-D76F-C9ED4B4A6F79}"/>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96909316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F5114-5B57-48D1-4F0E-AE4BA15537E9}"/>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85A7F021-B929-8643-A14C-E65573A7975D}"/>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E7D22E5B-6525-41D8-62EA-559CC7C6AC5C}"/>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5AA1C5DC-33BC-2490-8824-4AF0AEF7DDE8}"/>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5699846F-AC07-83BC-3E71-7077704245D9}"/>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1CB9E374-C43D-CD91-FFBE-EA15D80F2CA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CDB53F35-A9E8-B1D9-A9A3-D0D4E319C671}"/>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7AB48B10-D6E0-DD32-8803-1649CEF6FDD7}"/>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E1FD2729-A152-0B68-1155-DFEC7D274BBD}"/>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0CAE3968-B61E-F005-AF0A-A806ED9DD60C}"/>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10792A68-ACD9-1715-6F92-435C25028DF8}"/>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56166812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9ABC7-1F80-BBEB-5068-E1DD02E2BF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C7407C-E493-5FB0-1EF0-8BFDB3D6B690}"/>
              </a:ext>
            </a:extLst>
          </p:cNvPr>
          <p:cNvSpPr>
            <a:spLocks noGrp="1"/>
          </p:cNvSpPr>
          <p:nvPr>
            <p:ph type="sldNum" sz="quarter" idx="10"/>
          </p:nvPr>
        </p:nvSpPr>
        <p:spPr/>
        <p:txBody>
          <a:bodyPr/>
          <a:lstStyle/>
          <a:p>
            <a:fld id="{0246F002-FF83-614A-810B-169E974B53D7}" type="slidenum">
              <a:rPr lang="en-US" smtClean="0"/>
              <a:pPr/>
              <a:t>16</a:t>
            </a:fld>
            <a:r>
              <a:rPr lang="en-US"/>
              <a:t>  © 2026 MaiaEdge</a:t>
            </a:r>
            <a:endParaRPr lang="en-US" sz="900"/>
          </a:p>
        </p:txBody>
      </p:sp>
      <p:sp>
        <p:nvSpPr>
          <p:cNvPr id="4" name="Rectangle 3">
            <a:extLst>
              <a:ext uri="{FF2B5EF4-FFF2-40B4-BE49-F238E27FC236}">
                <a16:creationId xmlns:a16="http://schemas.microsoft.com/office/drawing/2014/main" id="{1A067F96-9F13-D897-A99E-D5ED2922E293}"/>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3C241EEA-A41F-55CF-F3CC-8FAD1F8A14E0}"/>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84D9840C-3F54-29B4-FC38-A26F05C8A9A3}"/>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4D9B60B0-689D-3A34-67B5-F4B87069BCC1}"/>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E4F6B2FD-DBD6-58BD-9D79-EE66704F16FF}"/>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3BF81523-69BE-64C5-8614-BB2234985C31}"/>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F94BD0F0-AED7-CE24-08E6-A48DB3806228}"/>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37AF9A00-1361-2640-7119-494C7BD7E824}"/>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ADBFA9EF-A837-860B-51D8-B7FF66E42CBB}"/>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317E11A2-E54D-833F-835A-9587EAA84062}"/>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3FF17EAC-886F-19CF-994F-548425090E6A}"/>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44B5AFC2-BEBE-D503-AA0F-AD6C3762646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1AE37C14-1296-7AB7-8CF0-8FC92D15C77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3775635D-B2DE-87DB-7799-78C4EF655958}"/>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91C860F4-29FC-C1EC-DF4C-74D1BD7F5FA0}"/>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CE65B5E7-C829-4B98-A466-EB9C0391A6AE}"/>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8B73FBD8-9C69-4B26-FFA9-908244ED950C}"/>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69426985-DC88-3A92-8C53-5D2CA07FCCCF}"/>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306479DD-FF0E-2DD2-98D9-D106DEA58769}"/>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DE1C3DA5-5BA6-98A5-20FA-41079835EF11}"/>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665C81E3-7C86-7B9E-AFF2-243E48CD6777}"/>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0FFABF23-A3FC-D922-7FEE-792A0943BC36}"/>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6C2277EA-3D3E-4A34-E8E4-EA038E17379D}"/>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D5602DC0-28CA-B0B4-58C0-10E993681EEE}"/>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3AEE780C-8E06-E620-3916-6D65220EC477}"/>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468674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238D3-328D-9649-86F5-7451EB72C87E}"/>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B92FC5AD-95A0-2503-020E-C6FA48894CCD}"/>
              </a:ext>
            </a:extLst>
          </p:cNvPr>
          <p:cNvGrpSpPr>
            <a:grpSpLocks/>
          </p:cNvGrpSpPr>
          <p:nvPr/>
        </p:nvGrpSpPr>
        <p:grpSpPr>
          <a:xfrm>
            <a:off x="0" y="1924556"/>
            <a:ext cx="4918002" cy="4933444"/>
            <a:chOff x="0" y="1894671"/>
            <a:chExt cx="6135647" cy="3591781"/>
          </a:xfrm>
        </p:grpSpPr>
        <p:sp>
          <p:nvSpPr>
            <p:cNvPr id="9" name="Rectangle 8">
              <a:extLst>
                <a:ext uri="{FF2B5EF4-FFF2-40B4-BE49-F238E27FC236}">
                  <a16:creationId xmlns:a16="http://schemas.microsoft.com/office/drawing/2014/main" id="{747912DE-39D3-F35C-0996-B702A458DBA8}"/>
                </a:ext>
              </a:extLst>
            </p:cNvPr>
            <p:cNvSpPr>
              <a:spLocks/>
            </p:cNvSpPr>
            <p:nvPr/>
          </p:nvSpPr>
          <p:spPr bwMode="auto">
            <a:xfrm>
              <a:off x="0" y="1932644"/>
              <a:ext cx="6096000" cy="3553808"/>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pic>
          <p:nvPicPr>
            <p:cNvPr id="7" name="Picture 6" descr="A black and white pattern&#10;&#10;AI-generated content may be incorrect.">
              <a:extLst>
                <a:ext uri="{FF2B5EF4-FFF2-40B4-BE49-F238E27FC236}">
                  <a16:creationId xmlns:a16="http://schemas.microsoft.com/office/drawing/2014/main" id="{9C7427C4-EC31-B0F4-B72C-D5671110D8EF}"/>
                </a:ext>
              </a:extLst>
            </p:cNvPr>
            <p:cNvPicPr>
              <a:picLocks noChangeAspect="1"/>
            </p:cNvPicPr>
            <p:nvPr/>
          </p:nvPicPr>
          <p:blipFill>
            <a:blip r:embed="rId4"/>
            <a:srcRect l="21185" t="12310" r="382" b="6488"/>
            <a:stretch>
              <a:fillRect/>
            </a:stretch>
          </p:blipFill>
          <p:spPr>
            <a:xfrm>
              <a:off x="0" y="1932644"/>
              <a:ext cx="6096000" cy="3553808"/>
            </a:xfrm>
            <a:prstGeom prst="rect">
              <a:avLst/>
            </a:prstGeom>
          </p:spPr>
        </p:pic>
        <p:sp>
          <p:nvSpPr>
            <p:cNvPr id="8" name="Fade">
              <a:extLst>
                <a:ext uri="{FF2B5EF4-FFF2-40B4-BE49-F238E27FC236}">
                  <a16:creationId xmlns:a16="http://schemas.microsoft.com/office/drawing/2014/main" id="{68725843-A32A-9D82-5169-92003C27D43E}"/>
                </a:ext>
              </a:extLst>
            </p:cNvPr>
            <p:cNvSpPr>
              <a:spLocks/>
            </p:cNvSpPr>
            <p:nvPr/>
          </p:nvSpPr>
          <p:spPr bwMode="auto">
            <a:xfrm flipH="1" flipV="1">
              <a:off x="0" y="1932644"/>
              <a:ext cx="6096000" cy="3553808"/>
            </a:xfrm>
            <a:prstGeom prst="rect">
              <a:avLst/>
            </a:prstGeom>
            <a:solidFill>
              <a:schemeClr val="tx2"/>
            </a:soli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14" name="Right Triangle 13">
              <a:extLst>
                <a:ext uri="{FF2B5EF4-FFF2-40B4-BE49-F238E27FC236}">
                  <a16:creationId xmlns:a16="http://schemas.microsoft.com/office/drawing/2014/main" id="{C20C208F-0B3D-2C54-B372-65BE74B74738}"/>
                </a:ext>
              </a:extLst>
            </p:cNvPr>
            <p:cNvSpPr>
              <a:spLocks/>
            </p:cNvSpPr>
            <p:nvPr/>
          </p:nvSpPr>
          <p:spPr bwMode="auto">
            <a:xfrm rot="10800000">
              <a:off x="5087484" y="1894671"/>
              <a:ext cx="1048163" cy="731936"/>
            </a:xfrm>
            <a:prstGeom prst="rtTriangle">
              <a:avLst/>
            </a:prstGeom>
            <a:solidFill>
              <a:schemeClr val="bg1">
                <a:lumMod val="95000"/>
              </a:schemeClr>
            </a:soli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b="1"/>
            </a:p>
          </p:txBody>
        </p:sp>
      </p:grpSp>
      <p:sp>
        <p:nvSpPr>
          <p:cNvPr id="2" name="Title 1">
            <a:extLst>
              <a:ext uri="{FF2B5EF4-FFF2-40B4-BE49-F238E27FC236}">
                <a16:creationId xmlns:a16="http://schemas.microsoft.com/office/drawing/2014/main" id="{025FBA01-69EB-1D55-1CE2-FB813A244788}"/>
              </a:ext>
            </a:extLst>
          </p:cNvPr>
          <p:cNvSpPr>
            <a:spLocks noGrp="1"/>
          </p:cNvSpPr>
          <p:nvPr>
            <p:ph type="title"/>
          </p:nvPr>
        </p:nvSpPr>
        <p:spPr/>
        <p:txBody>
          <a:bodyPr/>
          <a:lstStyle/>
          <a:p>
            <a:r>
              <a:rPr lang="en-US" sz="3200"/>
              <a:t>AI is distributing. Networks weren't designed for it.</a:t>
            </a:r>
          </a:p>
        </p:txBody>
      </p:sp>
      <p:sp>
        <p:nvSpPr>
          <p:cNvPr id="4" name="TextBox 3">
            <a:extLst>
              <a:ext uri="{FF2B5EF4-FFF2-40B4-BE49-F238E27FC236}">
                <a16:creationId xmlns:a16="http://schemas.microsoft.com/office/drawing/2014/main" id="{15FF4AFC-03D1-EAC4-BCFC-E6C2B86436C1}"/>
              </a:ext>
            </a:extLst>
          </p:cNvPr>
          <p:cNvSpPr txBox="1">
            <a:spLocks/>
          </p:cNvSpPr>
          <p:nvPr/>
        </p:nvSpPr>
        <p:spPr>
          <a:xfrm>
            <a:off x="709233" y="4014594"/>
            <a:ext cx="4148240" cy="1737360"/>
          </a:xfrm>
          <a:prstGeom prst="rect">
            <a:avLst/>
          </a:prstGeom>
          <a:noFill/>
        </p:spPr>
        <p:txBody>
          <a:bodyPr wrap="square" lIns="0">
            <a:noAutofit/>
          </a:bodyPr>
          <a:lstStyle/>
          <a:p>
            <a:pPr marL="0" indent="0">
              <a:spcAft>
                <a:spcPts val="1200"/>
              </a:spcAft>
              <a:buNone/>
            </a:pPr>
            <a:endParaRPr lang="en-US" sz="2000">
              <a:solidFill>
                <a:schemeClr val="bg1"/>
              </a:solidFill>
              <a:latin typeface="Tomorrow" pitchFamily="2" charset="0"/>
              <a:ea typeface="Calibri" pitchFamily="34" charset="-122"/>
              <a:cs typeface="Calibri" pitchFamily="34" charset="-120"/>
            </a:endParaRPr>
          </a:p>
        </p:txBody>
      </p:sp>
      <p:sp>
        <p:nvSpPr>
          <p:cNvPr id="13" name="Rectangle 12">
            <a:extLst>
              <a:ext uri="{FF2B5EF4-FFF2-40B4-BE49-F238E27FC236}">
                <a16:creationId xmlns:a16="http://schemas.microsoft.com/office/drawing/2014/main" id="{3AA1B915-DB51-B1A5-7A88-026356A27893}"/>
              </a:ext>
            </a:extLst>
          </p:cNvPr>
          <p:cNvSpPr>
            <a:spLocks/>
          </p:cNvSpPr>
          <p:nvPr/>
        </p:nvSpPr>
        <p:spPr bwMode="auto">
          <a:xfrm flipH="1">
            <a:off x="436533" y="2736228"/>
            <a:ext cx="45719" cy="1150177"/>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6" name="TextBox 5">
            <a:extLst>
              <a:ext uri="{FF2B5EF4-FFF2-40B4-BE49-F238E27FC236}">
                <a16:creationId xmlns:a16="http://schemas.microsoft.com/office/drawing/2014/main" id="{2EF2CF14-5E5A-A168-7730-6ABA1806CCDA}"/>
              </a:ext>
            </a:extLst>
          </p:cNvPr>
          <p:cNvSpPr txBox="1"/>
          <p:nvPr/>
        </p:nvSpPr>
        <p:spPr bwMode="auto">
          <a:xfrm>
            <a:off x="671592" y="2748707"/>
            <a:ext cx="3915450" cy="1077218"/>
          </a:xfrm>
          <a:prstGeom prst="rect">
            <a:avLst/>
          </a:prstGeom>
          <a:noFill/>
        </p:spPr>
        <p:txBody>
          <a:bodyPr wrap="square">
            <a:spAutoFit/>
          </a:bodyPr>
          <a:lstStyle/>
          <a:p>
            <a:pPr>
              <a:spcAft>
                <a:spcPts val="1200"/>
              </a:spcAft>
            </a:pPr>
            <a:r>
              <a:rPr lang="en-US" sz="2000" dirty="0">
                <a:solidFill>
                  <a:schemeClr val="bg1"/>
                </a:solidFill>
                <a:latin typeface="Tomorrow" pitchFamily="2" charset="0"/>
                <a:ea typeface="Calibri" pitchFamily="34" charset="-122"/>
                <a:cs typeface="Calibri" pitchFamily="34" charset="-120"/>
              </a:rPr>
              <a:t>Global WAN traffic is projected to increase by 300% to </a:t>
            </a:r>
            <a:r>
              <a:rPr lang="en-US" sz="2400" dirty="0">
                <a:solidFill>
                  <a:schemeClr val="bg1"/>
                </a:solidFill>
                <a:latin typeface="+mj-lt"/>
                <a:ea typeface="Calibri" pitchFamily="34" charset="-122"/>
                <a:cs typeface="Calibri" pitchFamily="34" charset="-120"/>
              </a:rPr>
              <a:t>700%</a:t>
            </a:r>
            <a:r>
              <a:rPr lang="en-US" sz="2000" dirty="0">
                <a:solidFill>
                  <a:schemeClr val="bg1"/>
                </a:solidFill>
                <a:latin typeface="+mj-lt"/>
                <a:ea typeface="Calibri" pitchFamily="34" charset="-122"/>
                <a:cs typeface="Calibri" pitchFamily="34" charset="-120"/>
              </a:rPr>
              <a:t> </a:t>
            </a:r>
            <a:r>
              <a:rPr lang="en-US" sz="2000" dirty="0">
                <a:solidFill>
                  <a:schemeClr val="bg1"/>
                </a:solidFill>
                <a:latin typeface="Tomorrow" pitchFamily="2" charset="0"/>
                <a:ea typeface="Calibri" pitchFamily="34" charset="-122"/>
                <a:cs typeface="Calibri" pitchFamily="34" charset="-120"/>
              </a:rPr>
              <a:t>by 2034, largely due to AI. </a:t>
            </a:r>
          </a:p>
        </p:txBody>
      </p:sp>
      <p:sp>
        <p:nvSpPr>
          <p:cNvPr id="5" name="Freeform 74">
            <a:extLst>
              <a:ext uri="{FF2B5EF4-FFF2-40B4-BE49-F238E27FC236}">
                <a16:creationId xmlns:a16="http://schemas.microsoft.com/office/drawing/2014/main" id="{CFD105D4-6A8E-67EB-A4C4-9E245BCAED6A}"/>
              </a:ext>
            </a:extLst>
          </p:cNvPr>
          <p:cNvSpPr/>
          <p:nvPr/>
        </p:nvSpPr>
        <p:spPr>
          <a:xfrm>
            <a:off x="10265142" y="3032875"/>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5"/>
            <a:stretch>
              <a:fillRect/>
            </a:stretch>
          </a:blipFill>
        </p:spPr>
        <p:txBody>
          <a:bodyPr/>
          <a:lstStyle/>
          <a:p>
            <a:endParaRPr lang="en-US"/>
          </a:p>
        </p:txBody>
      </p:sp>
      <p:sp>
        <p:nvSpPr>
          <p:cNvPr id="12" name="Freeform 55">
            <a:extLst>
              <a:ext uri="{FF2B5EF4-FFF2-40B4-BE49-F238E27FC236}">
                <a16:creationId xmlns:a16="http://schemas.microsoft.com/office/drawing/2014/main" id="{E4FD446A-9EFA-360F-1258-F6C61FE97B5B}"/>
              </a:ext>
            </a:extLst>
          </p:cNvPr>
          <p:cNvSpPr>
            <a:spLocks noChangeAspect="1"/>
          </p:cNvSpPr>
          <p:nvPr/>
        </p:nvSpPr>
        <p:spPr>
          <a:xfrm>
            <a:off x="5427108" y="3103079"/>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6" name="Freeform 55">
            <a:extLst>
              <a:ext uri="{FF2B5EF4-FFF2-40B4-BE49-F238E27FC236}">
                <a16:creationId xmlns:a16="http://schemas.microsoft.com/office/drawing/2014/main" id="{16CFB640-778B-49D3-4B8C-E4C3B065F55B}"/>
              </a:ext>
            </a:extLst>
          </p:cNvPr>
          <p:cNvSpPr>
            <a:spLocks noChangeAspect="1"/>
          </p:cNvSpPr>
          <p:nvPr/>
        </p:nvSpPr>
        <p:spPr>
          <a:xfrm>
            <a:off x="8855002" y="1904392"/>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7" name="Freeform 55">
            <a:extLst>
              <a:ext uri="{FF2B5EF4-FFF2-40B4-BE49-F238E27FC236}">
                <a16:creationId xmlns:a16="http://schemas.microsoft.com/office/drawing/2014/main" id="{0029B6CE-171D-D9D1-C290-3946B0319FE1}"/>
              </a:ext>
            </a:extLst>
          </p:cNvPr>
          <p:cNvSpPr>
            <a:spLocks noChangeAspect="1"/>
          </p:cNvSpPr>
          <p:nvPr/>
        </p:nvSpPr>
        <p:spPr>
          <a:xfrm>
            <a:off x="9069377" y="481285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grpSp>
        <p:nvGrpSpPr>
          <p:cNvPr id="28" name="Group 27">
            <a:extLst>
              <a:ext uri="{FF2B5EF4-FFF2-40B4-BE49-F238E27FC236}">
                <a16:creationId xmlns:a16="http://schemas.microsoft.com/office/drawing/2014/main" id="{24A88ADA-9BD5-E5FA-CFA1-FC49200EDDD2}"/>
              </a:ext>
            </a:extLst>
          </p:cNvPr>
          <p:cNvGrpSpPr>
            <a:grpSpLocks noChangeAspect="1"/>
          </p:cNvGrpSpPr>
          <p:nvPr/>
        </p:nvGrpSpPr>
        <p:grpSpPr>
          <a:xfrm>
            <a:off x="8073453" y="2150782"/>
            <a:ext cx="548640" cy="592959"/>
            <a:chOff x="7495022" y="4886204"/>
            <a:chExt cx="728696" cy="787559"/>
          </a:xfrm>
        </p:grpSpPr>
        <p:sp>
          <p:nvSpPr>
            <p:cNvPr id="29" name="Freeform: Shape 2132">
              <a:extLst>
                <a:ext uri="{FF2B5EF4-FFF2-40B4-BE49-F238E27FC236}">
                  <a16:creationId xmlns:a16="http://schemas.microsoft.com/office/drawing/2014/main" id="{9AD63B8D-A251-76A2-4742-0629D38BFC53}"/>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1" name="Freeform: Shape 2133">
              <a:extLst>
                <a:ext uri="{FF2B5EF4-FFF2-40B4-BE49-F238E27FC236}">
                  <a16:creationId xmlns:a16="http://schemas.microsoft.com/office/drawing/2014/main" id="{6AED358F-0DF1-63B0-4B58-5415BBD1C295}"/>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4" name="Group 33">
            <a:extLst>
              <a:ext uri="{FF2B5EF4-FFF2-40B4-BE49-F238E27FC236}">
                <a16:creationId xmlns:a16="http://schemas.microsoft.com/office/drawing/2014/main" id="{2A5610A4-0BFA-71FE-69F7-0BB19DF05A82}"/>
              </a:ext>
            </a:extLst>
          </p:cNvPr>
          <p:cNvGrpSpPr>
            <a:grpSpLocks noChangeAspect="1"/>
          </p:cNvGrpSpPr>
          <p:nvPr/>
        </p:nvGrpSpPr>
        <p:grpSpPr>
          <a:xfrm>
            <a:off x="5756142" y="5260035"/>
            <a:ext cx="548640" cy="592959"/>
            <a:chOff x="7495022" y="4886204"/>
            <a:chExt cx="728696" cy="787559"/>
          </a:xfrm>
        </p:grpSpPr>
        <p:sp>
          <p:nvSpPr>
            <p:cNvPr id="37" name="Freeform: Shape 2132">
              <a:extLst>
                <a:ext uri="{FF2B5EF4-FFF2-40B4-BE49-F238E27FC236}">
                  <a16:creationId xmlns:a16="http://schemas.microsoft.com/office/drawing/2014/main" id="{BD593539-D746-ED90-E78C-92DE83E88929}"/>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9" name="Freeform: Shape 2133">
              <a:extLst>
                <a:ext uri="{FF2B5EF4-FFF2-40B4-BE49-F238E27FC236}">
                  <a16:creationId xmlns:a16="http://schemas.microsoft.com/office/drawing/2014/main" id="{69729562-C588-3B98-2ABA-D3F755F1ED18}"/>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5200786D-8245-8DD7-63E1-1928F99C8AAD}"/>
              </a:ext>
            </a:extLst>
          </p:cNvPr>
          <p:cNvGrpSpPr>
            <a:grpSpLocks noChangeAspect="1"/>
          </p:cNvGrpSpPr>
          <p:nvPr/>
        </p:nvGrpSpPr>
        <p:grpSpPr>
          <a:xfrm>
            <a:off x="8122000" y="4994997"/>
            <a:ext cx="548640" cy="592959"/>
            <a:chOff x="7495022" y="4886204"/>
            <a:chExt cx="728696" cy="787559"/>
          </a:xfrm>
        </p:grpSpPr>
        <p:sp>
          <p:nvSpPr>
            <p:cNvPr id="42" name="Freeform: Shape 2132">
              <a:extLst>
                <a:ext uri="{FF2B5EF4-FFF2-40B4-BE49-F238E27FC236}">
                  <a16:creationId xmlns:a16="http://schemas.microsoft.com/office/drawing/2014/main" id="{A575ED18-8BBD-81F6-DF4A-9E8F2BA2EA75}"/>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2"/>
                </a:solidFill>
                <a:effectLst/>
                <a:uLnTx/>
                <a:uFillTx/>
                <a:latin typeface="Arial"/>
                <a:ea typeface="+mn-ea"/>
                <a:cs typeface="+mn-cs"/>
              </a:endParaRPr>
            </a:p>
          </p:txBody>
        </p:sp>
        <p:sp>
          <p:nvSpPr>
            <p:cNvPr id="43" name="Freeform: Shape 2133">
              <a:extLst>
                <a:ext uri="{FF2B5EF4-FFF2-40B4-BE49-F238E27FC236}">
                  <a16:creationId xmlns:a16="http://schemas.microsoft.com/office/drawing/2014/main" id="{AA6946C8-89F1-DC1F-DAE0-28418055F878}"/>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2"/>
                </a:solidFill>
                <a:effectLst/>
                <a:uLnTx/>
                <a:uFillTx/>
                <a:latin typeface="Arial"/>
                <a:ea typeface="+mn-ea"/>
                <a:cs typeface="+mn-cs"/>
              </a:endParaRPr>
            </a:p>
          </p:txBody>
        </p:sp>
      </p:grpSp>
      <p:grpSp>
        <p:nvGrpSpPr>
          <p:cNvPr id="44" name="Group 43">
            <a:extLst>
              <a:ext uri="{FF2B5EF4-FFF2-40B4-BE49-F238E27FC236}">
                <a16:creationId xmlns:a16="http://schemas.microsoft.com/office/drawing/2014/main" id="{BDCF8E59-9128-3E2D-011D-C396F7AA12B9}"/>
              </a:ext>
            </a:extLst>
          </p:cNvPr>
          <p:cNvGrpSpPr>
            <a:grpSpLocks noChangeAspect="1"/>
          </p:cNvGrpSpPr>
          <p:nvPr/>
        </p:nvGrpSpPr>
        <p:grpSpPr>
          <a:xfrm>
            <a:off x="10400859" y="4098428"/>
            <a:ext cx="548640" cy="592959"/>
            <a:chOff x="7495022" y="4886204"/>
            <a:chExt cx="728696" cy="787559"/>
          </a:xfrm>
        </p:grpSpPr>
        <p:sp>
          <p:nvSpPr>
            <p:cNvPr id="45" name="Freeform: Shape 2132">
              <a:extLst>
                <a:ext uri="{FF2B5EF4-FFF2-40B4-BE49-F238E27FC236}">
                  <a16:creationId xmlns:a16="http://schemas.microsoft.com/office/drawing/2014/main" id="{7E6AC67D-DD35-18C1-4DF6-2080889338E5}"/>
                </a:ext>
              </a:extLst>
            </p:cNvPr>
            <p:cNvSpPr/>
            <p:nvPr/>
          </p:nvSpPr>
          <p:spPr>
            <a:xfrm>
              <a:off x="7559501" y="4886204"/>
              <a:ext cx="599738" cy="779848"/>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6" name="Freeform: Shape 2133">
              <a:extLst>
                <a:ext uri="{FF2B5EF4-FFF2-40B4-BE49-F238E27FC236}">
                  <a16:creationId xmlns:a16="http://schemas.microsoft.com/office/drawing/2014/main" id="{2388AD38-7B0A-F1C6-EBBF-D7906CDCE51D}"/>
                </a:ext>
              </a:extLst>
            </p:cNvPr>
            <p:cNvSpPr/>
            <p:nvPr/>
          </p:nvSpPr>
          <p:spPr>
            <a:xfrm>
              <a:off x="7495022" y="5669464"/>
              <a:ext cx="728696" cy="4299"/>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49" name="Cloud icon">
            <a:extLst>
              <a:ext uri="{FF2B5EF4-FFF2-40B4-BE49-F238E27FC236}">
                <a16:creationId xmlns:a16="http://schemas.microsoft.com/office/drawing/2014/main" id="{109ACADA-EC06-2F45-3134-B85934EBA939}"/>
              </a:ext>
            </a:extLst>
          </p:cNvPr>
          <p:cNvSpPr>
            <a:spLocks noChangeAspect="1"/>
          </p:cNvSpPr>
          <p:nvPr/>
        </p:nvSpPr>
        <p:spPr>
          <a:xfrm>
            <a:off x="9136399" y="4183042"/>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SP 3</a:t>
            </a:r>
          </a:p>
        </p:txBody>
      </p:sp>
      <p:sp>
        <p:nvSpPr>
          <p:cNvPr id="50" name="Cloud icon">
            <a:extLst>
              <a:ext uri="{FF2B5EF4-FFF2-40B4-BE49-F238E27FC236}">
                <a16:creationId xmlns:a16="http://schemas.microsoft.com/office/drawing/2014/main" id="{D3E05D2C-7721-0F71-DF93-00FA6908BB3E}"/>
              </a:ext>
            </a:extLst>
          </p:cNvPr>
          <p:cNvSpPr>
            <a:spLocks noChangeAspect="1"/>
          </p:cNvSpPr>
          <p:nvPr/>
        </p:nvSpPr>
        <p:spPr>
          <a:xfrm>
            <a:off x="8300640" y="2768375"/>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SP 2</a:t>
            </a:r>
          </a:p>
        </p:txBody>
      </p:sp>
      <p:grpSp>
        <p:nvGrpSpPr>
          <p:cNvPr id="51" name="Group 50">
            <a:extLst>
              <a:ext uri="{FF2B5EF4-FFF2-40B4-BE49-F238E27FC236}">
                <a16:creationId xmlns:a16="http://schemas.microsoft.com/office/drawing/2014/main" id="{649BF336-B81C-EB16-0442-C2B46F255AC4}"/>
              </a:ext>
            </a:extLst>
          </p:cNvPr>
          <p:cNvGrpSpPr/>
          <p:nvPr/>
        </p:nvGrpSpPr>
        <p:grpSpPr>
          <a:xfrm>
            <a:off x="5440585" y="1804667"/>
            <a:ext cx="1510896" cy="910220"/>
            <a:chOff x="2761415" y="2040945"/>
            <a:chExt cx="1510896" cy="910220"/>
          </a:xfrm>
        </p:grpSpPr>
        <p:sp>
          <p:nvSpPr>
            <p:cNvPr id="52" name="Freeform 54">
              <a:extLst>
                <a:ext uri="{FF2B5EF4-FFF2-40B4-BE49-F238E27FC236}">
                  <a16:creationId xmlns:a16="http://schemas.microsoft.com/office/drawing/2014/main" id="{04AE7129-CB59-D9EB-5E14-833C8B6A57DA}"/>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7"/>
              <a:stretch>
                <a:fillRect/>
              </a:stretch>
            </a:blipFill>
          </p:spPr>
          <p:txBody>
            <a:bodyPr/>
            <a:lstStyle/>
            <a:p>
              <a:endParaRPr lang="en-US"/>
            </a:p>
          </p:txBody>
        </p:sp>
        <p:sp>
          <p:nvSpPr>
            <p:cNvPr id="53" name="Freeform 55">
              <a:extLst>
                <a:ext uri="{FF2B5EF4-FFF2-40B4-BE49-F238E27FC236}">
                  <a16:creationId xmlns:a16="http://schemas.microsoft.com/office/drawing/2014/main" id="{F23828E3-CEDE-6C04-5AF5-80D762C801F4}"/>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8"/>
              <a:stretch>
                <a:fillRect/>
              </a:stretch>
            </a:blipFill>
          </p:spPr>
          <p:txBody>
            <a:bodyPr/>
            <a:lstStyle/>
            <a:p>
              <a:endParaRPr lang="en-US"/>
            </a:p>
          </p:txBody>
        </p:sp>
        <p:sp>
          <p:nvSpPr>
            <p:cNvPr id="54" name="Freeform 56">
              <a:extLst>
                <a:ext uri="{FF2B5EF4-FFF2-40B4-BE49-F238E27FC236}">
                  <a16:creationId xmlns:a16="http://schemas.microsoft.com/office/drawing/2014/main" id="{6F1F4C70-48B5-62FC-824C-E5D6BD8F4E1C}"/>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55" name="Freeform 57">
              <a:extLst>
                <a:ext uri="{FF2B5EF4-FFF2-40B4-BE49-F238E27FC236}">
                  <a16:creationId xmlns:a16="http://schemas.microsoft.com/office/drawing/2014/main" id="{CC25FC32-5562-F2B1-3952-5F9E370F97DF}"/>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7"/>
              <a:stretch>
                <a:fillRect/>
              </a:stretch>
            </a:blipFill>
          </p:spPr>
          <p:txBody>
            <a:bodyPr/>
            <a:lstStyle/>
            <a:p>
              <a:endParaRPr lang="en-US"/>
            </a:p>
          </p:txBody>
        </p:sp>
        <p:sp>
          <p:nvSpPr>
            <p:cNvPr id="56" name="Freeform 58">
              <a:extLst>
                <a:ext uri="{FF2B5EF4-FFF2-40B4-BE49-F238E27FC236}">
                  <a16:creationId xmlns:a16="http://schemas.microsoft.com/office/drawing/2014/main" id="{23FE9740-A5CD-8A2F-FD98-3D1173FEAE25}"/>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3" name="Freeform 59">
              <a:extLst>
                <a:ext uri="{FF2B5EF4-FFF2-40B4-BE49-F238E27FC236}">
                  <a16:creationId xmlns:a16="http://schemas.microsoft.com/office/drawing/2014/main" id="{EBD87DD4-9AA6-163E-426F-E74BA25ACAA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sp>
        <p:nvSpPr>
          <p:cNvPr id="64" name="Rectangle 63">
            <a:extLst>
              <a:ext uri="{FF2B5EF4-FFF2-40B4-BE49-F238E27FC236}">
                <a16:creationId xmlns:a16="http://schemas.microsoft.com/office/drawing/2014/main" id="{438FC97C-9A66-CBDF-5976-2B6CD23AE5EF}"/>
              </a:ext>
            </a:extLst>
          </p:cNvPr>
          <p:cNvSpPr/>
          <p:nvPr/>
        </p:nvSpPr>
        <p:spPr bwMode="auto">
          <a:xfrm>
            <a:off x="5543205" y="6109952"/>
            <a:ext cx="5859865" cy="415352"/>
          </a:xfrm>
          <a:prstGeom prst="rect">
            <a:avLst/>
          </a:prstGeom>
          <a:solidFill>
            <a:schemeClr val="accent1"/>
          </a:solidFill>
          <a:ln w="12700" cap="sq" algn="ctr">
            <a:noFill/>
            <a:miter lim="800000"/>
            <a:headEnd/>
            <a:tailEnd/>
          </a:ln>
          <a:effectLst/>
        </p:spPr>
        <p:txBody>
          <a:bodyPr wrap="square" lIns="182880" rIns="182880" rtlCol="0" anchor="ctr" anchorCtr="1"/>
          <a:lstStyle/>
          <a:p>
            <a:pPr>
              <a:lnSpc>
                <a:spcPct val="95000"/>
              </a:lnSpc>
              <a:spcBef>
                <a:spcPts val="1080"/>
              </a:spcBef>
            </a:pPr>
            <a:r>
              <a:rPr lang="en-US">
                <a:latin typeface="+mj-lt"/>
                <a:ea typeface="Calibri" pitchFamily="34" charset="-122"/>
                <a:cs typeface="Calibri" pitchFamily="34" charset="-120"/>
              </a:rPr>
              <a:t>It’s beautiful chaos. Someone has to connect it.</a:t>
            </a:r>
            <a:endParaRPr lang="en-US" b="1">
              <a:latin typeface="+mj-lt"/>
            </a:endParaRPr>
          </a:p>
        </p:txBody>
      </p:sp>
      <p:cxnSp>
        <p:nvCxnSpPr>
          <p:cNvPr id="65" name="Straight Connector 64">
            <a:extLst>
              <a:ext uri="{FF2B5EF4-FFF2-40B4-BE49-F238E27FC236}">
                <a16:creationId xmlns:a16="http://schemas.microsoft.com/office/drawing/2014/main" id="{2E73B4E5-68DA-B8B0-4AEB-04D6EBE075A7}"/>
              </a:ext>
            </a:extLst>
          </p:cNvPr>
          <p:cNvCxnSpPr>
            <a:cxnSpLocks/>
          </p:cNvCxnSpPr>
          <p:nvPr/>
        </p:nvCxnSpPr>
        <p:spPr>
          <a:xfrm flipV="1">
            <a:off x="6232695" y="5317951"/>
            <a:ext cx="627068" cy="1467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8C4989A-1F60-9BBA-05C0-73D29D695A22}"/>
              </a:ext>
            </a:extLst>
          </p:cNvPr>
          <p:cNvCxnSpPr>
            <a:cxnSpLocks/>
            <a:stCxn id="49" idx="1"/>
          </p:cNvCxnSpPr>
          <p:nvPr/>
        </p:nvCxnSpPr>
        <p:spPr>
          <a:xfrm flipH="1" flipV="1">
            <a:off x="6387277" y="3990185"/>
            <a:ext cx="2749266" cy="747824"/>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73" name="Straight Connector 72">
            <a:extLst>
              <a:ext uri="{FF2B5EF4-FFF2-40B4-BE49-F238E27FC236}">
                <a16:creationId xmlns:a16="http://schemas.microsoft.com/office/drawing/2014/main" id="{2956620E-4C20-E46C-BF5E-85FE5724CE27}"/>
              </a:ext>
            </a:extLst>
          </p:cNvPr>
          <p:cNvCxnSpPr>
            <a:cxnSpLocks/>
            <a:stCxn id="75" idx="0"/>
          </p:cNvCxnSpPr>
          <p:nvPr/>
        </p:nvCxnSpPr>
        <p:spPr>
          <a:xfrm flipH="1">
            <a:off x="6271523" y="4473653"/>
            <a:ext cx="498517" cy="82735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5" name="Cloud icon">
            <a:extLst>
              <a:ext uri="{FF2B5EF4-FFF2-40B4-BE49-F238E27FC236}">
                <a16:creationId xmlns:a16="http://schemas.microsoft.com/office/drawing/2014/main" id="{113F5715-B884-895A-D842-150EB5059CCB}"/>
              </a:ext>
            </a:extLst>
          </p:cNvPr>
          <p:cNvSpPr>
            <a:spLocks noChangeAspect="1"/>
          </p:cNvSpPr>
          <p:nvPr/>
        </p:nvSpPr>
        <p:spPr>
          <a:xfrm>
            <a:off x="6608161" y="3768703"/>
            <a:ext cx="1137866" cy="705843"/>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dirty="0">
                <a:latin typeface="+mj-lt"/>
              </a:rPr>
              <a:t>SP 1</a:t>
            </a:r>
          </a:p>
        </p:txBody>
      </p:sp>
      <p:cxnSp>
        <p:nvCxnSpPr>
          <p:cNvPr id="76" name="Straight Connector 75">
            <a:extLst>
              <a:ext uri="{FF2B5EF4-FFF2-40B4-BE49-F238E27FC236}">
                <a16:creationId xmlns:a16="http://schemas.microsoft.com/office/drawing/2014/main" id="{E4421196-7E84-BC04-A6AD-8BAD13C055A4}"/>
              </a:ext>
            </a:extLst>
          </p:cNvPr>
          <p:cNvCxnSpPr>
            <a:cxnSpLocks/>
          </p:cNvCxnSpPr>
          <p:nvPr/>
        </p:nvCxnSpPr>
        <p:spPr>
          <a:xfrm flipH="1" flipV="1">
            <a:off x="9444886" y="3295132"/>
            <a:ext cx="1013815" cy="278676"/>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9292702-247B-622A-08C9-58824C203330}"/>
              </a:ext>
            </a:extLst>
          </p:cNvPr>
          <p:cNvCxnSpPr>
            <a:cxnSpLocks/>
          </p:cNvCxnSpPr>
          <p:nvPr/>
        </p:nvCxnSpPr>
        <p:spPr>
          <a:xfrm flipV="1">
            <a:off x="8502768" y="4212209"/>
            <a:ext cx="210198" cy="65638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grpSp>
        <p:nvGrpSpPr>
          <p:cNvPr id="83" name="Group 76">
            <a:extLst>
              <a:ext uri="{FF2B5EF4-FFF2-40B4-BE49-F238E27FC236}">
                <a16:creationId xmlns:a16="http://schemas.microsoft.com/office/drawing/2014/main" id="{1975B5A5-E9CD-FC0B-96AF-B3DD444491FE}"/>
              </a:ext>
            </a:extLst>
          </p:cNvPr>
          <p:cNvGrpSpPr/>
          <p:nvPr/>
        </p:nvGrpSpPr>
        <p:grpSpPr>
          <a:xfrm>
            <a:off x="10179070" y="2093504"/>
            <a:ext cx="1497143" cy="901935"/>
            <a:chOff x="0" y="0"/>
            <a:chExt cx="1996191" cy="1202580"/>
          </a:xfrm>
        </p:grpSpPr>
        <p:sp>
          <p:nvSpPr>
            <p:cNvPr id="84" name="Freeform 77">
              <a:extLst>
                <a:ext uri="{FF2B5EF4-FFF2-40B4-BE49-F238E27FC236}">
                  <a16:creationId xmlns:a16="http://schemas.microsoft.com/office/drawing/2014/main" id="{96454B6A-71A5-F692-C739-76327C5707CA}"/>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7"/>
              <a:stretch>
                <a:fillRect/>
              </a:stretch>
            </a:blipFill>
          </p:spPr>
          <p:txBody>
            <a:bodyPr/>
            <a:lstStyle/>
            <a:p>
              <a:endParaRPr lang="en-US"/>
            </a:p>
          </p:txBody>
        </p:sp>
        <p:sp>
          <p:nvSpPr>
            <p:cNvPr id="85" name="Freeform 78">
              <a:extLst>
                <a:ext uri="{FF2B5EF4-FFF2-40B4-BE49-F238E27FC236}">
                  <a16:creationId xmlns:a16="http://schemas.microsoft.com/office/drawing/2014/main" id="{9306A881-6201-9E70-FC36-8AAF7C98C3B1}"/>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8"/>
              <a:stretch>
                <a:fillRect/>
              </a:stretch>
            </a:blipFill>
          </p:spPr>
          <p:txBody>
            <a:bodyPr/>
            <a:lstStyle/>
            <a:p>
              <a:endParaRPr lang="en-US"/>
            </a:p>
          </p:txBody>
        </p:sp>
        <p:sp>
          <p:nvSpPr>
            <p:cNvPr id="86" name="Freeform 79">
              <a:extLst>
                <a:ext uri="{FF2B5EF4-FFF2-40B4-BE49-F238E27FC236}">
                  <a16:creationId xmlns:a16="http://schemas.microsoft.com/office/drawing/2014/main" id="{890060B8-A0F3-F651-622C-1A8490A8509D}"/>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7"/>
              <a:stretch>
                <a:fillRect/>
              </a:stretch>
            </a:blipFill>
          </p:spPr>
          <p:txBody>
            <a:bodyPr/>
            <a:lstStyle/>
            <a:p>
              <a:endParaRPr lang="en-US"/>
            </a:p>
          </p:txBody>
        </p:sp>
        <p:sp>
          <p:nvSpPr>
            <p:cNvPr id="87" name="Freeform 80">
              <a:extLst>
                <a:ext uri="{FF2B5EF4-FFF2-40B4-BE49-F238E27FC236}">
                  <a16:creationId xmlns:a16="http://schemas.microsoft.com/office/drawing/2014/main" id="{5C9C5362-11E6-6CEB-61D5-31565288AE68}"/>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2"/>
              <a:stretch>
                <a:fillRect l="-89563" r="-93613" b="-65656"/>
              </a:stretch>
            </a:blipFill>
          </p:spPr>
          <p:txBody>
            <a:bodyPr/>
            <a:lstStyle/>
            <a:p>
              <a:endParaRPr lang="en-US"/>
            </a:p>
          </p:txBody>
        </p:sp>
        <p:sp>
          <p:nvSpPr>
            <p:cNvPr id="88" name="Freeform 81">
              <a:extLst>
                <a:ext uri="{FF2B5EF4-FFF2-40B4-BE49-F238E27FC236}">
                  <a16:creationId xmlns:a16="http://schemas.microsoft.com/office/drawing/2014/main" id="{E5B455C8-1198-3C03-30DC-6ABF0E937FC4}"/>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3"/>
              <a:stretch>
                <a:fillRect/>
              </a:stretch>
            </a:blipFill>
          </p:spPr>
          <p:txBody>
            <a:bodyPr/>
            <a:lstStyle/>
            <a:p>
              <a:endParaRPr lang="en-US"/>
            </a:p>
          </p:txBody>
        </p:sp>
        <p:sp>
          <p:nvSpPr>
            <p:cNvPr id="90" name="Freeform 82">
              <a:extLst>
                <a:ext uri="{FF2B5EF4-FFF2-40B4-BE49-F238E27FC236}">
                  <a16:creationId xmlns:a16="http://schemas.microsoft.com/office/drawing/2014/main" id="{E8D382EE-8127-93C0-3F7F-8C1DB90B9EF9}"/>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grpSp>
      <p:sp>
        <p:nvSpPr>
          <p:cNvPr id="98" name="TextBox 97">
            <a:extLst>
              <a:ext uri="{FF2B5EF4-FFF2-40B4-BE49-F238E27FC236}">
                <a16:creationId xmlns:a16="http://schemas.microsoft.com/office/drawing/2014/main" id="{52632EC4-79BE-24B7-33B0-70C110BFF435}"/>
              </a:ext>
            </a:extLst>
          </p:cNvPr>
          <p:cNvSpPr txBox="1"/>
          <p:nvPr/>
        </p:nvSpPr>
        <p:spPr bwMode="auto">
          <a:xfrm>
            <a:off x="630414" y="4083635"/>
            <a:ext cx="3996814" cy="769441"/>
          </a:xfrm>
          <a:prstGeom prst="rect">
            <a:avLst/>
          </a:prstGeom>
          <a:noFill/>
        </p:spPr>
        <p:txBody>
          <a:bodyPr wrap="square" lIns="91440" tIns="45720" rIns="91440" bIns="45720" anchor="t">
            <a:spAutoFit/>
          </a:bodyPr>
          <a:lstStyle/>
          <a:p>
            <a:pPr>
              <a:spcAft>
                <a:spcPts val="1200"/>
              </a:spcAft>
            </a:pPr>
            <a:r>
              <a:rPr lang="en-US" sz="2000">
                <a:solidFill>
                  <a:schemeClr val="bg1"/>
                </a:solidFill>
                <a:latin typeface="Tomorrow"/>
                <a:ea typeface="Calibri"/>
                <a:cs typeface="Calibri"/>
              </a:rPr>
              <a:t>AI traffic could represent </a:t>
            </a:r>
            <a:r>
              <a:rPr lang="en-US" sz="2400">
                <a:solidFill>
                  <a:schemeClr val="bg1"/>
                </a:solidFill>
                <a:latin typeface="+mj-lt"/>
                <a:ea typeface="Calibri"/>
                <a:cs typeface="Calibri"/>
              </a:rPr>
              <a:t>30%</a:t>
            </a:r>
            <a:r>
              <a:rPr lang="en-US" sz="2000">
                <a:solidFill>
                  <a:schemeClr val="bg1"/>
                </a:solidFill>
                <a:latin typeface="+mj-lt"/>
                <a:ea typeface="Calibri"/>
                <a:cs typeface="Calibri"/>
              </a:rPr>
              <a:t> </a:t>
            </a:r>
            <a:r>
              <a:rPr lang="en-US" sz="2000">
                <a:solidFill>
                  <a:schemeClr val="bg1"/>
                </a:solidFill>
                <a:latin typeface="Tomorrow"/>
                <a:ea typeface="Calibri"/>
                <a:cs typeface="Calibri"/>
              </a:rPr>
              <a:t>of  WAN traffic by 2034. </a:t>
            </a:r>
          </a:p>
        </p:txBody>
      </p:sp>
      <p:sp>
        <p:nvSpPr>
          <p:cNvPr id="99" name="Freeform 55">
            <a:extLst>
              <a:ext uri="{FF2B5EF4-FFF2-40B4-BE49-F238E27FC236}">
                <a16:creationId xmlns:a16="http://schemas.microsoft.com/office/drawing/2014/main" id="{D3AD5859-0F01-DE21-EE57-F874D5366ED9}"/>
              </a:ext>
            </a:extLst>
          </p:cNvPr>
          <p:cNvSpPr>
            <a:spLocks noChangeAspect="1"/>
          </p:cNvSpPr>
          <p:nvPr/>
        </p:nvSpPr>
        <p:spPr>
          <a:xfrm>
            <a:off x="5306374" y="406671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00" name="Freeform 55">
            <a:extLst>
              <a:ext uri="{FF2B5EF4-FFF2-40B4-BE49-F238E27FC236}">
                <a16:creationId xmlns:a16="http://schemas.microsoft.com/office/drawing/2014/main" id="{2B561DB4-28F9-6FC5-BD61-A14296107B16}"/>
              </a:ext>
            </a:extLst>
          </p:cNvPr>
          <p:cNvSpPr>
            <a:spLocks noChangeAspect="1"/>
          </p:cNvSpPr>
          <p:nvPr/>
        </p:nvSpPr>
        <p:spPr>
          <a:xfrm>
            <a:off x="10288902" y="4754235"/>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11" name="Freeform 55">
            <a:extLst>
              <a:ext uri="{FF2B5EF4-FFF2-40B4-BE49-F238E27FC236}">
                <a16:creationId xmlns:a16="http://schemas.microsoft.com/office/drawing/2014/main" id="{64B38196-4FA5-B09C-8AFE-C911170B2B8D}"/>
              </a:ext>
            </a:extLst>
          </p:cNvPr>
          <p:cNvSpPr>
            <a:spLocks noChangeAspect="1"/>
          </p:cNvSpPr>
          <p:nvPr/>
        </p:nvSpPr>
        <p:spPr>
          <a:xfrm>
            <a:off x="8314959" y="3331475"/>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cxnSp>
        <p:nvCxnSpPr>
          <p:cNvPr id="117" name="Straight Connector 116">
            <a:extLst>
              <a:ext uri="{FF2B5EF4-FFF2-40B4-BE49-F238E27FC236}">
                <a16:creationId xmlns:a16="http://schemas.microsoft.com/office/drawing/2014/main" id="{66F46B82-BCD3-3CEF-90AE-93D20F7EADF5}"/>
              </a:ext>
            </a:extLst>
          </p:cNvPr>
          <p:cNvCxnSpPr>
            <a:cxnSpLocks/>
          </p:cNvCxnSpPr>
          <p:nvPr/>
        </p:nvCxnSpPr>
        <p:spPr>
          <a:xfrm flipH="1">
            <a:off x="6329531" y="4360229"/>
            <a:ext cx="251452" cy="13672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E24DF477-579F-0D5A-0D8D-8F0AF9F84065}"/>
              </a:ext>
            </a:extLst>
          </p:cNvPr>
          <p:cNvCxnSpPr>
            <a:cxnSpLocks/>
          </p:cNvCxnSpPr>
          <p:nvPr/>
        </p:nvCxnSpPr>
        <p:spPr>
          <a:xfrm flipH="1">
            <a:off x="9419029" y="2851990"/>
            <a:ext cx="1183131" cy="422413"/>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21" name="Straight Connector 120">
            <a:extLst>
              <a:ext uri="{FF2B5EF4-FFF2-40B4-BE49-F238E27FC236}">
                <a16:creationId xmlns:a16="http://schemas.microsoft.com/office/drawing/2014/main" id="{FDBC5B80-6403-7DEA-76DC-1E6CF892A552}"/>
              </a:ext>
            </a:extLst>
          </p:cNvPr>
          <p:cNvCxnSpPr>
            <a:cxnSpLocks/>
          </p:cNvCxnSpPr>
          <p:nvPr/>
        </p:nvCxnSpPr>
        <p:spPr>
          <a:xfrm flipH="1">
            <a:off x="9434341" y="2729514"/>
            <a:ext cx="48073" cy="485626"/>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24" name="Straight Connector 123">
            <a:extLst>
              <a:ext uri="{FF2B5EF4-FFF2-40B4-BE49-F238E27FC236}">
                <a16:creationId xmlns:a16="http://schemas.microsoft.com/office/drawing/2014/main" id="{EF7552AA-BED3-AE3A-33BD-910EEECE9B56}"/>
              </a:ext>
            </a:extLst>
          </p:cNvPr>
          <p:cNvCxnSpPr>
            <a:cxnSpLocks/>
            <a:endCxn id="49" idx="1"/>
          </p:cNvCxnSpPr>
          <p:nvPr/>
        </p:nvCxnSpPr>
        <p:spPr>
          <a:xfrm>
            <a:off x="7545498" y="3384549"/>
            <a:ext cx="1591045" cy="135346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37" name="Straight Connector 136">
            <a:extLst>
              <a:ext uri="{FF2B5EF4-FFF2-40B4-BE49-F238E27FC236}">
                <a16:creationId xmlns:a16="http://schemas.microsoft.com/office/drawing/2014/main" id="{FC7F1DC3-0F86-8889-D281-33B06FC4D0AA}"/>
              </a:ext>
            </a:extLst>
          </p:cNvPr>
          <p:cNvCxnSpPr>
            <a:cxnSpLocks/>
            <a:stCxn id="49" idx="9"/>
          </p:cNvCxnSpPr>
          <p:nvPr/>
        </p:nvCxnSpPr>
        <p:spPr>
          <a:xfrm>
            <a:off x="10050036" y="4888885"/>
            <a:ext cx="547019" cy="186821"/>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39" name="Straight Connector 138">
            <a:extLst>
              <a:ext uri="{FF2B5EF4-FFF2-40B4-BE49-F238E27FC236}">
                <a16:creationId xmlns:a16="http://schemas.microsoft.com/office/drawing/2014/main" id="{7BCE5EEF-1023-55A7-5612-208BF4815F4F}"/>
              </a:ext>
            </a:extLst>
          </p:cNvPr>
          <p:cNvCxnSpPr>
            <a:cxnSpLocks/>
          </p:cNvCxnSpPr>
          <p:nvPr/>
        </p:nvCxnSpPr>
        <p:spPr>
          <a:xfrm>
            <a:off x="9419029" y="3384338"/>
            <a:ext cx="1028003" cy="959019"/>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41" name="Straight Connector 140">
            <a:extLst>
              <a:ext uri="{FF2B5EF4-FFF2-40B4-BE49-F238E27FC236}">
                <a16:creationId xmlns:a16="http://schemas.microsoft.com/office/drawing/2014/main" id="{22D4D384-DA3D-F998-03EE-46399D271ACF}"/>
              </a:ext>
            </a:extLst>
          </p:cNvPr>
          <p:cNvCxnSpPr>
            <a:cxnSpLocks/>
            <a:endCxn id="50" idx="2"/>
          </p:cNvCxnSpPr>
          <p:nvPr/>
        </p:nvCxnSpPr>
        <p:spPr>
          <a:xfrm>
            <a:off x="6904369" y="2602626"/>
            <a:ext cx="1542798" cy="556273"/>
          </a:xfrm>
          <a:prstGeom prst="line">
            <a:avLst/>
          </a:prstGeom>
          <a:ln/>
        </p:spPr>
        <p:style>
          <a:lnRef idx="1">
            <a:schemeClr val="accent2"/>
          </a:lnRef>
          <a:fillRef idx="0">
            <a:schemeClr val="accent2"/>
          </a:fillRef>
          <a:effectRef idx="0">
            <a:schemeClr val="accent2"/>
          </a:effectRef>
          <a:fontRef idx="minor">
            <a:schemeClr val="tx1"/>
          </a:fontRef>
        </p:style>
      </p:cxnSp>
      <p:sp>
        <p:nvSpPr>
          <p:cNvPr id="149" name="Freeform 55">
            <a:extLst>
              <a:ext uri="{FF2B5EF4-FFF2-40B4-BE49-F238E27FC236}">
                <a16:creationId xmlns:a16="http://schemas.microsoft.com/office/drawing/2014/main" id="{F0B67D56-465C-74D8-E46A-A153CE1966C5}"/>
              </a:ext>
            </a:extLst>
          </p:cNvPr>
          <p:cNvSpPr>
            <a:spLocks noChangeAspect="1"/>
          </p:cNvSpPr>
          <p:nvPr/>
        </p:nvSpPr>
        <p:spPr>
          <a:xfrm>
            <a:off x="6863874" y="2623173"/>
            <a:ext cx="1280160" cy="128016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6"/>
            <a:stretch>
              <a:fillRect/>
            </a:stretch>
          </a:blipFill>
          <a:ln cap="sq">
            <a:noFill/>
            <a:prstDash val="solid"/>
            <a:miter/>
          </a:ln>
        </p:spPr>
        <p:txBody>
          <a:bodyPr/>
          <a:lstStyle/>
          <a:p>
            <a:endParaRPr lang="en-US"/>
          </a:p>
        </p:txBody>
      </p:sp>
      <p:sp>
        <p:nvSpPr>
          <p:cNvPr id="150" name="Freeform 74">
            <a:extLst>
              <a:ext uri="{FF2B5EF4-FFF2-40B4-BE49-F238E27FC236}">
                <a16:creationId xmlns:a16="http://schemas.microsoft.com/office/drawing/2014/main" id="{1961B5C9-1A95-1CB2-7805-169FEF5EFF02}"/>
              </a:ext>
            </a:extLst>
          </p:cNvPr>
          <p:cNvSpPr/>
          <p:nvPr/>
        </p:nvSpPr>
        <p:spPr>
          <a:xfrm>
            <a:off x="6620045" y="4565853"/>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5"/>
            <a:stretch>
              <a:fillRect/>
            </a:stretch>
          </a:blipFill>
        </p:spPr>
        <p:txBody>
          <a:bodyPr/>
          <a:lstStyle/>
          <a:p>
            <a:endParaRPr lang="en-US"/>
          </a:p>
        </p:txBody>
      </p:sp>
      <p:pic>
        <p:nvPicPr>
          <p:cNvPr id="18" name="Graphic 17" descr="Badge Cross with solid fill">
            <a:extLst>
              <a:ext uri="{FF2B5EF4-FFF2-40B4-BE49-F238E27FC236}">
                <a16:creationId xmlns:a16="http://schemas.microsoft.com/office/drawing/2014/main" id="{5DEADEC3-21D1-030C-52E9-7194411C633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08558" y="4445073"/>
            <a:ext cx="365760" cy="365760"/>
          </a:xfrm>
          <a:prstGeom prst="rect">
            <a:avLst/>
          </a:prstGeom>
        </p:spPr>
      </p:pic>
      <p:pic>
        <p:nvPicPr>
          <p:cNvPr id="19" name="Graphic 18" descr="Badge Cross with solid fill">
            <a:extLst>
              <a:ext uri="{FF2B5EF4-FFF2-40B4-BE49-F238E27FC236}">
                <a16:creationId xmlns:a16="http://schemas.microsoft.com/office/drawing/2014/main" id="{D2891135-31AD-1026-7974-12711FFFE0B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834392" y="3268167"/>
            <a:ext cx="365760" cy="365760"/>
          </a:xfrm>
          <a:prstGeom prst="rect">
            <a:avLst/>
          </a:prstGeom>
        </p:spPr>
      </p:pic>
      <p:cxnSp>
        <p:nvCxnSpPr>
          <p:cNvPr id="20" name="Straight Connector 19">
            <a:extLst>
              <a:ext uri="{FF2B5EF4-FFF2-40B4-BE49-F238E27FC236}">
                <a16:creationId xmlns:a16="http://schemas.microsoft.com/office/drawing/2014/main" id="{90B3A523-B202-F853-E6FB-F36E58E9444B}"/>
              </a:ext>
            </a:extLst>
          </p:cNvPr>
          <p:cNvCxnSpPr>
            <a:cxnSpLocks/>
          </p:cNvCxnSpPr>
          <p:nvPr/>
        </p:nvCxnSpPr>
        <p:spPr>
          <a:xfrm>
            <a:off x="9588143" y="4870318"/>
            <a:ext cx="0" cy="277278"/>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2" name="Straight Connector 21">
            <a:extLst>
              <a:ext uri="{FF2B5EF4-FFF2-40B4-BE49-F238E27FC236}">
                <a16:creationId xmlns:a16="http://schemas.microsoft.com/office/drawing/2014/main" id="{D897CC7D-8D68-5923-A347-4F83957CABCE}"/>
              </a:ext>
            </a:extLst>
          </p:cNvPr>
          <p:cNvCxnSpPr>
            <a:cxnSpLocks/>
            <a:endCxn id="50" idx="4"/>
          </p:cNvCxnSpPr>
          <p:nvPr/>
        </p:nvCxnSpPr>
        <p:spPr>
          <a:xfrm>
            <a:off x="8434494" y="2767541"/>
            <a:ext cx="188867" cy="185352"/>
          </a:xfrm>
          <a:prstGeom prst="line">
            <a:avLst/>
          </a:prstGeom>
          <a:ln/>
        </p:spPr>
        <p:style>
          <a:lnRef idx="1">
            <a:schemeClr val="accent2"/>
          </a:lnRef>
          <a:fillRef idx="0">
            <a:schemeClr val="accent2"/>
          </a:fillRef>
          <a:effectRef idx="0">
            <a:schemeClr val="accent2"/>
          </a:effectRef>
          <a:fontRef idx="minor">
            <a:schemeClr val="tx1"/>
          </a:fontRef>
        </p:style>
      </p:cxnSp>
      <p:pic>
        <p:nvPicPr>
          <p:cNvPr id="24" name="Graphic 23" descr="Badge Cross with solid fill">
            <a:extLst>
              <a:ext uri="{FF2B5EF4-FFF2-40B4-BE49-F238E27FC236}">
                <a16:creationId xmlns:a16="http://schemas.microsoft.com/office/drawing/2014/main" id="{07D15CF8-AB5F-BEC6-BCF4-4E569E911D5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16450" y="4264908"/>
            <a:ext cx="365760" cy="365760"/>
          </a:xfrm>
          <a:prstGeom prst="rect">
            <a:avLst/>
          </a:prstGeom>
        </p:spPr>
      </p:pic>
      <p:sp>
        <p:nvSpPr>
          <p:cNvPr id="26" name="TextBox 25">
            <a:extLst>
              <a:ext uri="{FF2B5EF4-FFF2-40B4-BE49-F238E27FC236}">
                <a16:creationId xmlns:a16="http://schemas.microsoft.com/office/drawing/2014/main" id="{582BA797-11A6-75A0-EAFA-954E4D2C3BB4}"/>
              </a:ext>
            </a:extLst>
          </p:cNvPr>
          <p:cNvSpPr txBox="1"/>
          <p:nvPr/>
        </p:nvSpPr>
        <p:spPr bwMode="auto">
          <a:xfrm>
            <a:off x="622938" y="5030992"/>
            <a:ext cx="3914498" cy="1077218"/>
          </a:xfrm>
          <a:prstGeom prst="rect">
            <a:avLst/>
          </a:prstGeom>
          <a:noFill/>
        </p:spPr>
        <p:txBody>
          <a:bodyPr wrap="square">
            <a:spAutoFit/>
          </a:bodyPr>
          <a:lstStyle/>
          <a:p>
            <a:pPr>
              <a:spcAft>
                <a:spcPts val="1200"/>
              </a:spcAft>
            </a:pPr>
            <a:r>
              <a:rPr lang="en-US" sz="2000" dirty="0">
                <a:solidFill>
                  <a:schemeClr val="bg1"/>
                </a:solidFill>
                <a:latin typeface="Tomorrow" pitchFamily="2" charset="0"/>
                <a:ea typeface="Calibri" pitchFamily="34" charset="-122"/>
                <a:cs typeface="Calibri" pitchFamily="34" charset="-120"/>
              </a:rPr>
              <a:t>By the end of 2026, inference will account for approximately </a:t>
            </a:r>
            <a:r>
              <a:rPr lang="en-US" sz="2400" dirty="0">
                <a:solidFill>
                  <a:schemeClr val="bg1"/>
                </a:solidFill>
                <a:latin typeface="+mj-lt"/>
                <a:ea typeface="Calibri" pitchFamily="34" charset="-122"/>
                <a:cs typeface="Calibri" pitchFamily="34" charset="-120"/>
              </a:rPr>
              <a:t>67% </a:t>
            </a:r>
            <a:r>
              <a:rPr lang="en-US" sz="2000" dirty="0">
                <a:solidFill>
                  <a:schemeClr val="bg1"/>
                </a:solidFill>
                <a:latin typeface="Tomorrow" pitchFamily="2" charset="0"/>
                <a:ea typeface="Calibri" pitchFamily="34" charset="-122"/>
                <a:cs typeface="Calibri" pitchFamily="34" charset="-120"/>
              </a:rPr>
              <a:t>of all AI compute.</a:t>
            </a:r>
          </a:p>
        </p:txBody>
      </p:sp>
    </p:spTree>
    <p:custDataLst>
      <p:tags r:id="rId1"/>
    </p:custDataLst>
    <p:extLst>
      <p:ext uri="{BB962C8B-B14F-4D97-AF65-F5344CB8AC3E}">
        <p14:creationId xmlns:p14="http://schemas.microsoft.com/office/powerpoint/2010/main" val="36480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animEffect transition="in" filter="fade">
                                      <p:cBhvr>
                                        <p:cTn id="13"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7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B293-48B1-B7E1-6984-7C51BCEA72A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7E14BE49-23D0-EE57-A6B4-945BD81E50B4}"/>
              </a:ext>
            </a:extLst>
          </p:cNvPr>
          <p:cNvSpPr/>
          <p:nvPr/>
        </p:nvSpPr>
        <p:spPr bwMode="auto">
          <a:xfrm flipV="1">
            <a:off x="732" y="1688017"/>
            <a:ext cx="12191268" cy="5169983"/>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268EF94A-A7F2-706B-4708-56644F9A4029}"/>
              </a:ext>
            </a:extLst>
          </p:cNvPr>
          <p:cNvSpPr/>
          <p:nvPr/>
        </p:nvSpPr>
        <p:spPr bwMode="auto">
          <a:xfrm>
            <a:off x="8805797" y="1772683"/>
            <a:ext cx="3386203" cy="4046297"/>
          </a:xfrm>
          <a:prstGeom prst="rect">
            <a:avLst/>
          </a:prstGeom>
          <a:gradFill>
            <a:gsLst>
              <a:gs pos="99000">
                <a:srgbClr val="2F2F2F"/>
              </a:gs>
              <a:gs pos="0">
                <a:schemeClr val="tx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748DF0F0-0AEB-EA94-AD4D-44E4474094A3}"/>
              </a:ext>
            </a:extLst>
          </p:cNvPr>
          <p:cNvSpPr/>
          <p:nvPr/>
        </p:nvSpPr>
        <p:spPr bwMode="auto">
          <a:xfrm>
            <a:off x="0" y="1772683"/>
            <a:ext cx="3386203" cy="4046297"/>
          </a:xfrm>
          <a:prstGeom prst="rect">
            <a:avLst/>
          </a:prstGeom>
          <a:gradFill>
            <a:gsLst>
              <a:gs pos="99000">
                <a:srgbClr val="2F2F2F"/>
              </a:gs>
              <a:gs pos="0">
                <a:schemeClr val="tx1"/>
              </a:gs>
            </a:gsLst>
            <a:lin ang="54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76" name="TextBox 75">
            <a:extLst>
              <a:ext uri="{FF2B5EF4-FFF2-40B4-BE49-F238E27FC236}">
                <a16:creationId xmlns:a16="http://schemas.microsoft.com/office/drawing/2014/main" id="{8464BBC5-C976-5EA7-5ECF-A9727EAD3CF2}"/>
              </a:ext>
            </a:extLst>
          </p:cNvPr>
          <p:cNvSpPr txBox="1"/>
          <p:nvPr/>
        </p:nvSpPr>
        <p:spPr>
          <a:xfrm>
            <a:off x="4456206" y="5713896"/>
            <a:ext cx="3270024" cy="356513"/>
          </a:xfrm>
          <a:prstGeom prst="rect">
            <a:avLst/>
          </a:prstGeom>
          <a:no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Tomorrow Medium"/>
                <a:ea typeface="Verdana"/>
                <a:cs typeface="Arial"/>
              </a:rPr>
              <a:t>The network</a:t>
            </a:r>
            <a:r>
              <a:rPr kumimoji="0" lang="en-US" sz="1800" b="0" i="0" u="none" strike="noStrike" kern="1200" cap="none" spc="0" normalizeH="0" baseline="0" noProof="0">
                <a:ln>
                  <a:noFill/>
                </a:ln>
                <a:solidFill>
                  <a:srgbClr val="000000"/>
                </a:solidFill>
                <a:effectLst/>
                <a:uLnTx/>
                <a:uFillTx/>
                <a:latin typeface="Tomorrow Medium"/>
                <a:ea typeface="Verdana"/>
                <a:cs typeface="Arial"/>
              </a:rPr>
              <a:t> is the bottleneck</a:t>
            </a:r>
            <a:endParaRPr kumimoji="0" lang="en-US" sz="1800" b="0" i="0" u="none" strike="noStrike" kern="1200" cap="none" spc="0" normalizeH="0" baseline="0" noProof="0">
              <a:ln>
                <a:noFill/>
              </a:ln>
              <a:solidFill>
                <a:srgbClr val="000000"/>
              </a:solidFill>
              <a:effectLst/>
              <a:uLnTx/>
              <a:uFillTx/>
              <a:latin typeface="Tomorrow Medium"/>
              <a:ea typeface="+mn-ea"/>
              <a:cs typeface="+mn-cs"/>
            </a:endParaRPr>
          </a:p>
        </p:txBody>
      </p:sp>
      <p:sp>
        <p:nvSpPr>
          <p:cNvPr id="28" name="Title 27">
            <a:extLst>
              <a:ext uri="{FF2B5EF4-FFF2-40B4-BE49-F238E27FC236}">
                <a16:creationId xmlns:a16="http://schemas.microsoft.com/office/drawing/2014/main" id="{94BC022E-4C89-354D-D863-DB3913672EAA}"/>
              </a:ext>
            </a:extLst>
          </p:cNvPr>
          <p:cNvSpPr>
            <a:spLocks noGrp="1"/>
          </p:cNvSpPr>
          <p:nvPr>
            <p:ph type="title"/>
          </p:nvPr>
        </p:nvSpPr>
        <p:spPr>
          <a:xfrm>
            <a:off x="510363" y="355048"/>
            <a:ext cx="11171274" cy="1107996"/>
          </a:xfrm>
        </p:spPr>
        <p:txBody>
          <a:bodyPr/>
          <a:lstStyle/>
          <a:p>
            <a:r>
              <a:rPr lang="en-US"/>
              <a:t>Connecting Distributed AI is Hard</a:t>
            </a:r>
          </a:p>
        </p:txBody>
      </p:sp>
      <p:sp>
        <p:nvSpPr>
          <p:cNvPr id="26" name="TextBox 25">
            <a:extLst>
              <a:ext uri="{FF2B5EF4-FFF2-40B4-BE49-F238E27FC236}">
                <a16:creationId xmlns:a16="http://schemas.microsoft.com/office/drawing/2014/main" id="{AFD78D7E-6C8B-2CE0-575A-71D11A379596}"/>
              </a:ext>
            </a:extLst>
          </p:cNvPr>
          <p:cNvSpPr txBox="1"/>
          <p:nvPr/>
        </p:nvSpPr>
        <p:spPr>
          <a:xfrm>
            <a:off x="315296" y="1924811"/>
            <a:ext cx="2606117" cy="646331"/>
          </a:xfrm>
          <a:prstGeom prst="rect">
            <a:avLst/>
          </a:prstGeom>
          <a:noFill/>
        </p:spPr>
        <p:txBody>
          <a:bodyPr wrap="square" l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9400"/>
                </a:solidFill>
                <a:effectLst/>
                <a:uLnTx/>
                <a:uFillTx/>
                <a:latin typeface="Tomorrow Medium"/>
                <a:ea typeface="+mn-ea"/>
                <a:cs typeface="+mn-cs"/>
              </a:rPr>
              <a:t>AI workloads are no longer in one location</a:t>
            </a:r>
          </a:p>
        </p:txBody>
      </p:sp>
      <p:sp>
        <p:nvSpPr>
          <p:cNvPr id="4" name="Text 20">
            <a:extLst>
              <a:ext uri="{FF2B5EF4-FFF2-40B4-BE49-F238E27FC236}">
                <a16:creationId xmlns:a16="http://schemas.microsoft.com/office/drawing/2014/main" id="{DC623616-0E25-F85D-8B8B-30001FFB1926}"/>
              </a:ext>
            </a:extLst>
          </p:cNvPr>
          <p:cNvSpPr/>
          <p:nvPr/>
        </p:nvSpPr>
        <p:spPr>
          <a:xfrm>
            <a:off x="325091" y="2910905"/>
            <a:ext cx="2775153" cy="1548264"/>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Modern AI infrastructure includes: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Multiple inference clusters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Distributed GPU locations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Geographically separated </a:t>
            </a:r>
            <a:b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b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data centers</a:t>
            </a:r>
          </a:p>
        </p:txBody>
      </p:sp>
      <p:sp>
        <p:nvSpPr>
          <p:cNvPr id="5" name="Text 20">
            <a:extLst>
              <a:ext uri="{FF2B5EF4-FFF2-40B4-BE49-F238E27FC236}">
                <a16:creationId xmlns:a16="http://schemas.microsoft.com/office/drawing/2014/main" id="{FACDB44D-0ABE-7EE6-9897-A9624A14C86D}"/>
              </a:ext>
            </a:extLst>
          </p:cNvPr>
          <p:cNvSpPr/>
          <p:nvPr/>
        </p:nvSpPr>
        <p:spPr>
          <a:xfrm>
            <a:off x="300251" y="4459288"/>
            <a:ext cx="2921631"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Clusters must exchange: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Embeddings,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Model updates,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Inference results, and storage access.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6" name="TextBox 5">
            <a:extLst>
              <a:ext uri="{FF2B5EF4-FFF2-40B4-BE49-F238E27FC236}">
                <a16:creationId xmlns:a16="http://schemas.microsoft.com/office/drawing/2014/main" id="{163CA97D-5F09-404E-7543-BD9C280A565B}"/>
              </a:ext>
            </a:extLst>
          </p:cNvPr>
          <p:cNvSpPr txBox="1"/>
          <p:nvPr/>
        </p:nvSpPr>
        <p:spPr>
          <a:xfrm>
            <a:off x="9140318" y="1924811"/>
            <a:ext cx="3051682" cy="625949"/>
          </a:xfrm>
          <a:prstGeom prst="rect">
            <a:avLst/>
          </a:prstGeom>
          <a:noFill/>
        </p:spPr>
        <p:txBody>
          <a:bodyPr wrap="square" l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9400"/>
                </a:solidFill>
                <a:effectLst/>
                <a:uLnTx/>
                <a:uFillTx/>
                <a:latin typeface="Tomorrow Medium"/>
                <a:ea typeface="+mn-ea"/>
                <a:cs typeface="+mn-cs"/>
              </a:rPr>
              <a:t>But connectivity between them is inconsistent</a:t>
            </a:r>
          </a:p>
        </p:txBody>
      </p:sp>
      <p:sp>
        <p:nvSpPr>
          <p:cNvPr id="8" name="Text 20">
            <a:extLst>
              <a:ext uri="{FF2B5EF4-FFF2-40B4-BE49-F238E27FC236}">
                <a16:creationId xmlns:a16="http://schemas.microsoft.com/office/drawing/2014/main" id="{D5C968C2-D50B-A2AC-A4C7-B7BF8FB1D19B}"/>
              </a:ext>
            </a:extLst>
          </p:cNvPr>
          <p:cNvSpPr/>
          <p:nvPr/>
        </p:nvSpPr>
        <p:spPr>
          <a:xfrm>
            <a:off x="9140318" y="2910904"/>
            <a:ext cx="2551880"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Clusters are connected through:</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Different fiber providers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Public internet routes</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Indirect carrier paths</a:t>
            </a:r>
          </a:p>
        </p:txBody>
      </p:sp>
      <p:sp>
        <p:nvSpPr>
          <p:cNvPr id="9" name="Text 20">
            <a:extLst>
              <a:ext uri="{FF2B5EF4-FFF2-40B4-BE49-F238E27FC236}">
                <a16:creationId xmlns:a16="http://schemas.microsoft.com/office/drawing/2014/main" id="{D688A1C2-CD7E-3D3F-F435-BDCFA7551DE4}"/>
              </a:ext>
            </a:extLst>
          </p:cNvPr>
          <p:cNvSpPr/>
          <p:nvPr/>
        </p:nvSpPr>
        <p:spPr>
          <a:xfrm>
            <a:off x="9140318" y="4459288"/>
            <a:ext cx="2665883" cy="1492773"/>
          </a:xfrm>
          <a:prstGeom prst="rect">
            <a:avLst/>
          </a:prstGeom>
          <a:noFill/>
          <a:ln/>
        </p:spPr>
        <p:txBody>
          <a:bodyPr wrap="square" lIns="0" tIns="0" rtlCol="0" anchor="t">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Tomorrow Medium"/>
                <a:ea typeface="+mn-ea"/>
                <a:cs typeface="+mn-cs"/>
              </a:rPr>
              <a:t>This creates: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Unpredictable latency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Inefficient routes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Lack of control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200" b="0" i="0" u="none" strike="noStrike" kern="1200" cap="none" spc="0" normalizeH="0" baseline="0" noProof="0">
                <a:ln>
                  <a:noFill/>
                </a:ln>
                <a:solidFill>
                  <a:srgbClr val="FFFFFF">
                    <a:lumMod val="85000"/>
                  </a:srgbClr>
                </a:solidFill>
                <a:effectLst/>
                <a:uLnTx/>
                <a:uFillTx/>
                <a:latin typeface="Arial"/>
                <a:ea typeface="+mn-ea"/>
                <a:cs typeface="+mn-cs"/>
              </a:rPr>
              <a:t>Limited visibility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32" name="Slide Number Placeholder 1">
            <a:extLst>
              <a:ext uri="{FF2B5EF4-FFF2-40B4-BE49-F238E27FC236}">
                <a16:creationId xmlns:a16="http://schemas.microsoft.com/office/drawing/2014/main" id="{95F0B643-A53A-5FF7-0B23-DD12866FDBE6}"/>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2" name="Group 1">
            <a:extLst>
              <a:ext uri="{FF2B5EF4-FFF2-40B4-BE49-F238E27FC236}">
                <a16:creationId xmlns:a16="http://schemas.microsoft.com/office/drawing/2014/main" id="{FD712ED5-07D7-3580-8068-57000E9593F7}"/>
              </a:ext>
            </a:extLst>
          </p:cNvPr>
          <p:cNvGrpSpPr/>
          <p:nvPr/>
        </p:nvGrpSpPr>
        <p:grpSpPr>
          <a:xfrm>
            <a:off x="4677176" y="2293644"/>
            <a:ext cx="2784532" cy="2645157"/>
            <a:chOff x="4431457" y="2122698"/>
            <a:chExt cx="3144075" cy="2986703"/>
          </a:xfrm>
        </p:grpSpPr>
        <p:cxnSp>
          <p:nvCxnSpPr>
            <p:cNvPr id="27" name="Straight Connector 26">
              <a:extLst>
                <a:ext uri="{FF2B5EF4-FFF2-40B4-BE49-F238E27FC236}">
                  <a16:creationId xmlns:a16="http://schemas.microsoft.com/office/drawing/2014/main" id="{4CBEBE31-3A8D-C558-6D6D-18AA9229AFA0}"/>
                </a:ext>
              </a:extLst>
            </p:cNvPr>
            <p:cNvCxnSpPr>
              <a:cxnSpLocks/>
            </p:cNvCxnSpPr>
            <p:nvPr/>
          </p:nvCxnSpPr>
          <p:spPr>
            <a:xfrm>
              <a:off x="4956009" y="2511170"/>
              <a:ext cx="2308074" cy="210568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468B4C5-CF19-4BD8-9883-B677E30C090B}"/>
                </a:ext>
              </a:extLst>
            </p:cNvPr>
            <p:cNvCxnSpPr>
              <a:cxnSpLocks/>
            </p:cNvCxnSpPr>
            <p:nvPr/>
          </p:nvCxnSpPr>
          <p:spPr>
            <a:xfrm flipV="1">
              <a:off x="4655325" y="2342649"/>
              <a:ext cx="2498695" cy="2282338"/>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B55D722-CC4C-BE45-337F-72B0E0E63210}"/>
                </a:ext>
              </a:extLst>
            </p:cNvPr>
            <p:cNvCxnSpPr>
              <a:cxnSpLocks/>
            </p:cNvCxnSpPr>
            <p:nvPr/>
          </p:nvCxnSpPr>
          <p:spPr>
            <a:xfrm>
              <a:off x="4958896" y="3678838"/>
              <a:ext cx="2141475"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E8452C-ABDA-DE21-736A-04E869DE6E0B}"/>
                </a:ext>
              </a:extLst>
            </p:cNvPr>
            <p:cNvCxnSpPr>
              <a:cxnSpLocks/>
            </p:cNvCxnSpPr>
            <p:nvPr/>
          </p:nvCxnSpPr>
          <p:spPr>
            <a:xfrm>
              <a:off x="4434052" y="2816777"/>
              <a:ext cx="0" cy="3971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E09D9ED-317F-EA33-49C9-C0EB8AA081CB}"/>
                </a:ext>
              </a:extLst>
            </p:cNvPr>
            <p:cNvCxnSpPr>
              <a:cxnSpLocks/>
            </p:cNvCxnSpPr>
            <p:nvPr/>
          </p:nvCxnSpPr>
          <p:spPr>
            <a:xfrm flipH="1">
              <a:off x="6003961" y="2247715"/>
              <a:ext cx="910" cy="2596883"/>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481FA00-77FD-0E51-A245-B4CDCAE3A522}"/>
                </a:ext>
              </a:extLst>
            </p:cNvPr>
            <p:cNvCxnSpPr>
              <a:cxnSpLocks/>
            </p:cNvCxnSpPr>
            <p:nvPr/>
          </p:nvCxnSpPr>
          <p:spPr>
            <a:xfrm>
              <a:off x="4431457" y="3811849"/>
              <a:ext cx="0" cy="68470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D4587A4-AA70-F68D-F2E3-23F7B05DA491}"/>
                </a:ext>
              </a:extLst>
            </p:cNvPr>
            <p:cNvCxnSpPr>
              <a:cxnSpLocks/>
            </p:cNvCxnSpPr>
            <p:nvPr/>
          </p:nvCxnSpPr>
          <p:spPr>
            <a:xfrm>
              <a:off x="4790316" y="2578225"/>
              <a:ext cx="2356583" cy="2134752"/>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FE95A45-C1D3-9C9B-EB08-20A25898E1E4}"/>
                </a:ext>
              </a:extLst>
            </p:cNvPr>
            <p:cNvCxnSpPr>
              <a:cxnSpLocks/>
            </p:cNvCxnSpPr>
            <p:nvPr/>
          </p:nvCxnSpPr>
          <p:spPr>
            <a:xfrm flipV="1">
              <a:off x="4790316" y="2561250"/>
              <a:ext cx="2385534" cy="2172409"/>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65D2FCE-0272-AD73-C1E5-BA28A18E4981}"/>
                </a:ext>
              </a:extLst>
            </p:cNvPr>
            <p:cNvCxnSpPr>
              <a:cxnSpLocks/>
            </p:cNvCxnSpPr>
            <p:nvPr/>
          </p:nvCxnSpPr>
          <p:spPr>
            <a:xfrm flipH="1" flipV="1">
              <a:off x="4528179" y="3812641"/>
              <a:ext cx="1037410" cy="129676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5FE94BF-263A-31A3-7F60-25DAC5EC29E7}"/>
                </a:ext>
              </a:extLst>
            </p:cNvPr>
            <p:cNvCxnSpPr>
              <a:cxnSpLocks/>
            </p:cNvCxnSpPr>
            <p:nvPr/>
          </p:nvCxnSpPr>
          <p:spPr>
            <a:xfrm flipV="1">
              <a:off x="6296728" y="3826621"/>
              <a:ext cx="1040599" cy="1153374"/>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53679ED-3506-84A6-36A3-1ADD14DAF3F8}"/>
                </a:ext>
              </a:extLst>
            </p:cNvPr>
            <p:cNvCxnSpPr>
              <a:cxnSpLocks/>
            </p:cNvCxnSpPr>
            <p:nvPr/>
          </p:nvCxnSpPr>
          <p:spPr>
            <a:xfrm>
              <a:off x="7575532" y="3818993"/>
              <a:ext cx="0" cy="68532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4196814-8238-4F9C-F564-A3166D562EC1}"/>
                </a:ext>
              </a:extLst>
            </p:cNvPr>
            <p:cNvCxnSpPr>
              <a:cxnSpLocks/>
            </p:cNvCxnSpPr>
            <p:nvPr/>
          </p:nvCxnSpPr>
          <p:spPr>
            <a:xfrm>
              <a:off x="7562396" y="2824819"/>
              <a:ext cx="0" cy="37524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D812223-F2EC-BD8B-E1B0-D816582A10D6}"/>
                </a:ext>
              </a:extLst>
            </p:cNvPr>
            <p:cNvCxnSpPr>
              <a:cxnSpLocks/>
            </p:cNvCxnSpPr>
            <p:nvPr/>
          </p:nvCxnSpPr>
          <p:spPr>
            <a:xfrm>
              <a:off x="4461483" y="2837898"/>
              <a:ext cx="1543388" cy="2018941"/>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3EE09DB-9B9D-7612-79C8-BA8FC6F27AD0}"/>
                </a:ext>
              </a:extLst>
            </p:cNvPr>
            <p:cNvCxnSpPr>
              <a:cxnSpLocks/>
            </p:cNvCxnSpPr>
            <p:nvPr/>
          </p:nvCxnSpPr>
          <p:spPr>
            <a:xfrm flipV="1">
              <a:off x="4727210" y="2201919"/>
              <a:ext cx="795778" cy="1140923"/>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E918C72-B598-9830-EC24-85A3DE589257}"/>
                </a:ext>
              </a:extLst>
            </p:cNvPr>
            <p:cNvCxnSpPr>
              <a:cxnSpLocks/>
            </p:cNvCxnSpPr>
            <p:nvPr/>
          </p:nvCxnSpPr>
          <p:spPr>
            <a:xfrm flipH="1">
              <a:off x="6235844" y="4963987"/>
              <a:ext cx="922196"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C8B5557-D3E8-E75F-E8BD-BA4AA1E13636}"/>
                </a:ext>
              </a:extLst>
            </p:cNvPr>
            <p:cNvCxnSpPr>
              <a:cxnSpLocks/>
            </p:cNvCxnSpPr>
            <p:nvPr/>
          </p:nvCxnSpPr>
          <p:spPr>
            <a:xfrm flipH="1" flipV="1">
              <a:off x="4951431" y="2499056"/>
              <a:ext cx="2360188" cy="878275"/>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A09D59A-0581-9128-3FA4-04D102417BBE}"/>
                </a:ext>
              </a:extLst>
            </p:cNvPr>
            <p:cNvCxnSpPr>
              <a:cxnSpLocks/>
            </p:cNvCxnSpPr>
            <p:nvPr/>
          </p:nvCxnSpPr>
          <p:spPr>
            <a:xfrm>
              <a:off x="6527201" y="2217377"/>
              <a:ext cx="728999" cy="2399728"/>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EE4D6CA-996D-3113-909E-7C0D4BDC024F}"/>
                </a:ext>
              </a:extLst>
            </p:cNvPr>
            <p:cNvCxnSpPr>
              <a:cxnSpLocks/>
            </p:cNvCxnSpPr>
            <p:nvPr/>
          </p:nvCxnSpPr>
          <p:spPr>
            <a:xfrm flipH="1">
              <a:off x="4795190" y="4956008"/>
              <a:ext cx="932012" cy="7979"/>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39F4815-32D4-5131-4669-268FBFD6B82C}"/>
                </a:ext>
              </a:extLst>
            </p:cNvPr>
            <p:cNvCxnSpPr>
              <a:cxnSpLocks/>
            </p:cNvCxnSpPr>
            <p:nvPr/>
          </p:nvCxnSpPr>
          <p:spPr>
            <a:xfrm flipH="1">
              <a:off x="6562681" y="2122698"/>
              <a:ext cx="738878"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337E173-6462-EE10-313E-9C812AF98EA0}"/>
                </a:ext>
              </a:extLst>
            </p:cNvPr>
            <p:cNvCxnSpPr>
              <a:cxnSpLocks/>
            </p:cNvCxnSpPr>
            <p:nvPr/>
          </p:nvCxnSpPr>
          <p:spPr>
            <a:xfrm flipH="1">
              <a:off x="4652110" y="2122698"/>
              <a:ext cx="833209" cy="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grpSp>
      <p:grpSp>
        <p:nvGrpSpPr>
          <p:cNvPr id="134" name="Group 133">
            <a:extLst>
              <a:ext uri="{FF2B5EF4-FFF2-40B4-BE49-F238E27FC236}">
                <a16:creationId xmlns:a16="http://schemas.microsoft.com/office/drawing/2014/main" id="{F09F7DA0-4BA9-FA85-45EC-832B2B7A614C}"/>
              </a:ext>
            </a:extLst>
          </p:cNvPr>
          <p:cNvGrpSpPr/>
          <p:nvPr/>
        </p:nvGrpSpPr>
        <p:grpSpPr>
          <a:xfrm>
            <a:off x="4107238" y="1577681"/>
            <a:ext cx="3977525" cy="3979648"/>
            <a:chOff x="4138886" y="1550166"/>
            <a:chExt cx="3977525" cy="3979648"/>
          </a:xfrm>
        </p:grpSpPr>
        <p:grpSp>
          <p:nvGrpSpPr>
            <p:cNvPr id="132" name="Group 131">
              <a:extLst>
                <a:ext uri="{FF2B5EF4-FFF2-40B4-BE49-F238E27FC236}">
                  <a16:creationId xmlns:a16="http://schemas.microsoft.com/office/drawing/2014/main" id="{EA0AA9F9-96A8-5DB7-A219-F1179704F6A6}"/>
                </a:ext>
              </a:extLst>
            </p:cNvPr>
            <p:cNvGrpSpPr/>
            <p:nvPr/>
          </p:nvGrpSpPr>
          <p:grpSpPr>
            <a:xfrm>
              <a:off x="6946955" y="2942908"/>
              <a:ext cx="1169456" cy="1141470"/>
              <a:chOff x="6946955" y="2942908"/>
              <a:chExt cx="1169456" cy="1141470"/>
            </a:xfrm>
          </p:grpSpPr>
          <p:pic>
            <p:nvPicPr>
              <p:cNvPr id="75" name="Graphic 74" descr="Cloud outline">
                <a:extLst>
                  <a:ext uri="{FF2B5EF4-FFF2-40B4-BE49-F238E27FC236}">
                    <a16:creationId xmlns:a16="http://schemas.microsoft.com/office/drawing/2014/main" id="{E49A55EA-0F04-6506-9590-50CC3BC36B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74021" y="2942908"/>
                <a:ext cx="1111868" cy="1141470"/>
              </a:xfrm>
              <a:prstGeom prst="rect">
                <a:avLst/>
              </a:prstGeom>
            </p:spPr>
          </p:pic>
          <p:sp>
            <p:nvSpPr>
              <p:cNvPr id="77" name="TextBox 76">
                <a:extLst>
                  <a:ext uri="{FF2B5EF4-FFF2-40B4-BE49-F238E27FC236}">
                    <a16:creationId xmlns:a16="http://schemas.microsoft.com/office/drawing/2014/main" id="{0B6BF5CE-7FEF-C452-7094-9A545518A9B6}"/>
                  </a:ext>
                </a:extLst>
              </p:cNvPr>
              <p:cNvSpPr txBox="1"/>
              <p:nvPr/>
            </p:nvSpPr>
            <p:spPr>
              <a:xfrm>
                <a:off x="6946955" y="3460336"/>
                <a:ext cx="1169456"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Internet</a:t>
                </a:r>
              </a:p>
            </p:txBody>
          </p:sp>
        </p:grpSp>
        <p:grpSp>
          <p:nvGrpSpPr>
            <p:cNvPr id="21" name="Group 20">
              <a:extLst>
                <a:ext uri="{FF2B5EF4-FFF2-40B4-BE49-F238E27FC236}">
                  <a16:creationId xmlns:a16="http://schemas.microsoft.com/office/drawing/2014/main" id="{E6CC1E44-84CA-2612-71C8-F8F14341534B}"/>
                </a:ext>
              </a:extLst>
            </p:cNvPr>
            <p:cNvGrpSpPr/>
            <p:nvPr/>
          </p:nvGrpSpPr>
          <p:grpSpPr>
            <a:xfrm>
              <a:off x="5554683" y="1550166"/>
              <a:ext cx="1111868" cy="1141470"/>
              <a:chOff x="5424395" y="1585964"/>
              <a:chExt cx="1111868" cy="1141470"/>
            </a:xfrm>
          </p:grpSpPr>
          <p:pic>
            <p:nvPicPr>
              <p:cNvPr id="11" name="Graphic 10" descr="Cloud outline">
                <a:extLst>
                  <a:ext uri="{FF2B5EF4-FFF2-40B4-BE49-F238E27FC236}">
                    <a16:creationId xmlns:a16="http://schemas.microsoft.com/office/drawing/2014/main" id="{547C2E33-1D11-9539-F70C-52D2BB2D56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16" name="TextBox 15">
                <a:extLst>
                  <a:ext uri="{FF2B5EF4-FFF2-40B4-BE49-F238E27FC236}">
                    <a16:creationId xmlns:a16="http://schemas.microsoft.com/office/drawing/2014/main" id="{7C3B9299-8021-E682-D25E-8E5F11B28856}"/>
                  </a:ext>
                </a:extLst>
              </p:cNvPr>
              <p:cNvSpPr txBox="1"/>
              <p:nvPr/>
            </p:nvSpPr>
            <p:spPr>
              <a:xfrm>
                <a:off x="5512076" y="2103392"/>
                <a:ext cx="939962"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SP 2</a:t>
                </a:r>
              </a:p>
            </p:txBody>
          </p:sp>
        </p:grpSp>
        <p:sp>
          <p:nvSpPr>
            <p:cNvPr id="70" name="TextBox 69">
              <a:extLst>
                <a:ext uri="{FF2B5EF4-FFF2-40B4-BE49-F238E27FC236}">
                  <a16:creationId xmlns:a16="http://schemas.microsoft.com/office/drawing/2014/main" id="{5B63F537-1409-9699-8B42-5D6F3A177959}"/>
                </a:ext>
              </a:extLst>
            </p:cNvPr>
            <p:cNvSpPr txBox="1"/>
            <p:nvPr/>
          </p:nvSpPr>
          <p:spPr>
            <a:xfrm>
              <a:off x="6917871" y="1864969"/>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DC-C</a:t>
              </a:r>
            </a:p>
          </p:txBody>
        </p:sp>
        <p:grpSp>
          <p:nvGrpSpPr>
            <p:cNvPr id="24" name="Group 23">
              <a:extLst>
                <a:ext uri="{FF2B5EF4-FFF2-40B4-BE49-F238E27FC236}">
                  <a16:creationId xmlns:a16="http://schemas.microsoft.com/office/drawing/2014/main" id="{B53EF021-9C91-F5BD-1AC7-6ED0EFABA76E}"/>
                </a:ext>
              </a:extLst>
            </p:cNvPr>
            <p:cNvGrpSpPr/>
            <p:nvPr/>
          </p:nvGrpSpPr>
          <p:grpSpPr>
            <a:xfrm>
              <a:off x="4138886" y="2928718"/>
              <a:ext cx="1111868" cy="1141470"/>
              <a:chOff x="5424395" y="1585964"/>
              <a:chExt cx="1111868" cy="1141470"/>
            </a:xfrm>
          </p:grpSpPr>
          <p:pic>
            <p:nvPicPr>
              <p:cNvPr id="25" name="Graphic 24" descr="Cloud outline">
                <a:extLst>
                  <a:ext uri="{FF2B5EF4-FFF2-40B4-BE49-F238E27FC236}">
                    <a16:creationId xmlns:a16="http://schemas.microsoft.com/office/drawing/2014/main" id="{9C7ACDB5-DA6F-4013-E659-6BDEF6A28B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31" name="TextBox 30">
                <a:extLst>
                  <a:ext uri="{FF2B5EF4-FFF2-40B4-BE49-F238E27FC236}">
                    <a16:creationId xmlns:a16="http://schemas.microsoft.com/office/drawing/2014/main" id="{E91AFA15-6229-ECA5-4549-7CFDF828BC52}"/>
                  </a:ext>
                </a:extLst>
              </p:cNvPr>
              <p:cNvSpPr txBox="1"/>
              <p:nvPr/>
            </p:nvSpPr>
            <p:spPr>
              <a:xfrm>
                <a:off x="5512076" y="2103392"/>
                <a:ext cx="939962"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rgbClr val="000000"/>
                    </a:solidFill>
                    <a:latin typeface="Tomorrow Medium"/>
                  </a:rPr>
                  <a:t>SP 1</a:t>
                </a:r>
                <a:endParaRPr kumimoji="0" lang="en-US" sz="1200" b="0" i="0" u="none" strike="noStrike" kern="1200" cap="none" spc="0" normalizeH="0" baseline="0" noProof="0">
                  <a:ln>
                    <a:noFill/>
                  </a:ln>
                  <a:solidFill>
                    <a:srgbClr val="000000"/>
                  </a:solidFill>
                  <a:effectLst/>
                  <a:uLnTx/>
                  <a:uFillTx/>
                  <a:latin typeface="Tomorrow Medium"/>
                  <a:ea typeface="+mn-ea"/>
                  <a:cs typeface="+mn-cs"/>
                </a:endParaRPr>
              </a:p>
            </p:txBody>
          </p:sp>
        </p:grpSp>
        <p:grpSp>
          <p:nvGrpSpPr>
            <p:cNvPr id="34" name="Group 33">
              <a:extLst>
                <a:ext uri="{FF2B5EF4-FFF2-40B4-BE49-F238E27FC236}">
                  <a16:creationId xmlns:a16="http://schemas.microsoft.com/office/drawing/2014/main" id="{6A848118-C55E-61B8-B2D7-4AE4D80A666A}"/>
                </a:ext>
              </a:extLst>
            </p:cNvPr>
            <p:cNvGrpSpPr/>
            <p:nvPr/>
          </p:nvGrpSpPr>
          <p:grpSpPr>
            <a:xfrm>
              <a:off x="5525889" y="4388344"/>
              <a:ext cx="1169456" cy="1141470"/>
              <a:chOff x="5397329" y="1585964"/>
              <a:chExt cx="1169456" cy="1141470"/>
            </a:xfrm>
          </p:grpSpPr>
          <p:pic>
            <p:nvPicPr>
              <p:cNvPr id="39" name="Graphic 38" descr="Cloud outline">
                <a:extLst>
                  <a:ext uri="{FF2B5EF4-FFF2-40B4-BE49-F238E27FC236}">
                    <a16:creationId xmlns:a16="http://schemas.microsoft.com/office/drawing/2014/main" id="{B6AE7D44-2620-F3E7-3E19-EE2E37591C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24395" y="1585964"/>
                <a:ext cx="1111868" cy="1141470"/>
              </a:xfrm>
              <a:prstGeom prst="rect">
                <a:avLst/>
              </a:prstGeom>
            </p:spPr>
          </p:pic>
          <p:sp>
            <p:nvSpPr>
              <p:cNvPr id="55" name="TextBox 54">
                <a:extLst>
                  <a:ext uri="{FF2B5EF4-FFF2-40B4-BE49-F238E27FC236}">
                    <a16:creationId xmlns:a16="http://schemas.microsoft.com/office/drawing/2014/main" id="{50F00D60-CA91-A2AF-00C3-6F91B807220C}"/>
                  </a:ext>
                </a:extLst>
              </p:cNvPr>
              <p:cNvSpPr txBox="1"/>
              <p:nvPr/>
            </p:nvSpPr>
            <p:spPr>
              <a:xfrm>
                <a:off x="5397329" y="2103392"/>
                <a:ext cx="1169456" cy="276999"/>
              </a:xfrm>
              <a:prstGeom prst="rect">
                <a:avLst/>
              </a:prstGeom>
              <a:noFill/>
            </p:spPr>
            <p:txBody>
              <a:bodyPr wrap="square" rtlCol="0">
                <a:spAutoFit/>
              </a:bodyPr>
              <a:lstStyle>
                <a:defPPr>
                  <a:defRPr lang="en-US"/>
                </a:defPPr>
                <a:lvl1pP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Exchange</a:t>
                </a:r>
              </a:p>
            </p:txBody>
          </p:sp>
        </p:grpSp>
        <p:sp>
          <p:nvSpPr>
            <p:cNvPr id="80" name="TextBox 79">
              <a:extLst>
                <a:ext uri="{FF2B5EF4-FFF2-40B4-BE49-F238E27FC236}">
                  <a16:creationId xmlns:a16="http://schemas.microsoft.com/office/drawing/2014/main" id="{62A8F596-8A3E-EAE5-B14A-E72FAE338796}"/>
                </a:ext>
              </a:extLst>
            </p:cNvPr>
            <p:cNvSpPr txBox="1"/>
            <p:nvPr/>
          </p:nvSpPr>
          <p:spPr>
            <a:xfrm>
              <a:off x="4158906" y="1864969"/>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DC-A</a:t>
              </a:r>
            </a:p>
          </p:txBody>
        </p:sp>
        <p:sp>
          <p:nvSpPr>
            <p:cNvPr id="83" name="TextBox 82">
              <a:extLst>
                <a:ext uri="{FF2B5EF4-FFF2-40B4-BE49-F238E27FC236}">
                  <a16:creationId xmlns:a16="http://schemas.microsoft.com/office/drawing/2014/main" id="{DC5B93AF-CA59-A2D9-FCD6-6CCE9F88FBAA}"/>
                </a:ext>
              </a:extLst>
            </p:cNvPr>
            <p:cNvSpPr txBox="1"/>
            <p:nvPr/>
          </p:nvSpPr>
          <p:spPr>
            <a:xfrm>
              <a:off x="6917871" y="4937203"/>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DC-D</a:t>
              </a:r>
            </a:p>
          </p:txBody>
        </p:sp>
        <p:sp>
          <p:nvSpPr>
            <p:cNvPr id="86" name="TextBox 85">
              <a:extLst>
                <a:ext uri="{FF2B5EF4-FFF2-40B4-BE49-F238E27FC236}">
                  <a16:creationId xmlns:a16="http://schemas.microsoft.com/office/drawing/2014/main" id="{55D09A4B-6A8C-7EB6-A42C-0902F19B2FAF}"/>
                </a:ext>
              </a:extLst>
            </p:cNvPr>
            <p:cNvSpPr txBox="1"/>
            <p:nvPr/>
          </p:nvSpPr>
          <p:spPr>
            <a:xfrm>
              <a:off x="4158906" y="4937203"/>
              <a:ext cx="103188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omorrow Medium"/>
                  <a:ea typeface="+mn-ea"/>
                  <a:cs typeface="+mn-cs"/>
                </a:rPr>
                <a:t>DC-B</a:t>
              </a:r>
            </a:p>
          </p:txBody>
        </p:sp>
      </p:grpSp>
      <p:grpSp>
        <p:nvGrpSpPr>
          <p:cNvPr id="141" name="!!Data Center Icon">
            <a:extLst>
              <a:ext uri="{FF2B5EF4-FFF2-40B4-BE49-F238E27FC236}">
                <a16:creationId xmlns:a16="http://schemas.microsoft.com/office/drawing/2014/main" id="{383FD7B1-CCFF-C6EA-B280-923181AAB049}"/>
              </a:ext>
            </a:extLst>
          </p:cNvPr>
          <p:cNvGrpSpPr/>
          <p:nvPr/>
        </p:nvGrpSpPr>
        <p:grpSpPr>
          <a:xfrm>
            <a:off x="4221593" y="2209864"/>
            <a:ext cx="970542" cy="710752"/>
            <a:chOff x="3915783" y="5046954"/>
            <a:chExt cx="1011845" cy="741000"/>
          </a:xfrm>
        </p:grpSpPr>
        <p:sp>
          <p:nvSpPr>
            <p:cNvPr id="142" name="White fill">
              <a:extLst>
                <a:ext uri="{FF2B5EF4-FFF2-40B4-BE49-F238E27FC236}">
                  <a16:creationId xmlns:a16="http://schemas.microsoft.com/office/drawing/2014/main" id="{4AA5BE90-8583-4C62-7E11-CB9E9510392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43" name="Freeform: Shape 2142">
              <a:extLst>
                <a:ext uri="{FF2B5EF4-FFF2-40B4-BE49-F238E27FC236}">
                  <a16:creationId xmlns:a16="http://schemas.microsoft.com/office/drawing/2014/main" id="{F01AE10E-83D1-AE9F-42B2-EE3DCD73B8B7}"/>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4" name="Freeform: Shape 2143">
              <a:extLst>
                <a:ext uri="{FF2B5EF4-FFF2-40B4-BE49-F238E27FC236}">
                  <a16:creationId xmlns:a16="http://schemas.microsoft.com/office/drawing/2014/main" id="{8353A37D-DD0D-74C7-F661-76B398DA5CAF}"/>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5" name="Freeform: Shape 2144">
              <a:extLst>
                <a:ext uri="{FF2B5EF4-FFF2-40B4-BE49-F238E27FC236}">
                  <a16:creationId xmlns:a16="http://schemas.microsoft.com/office/drawing/2014/main" id="{4E4B9E5E-77C5-7611-F353-99E86E4142A8}"/>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6" name="Freeform: Shape 2145">
              <a:extLst>
                <a:ext uri="{FF2B5EF4-FFF2-40B4-BE49-F238E27FC236}">
                  <a16:creationId xmlns:a16="http://schemas.microsoft.com/office/drawing/2014/main" id="{1D5A81C5-C4E8-331A-26CB-6BF2EAC46A5F}"/>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47" name="!!Data Center Icon">
            <a:extLst>
              <a:ext uri="{FF2B5EF4-FFF2-40B4-BE49-F238E27FC236}">
                <a16:creationId xmlns:a16="http://schemas.microsoft.com/office/drawing/2014/main" id="{D31BE2B9-5DAD-0C5A-FAEB-D788229D57E3}"/>
              </a:ext>
            </a:extLst>
          </p:cNvPr>
          <p:cNvGrpSpPr/>
          <p:nvPr/>
        </p:nvGrpSpPr>
        <p:grpSpPr>
          <a:xfrm>
            <a:off x="6934813" y="2209864"/>
            <a:ext cx="970542" cy="710752"/>
            <a:chOff x="3915783" y="5046954"/>
            <a:chExt cx="1011845" cy="741000"/>
          </a:xfrm>
        </p:grpSpPr>
        <p:sp>
          <p:nvSpPr>
            <p:cNvPr id="148" name="White fill">
              <a:extLst>
                <a:ext uri="{FF2B5EF4-FFF2-40B4-BE49-F238E27FC236}">
                  <a16:creationId xmlns:a16="http://schemas.microsoft.com/office/drawing/2014/main" id="{286F80F8-F08D-5021-6D92-4F7B3BFD168F}"/>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49" name="Freeform: Shape 2142">
              <a:extLst>
                <a:ext uri="{FF2B5EF4-FFF2-40B4-BE49-F238E27FC236}">
                  <a16:creationId xmlns:a16="http://schemas.microsoft.com/office/drawing/2014/main" id="{5B574900-4AB1-4815-1AD0-970CA3A59355}"/>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0" name="Freeform: Shape 2143">
              <a:extLst>
                <a:ext uri="{FF2B5EF4-FFF2-40B4-BE49-F238E27FC236}">
                  <a16:creationId xmlns:a16="http://schemas.microsoft.com/office/drawing/2014/main" id="{324EAC25-C6EA-AB0A-1B63-D41732E3240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1" name="Freeform: Shape 2144">
              <a:extLst>
                <a:ext uri="{FF2B5EF4-FFF2-40B4-BE49-F238E27FC236}">
                  <a16:creationId xmlns:a16="http://schemas.microsoft.com/office/drawing/2014/main" id="{67DC0464-5401-0CC4-C7B8-3C568B11F7BB}"/>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2" name="Freeform: Shape 2145">
              <a:extLst>
                <a:ext uri="{FF2B5EF4-FFF2-40B4-BE49-F238E27FC236}">
                  <a16:creationId xmlns:a16="http://schemas.microsoft.com/office/drawing/2014/main" id="{F5F438A2-8350-2CC9-0B82-BC785CEE2BA3}"/>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3" name="!!Data Center Icon">
            <a:extLst>
              <a:ext uri="{FF2B5EF4-FFF2-40B4-BE49-F238E27FC236}">
                <a16:creationId xmlns:a16="http://schemas.microsoft.com/office/drawing/2014/main" id="{6D48BC7A-C999-66DD-FF9D-844221C9133B}"/>
              </a:ext>
            </a:extLst>
          </p:cNvPr>
          <p:cNvGrpSpPr/>
          <p:nvPr/>
        </p:nvGrpSpPr>
        <p:grpSpPr>
          <a:xfrm>
            <a:off x="6934813" y="4263517"/>
            <a:ext cx="970542" cy="710752"/>
            <a:chOff x="3915783" y="5046954"/>
            <a:chExt cx="1011845" cy="741000"/>
          </a:xfrm>
        </p:grpSpPr>
        <p:sp>
          <p:nvSpPr>
            <p:cNvPr id="154" name="White fill">
              <a:extLst>
                <a:ext uri="{FF2B5EF4-FFF2-40B4-BE49-F238E27FC236}">
                  <a16:creationId xmlns:a16="http://schemas.microsoft.com/office/drawing/2014/main" id="{29055076-9DEB-87B8-C3C3-C743D29504A2}"/>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55" name="Freeform: Shape 2142">
              <a:extLst>
                <a:ext uri="{FF2B5EF4-FFF2-40B4-BE49-F238E27FC236}">
                  <a16:creationId xmlns:a16="http://schemas.microsoft.com/office/drawing/2014/main" id="{F8242BC9-07FF-EECF-09DD-CBFF9D81AAC3}"/>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6" name="Freeform: Shape 2143">
              <a:extLst>
                <a:ext uri="{FF2B5EF4-FFF2-40B4-BE49-F238E27FC236}">
                  <a16:creationId xmlns:a16="http://schemas.microsoft.com/office/drawing/2014/main" id="{85A8B6C1-1D7B-7EC9-B083-81225565DC2B}"/>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7" name="Freeform: Shape 2144">
              <a:extLst>
                <a:ext uri="{FF2B5EF4-FFF2-40B4-BE49-F238E27FC236}">
                  <a16:creationId xmlns:a16="http://schemas.microsoft.com/office/drawing/2014/main" id="{0C41C511-6E26-3CCC-2101-D4D72DFF3F1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58" name="Freeform: Shape 2145">
              <a:extLst>
                <a:ext uri="{FF2B5EF4-FFF2-40B4-BE49-F238E27FC236}">
                  <a16:creationId xmlns:a16="http://schemas.microsoft.com/office/drawing/2014/main" id="{BF5CD46C-3EAE-4D82-4865-A0BE789F16B8}"/>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9" name="!!Data Center Icon">
            <a:extLst>
              <a:ext uri="{FF2B5EF4-FFF2-40B4-BE49-F238E27FC236}">
                <a16:creationId xmlns:a16="http://schemas.microsoft.com/office/drawing/2014/main" id="{167D1BD1-46FD-F498-44EC-549F8AAECBE3}"/>
              </a:ext>
            </a:extLst>
          </p:cNvPr>
          <p:cNvGrpSpPr/>
          <p:nvPr/>
        </p:nvGrpSpPr>
        <p:grpSpPr>
          <a:xfrm>
            <a:off x="4221593" y="4263517"/>
            <a:ext cx="970542" cy="710752"/>
            <a:chOff x="3915783" y="5046954"/>
            <a:chExt cx="1011845" cy="741000"/>
          </a:xfrm>
        </p:grpSpPr>
        <p:sp>
          <p:nvSpPr>
            <p:cNvPr id="160" name="White fill">
              <a:extLst>
                <a:ext uri="{FF2B5EF4-FFF2-40B4-BE49-F238E27FC236}">
                  <a16:creationId xmlns:a16="http://schemas.microsoft.com/office/drawing/2014/main" id="{87230EA0-153C-6C68-7B02-70ED22FB5110}"/>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61" name="Freeform: Shape 2142">
              <a:extLst>
                <a:ext uri="{FF2B5EF4-FFF2-40B4-BE49-F238E27FC236}">
                  <a16:creationId xmlns:a16="http://schemas.microsoft.com/office/drawing/2014/main" id="{EC9DAA8E-2BB2-43D1-4885-D2DBC731A191}"/>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Freeform: Shape 2143">
              <a:extLst>
                <a:ext uri="{FF2B5EF4-FFF2-40B4-BE49-F238E27FC236}">
                  <a16:creationId xmlns:a16="http://schemas.microsoft.com/office/drawing/2014/main" id="{C19E9497-8611-5646-044F-034E50FC04B0}"/>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3" name="Freeform: Shape 2144">
              <a:extLst>
                <a:ext uri="{FF2B5EF4-FFF2-40B4-BE49-F238E27FC236}">
                  <a16:creationId xmlns:a16="http://schemas.microsoft.com/office/drawing/2014/main" id="{10188801-9D99-9987-F4A5-196060F8F17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90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4" name="Freeform: Shape 2145">
              <a:extLst>
                <a:ext uri="{FF2B5EF4-FFF2-40B4-BE49-F238E27FC236}">
                  <a16:creationId xmlns:a16="http://schemas.microsoft.com/office/drawing/2014/main" id="{55C5C07F-A51B-F17A-9764-F0332D05DD0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31750" cap="flat">
              <a:solidFill>
                <a:srgbClr val="0000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Rectangle 9">
            <a:extLst>
              <a:ext uri="{FF2B5EF4-FFF2-40B4-BE49-F238E27FC236}">
                <a16:creationId xmlns:a16="http://schemas.microsoft.com/office/drawing/2014/main" id="{24186148-BED7-DD5A-F465-A434AB61F9C5}"/>
              </a:ext>
            </a:extLst>
          </p:cNvPr>
          <p:cNvSpPr/>
          <p:nvPr/>
        </p:nvSpPr>
        <p:spPr bwMode="auto">
          <a:xfrm>
            <a:off x="-2848" y="1985695"/>
            <a:ext cx="36576" cy="54864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670A4FF7-3965-98F5-BCE6-B258B371F9C5}"/>
              </a:ext>
            </a:extLst>
          </p:cNvPr>
          <p:cNvSpPr/>
          <p:nvPr/>
        </p:nvSpPr>
        <p:spPr bwMode="auto">
          <a:xfrm>
            <a:off x="8798252" y="1985695"/>
            <a:ext cx="36576" cy="54864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47" name="Group 46">
            <a:extLst>
              <a:ext uri="{FF2B5EF4-FFF2-40B4-BE49-F238E27FC236}">
                <a16:creationId xmlns:a16="http://schemas.microsoft.com/office/drawing/2014/main" id="{22D5EDE4-3DDF-B193-41B4-60FBBD608B85}"/>
              </a:ext>
            </a:extLst>
          </p:cNvPr>
          <p:cNvGrpSpPr/>
          <p:nvPr/>
        </p:nvGrpSpPr>
        <p:grpSpPr>
          <a:xfrm>
            <a:off x="9981715" y="6181282"/>
            <a:ext cx="1699921" cy="415390"/>
            <a:chOff x="1447800" y="2292350"/>
            <a:chExt cx="7774788" cy="1899831"/>
          </a:xfrm>
        </p:grpSpPr>
        <p:sp>
          <p:nvSpPr>
            <p:cNvPr id="48" name="Freeform 47">
              <a:extLst>
                <a:ext uri="{FF2B5EF4-FFF2-40B4-BE49-F238E27FC236}">
                  <a16:creationId xmlns:a16="http://schemas.microsoft.com/office/drawing/2014/main" id="{21B05FC8-84A9-277B-63A6-955CCE229C6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56">
              <a:extLst>
                <a:ext uri="{FF2B5EF4-FFF2-40B4-BE49-F238E27FC236}">
                  <a16:creationId xmlns:a16="http://schemas.microsoft.com/office/drawing/2014/main" id="{E83A6455-065D-FB49-6BA2-91269F703FF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9" name="Freeform 58">
              <a:extLst>
                <a:ext uri="{FF2B5EF4-FFF2-40B4-BE49-F238E27FC236}">
                  <a16:creationId xmlns:a16="http://schemas.microsoft.com/office/drawing/2014/main" id="{84041F17-0082-0208-ECEF-2235424990CC}"/>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116555046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4125-E8BC-319E-CB4C-A2FF7F29B236}"/>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DBB4BDA7-D995-B4D4-6450-F2B5AEA73C02}"/>
              </a:ext>
            </a:extLst>
          </p:cNvPr>
          <p:cNvGrpSpPr/>
          <p:nvPr/>
        </p:nvGrpSpPr>
        <p:grpSpPr>
          <a:xfrm>
            <a:off x="0" y="3432879"/>
            <a:ext cx="12192000" cy="3425121"/>
            <a:chOff x="0" y="3432879"/>
            <a:chExt cx="12192000" cy="3425121"/>
          </a:xfrm>
        </p:grpSpPr>
        <p:sp>
          <p:nvSpPr>
            <p:cNvPr id="15" name="Rectangle 14">
              <a:extLst>
                <a:ext uri="{FF2B5EF4-FFF2-40B4-BE49-F238E27FC236}">
                  <a16:creationId xmlns:a16="http://schemas.microsoft.com/office/drawing/2014/main" id="{309E5099-C19E-9BD1-45FD-5B9DF9716C3B}"/>
                </a:ext>
              </a:extLst>
            </p:cNvPr>
            <p:cNvSpPr/>
            <p:nvPr/>
          </p:nvSpPr>
          <p:spPr bwMode="auto">
            <a:xfrm flipV="1">
              <a:off x="0" y="3432879"/>
              <a:ext cx="12192000" cy="3425120"/>
            </a:xfrm>
            <a:prstGeom prst="rect">
              <a:avLst/>
            </a:prstGeom>
            <a:gradFill>
              <a:gsLst>
                <a:gs pos="0">
                  <a:schemeClr val="tx1">
                    <a:lumMod val="65000"/>
                    <a:lumOff val="3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pic>
          <p:nvPicPr>
            <p:cNvPr id="16" name="Picture 15" descr="A black and white pattern&#10;&#10;AI-generated content may be incorrect.">
              <a:extLst>
                <a:ext uri="{FF2B5EF4-FFF2-40B4-BE49-F238E27FC236}">
                  <a16:creationId xmlns:a16="http://schemas.microsoft.com/office/drawing/2014/main" id="{F279C8FE-545A-3233-ED9D-5A5D2B871F58}"/>
                </a:ext>
              </a:extLst>
            </p:cNvPr>
            <p:cNvPicPr>
              <a:picLocks noChangeAspect="1"/>
            </p:cNvPicPr>
            <p:nvPr/>
          </p:nvPicPr>
          <p:blipFill>
            <a:blip r:embed="rId4"/>
            <a:srcRect l="5289" t="9284" r="230" b="43578"/>
            <a:stretch>
              <a:fillRect/>
            </a:stretch>
          </p:blipFill>
          <p:spPr>
            <a:xfrm>
              <a:off x="0" y="3432880"/>
              <a:ext cx="12192000" cy="3425120"/>
            </a:xfrm>
            <a:prstGeom prst="rect">
              <a:avLst/>
            </a:prstGeom>
          </p:spPr>
        </p:pic>
        <p:sp>
          <p:nvSpPr>
            <p:cNvPr id="17" name="Fade">
              <a:extLst>
                <a:ext uri="{FF2B5EF4-FFF2-40B4-BE49-F238E27FC236}">
                  <a16:creationId xmlns:a16="http://schemas.microsoft.com/office/drawing/2014/main" id="{0986A154-7E6E-1FDA-1271-C022A11BCCEB}"/>
                </a:ext>
              </a:extLst>
            </p:cNvPr>
            <p:cNvSpPr/>
            <p:nvPr/>
          </p:nvSpPr>
          <p:spPr bwMode="auto">
            <a:xfrm>
              <a:off x="0" y="3432880"/>
              <a:ext cx="12192000" cy="3425120"/>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sp>
        <p:nvSpPr>
          <p:cNvPr id="6" name="Rectangle 5">
            <a:extLst>
              <a:ext uri="{FF2B5EF4-FFF2-40B4-BE49-F238E27FC236}">
                <a16:creationId xmlns:a16="http://schemas.microsoft.com/office/drawing/2014/main" id="{77391869-7505-F232-6433-0FE463170093}"/>
              </a:ext>
            </a:extLst>
          </p:cNvPr>
          <p:cNvSpPr/>
          <p:nvPr/>
        </p:nvSpPr>
        <p:spPr bwMode="auto">
          <a:xfrm>
            <a:off x="504178" y="2100460"/>
            <a:ext cx="5424708" cy="3197698"/>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7" name="Rectangle 6">
            <a:extLst>
              <a:ext uri="{FF2B5EF4-FFF2-40B4-BE49-F238E27FC236}">
                <a16:creationId xmlns:a16="http://schemas.microsoft.com/office/drawing/2014/main" id="{826ED5F4-E6FE-691A-0852-EDC0EC24DC44}"/>
              </a:ext>
            </a:extLst>
          </p:cNvPr>
          <p:cNvSpPr/>
          <p:nvPr/>
        </p:nvSpPr>
        <p:spPr bwMode="auto">
          <a:xfrm>
            <a:off x="6263745" y="2100460"/>
            <a:ext cx="5424708" cy="3197698"/>
          </a:xfrm>
          <a:prstGeom prst="rect">
            <a:avLst/>
          </a:prstGeom>
          <a:gradFill>
            <a:gsLst>
              <a:gs pos="0">
                <a:schemeClr val="bg1">
                  <a:lumMod val="95000"/>
                </a:schemeClr>
              </a:gs>
              <a:gs pos="100000">
                <a:schemeClr val="bg1"/>
              </a:gs>
            </a:gsLst>
            <a:lin ang="54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9" name="Rectangle 8">
            <a:extLst>
              <a:ext uri="{FF2B5EF4-FFF2-40B4-BE49-F238E27FC236}">
                <a16:creationId xmlns:a16="http://schemas.microsoft.com/office/drawing/2014/main" id="{CCF29DF1-B232-623C-9BC8-FFFF4744C2EE}"/>
              </a:ext>
            </a:extLst>
          </p:cNvPr>
          <p:cNvSpPr/>
          <p:nvPr/>
        </p:nvSpPr>
        <p:spPr bwMode="auto">
          <a:xfrm>
            <a:off x="505356" y="1685108"/>
            <a:ext cx="5422899" cy="415352"/>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0" name="Rectangle 9">
            <a:extLst>
              <a:ext uri="{FF2B5EF4-FFF2-40B4-BE49-F238E27FC236}">
                <a16:creationId xmlns:a16="http://schemas.microsoft.com/office/drawing/2014/main" id="{842D1AAD-E8EC-FA8B-CD81-C7DC329121F7}"/>
              </a:ext>
            </a:extLst>
          </p:cNvPr>
          <p:cNvSpPr/>
          <p:nvPr/>
        </p:nvSpPr>
        <p:spPr bwMode="auto">
          <a:xfrm>
            <a:off x="6263746" y="1685108"/>
            <a:ext cx="5418668" cy="415352"/>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 name="Title 1">
            <a:extLst>
              <a:ext uri="{FF2B5EF4-FFF2-40B4-BE49-F238E27FC236}">
                <a16:creationId xmlns:a16="http://schemas.microsoft.com/office/drawing/2014/main" id="{DCF6369B-3D82-BD7B-1D71-FB34E80E7D1F}"/>
              </a:ext>
            </a:extLst>
          </p:cNvPr>
          <p:cNvSpPr>
            <a:spLocks noGrp="1"/>
          </p:cNvSpPr>
          <p:nvPr>
            <p:ph type="title"/>
          </p:nvPr>
        </p:nvSpPr>
        <p:spPr>
          <a:xfrm>
            <a:off x="510363" y="287635"/>
            <a:ext cx="11171274" cy="1107996"/>
          </a:xfrm>
        </p:spPr>
        <p:txBody>
          <a:bodyPr/>
          <a:lstStyle/>
          <a:p>
            <a:r>
              <a:rPr lang="en-US"/>
              <a:t>Current Solutions Create More Complexity</a:t>
            </a:r>
          </a:p>
        </p:txBody>
      </p:sp>
      <p:sp>
        <p:nvSpPr>
          <p:cNvPr id="5" name="Text 20">
            <a:extLst>
              <a:ext uri="{FF2B5EF4-FFF2-40B4-BE49-F238E27FC236}">
                <a16:creationId xmlns:a16="http://schemas.microsoft.com/office/drawing/2014/main" id="{54AB8BC9-02DD-174F-6471-3282D50B661E}"/>
              </a:ext>
            </a:extLst>
          </p:cNvPr>
          <p:cNvSpPr/>
          <p:nvPr/>
        </p:nvSpPr>
        <p:spPr>
          <a:xfrm>
            <a:off x="505356" y="1696386"/>
            <a:ext cx="4161558" cy="351991"/>
          </a:xfrm>
          <a:prstGeom prst="rect">
            <a:avLst/>
          </a:prstGeom>
          <a:noFill/>
        </p:spPr>
        <p:txBody>
          <a:bodyPr wrap="square" lIns="274320" rtlCol="0">
            <a:noAutofit/>
          </a:bodyPr>
          <a:lstStyle/>
          <a:p>
            <a:r>
              <a:rPr lang="en-US">
                <a:latin typeface="+mj-lt"/>
              </a:rPr>
              <a:t>Option 1 – Internet + DIA.</a:t>
            </a:r>
          </a:p>
        </p:txBody>
      </p:sp>
      <p:sp>
        <p:nvSpPr>
          <p:cNvPr id="26" name="TextBox 25">
            <a:extLst>
              <a:ext uri="{FF2B5EF4-FFF2-40B4-BE49-F238E27FC236}">
                <a16:creationId xmlns:a16="http://schemas.microsoft.com/office/drawing/2014/main" id="{504019B8-24BE-A9D9-1014-CCAB25AF5436}"/>
              </a:ext>
            </a:extLst>
          </p:cNvPr>
          <p:cNvSpPr txBox="1"/>
          <p:nvPr/>
        </p:nvSpPr>
        <p:spPr>
          <a:xfrm>
            <a:off x="504015" y="5485811"/>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Connectivity becomes harder as AI infrastructure grows</a:t>
            </a:r>
          </a:p>
        </p:txBody>
      </p:sp>
      <p:sp>
        <p:nvSpPr>
          <p:cNvPr id="34" name="Text 20">
            <a:extLst>
              <a:ext uri="{FF2B5EF4-FFF2-40B4-BE49-F238E27FC236}">
                <a16:creationId xmlns:a16="http://schemas.microsoft.com/office/drawing/2014/main" id="{01427E9A-BA44-9B64-3AF2-79CAC7124076}"/>
              </a:ext>
            </a:extLst>
          </p:cNvPr>
          <p:cNvSpPr/>
          <p:nvPr/>
        </p:nvSpPr>
        <p:spPr>
          <a:xfrm>
            <a:off x="504177" y="4144891"/>
            <a:ext cx="5167868" cy="1108415"/>
          </a:xfrm>
          <a:prstGeom prst="rect">
            <a:avLst/>
          </a:prstGeom>
          <a:noFill/>
          <a:ln/>
        </p:spPr>
        <p:txBody>
          <a:bodyPr wrap="square" lIns="274320" tIns="0" rtlCol="0" anchor="t">
            <a:noAutofit/>
          </a:bodyPr>
          <a:lstStyle/>
          <a:p>
            <a:pPr marL="182563" indent="-182563">
              <a:spcBef>
                <a:spcPts val="300"/>
              </a:spcBef>
              <a:buClr>
                <a:schemeClr val="accent2"/>
              </a:buClr>
              <a:buFont typeface="Arial" panose="020B0604020202020204" pitchFamily="34" charset="0"/>
              <a:buChar char="•"/>
            </a:pPr>
            <a:r>
              <a:rPr lang="en-US" sz="1400" dirty="0"/>
              <a:t>Unpredictable routing</a:t>
            </a:r>
          </a:p>
          <a:p>
            <a:pPr marL="182563" indent="-182563">
              <a:spcBef>
                <a:spcPts val="300"/>
              </a:spcBef>
              <a:buClr>
                <a:schemeClr val="accent2"/>
              </a:buClr>
              <a:buFont typeface="Arial" panose="020B0604020202020204" pitchFamily="34" charset="0"/>
              <a:buChar char="•"/>
            </a:pPr>
            <a:r>
              <a:rPr lang="en-US" sz="1400" dirty="0"/>
              <a:t>No latency guarantees</a:t>
            </a:r>
          </a:p>
          <a:p>
            <a:pPr marL="182563" indent="-182563">
              <a:spcBef>
                <a:spcPts val="300"/>
              </a:spcBef>
              <a:buClr>
                <a:schemeClr val="accent2"/>
              </a:buClr>
              <a:buFont typeface="Arial" panose="020B0604020202020204" pitchFamily="34" charset="0"/>
              <a:buChar char="•"/>
            </a:pPr>
            <a:r>
              <a:rPr lang="en-US" sz="1400" dirty="0"/>
              <a:t>Limited visibility</a:t>
            </a:r>
          </a:p>
          <a:p>
            <a:pPr marL="182563" indent="-182563">
              <a:spcBef>
                <a:spcPts val="300"/>
              </a:spcBef>
              <a:buClr>
                <a:schemeClr val="accent2"/>
              </a:buClr>
              <a:buFont typeface="Arial" panose="020B0604020202020204" pitchFamily="34" charset="0"/>
              <a:buChar char="•"/>
            </a:pPr>
            <a:r>
              <a:rPr lang="en-US" sz="1400" dirty="0"/>
              <a:t>Security concerns</a:t>
            </a:r>
          </a:p>
          <a:p>
            <a:pPr marL="182563" indent="-182563">
              <a:spcBef>
                <a:spcPts val="300"/>
              </a:spcBef>
              <a:buClr>
                <a:schemeClr val="accent2"/>
              </a:buClr>
              <a:buFont typeface="Arial" panose="020B0604020202020204" pitchFamily="34" charset="0"/>
              <a:buChar char="•"/>
            </a:pPr>
            <a:endParaRPr lang="en-US" sz="1400" dirty="0"/>
          </a:p>
        </p:txBody>
      </p:sp>
      <p:sp>
        <p:nvSpPr>
          <p:cNvPr id="38" name="Text 20">
            <a:extLst>
              <a:ext uri="{FF2B5EF4-FFF2-40B4-BE49-F238E27FC236}">
                <a16:creationId xmlns:a16="http://schemas.microsoft.com/office/drawing/2014/main" id="{959D9C53-4324-78EF-C4B4-25DFB0AB078C}"/>
              </a:ext>
            </a:extLst>
          </p:cNvPr>
          <p:cNvSpPr/>
          <p:nvPr/>
        </p:nvSpPr>
        <p:spPr>
          <a:xfrm>
            <a:off x="6263745" y="1696386"/>
            <a:ext cx="4795923" cy="351991"/>
          </a:xfrm>
          <a:prstGeom prst="rect">
            <a:avLst/>
          </a:prstGeom>
          <a:noFill/>
        </p:spPr>
        <p:txBody>
          <a:bodyPr wrap="square" lIns="274320" rtlCol="0">
            <a:noAutofit/>
          </a:bodyPr>
          <a:lstStyle/>
          <a:p>
            <a:r>
              <a:rPr lang="en-US">
                <a:latin typeface="+mj-lt"/>
              </a:rPr>
              <a:t>Option 2 – Private Fiber Mesh</a:t>
            </a:r>
          </a:p>
        </p:txBody>
      </p:sp>
      <p:sp>
        <p:nvSpPr>
          <p:cNvPr id="39" name="Text 20">
            <a:extLst>
              <a:ext uri="{FF2B5EF4-FFF2-40B4-BE49-F238E27FC236}">
                <a16:creationId xmlns:a16="http://schemas.microsoft.com/office/drawing/2014/main" id="{94574E8D-C0A8-6EF6-3FFF-ACFAA8D2ABC6}"/>
              </a:ext>
            </a:extLst>
          </p:cNvPr>
          <p:cNvSpPr/>
          <p:nvPr/>
        </p:nvSpPr>
        <p:spPr>
          <a:xfrm>
            <a:off x="6268956" y="4144891"/>
            <a:ext cx="5167868" cy="1108415"/>
          </a:xfrm>
          <a:prstGeom prst="rect">
            <a:avLst/>
          </a:prstGeom>
          <a:noFill/>
          <a:ln/>
        </p:spPr>
        <p:txBody>
          <a:bodyPr wrap="square" lIns="274320" tIns="0" rtlCol="0" anchor="t">
            <a:noAutofit/>
          </a:bodyPr>
          <a:lstStyle/>
          <a:p>
            <a:pPr marL="182563" indent="-182563">
              <a:spcBef>
                <a:spcPts val="300"/>
              </a:spcBef>
              <a:buClr>
                <a:schemeClr val="accent2"/>
              </a:buClr>
              <a:buFont typeface="Arial" panose="020B0604020202020204" pitchFamily="34" charset="0"/>
              <a:buChar char="•"/>
            </a:pPr>
            <a:r>
              <a:rPr lang="en-US" sz="1400"/>
              <a:t>Complex IP routing (BGP, MPLS, overlays)</a:t>
            </a:r>
          </a:p>
          <a:p>
            <a:pPr marL="182563" indent="-182563">
              <a:spcBef>
                <a:spcPts val="300"/>
              </a:spcBef>
              <a:buClr>
                <a:schemeClr val="accent2"/>
              </a:buClr>
              <a:buFont typeface="Arial" panose="020B0604020202020204" pitchFamily="34" charset="0"/>
              <a:buChar char="•"/>
            </a:pPr>
            <a:r>
              <a:rPr lang="en-US" sz="1400"/>
              <a:t>Expensive full mesh</a:t>
            </a:r>
          </a:p>
          <a:p>
            <a:pPr marL="182563" indent="-182563">
              <a:spcBef>
                <a:spcPts val="300"/>
              </a:spcBef>
              <a:buClr>
                <a:schemeClr val="accent2"/>
              </a:buClr>
              <a:buFont typeface="Arial" panose="020B0604020202020204" pitchFamily="34" charset="0"/>
              <a:buChar char="•"/>
            </a:pPr>
            <a:r>
              <a:rPr lang="en-US" sz="1400"/>
              <a:t>Slow provisioning</a:t>
            </a:r>
          </a:p>
          <a:p>
            <a:pPr marL="182563" indent="-182563">
              <a:spcBef>
                <a:spcPts val="300"/>
              </a:spcBef>
              <a:buClr>
                <a:schemeClr val="accent2"/>
              </a:buClr>
              <a:buFont typeface="Arial" panose="020B0604020202020204" pitchFamily="34" charset="0"/>
              <a:buChar char="•"/>
            </a:pPr>
            <a:r>
              <a:rPr lang="en-US" sz="1400"/>
              <a:t>Difficult to scale when new sites appear</a:t>
            </a:r>
          </a:p>
          <a:p>
            <a:pPr marL="182563" indent="-182563">
              <a:spcBef>
                <a:spcPts val="300"/>
              </a:spcBef>
              <a:buClr>
                <a:schemeClr val="accent2"/>
              </a:buClr>
              <a:buFont typeface="Arial" panose="020B0604020202020204" pitchFamily="34" charset="0"/>
              <a:buChar char="•"/>
            </a:pPr>
            <a:endParaRPr lang="en-US" sz="1400"/>
          </a:p>
        </p:txBody>
      </p:sp>
      <p:grpSp>
        <p:nvGrpSpPr>
          <p:cNvPr id="25" name="Group 24">
            <a:extLst>
              <a:ext uri="{FF2B5EF4-FFF2-40B4-BE49-F238E27FC236}">
                <a16:creationId xmlns:a16="http://schemas.microsoft.com/office/drawing/2014/main" id="{CBE682F1-5A18-7886-4697-199259DD5C7E}"/>
              </a:ext>
            </a:extLst>
          </p:cNvPr>
          <p:cNvGrpSpPr/>
          <p:nvPr/>
        </p:nvGrpSpPr>
        <p:grpSpPr>
          <a:xfrm>
            <a:off x="8135049" y="2575799"/>
            <a:ext cx="1546766" cy="1020300"/>
            <a:chOff x="8163850" y="2676454"/>
            <a:chExt cx="1701356" cy="1369375"/>
          </a:xfrm>
        </p:grpSpPr>
        <p:cxnSp>
          <p:nvCxnSpPr>
            <p:cNvPr id="58" name="Straight Connector 57">
              <a:extLst>
                <a:ext uri="{FF2B5EF4-FFF2-40B4-BE49-F238E27FC236}">
                  <a16:creationId xmlns:a16="http://schemas.microsoft.com/office/drawing/2014/main" id="{8ECE57C9-BEB6-98B3-9AA7-B99E91B6EB3F}"/>
                </a:ext>
              </a:extLst>
            </p:cNvPr>
            <p:cNvCxnSpPr>
              <a:cxnSpLocks/>
            </p:cNvCxnSpPr>
            <p:nvPr/>
          </p:nvCxnSpPr>
          <p:spPr>
            <a:xfrm>
              <a:off x="8190741" y="2699990"/>
              <a:ext cx="1664999" cy="1337048"/>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3598FAA-C3C9-9F7F-D744-4AD97CD64DAA}"/>
                </a:ext>
              </a:extLst>
            </p:cNvPr>
            <p:cNvCxnSpPr>
              <a:cxnSpLocks/>
            </p:cNvCxnSpPr>
            <p:nvPr/>
          </p:nvCxnSpPr>
          <p:spPr>
            <a:xfrm flipV="1">
              <a:off x="8163850" y="2691199"/>
              <a:ext cx="1691891" cy="1328233"/>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4022AFB-A178-915B-A037-DF5BAA70E15A}"/>
                </a:ext>
              </a:extLst>
            </p:cNvPr>
            <p:cNvCxnSpPr>
              <a:cxnSpLocks/>
            </p:cNvCxnSpPr>
            <p:nvPr/>
          </p:nvCxnSpPr>
          <p:spPr>
            <a:xfrm>
              <a:off x="8163850" y="2708781"/>
              <a:ext cx="581246" cy="87830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5EBD52-4A3C-B05C-064A-297B811A2DB8}"/>
                </a:ext>
              </a:extLst>
            </p:cNvPr>
            <p:cNvCxnSpPr>
              <a:cxnSpLocks/>
            </p:cNvCxnSpPr>
            <p:nvPr/>
          </p:nvCxnSpPr>
          <p:spPr>
            <a:xfrm>
              <a:off x="8179047" y="2676454"/>
              <a:ext cx="1217545" cy="408083"/>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F501E5D-93DB-DC46-0820-56C252C45183}"/>
                </a:ext>
              </a:extLst>
            </p:cNvPr>
            <p:cNvCxnSpPr>
              <a:cxnSpLocks/>
            </p:cNvCxnSpPr>
            <p:nvPr/>
          </p:nvCxnSpPr>
          <p:spPr>
            <a:xfrm>
              <a:off x="8745097" y="3591772"/>
              <a:ext cx="1110644" cy="45405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DB802BD-8EC1-632A-4842-091623E485E1}"/>
                </a:ext>
              </a:extLst>
            </p:cNvPr>
            <p:cNvCxnSpPr>
              <a:cxnSpLocks/>
            </p:cNvCxnSpPr>
            <p:nvPr/>
          </p:nvCxnSpPr>
          <p:spPr>
            <a:xfrm>
              <a:off x="9396592" y="3093328"/>
              <a:ext cx="459148" cy="92610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77C53BE-ADB0-5469-39FB-DE3BAB634B65}"/>
                </a:ext>
              </a:extLst>
            </p:cNvPr>
            <p:cNvCxnSpPr>
              <a:cxnSpLocks/>
            </p:cNvCxnSpPr>
            <p:nvPr/>
          </p:nvCxnSpPr>
          <p:spPr>
            <a:xfrm flipV="1">
              <a:off x="8163850" y="3596775"/>
              <a:ext cx="1108343" cy="422657"/>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4C549EB-AAE7-E668-BA1C-5C08DBFED187}"/>
                </a:ext>
              </a:extLst>
            </p:cNvPr>
            <p:cNvCxnSpPr>
              <a:cxnSpLocks/>
            </p:cNvCxnSpPr>
            <p:nvPr/>
          </p:nvCxnSpPr>
          <p:spPr>
            <a:xfrm flipV="1">
              <a:off x="9272193" y="2681511"/>
              <a:ext cx="593013" cy="910261"/>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303825C-1C24-CE1D-B203-965963E92790}"/>
                </a:ext>
              </a:extLst>
            </p:cNvPr>
            <p:cNvCxnSpPr>
              <a:cxnSpLocks/>
            </p:cNvCxnSpPr>
            <p:nvPr/>
          </p:nvCxnSpPr>
          <p:spPr>
            <a:xfrm flipV="1">
              <a:off x="8173315" y="3151509"/>
              <a:ext cx="593013" cy="858236"/>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871B394-33EC-53E7-DFBF-E2B83CE328C4}"/>
                </a:ext>
              </a:extLst>
            </p:cNvPr>
            <p:cNvCxnSpPr>
              <a:cxnSpLocks/>
            </p:cNvCxnSpPr>
            <p:nvPr/>
          </p:nvCxnSpPr>
          <p:spPr>
            <a:xfrm flipV="1">
              <a:off x="8770433" y="2684985"/>
              <a:ext cx="1085308" cy="464844"/>
            </a:xfrm>
            <a:prstGeom prst="line">
              <a:avLst/>
            </a:prstGeom>
            <a:ln w="12700" cap="sq" cmpd="sng">
              <a:solidFill>
                <a:schemeClr val="bg1">
                  <a:lumMod val="65000"/>
                </a:schemeClr>
              </a:solidFill>
              <a:prstDash val="dash"/>
              <a:roun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2A6631D9-F263-27D8-7A42-9ACCEF587E72}"/>
              </a:ext>
            </a:extLst>
          </p:cNvPr>
          <p:cNvGrpSpPr/>
          <p:nvPr/>
        </p:nvGrpSpPr>
        <p:grpSpPr>
          <a:xfrm>
            <a:off x="1502218" y="2390889"/>
            <a:ext cx="3428515" cy="1141470"/>
            <a:chOff x="1255363" y="2188547"/>
            <a:chExt cx="3428515" cy="1141470"/>
          </a:xfrm>
        </p:grpSpPr>
        <p:grpSp>
          <p:nvGrpSpPr>
            <p:cNvPr id="94" name="Group 93">
              <a:extLst>
                <a:ext uri="{FF2B5EF4-FFF2-40B4-BE49-F238E27FC236}">
                  <a16:creationId xmlns:a16="http://schemas.microsoft.com/office/drawing/2014/main" id="{48461CD5-0B47-C1DA-95A8-811067EA38E8}"/>
                </a:ext>
              </a:extLst>
            </p:cNvPr>
            <p:cNvGrpSpPr/>
            <p:nvPr/>
          </p:nvGrpSpPr>
          <p:grpSpPr>
            <a:xfrm>
              <a:off x="1255363" y="2695994"/>
              <a:ext cx="3428515" cy="277020"/>
              <a:chOff x="1162879" y="2354060"/>
              <a:chExt cx="3428515" cy="277020"/>
            </a:xfrm>
          </p:grpSpPr>
          <p:grpSp>
            <p:nvGrpSpPr>
              <p:cNvPr id="90" name="Group 89">
                <a:extLst>
                  <a:ext uri="{FF2B5EF4-FFF2-40B4-BE49-F238E27FC236}">
                    <a16:creationId xmlns:a16="http://schemas.microsoft.com/office/drawing/2014/main" id="{D09D6704-5768-86D6-2F23-9EC39C857805}"/>
                  </a:ext>
                </a:extLst>
              </p:cNvPr>
              <p:cNvGrpSpPr/>
              <p:nvPr/>
            </p:nvGrpSpPr>
            <p:grpSpPr>
              <a:xfrm>
                <a:off x="1162879" y="2492559"/>
                <a:ext cx="3428515" cy="0"/>
                <a:chOff x="1162879" y="2492559"/>
                <a:chExt cx="3428515" cy="0"/>
              </a:xfrm>
            </p:grpSpPr>
            <p:cxnSp>
              <p:nvCxnSpPr>
                <p:cNvPr id="79" name="Straight Connector 78">
                  <a:extLst>
                    <a:ext uri="{FF2B5EF4-FFF2-40B4-BE49-F238E27FC236}">
                      <a16:creationId xmlns:a16="http://schemas.microsoft.com/office/drawing/2014/main" id="{2D3AD821-E6B0-DC3E-86FD-7A464C6C253F}"/>
                    </a:ext>
                  </a:extLst>
                </p:cNvPr>
                <p:cNvCxnSpPr>
                  <a:cxnSpLocks/>
                </p:cNvCxnSpPr>
                <p:nvPr/>
              </p:nvCxnSpPr>
              <p:spPr>
                <a:xfrm>
                  <a:off x="1162879" y="2492559"/>
                  <a:ext cx="124411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9E51CD-BD66-687A-5264-5C0385A6F5B4}"/>
                    </a:ext>
                  </a:extLst>
                </p:cNvPr>
                <p:cNvCxnSpPr>
                  <a:cxnSpLocks/>
                </p:cNvCxnSpPr>
                <p:nvPr/>
              </p:nvCxnSpPr>
              <p:spPr>
                <a:xfrm>
                  <a:off x="3347279" y="2492559"/>
                  <a:ext cx="124411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92" name="TextBox 91">
                <a:extLst>
                  <a:ext uri="{FF2B5EF4-FFF2-40B4-BE49-F238E27FC236}">
                    <a16:creationId xmlns:a16="http://schemas.microsoft.com/office/drawing/2014/main" id="{45FA8B35-B164-3201-1651-827ACB261B60}"/>
                  </a:ext>
                </a:extLst>
              </p:cNvPr>
              <p:cNvSpPr txBox="1"/>
              <p:nvPr/>
            </p:nvSpPr>
            <p:spPr>
              <a:xfrm>
                <a:off x="1511509" y="2354060"/>
                <a:ext cx="627784" cy="276999"/>
              </a:xfrm>
              <a:prstGeom prst="rect">
                <a:avLst/>
              </a:prstGeom>
              <a:solidFill>
                <a:schemeClr val="accent1"/>
              </a:solidFill>
            </p:spPr>
            <p:txBody>
              <a:bodyPr wrap="square" rtlCol="0">
                <a:spAutoFit/>
              </a:bodyPr>
              <a:lstStyle>
                <a:defPPr>
                  <a:defRPr lang="en-US"/>
                </a:defPPr>
                <a:lvl1pPr>
                  <a:defRPr>
                    <a:latin typeface="+mj-lt"/>
                  </a:defRPr>
                </a:lvl1pPr>
              </a:lstStyle>
              <a:p>
                <a:pPr algn="ctr"/>
                <a:r>
                  <a:rPr lang="en-US" sz="1200"/>
                  <a:t>ISP1</a:t>
                </a:r>
              </a:p>
            </p:txBody>
          </p:sp>
          <p:sp>
            <p:nvSpPr>
              <p:cNvPr id="93" name="TextBox 92">
                <a:extLst>
                  <a:ext uri="{FF2B5EF4-FFF2-40B4-BE49-F238E27FC236}">
                    <a16:creationId xmlns:a16="http://schemas.microsoft.com/office/drawing/2014/main" id="{1AE46050-C191-5D60-C522-8185F233AD76}"/>
                  </a:ext>
                </a:extLst>
              </p:cNvPr>
              <p:cNvSpPr txBox="1"/>
              <p:nvPr/>
            </p:nvSpPr>
            <p:spPr>
              <a:xfrm>
                <a:off x="3616114" y="2354081"/>
                <a:ext cx="627784" cy="276999"/>
              </a:xfrm>
              <a:prstGeom prst="rect">
                <a:avLst/>
              </a:prstGeom>
              <a:solidFill>
                <a:schemeClr val="accent1"/>
              </a:solidFill>
            </p:spPr>
            <p:txBody>
              <a:bodyPr wrap="square" rtlCol="0">
                <a:spAutoFit/>
              </a:bodyPr>
              <a:lstStyle>
                <a:defPPr>
                  <a:defRPr lang="en-US"/>
                </a:defPPr>
                <a:lvl1pPr>
                  <a:defRPr>
                    <a:latin typeface="+mj-lt"/>
                  </a:defRPr>
                </a:lvl1pPr>
              </a:lstStyle>
              <a:p>
                <a:pPr algn="ctr"/>
                <a:r>
                  <a:rPr lang="en-US" sz="1200"/>
                  <a:t>ISP2</a:t>
                </a:r>
              </a:p>
            </p:txBody>
          </p:sp>
        </p:grpSp>
        <p:grpSp>
          <p:nvGrpSpPr>
            <p:cNvPr id="3" name="Group 2">
              <a:extLst>
                <a:ext uri="{FF2B5EF4-FFF2-40B4-BE49-F238E27FC236}">
                  <a16:creationId xmlns:a16="http://schemas.microsoft.com/office/drawing/2014/main" id="{9FA0976E-92BC-B6B0-BC6F-D49BB5AFEC84}"/>
                </a:ext>
              </a:extLst>
            </p:cNvPr>
            <p:cNvGrpSpPr/>
            <p:nvPr/>
          </p:nvGrpSpPr>
          <p:grpSpPr>
            <a:xfrm>
              <a:off x="2400107" y="2188547"/>
              <a:ext cx="1169456" cy="1141470"/>
              <a:chOff x="5397329" y="1585964"/>
              <a:chExt cx="1169456" cy="1141470"/>
            </a:xfrm>
          </p:grpSpPr>
          <p:pic>
            <p:nvPicPr>
              <p:cNvPr id="4" name="Graphic 3" descr="Cloud outline">
                <a:extLst>
                  <a:ext uri="{FF2B5EF4-FFF2-40B4-BE49-F238E27FC236}">
                    <a16:creationId xmlns:a16="http://schemas.microsoft.com/office/drawing/2014/main" id="{595E5C6A-587D-8BCD-BCB2-5762263760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24395" y="1585964"/>
                <a:ext cx="1111868" cy="1141470"/>
              </a:xfrm>
              <a:prstGeom prst="rect">
                <a:avLst/>
              </a:prstGeom>
            </p:spPr>
          </p:pic>
          <p:sp>
            <p:nvSpPr>
              <p:cNvPr id="8" name="TextBox 7">
                <a:extLst>
                  <a:ext uri="{FF2B5EF4-FFF2-40B4-BE49-F238E27FC236}">
                    <a16:creationId xmlns:a16="http://schemas.microsoft.com/office/drawing/2014/main" id="{CAF9CFC8-8E44-31B6-CD8C-69769F9DC172}"/>
                  </a:ext>
                </a:extLst>
              </p:cNvPr>
              <p:cNvSpPr txBox="1"/>
              <p:nvPr/>
            </p:nvSpPr>
            <p:spPr>
              <a:xfrm>
                <a:off x="5397329" y="2103392"/>
                <a:ext cx="1169456" cy="276999"/>
              </a:xfrm>
              <a:prstGeom prst="rect">
                <a:avLst/>
              </a:prstGeom>
              <a:noFill/>
            </p:spPr>
            <p:txBody>
              <a:bodyPr wrap="square" rtlCol="0">
                <a:spAutoFit/>
              </a:bodyPr>
              <a:lstStyle>
                <a:defPPr>
                  <a:defRPr lang="en-US"/>
                </a:defPPr>
                <a:lvl1pPr>
                  <a:defRPr>
                    <a:latin typeface="+mj-lt"/>
                  </a:defRPr>
                </a:lvl1pPr>
              </a:lstStyle>
              <a:p>
                <a:pPr algn="ctr"/>
                <a:r>
                  <a:rPr lang="en-US" sz="1200"/>
                  <a:t>Internet</a:t>
                </a:r>
              </a:p>
            </p:txBody>
          </p:sp>
        </p:grpSp>
      </p:grpSp>
      <p:grpSp>
        <p:nvGrpSpPr>
          <p:cNvPr id="29" name="Group 28">
            <a:extLst>
              <a:ext uri="{FF2B5EF4-FFF2-40B4-BE49-F238E27FC236}">
                <a16:creationId xmlns:a16="http://schemas.microsoft.com/office/drawing/2014/main" id="{A272B52E-D53C-B5AF-C0A4-451FB0A5205B}"/>
              </a:ext>
            </a:extLst>
          </p:cNvPr>
          <p:cNvGrpSpPr/>
          <p:nvPr/>
        </p:nvGrpSpPr>
        <p:grpSpPr>
          <a:xfrm>
            <a:off x="7938215" y="2578426"/>
            <a:ext cx="1951200" cy="1008000"/>
            <a:chOff x="7938215" y="2578426"/>
            <a:chExt cx="1951200" cy="1008000"/>
          </a:xfrm>
        </p:grpSpPr>
        <p:cxnSp>
          <p:nvCxnSpPr>
            <p:cNvPr id="43" name="Straight Connector 42">
              <a:extLst>
                <a:ext uri="{FF2B5EF4-FFF2-40B4-BE49-F238E27FC236}">
                  <a16:creationId xmlns:a16="http://schemas.microsoft.com/office/drawing/2014/main" id="{7427A885-8439-E66B-5053-EAF983A99B68}"/>
                </a:ext>
              </a:extLst>
            </p:cNvPr>
            <p:cNvCxnSpPr>
              <a:cxnSpLocks/>
            </p:cNvCxnSpPr>
            <p:nvPr/>
          </p:nvCxnSpPr>
          <p:spPr>
            <a:xfrm flipH="1">
              <a:off x="8143655" y="2578426"/>
              <a:ext cx="1538161"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E57389E5-73F8-B4E2-1A11-FB05BE92D816}"/>
                </a:ext>
              </a:extLst>
            </p:cNvPr>
            <p:cNvGrpSpPr/>
            <p:nvPr/>
          </p:nvGrpSpPr>
          <p:grpSpPr>
            <a:xfrm>
              <a:off x="7938215" y="2844738"/>
              <a:ext cx="1951200" cy="431261"/>
              <a:chOff x="7938215" y="2844739"/>
              <a:chExt cx="1951200" cy="322078"/>
            </a:xfrm>
          </p:grpSpPr>
          <p:cxnSp>
            <p:nvCxnSpPr>
              <p:cNvPr id="42" name="Straight Connector 41">
                <a:extLst>
                  <a:ext uri="{FF2B5EF4-FFF2-40B4-BE49-F238E27FC236}">
                    <a16:creationId xmlns:a16="http://schemas.microsoft.com/office/drawing/2014/main" id="{5905496E-808C-E573-DE3C-2CF0094B7A4D}"/>
                  </a:ext>
                </a:extLst>
              </p:cNvPr>
              <p:cNvCxnSpPr>
                <a:cxnSpLocks/>
              </p:cNvCxnSpPr>
              <p:nvPr/>
            </p:nvCxnSpPr>
            <p:spPr>
              <a:xfrm flipV="1">
                <a:off x="7938215" y="2844739"/>
                <a:ext cx="0" cy="322078"/>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BAB1B7A-FB6C-9A2B-A97D-DFB7290CC728}"/>
                  </a:ext>
                </a:extLst>
              </p:cNvPr>
              <p:cNvCxnSpPr>
                <a:cxnSpLocks/>
              </p:cNvCxnSpPr>
              <p:nvPr/>
            </p:nvCxnSpPr>
            <p:spPr>
              <a:xfrm flipV="1">
                <a:off x="9889415" y="2844739"/>
                <a:ext cx="0" cy="322078"/>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06C665CB-C1ED-D850-9956-848D854A2327}"/>
                </a:ext>
              </a:extLst>
            </p:cNvPr>
            <p:cNvCxnSpPr>
              <a:cxnSpLocks/>
            </p:cNvCxnSpPr>
            <p:nvPr/>
          </p:nvCxnSpPr>
          <p:spPr>
            <a:xfrm flipH="1">
              <a:off x="8143655" y="3586426"/>
              <a:ext cx="1538161"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67" name="TextBox 66">
            <a:extLst>
              <a:ext uri="{FF2B5EF4-FFF2-40B4-BE49-F238E27FC236}">
                <a16:creationId xmlns:a16="http://schemas.microsoft.com/office/drawing/2014/main" id="{3EAA6CB8-DD1F-9CC6-E795-E8E2A3436C28}"/>
              </a:ext>
            </a:extLst>
          </p:cNvPr>
          <p:cNvSpPr txBox="1"/>
          <p:nvPr/>
        </p:nvSpPr>
        <p:spPr>
          <a:xfrm>
            <a:off x="7621426" y="2152249"/>
            <a:ext cx="627784" cy="276999"/>
          </a:xfrm>
          <a:prstGeom prst="rect">
            <a:avLst/>
          </a:prstGeom>
          <a:noFill/>
        </p:spPr>
        <p:txBody>
          <a:bodyPr wrap="square" rtlCol="0">
            <a:spAutoFit/>
          </a:bodyPr>
          <a:lstStyle>
            <a:defPPr>
              <a:defRPr lang="en-US"/>
            </a:defPPr>
            <a:lvl1pPr>
              <a:defRPr sz="1200">
                <a:latin typeface="+mj-lt"/>
              </a:defRPr>
            </a:lvl1pPr>
          </a:lstStyle>
          <a:p>
            <a:pPr algn="ctr"/>
            <a:r>
              <a:rPr lang="en-US"/>
              <a:t>DC-A</a:t>
            </a:r>
          </a:p>
        </p:txBody>
      </p:sp>
      <p:sp>
        <p:nvSpPr>
          <p:cNvPr id="65" name="TextBox 64">
            <a:extLst>
              <a:ext uri="{FF2B5EF4-FFF2-40B4-BE49-F238E27FC236}">
                <a16:creationId xmlns:a16="http://schemas.microsoft.com/office/drawing/2014/main" id="{E0CFC8B2-3A39-E67B-D452-ECECAF6EDA05}"/>
              </a:ext>
            </a:extLst>
          </p:cNvPr>
          <p:cNvSpPr txBox="1"/>
          <p:nvPr/>
        </p:nvSpPr>
        <p:spPr>
          <a:xfrm>
            <a:off x="7614595" y="3744029"/>
            <a:ext cx="627784" cy="276998"/>
          </a:xfrm>
          <a:prstGeom prst="rect">
            <a:avLst/>
          </a:prstGeom>
          <a:noFill/>
        </p:spPr>
        <p:txBody>
          <a:bodyPr wrap="square" rtlCol="0">
            <a:spAutoFit/>
          </a:bodyPr>
          <a:lstStyle>
            <a:defPPr>
              <a:defRPr lang="en-US"/>
            </a:defPPr>
            <a:lvl1pPr>
              <a:defRPr sz="1200">
                <a:latin typeface="+mj-lt"/>
              </a:defRPr>
            </a:lvl1pPr>
          </a:lstStyle>
          <a:p>
            <a:pPr algn="ctr"/>
            <a:r>
              <a:rPr lang="en-US"/>
              <a:t>DC-B</a:t>
            </a:r>
          </a:p>
        </p:txBody>
      </p:sp>
      <p:sp>
        <p:nvSpPr>
          <p:cNvPr id="63" name="TextBox 62">
            <a:extLst>
              <a:ext uri="{FF2B5EF4-FFF2-40B4-BE49-F238E27FC236}">
                <a16:creationId xmlns:a16="http://schemas.microsoft.com/office/drawing/2014/main" id="{305E3183-614B-B98D-98C9-B1252D9A0C63}"/>
              </a:ext>
            </a:extLst>
          </p:cNvPr>
          <p:cNvSpPr txBox="1"/>
          <p:nvPr/>
        </p:nvSpPr>
        <p:spPr>
          <a:xfrm>
            <a:off x="9569299" y="2152249"/>
            <a:ext cx="627782" cy="276999"/>
          </a:xfrm>
          <a:prstGeom prst="rect">
            <a:avLst/>
          </a:prstGeom>
          <a:noFill/>
        </p:spPr>
        <p:txBody>
          <a:bodyPr wrap="square" rtlCol="0">
            <a:spAutoFit/>
          </a:bodyPr>
          <a:lstStyle/>
          <a:p>
            <a:pPr algn="ctr"/>
            <a:r>
              <a:rPr lang="en-US" sz="1200">
                <a:latin typeface="+mj-lt"/>
              </a:rPr>
              <a:t>DC-C</a:t>
            </a:r>
          </a:p>
        </p:txBody>
      </p:sp>
      <p:sp>
        <p:nvSpPr>
          <p:cNvPr id="61" name="TextBox 60">
            <a:extLst>
              <a:ext uri="{FF2B5EF4-FFF2-40B4-BE49-F238E27FC236}">
                <a16:creationId xmlns:a16="http://schemas.microsoft.com/office/drawing/2014/main" id="{371B09A2-DC5D-4333-878C-8E21142B174F}"/>
              </a:ext>
            </a:extLst>
          </p:cNvPr>
          <p:cNvSpPr txBox="1"/>
          <p:nvPr/>
        </p:nvSpPr>
        <p:spPr>
          <a:xfrm>
            <a:off x="9574933" y="3745815"/>
            <a:ext cx="627785" cy="276998"/>
          </a:xfrm>
          <a:prstGeom prst="rect">
            <a:avLst/>
          </a:prstGeom>
          <a:noFill/>
        </p:spPr>
        <p:txBody>
          <a:bodyPr wrap="square" rtlCol="0">
            <a:spAutoFit/>
          </a:bodyPr>
          <a:lstStyle>
            <a:defPPr>
              <a:defRPr lang="en-US"/>
            </a:defPPr>
            <a:lvl1pPr>
              <a:defRPr sz="1200">
                <a:latin typeface="+mj-lt"/>
              </a:defRPr>
            </a:lvl1pPr>
          </a:lstStyle>
          <a:p>
            <a:pPr algn="ctr"/>
            <a:r>
              <a:rPr lang="en-US"/>
              <a:t>DC-D</a:t>
            </a:r>
          </a:p>
        </p:txBody>
      </p:sp>
      <p:grpSp>
        <p:nvGrpSpPr>
          <p:cNvPr id="96" name="!!Data Center Icon">
            <a:extLst>
              <a:ext uri="{FF2B5EF4-FFF2-40B4-BE49-F238E27FC236}">
                <a16:creationId xmlns:a16="http://schemas.microsoft.com/office/drawing/2014/main" id="{68EE86B8-7040-927E-37AF-6383C04AD931}"/>
              </a:ext>
            </a:extLst>
          </p:cNvPr>
          <p:cNvGrpSpPr/>
          <p:nvPr/>
        </p:nvGrpSpPr>
        <p:grpSpPr>
          <a:xfrm>
            <a:off x="858363" y="2682407"/>
            <a:ext cx="762548" cy="558434"/>
            <a:chOff x="3915783" y="5046954"/>
            <a:chExt cx="1011845" cy="741000"/>
          </a:xfrm>
        </p:grpSpPr>
        <p:sp>
          <p:nvSpPr>
            <p:cNvPr id="97" name="White fill">
              <a:extLst>
                <a:ext uri="{FF2B5EF4-FFF2-40B4-BE49-F238E27FC236}">
                  <a16:creationId xmlns:a16="http://schemas.microsoft.com/office/drawing/2014/main" id="{68E488FA-5B05-4096-272A-40E6CE8CEBC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98" name="Freeform: Shape 2142">
              <a:extLst>
                <a:ext uri="{FF2B5EF4-FFF2-40B4-BE49-F238E27FC236}">
                  <a16:creationId xmlns:a16="http://schemas.microsoft.com/office/drawing/2014/main" id="{39346C3E-7E80-4977-62FE-345B659F7B08}"/>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99" name="Freeform: Shape 2143">
              <a:extLst>
                <a:ext uri="{FF2B5EF4-FFF2-40B4-BE49-F238E27FC236}">
                  <a16:creationId xmlns:a16="http://schemas.microsoft.com/office/drawing/2014/main" id="{4BD8BD6C-EC8A-3809-C72F-7A37B6677E45}"/>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00" name="Freeform: Shape 2144">
              <a:extLst>
                <a:ext uri="{FF2B5EF4-FFF2-40B4-BE49-F238E27FC236}">
                  <a16:creationId xmlns:a16="http://schemas.microsoft.com/office/drawing/2014/main" id="{06F3E512-EEE0-5727-1038-D2B432EF52AE}"/>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01" name="Freeform: Shape 2145">
              <a:extLst>
                <a:ext uri="{FF2B5EF4-FFF2-40B4-BE49-F238E27FC236}">
                  <a16:creationId xmlns:a16="http://schemas.microsoft.com/office/drawing/2014/main" id="{B5398511-DF57-4A19-BEFB-38A9F70E3C2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02" name="!!Data Center Icon">
            <a:extLst>
              <a:ext uri="{FF2B5EF4-FFF2-40B4-BE49-F238E27FC236}">
                <a16:creationId xmlns:a16="http://schemas.microsoft.com/office/drawing/2014/main" id="{8EAD9C7A-8525-1A52-3E4C-190448C17A56}"/>
              </a:ext>
            </a:extLst>
          </p:cNvPr>
          <p:cNvGrpSpPr/>
          <p:nvPr/>
        </p:nvGrpSpPr>
        <p:grpSpPr>
          <a:xfrm>
            <a:off x="4828783" y="2682407"/>
            <a:ext cx="762548" cy="558434"/>
            <a:chOff x="3915783" y="5046954"/>
            <a:chExt cx="1011845" cy="741000"/>
          </a:xfrm>
        </p:grpSpPr>
        <p:sp>
          <p:nvSpPr>
            <p:cNvPr id="103" name="White fill">
              <a:extLst>
                <a:ext uri="{FF2B5EF4-FFF2-40B4-BE49-F238E27FC236}">
                  <a16:creationId xmlns:a16="http://schemas.microsoft.com/office/drawing/2014/main" id="{E520E5B7-ABAF-E0B5-D6A3-DE63D59531CA}"/>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04" name="Freeform: Shape 2142">
              <a:extLst>
                <a:ext uri="{FF2B5EF4-FFF2-40B4-BE49-F238E27FC236}">
                  <a16:creationId xmlns:a16="http://schemas.microsoft.com/office/drawing/2014/main" id="{3A005BBE-182D-E351-16E1-9AF2286A9D06}"/>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05" name="Freeform: Shape 2143">
              <a:extLst>
                <a:ext uri="{FF2B5EF4-FFF2-40B4-BE49-F238E27FC236}">
                  <a16:creationId xmlns:a16="http://schemas.microsoft.com/office/drawing/2014/main" id="{70C43399-EA72-A615-9444-52C87CA9D91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06" name="Freeform: Shape 2144">
              <a:extLst>
                <a:ext uri="{FF2B5EF4-FFF2-40B4-BE49-F238E27FC236}">
                  <a16:creationId xmlns:a16="http://schemas.microsoft.com/office/drawing/2014/main" id="{C4455B0D-8C50-2EE2-2D14-C04BC3D9B9E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07" name="Freeform: Shape 2145">
              <a:extLst>
                <a:ext uri="{FF2B5EF4-FFF2-40B4-BE49-F238E27FC236}">
                  <a16:creationId xmlns:a16="http://schemas.microsoft.com/office/drawing/2014/main" id="{BB8DFDB1-CF84-6347-2E7F-0B60E892F97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08" name="!!Data Center Icon">
            <a:extLst>
              <a:ext uri="{FF2B5EF4-FFF2-40B4-BE49-F238E27FC236}">
                <a16:creationId xmlns:a16="http://schemas.microsoft.com/office/drawing/2014/main" id="{F45316A7-0000-9684-B2D0-F101956358F8}"/>
              </a:ext>
            </a:extLst>
          </p:cNvPr>
          <p:cNvGrpSpPr/>
          <p:nvPr/>
        </p:nvGrpSpPr>
        <p:grpSpPr>
          <a:xfrm>
            <a:off x="7620414" y="2400777"/>
            <a:ext cx="638056" cy="467264"/>
            <a:chOff x="3915783" y="5046954"/>
            <a:chExt cx="1011845" cy="741000"/>
          </a:xfrm>
        </p:grpSpPr>
        <p:sp>
          <p:nvSpPr>
            <p:cNvPr id="109" name="White fill">
              <a:extLst>
                <a:ext uri="{FF2B5EF4-FFF2-40B4-BE49-F238E27FC236}">
                  <a16:creationId xmlns:a16="http://schemas.microsoft.com/office/drawing/2014/main" id="{DC777035-DA11-B859-C183-303ACBBB2360}"/>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5875"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10" name="Freeform: Shape 2142">
              <a:extLst>
                <a:ext uri="{FF2B5EF4-FFF2-40B4-BE49-F238E27FC236}">
                  <a16:creationId xmlns:a16="http://schemas.microsoft.com/office/drawing/2014/main" id="{F4AF0910-1590-DC95-6B63-CD1695DA92D6}"/>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5875" cap="flat">
              <a:solidFill>
                <a:srgbClr val="000000"/>
              </a:solidFill>
              <a:prstDash val="solid"/>
              <a:miter/>
            </a:ln>
          </p:spPr>
          <p:txBody>
            <a:bodyPr/>
            <a:lstStyle/>
            <a:p>
              <a:endParaRPr lang="en-US"/>
            </a:p>
          </p:txBody>
        </p:sp>
        <p:sp>
          <p:nvSpPr>
            <p:cNvPr id="111" name="Freeform: Shape 2143">
              <a:extLst>
                <a:ext uri="{FF2B5EF4-FFF2-40B4-BE49-F238E27FC236}">
                  <a16:creationId xmlns:a16="http://schemas.microsoft.com/office/drawing/2014/main" id="{201CD353-BAE6-DBDB-4C1C-8670633ACD4E}"/>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5875" cap="flat">
              <a:solidFill>
                <a:srgbClr val="000000"/>
              </a:solidFill>
              <a:prstDash val="solid"/>
              <a:miter/>
            </a:ln>
          </p:spPr>
          <p:txBody>
            <a:bodyPr/>
            <a:lstStyle/>
            <a:p>
              <a:endParaRPr lang="en-US"/>
            </a:p>
          </p:txBody>
        </p:sp>
        <p:sp>
          <p:nvSpPr>
            <p:cNvPr id="112" name="Freeform: Shape 2144">
              <a:extLst>
                <a:ext uri="{FF2B5EF4-FFF2-40B4-BE49-F238E27FC236}">
                  <a16:creationId xmlns:a16="http://schemas.microsoft.com/office/drawing/2014/main" id="{8E9A70AF-F83E-BD72-9F48-C6FB594E024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5875" cap="flat">
              <a:solidFill>
                <a:srgbClr val="000000"/>
              </a:solidFill>
              <a:prstDash val="solid"/>
              <a:miter/>
            </a:ln>
          </p:spPr>
          <p:txBody>
            <a:bodyPr/>
            <a:lstStyle/>
            <a:p>
              <a:endParaRPr lang="en-US"/>
            </a:p>
          </p:txBody>
        </p:sp>
        <p:sp>
          <p:nvSpPr>
            <p:cNvPr id="113" name="Freeform: Shape 2145">
              <a:extLst>
                <a:ext uri="{FF2B5EF4-FFF2-40B4-BE49-F238E27FC236}">
                  <a16:creationId xmlns:a16="http://schemas.microsoft.com/office/drawing/2014/main" id="{D5A717C3-B2C4-5FDF-45D5-00ECE5DDA0DD}"/>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5875" cap="flat">
              <a:solidFill>
                <a:srgbClr val="000000"/>
              </a:solidFill>
              <a:prstDash val="solid"/>
              <a:miter/>
            </a:ln>
          </p:spPr>
          <p:txBody>
            <a:bodyPr/>
            <a:lstStyle/>
            <a:p>
              <a:endParaRPr lang="en-US"/>
            </a:p>
          </p:txBody>
        </p:sp>
      </p:grpSp>
      <p:grpSp>
        <p:nvGrpSpPr>
          <p:cNvPr id="114" name="!!Data Center Icon">
            <a:extLst>
              <a:ext uri="{FF2B5EF4-FFF2-40B4-BE49-F238E27FC236}">
                <a16:creationId xmlns:a16="http://schemas.microsoft.com/office/drawing/2014/main" id="{FC043451-25D4-257F-F281-7FC922C9C25A}"/>
              </a:ext>
            </a:extLst>
          </p:cNvPr>
          <p:cNvGrpSpPr/>
          <p:nvPr/>
        </p:nvGrpSpPr>
        <p:grpSpPr>
          <a:xfrm>
            <a:off x="9570594" y="2400777"/>
            <a:ext cx="638056" cy="467264"/>
            <a:chOff x="3915783" y="5046954"/>
            <a:chExt cx="1011845" cy="741000"/>
          </a:xfrm>
        </p:grpSpPr>
        <p:sp>
          <p:nvSpPr>
            <p:cNvPr id="115" name="White fill">
              <a:extLst>
                <a:ext uri="{FF2B5EF4-FFF2-40B4-BE49-F238E27FC236}">
                  <a16:creationId xmlns:a16="http://schemas.microsoft.com/office/drawing/2014/main" id="{99FFF0B8-7C46-DF94-6E00-BF07FEA303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16" name="Freeform: Shape 2142">
              <a:extLst>
                <a:ext uri="{FF2B5EF4-FFF2-40B4-BE49-F238E27FC236}">
                  <a16:creationId xmlns:a16="http://schemas.microsoft.com/office/drawing/2014/main" id="{651D665E-AB32-E54A-1465-CA1A2247B0F0}"/>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17" name="Freeform: Shape 2143">
              <a:extLst>
                <a:ext uri="{FF2B5EF4-FFF2-40B4-BE49-F238E27FC236}">
                  <a16:creationId xmlns:a16="http://schemas.microsoft.com/office/drawing/2014/main" id="{79D3B3D5-0B5C-0D5C-4FB4-C0A8ED684A2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18" name="Freeform: Shape 2144">
              <a:extLst>
                <a:ext uri="{FF2B5EF4-FFF2-40B4-BE49-F238E27FC236}">
                  <a16:creationId xmlns:a16="http://schemas.microsoft.com/office/drawing/2014/main" id="{40A21713-863B-EB50-7611-217792F0C213}"/>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19" name="Freeform: Shape 2145">
              <a:extLst>
                <a:ext uri="{FF2B5EF4-FFF2-40B4-BE49-F238E27FC236}">
                  <a16:creationId xmlns:a16="http://schemas.microsoft.com/office/drawing/2014/main" id="{D40BB06E-425A-99CD-28C6-A10DC51497B9}"/>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20" name="!!Data Center Icon">
            <a:extLst>
              <a:ext uri="{FF2B5EF4-FFF2-40B4-BE49-F238E27FC236}">
                <a16:creationId xmlns:a16="http://schemas.microsoft.com/office/drawing/2014/main" id="{011A0E94-F5D2-68A3-50E6-A3D6FC37AC2F}"/>
              </a:ext>
            </a:extLst>
          </p:cNvPr>
          <p:cNvGrpSpPr/>
          <p:nvPr/>
        </p:nvGrpSpPr>
        <p:grpSpPr>
          <a:xfrm>
            <a:off x="7620414" y="3298992"/>
            <a:ext cx="638056" cy="467264"/>
            <a:chOff x="3915783" y="5046954"/>
            <a:chExt cx="1011845" cy="741000"/>
          </a:xfrm>
        </p:grpSpPr>
        <p:sp>
          <p:nvSpPr>
            <p:cNvPr id="121" name="White fill">
              <a:extLst>
                <a:ext uri="{FF2B5EF4-FFF2-40B4-BE49-F238E27FC236}">
                  <a16:creationId xmlns:a16="http://schemas.microsoft.com/office/drawing/2014/main" id="{844F929C-0311-3F5C-0971-04379BE7AAA3}"/>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22" name="Freeform: Shape 2142">
              <a:extLst>
                <a:ext uri="{FF2B5EF4-FFF2-40B4-BE49-F238E27FC236}">
                  <a16:creationId xmlns:a16="http://schemas.microsoft.com/office/drawing/2014/main" id="{FECFA540-5E13-585B-5038-24E168FF050A}"/>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23" name="Freeform: Shape 2143">
              <a:extLst>
                <a:ext uri="{FF2B5EF4-FFF2-40B4-BE49-F238E27FC236}">
                  <a16:creationId xmlns:a16="http://schemas.microsoft.com/office/drawing/2014/main" id="{7FC4DFA4-EC4B-41C5-B7B9-BB4DC922C2B2}"/>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24" name="Freeform: Shape 2144">
              <a:extLst>
                <a:ext uri="{FF2B5EF4-FFF2-40B4-BE49-F238E27FC236}">
                  <a16:creationId xmlns:a16="http://schemas.microsoft.com/office/drawing/2014/main" id="{15CD9B7B-67D6-5C49-896A-EA10A6AC969B}"/>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25" name="Freeform: Shape 2145">
              <a:extLst>
                <a:ext uri="{FF2B5EF4-FFF2-40B4-BE49-F238E27FC236}">
                  <a16:creationId xmlns:a16="http://schemas.microsoft.com/office/drawing/2014/main" id="{93BB851D-AC94-E7A8-F641-751C21725678}"/>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grpSp>
        <p:nvGrpSpPr>
          <p:cNvPr id="126" name="!!Data Center Icon">
            <a:extLst>
              <a:ext uri="{FF2B5EF4-FFF2-40B4-BE49-F238E27FC236}">
                <a16:creationId xmlns:a16="http://schemas.microsoft.com/office/drawing/2014/main" id="{F2F78F11-7379-E8AA-C2DB-C75AB338C4E6}"/>
              </a:ext>
            </a:extLst>
          </p:cNvPr>
          <p:cNvGrpSpPr/>
          <p:nvPr/>
        </p:nvGrpSpPr>
        <p:grpSpPr>
          <a:xfrm>
            <a:off x="9570594" y="3298992"/>
            <a:ext cx="638056" cy="467264"/>
            <a:chOff x="3915783" y="5046954"/>
            <a:chExt cx="1011845" cy="741000"/>
          </a:xfrm>
        </p:grpSpPr>
        <p:sp>
          <p:nvSpPr>
            <p:cNvPr id="127" name="White fill">
              <a:extLst>
                <a:ext uri="{FF2B5EF4-FFF2-40B4-BE49-F238E27FC236}">
                  <a16:creationId xmlns:a16="http://schemas.microsoft.com/office/drawing/2014/main" id="{7C6A8A57-0D02-FEAA-2859-2DC33863D14E}"/>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solidFill>
              <a:schemeClr val="bg1"/>
            </a:solidFill>
            <a:ln w="12700" cap="sq" algn="ctr">
              <a:solidFill>
                <a:srgbClr val="000000"/>
              </a:solid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28" name="Freeform: Shape 2142">
              <a:extLst>
                <a:ext uri="{FF2B5EF4-FFF2-40B4-BE49-F238E27FC236}">
                  <a16:creationId xmlns:a16="http://schemas.microsoft.com/office/drawing/2014/main" id="{2918A0E2-7CB4-54C8-E5F1-737E050E635B}"/>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noFill/>
            <a:ln w="12700" cap="flat">
              <a:solidFill>
                <a:srgbClr val="000000"/>
              </a:solidFill>
              <a:prstDash val="solid"/>
              <a:miter/>
            </a:ln>
          </p:spPr>
          <p:txBody>
            <a:bodyPr/>
            <a:lstStyle/>
            <a:p>
              <a:endParaRPr lang="en-US"/>
            </a:p>
          </p:txBody>
        </p:sp>
        <p:sp>
          <p:nvSpPr>
            <p:cNvPr id="129" name="Freeform: Shape 2143">
              <a:extLst>
                <a:ext uri="{FF2B5EF4-FFF2-40B4-BE49-F238E27FC236}">
                  <a16:creationId xmlns:a16="http://schemas.microsoft.com/office/drawing/2014/main" id="{403A0D13-3EA4-C407-8D9D-5385F640D1F6}"/>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noFill/>
            <a:ln w="12700" cap="flat">
              <a:solidFill>
                <a:srgbClr val="000000"/>
              </a:solidFill>
              <a:prstDash val="solid"/>
              <a:miter/>
            </a:ln>
          </p:spPr>
          <p:txBody>
            <a:bodyPr/>
            <a:lstStyle/>
            <a:p>
              <a:endParaRPr lang="en-US"/>
            </a:p>
          </p:txBody>
        </p:sp>
        <p:sp>
          <p:nvSpPr>
            <p:cNvPr id="130" name="Freeform: Shape 2144">
              <a:extLst>
                <a:ext uri="{FF2B5EF4-FFF2-40B4-BE49-F238E27FC236}">
                  <a16:creationId xmlns:a16="http://schemas.microsoft.com/office/drawing/2014/main" id="{E8DDD00A-D054-E851-2F32-665D07B37B10}"/>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noFill/>
            <a:ln w="12700" cap="flat">
              <a:solidFill>
                <a:srgbClr val="000000"/>
              </a:solidFill>
              <a:prstDash val="solid"/>
              <a:miter/>
            </a:ln>
          </p:spPr>
          <p:txBody>
            <a:bodyPr/>
            <a:lstStyle/>
            <a:p>
              <a:endParaRPr lang="en-US"/>
            </a:p>
          </p:txBody>
        </p:sp>
        <p:sp>
          <p:nvSpPr>
            <p:cNvPr id="131" name="Freeform: Shape 2145">
              <a:extLst>
                <a:ext uri="{FF2B5EF4-FFF2-40B4-BE49-F238E27FC236}">
                  <a16:creationId xmlns:a16="http://schemas.microsoft.com/office/drawing/2014/main" id="{81410DF8-0D8C-EA4C-C6A3-806EF6AF76B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ln w="12700" cap="flat">
              <a:solidFill>
                <a:srgbClr val="000000"/>
              </a:solidFill>
              <a:prstDash val="solid"/>
              <a:miter/>
            </a:ln>
          </p:spPr>
          <p:txBody>
            <a:bodyPr/>
            <a:lstStyle/>
            <a:p>
              <a:endParaRPr lang="en-US"/>
            </a:p>
          </p:txBody>
        </p:sp>
      </p:grpSp>
      <p:sp>
        <p:nvSpPr>
          <p:cNvPr id="11" name="Slide Number Placeholder 1">
            <a:extLst>
              <a:ext uri="{FF2B5EF4-FFF2-40B4-BE49-F238E27FC236}">
                <a16:creationId xmlns:a16="http://schemas.microsoft.com/office/drawing/2014/main" id="{AAFDD41F-0DF1-928D-4EBA-DEEE79D2101F}"/>
              </a:ext>
            </a:extLst>
          </p:cNvPr>
          <p:cNvSpPr>
            <a:spLocks noGrp="1"/>
          </p:cNvSpPr>
          <p:nvPr>
            <p:ph type="sldNum" sz="quarter" idx="10"/>
          </p:nvPr>
        </p:nvSpPr>
        <p:spPr>
          <a:xfrm>
            <a:off x="510363" y="6445677"/>
            <a:ext cx="2743200" cy="138499"/>
          </a:xfrm>
        </p:spPr>
        <p:txBody>
          <a:bodyPr/>
          <a:lstStyle/>
          <a:p>
            <a:fld id="{0246F002-FF83-614A-810B-169E974B53D7}" type="slidenum">
              <a:rPr lang="en-US" smtClean="0">
                <a:solidFill>
                  <a:schemeClr val="bg2"/>
                </a:solidFill>
              </a:rPr>
              <a:pPr/>
              <a:t>19</a:t>
            </a:fld>
            <a:r>
              <a:rPr lang="en-US">
                <a:solidFill>
                  <a:schemeClr val="bg2"/>
                </a:solidFill>
              </a:rPr>
              <a:t>  © 2026 MaiaEdge</a:t>
            </a:r>
            <a:endParaRPr lang="en-US" sz="900">
              <a:solidFill>
                <a:schemeClr val="bg2"/>
              </a:solidFill>
            </a:endParaRPr>
          </a:p>
        </p:txBody>
      </p:sp>
      <p:grpSp>
        <p:nvGrpSpPr>
          <p:cNvPr id="18" name="Maia Logo">
            <a:extLst>
              <a:ext uri="{FF2B5EF4-FFF2-40B4-BE49-F238E27FC236}">
                <a16:creationId xmlns:a16="http://schemas.microsoft.com/office/drawing/2014/main" id="{CD597AB9-F6FA-5393-AF79-608197753C6F}"/>
              </a:ext>
            </a:extLst>
          </p:cNvPr>
          <p:cNvGrpSpPr/>
          <p:nvPr/>
        </p:nvGrpSpPr>
        <p:grpSpPr>
          <a:xfrm>
            <a:off x="9984505" y="6181344"/>
            <a:ext cx="1697132" cy="414708"/>
            <a:chOff x="1447800" y="2292350"/>
            <a:chExt cx="7774788" cy="1899831"/>
          </a:xfrm>
        </p:grpSpPr>
        <p:sp>
          <p:nvSpPr>
            <p:cNvPr id="19" name="Freeform 20">
              <a:extLst>
                <a:ext uri="{FF2B5EF4-FFF2-40B4-BE49-F238E27FC236}">
                  <a16:creationId xmlns:a16="http://schemas.microsoft.com/office/drawing/2014/main" id="{786A0DA2-E9C0-19FA-A24D-C0DFD3CD6A9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0" name="Freeform 21">
              <a:extLst>
                <a:ext uri="{FF2B5EF4-FFF2-40B4-BE49-F238E27FC236}">
                  <a16:creationId xmlns:a16="http://schemas.microsoft.com/office/drawing/2014/main" id="{831CF0EE-A738-E222-6B44-D7D61203AE2E}"/>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2" name="Freeform 22">
              <a:extLst>
                <a:ext uri="{FF2B5EF4-FFF2-40B4-BE49-F238E27FC236}">
                  <a16:creationId xmlns:a16="http://schemas.microsoft.com/office/drawing/2014/main" id="{9FA7E1AD-DD25-B970-723B-16150A802FE4}"/>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Tree>
    <p:custDataLst>
      <p:tags r:id="rId1"/>
    </p:custDataLst>
    <p:extLst>
      <p:ext uri="{BB962C8B-B14F-4D97-AF65-F5344CB8AC3E}">
        <p14:creationId xmlns:p14="http://schemas.microsoft.com/office/powerpoint/2010/main" val="255675023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BCBAB-9E0F-7B02-40DE-053782915F2D}"/>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54FEA31D-E773-FC02-ADCA-7E8049398F5A}"/>
              </a:ext>
            </a:extLst>
          </p:cNvPr>
          <p:cNvGrpSpPr/>
          <p:nvPr/>
        </p:nvGrpSpPr>
        <p:grpSpPr>
          <a:xfrm>
            <a:off x="0" y="4670669"/>
            <a:ext cx="12192000" cy="2187331"/>
            <a:chOff x="0" y="4390275"/>
            <a:chExt cx="12192000" cy="2467725"/>
          </a:xfrm>
        </p:grpSpPr>
        <p:sp>
          <p:nvSpPr>
            <p:cNvPr id="15" name="Rectangle 14">
              <a:extLst>
                <a:ext uri="{FF2B5EF4-FFF2-40B4-BE49-F238E27FC236}">
                  <a16:creationId xmlns:a16="http://schemas.microsoft.com/office/drawing/2014/main" id="{D2B04FF9-87F8-CFE0-4E53-7B463E645CB0}"/>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F5EBC20F-826A-0EEE-B672-15D360295AD3}"/>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FA9E3570-3ABA-E3E9-90B2-F6FB0A86165F}"/>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0B895193-F46A-AEAF-9678-10FE61DE5D50}"/>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9B33D240-5132-E19C-9C2D-9039A503FA1B}"/>
              </a:ext>
            </a:extLst>
          </p:cNvPr>
          <p:cNvSpPr txBox="1"/>
          <p:nvPr/>
        </p:nvSpPr>
        <p:spPr>
          <a:xfrm>
            <a:off x="507270" y="4223028"/>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B165D9A2-6B53-5501-ED3A-80464E84106F}"/>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E33ACD3F-9CC4-73E9-A08E-2F0A57E63089}"/>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53A5DC4D-C063-61EA-39E6-C231AA5A2BBC}"/>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51DAD5CC-57D6-347F-E493-958B19761ABC}"/>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80AB4C53-ED4C-B4F2-DAF2-0FCDD04E0947}"/>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A87674BD-AEDB-BB73-4AD5-56BE1712A6EE}"/>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0FC8610C-6753-4C2E-4A59-51F1DAD7D855}"/>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D7ED038-6D0C-2F58-901C-02834D5BFAC5}"/>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1A7C03B8-3558-A07A-FB10-ECD434FCF229}"/>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FF5BE1EA-FF02-0F03-16DD-5D4C20445F20}"/>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2C885F6-3751-E36B-850E-653E74888B8C}"/>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FFE69C0E-7F0E-60DB-D848-CFC8492D06F9}"/>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5B891382-DC0D-DC7E-613C-AF3913869125}"/>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DC01992A-AF17-265B-2582-572280CFAEDD}"/>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5793A65-99B7-D123-69BD-EB5E4E7F9741}"/>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1DE0F074-F286-A426-3C22-1FE04DEEBF2C}"/>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1DE96DBF-1AC8-EE0A-2707-644C17267E08}"/>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5FAE3E1-F4CF-3DDA-5E24-7017DD95A885}"/>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C060E33-979F-9460-45D6-26B1B1315FA4}"/>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728C7367-6313-7D2C-F02B-41B5D37EA09B}"/>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FDB183B5-E936-299B-E73E-0F2771573847}"/>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A32D02A-240D-2BCB-6D23-2012C4D7C256}"/>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669CF320-6BF4-50EA-A49E-D673396D8D4C}"/>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FBDBFDF0-DF8C-FA0A-2318-4B32319F0852}"/>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1884E1-A34A-7E45-99B7-D31978209BD2}"/>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DDFCFFF-E8B3-376F-A769-DADA08408294}"/>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20</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3D514AC5-450A-396F-1ECF-1CE25323239E}"/>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FFEFD415-D15C-83FB-3841-E8260ADC8737}"/>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EBA556B9-49A7-2B46-4CE3-709A7EE3F74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CB810CCF-ED08-BC23-5F69-F2ADE5165DC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16C82FAD-5AD1-AD3B-B1AA-518506DA1E18}"/>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36D15D19-8791-A1F6-4813-6E2AF84DE5CA}"/>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7E171860-1F57-E493-4E32-BF933985B31B}"/>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892C9254-A80C-1AB8-1AFE-B9A239164742}"/>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D18A4210-1129-8C77-9BA0-4693DE948859}"/>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B756C644-FA37-15DA-7242-5F35588DBFFC}"/>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339E1B6C-E604-D09F-455B-9280BD3CC502}"/>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88A856A8-8015-1061-FB1A-88949587D386}"/>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76746FBF-11A2-E421-F215-B15A6C36AE08}"/>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24FB8D3D-57E5-5E7B-1784-1A3FC469BE8D}"/>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F63CEAB0-5AFC-AFB4-0665-8C554E414868}"/>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sp>
        <p:nvSpPr>
          <p:cNvPr id="105" name="TextBox 65">
            <a:extLst>
              <a:ext uri="{FF2B5EF4-FFF2-40B4-BE49-F238E27FC236}">
                <a16:creationId xmlns:a16="http://schemas.microsoft.com/office/drawing/2014/main" id="{120326B3-C53D-2D3D-B8B6-F0D3AE79D880}"/>
              </a:ext>
            </a:extLst>
          </p:cNvPr>
          <p:cNvSpPr txBox="1"/>
          <p:nvPr/>
        </p:nvSpPr>
        <p:spPr>
          <a:xfrm>
            <a:off x="8027799" y="3062125"/>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Your Distributed </a:t>
            </a:r>
          </a:p>
          <a:p>
            <a:pPr algn="ctr">
              <a:lnSpc>
                <a:spcPts val="1320"/>
              </a:lnSpc>
            </a:pPr>
            <a:r>
              <a:rPr lang="en-US" sz="1100" b="1">
                <a:solidFill>
                  <a:srgbClr val="000000"/>
                </a:solidFill>
                <a:latin typeface="Tomorrow Bold"/>
                <a:ea typeface="Tomorrow Bold"/>
                <a:cs typeface="Tomorrow Bold"/>
                <a:sym typeface="Tomorrow Bold"/>
              </a:rPr>
              <a:t> AI Factories</a:t>
            </a:r>
          </a:p>
        </p:txBody>
      </p:sp>
      <p:sp>
        <p:nvSpPr>
          <p:cNvPr id="106" name="TextBox 68">
            <a:extLst>
              <a:ext uri="{FF2B5EF4-FFF2-40B4-BE49-F238E27FC236}">
                <a16:creationId xmlns:a16="http://schemas.microsoft.com/office/drawing/2014/main" id="{476FC5CF-0C59-FCD1-89E3-111AEA95AABB}"/>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109" name="Group 76">
            <a:extLst>
              <a:ext uri="{FF2B5EF4-FFF2-40B4-BE49-F238E27FC236}">
                <a16:creationId xmlns:a16="http://schemas.microsoft.com/office/drawing/2014/main" id="{4B11F222-B911-9A14-B779-CC9B3073C4E4}"/>
              </a:ext>
            </a:extLst>
          </p:cNvPr>
          <p:cNvGrpSpPr/>
          <p:nvPr/>
        </p:nvGrpSpPr>
        <p:grpSpPr>
          <a:xfrm>
            <a:off x="10245337" y="2332989"/>
            <a:ext cx="1415197" cy="901935"/>
            <a:chOff x="109261" y="0"/>
            <a:chExt cx="1886930" cy="1202580"/>
          </a:xfrm>
        </p:grpSpPr>
        <p:sp>
          <p:nvSpPr>
            <p:cNvPr id="110" name="Freeform 77">
              <a:extLst>
                <a:ext uri="{FF2B5EF4-FFF2-40B4-BE49-F238E27FC236}">
                  <a16:creationId xmlns:a16="http://schemas.microsoft.com/office/drawing/2014/main" id="{2BCB6346-4638-189A-6B92-8D103B324FC5}"/>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E4A455A6-B5BE-87A2-6605-6AF5B345A4B6}"/>
                </a:ext>
              </a:extLst>
            </p:cNvPr>
            <p:cNvSpPr/>
            <p:nvPr/>
          </p:nvSpPr>
          <p:spPr>
            <a:xfrm>
              <a:off x="109261" y="459329"/>
              <a:ext cx="1023470"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4CB776F3-E483-2F3A-EBEE-AC6BCFEF61A3}"/>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C5437148-B272-B7C1-4C7E-F3D98D5D2F88}"/>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0"/>
              <a:stretch>
                <a:fillRect l="-89563" r="-93613" b="-65656"/>
              </a:stretch>
            </a:blipFill>
          </p:spPr>
          <p:txBody>
            <a:bodyPr/>
            <a:lstStyle/>
            <a:p>
              <a:endParaRPr lang="en-US"/>
            </a:p>
          </p:txBody>
        </p:sp>
      </p:grpSp>
      <p:grpSp>
        <p:nvGrpSpPr>
          <p:cNvPr id="123" name="Group 122">
            <a:extLst>
              <a:ext uri="{FF2B5EF4-FFF2-40B4-BE49-F238E27FC236}">
                <a16:creationId xmlns:a16="http://schemas.microsoft.com/office/drawing/2014/main" id="{100EB9F5-C004-ADAB-2F87-45A3DD1377B4}"/>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70EB5740-C658-A29D-E420-1D8AE02F19E6}"/>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lvl="0">
                <a:spcBef>
                  <a:spcPts val="600"/>
                </a:spcBef>
                <a:defRPr/>
              </a:pPr>
              <a:r>
                <a:rPr lang="en-US" sz="1600" dirty="0">
                  <a:solidFill>
                    <a:srgbClr val="FFFFFF"/>
                  </a:solidFill>
                </a:rPr>
                <a:t>Distributed sites connected instantly, over any transport. </a:t>
              </a:r>
            </a:p>
          </p:txBody>
        </p:sp>
        <p:sp>
          <p:nvSpPr>
            <p:cNvPr id="117" name="TextBox 116">
              <a:extLst>
                <a:ext uri="{FF2B5EF4-FFF2-40B4-BE49-F238E27FC236}">
                  <a16:creationId xmlns:a16="http://schemas.microsoft.com/office/drawing/2014/main" id="{C0406BAB-AAD3-948C-9CEB-85C812A6AB65}"/>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E681D5A4-36D4-B70C-4E88-E50C03153515}"/>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8EB70283-72A5-C2DE-8CAF-0EE644064CC9}"/>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Predictable performance across network boundaries. </a:t>
              </a:r>
            </a:p>
          </p:txBody>
        </p:sp>
        <p:sp>
          <p:nvSpPr>
            <p:cNvPr id="118" name="TextBox 117">
              <a:extLst>
                <a:ext uri="{FF2B5EF4-FFF2-40B4-BE49-F238E27FC236}">
                  <a16:creationId xmlns:a16="http://schemas.microsoft.com/office/drawing/2014/main" id="{821F670E-8ED1-C116-2319-442CACCB495C}"/>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dirty="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3B8D6D43-01BB-42B9-EA35-D330A53D7268}"/>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56629AAD-F454-8033-5473-2377144D68C2}"/>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90A28997-53B6-5C9D-1C60-A6024D57D00B}"/>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712EC8F9-FF73-F482-CAF3-49F87BD21C3B}"/>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09F520CF-DB69-3D08-91E2-092CC9421ACA}"/>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endParaRPr lang="en-US" sz="1600" b="1">
              <a:latin typeface="+mj-lt"/>
            </a:endParaRPr>
          </a:p>
        </p:txBody>
      </p:sp>
      <p:sp>
        <p:nvSpPr>
          <p:cNvPr id="18" name="TextBox 65">
            <a:extLst>
              <a:ext uri="{FF2B5EF4-FFF2-40B4-BE49-F238E27FC236}">
                <a16:creationId xmlns:a16="http://schemas.microsoft.com/office/drawing/2014/main" id="{2DDE50FE-692A-C60C-5EC6-81A9AE49B42E}"/>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19" name="Freeform 74">
            <a:extLst>
              <a:ext uri="{FF2B5EF4-FFF2-40B4-BE49-F238E27FC236}">
                <a16:creationId xmlns:a16="http://schemas.microsoft.com/office/drawing/2014/main" id="{36C9F7E3-95E0-962B-597E-C06BAE027DA1}"/>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1"/>
            <a:stretch>
              <a:fillRect/>
            </a:stretch>
          </a:blipFill>
        </p:spPr>
        <p:txBody>
          <a:bodyPr/>
          <a:lstStyle/>
          <a:p>
            <a:endParaRPr lang="en-US"/>
          </a:p>
        </p:txBody>
      </p:sp>
      <p:sp>
        <p:nvSpPr>
          <p:cNvPr id="23" name="Freeform 75">
            <a:extLst>
              <a:ext uri="{FF2B5EF4-FFF2-40B4-BE49-F238E27FC236}">
                <a16:creationId xmlns:a16="http://schemas.microsoft.com/office/drawing/2014/main" id="{CB1AE50D-791B-16B3-A3B7-4D745101EC7D}"/>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1"/>
            <a:stretch>
              <a:fillRect/>
            </a:stretch>
          </a:blipFill>
        </p:spPr>
        <p:txBody>
          <a:bodyPr/>
          <a:lstStyle/>
          <a:p>
            <a:endParaRPr lang="en-US"/>
          </a:p>
        </p:txBody>
      </p:sp>
      <p:sp>
        <p:nvSpPr>
          <p:cNvPr id="24" name="Freeform 55">
            <a:extLst>
              <a:ext uri="{FF2B5EF4-FFF2-40B4-BE49-F238E27FC236}">
                <a16:creationId xmlns:a16="http://schemas.microsoft.com/office/drawing/2014/main" id="{F3A178A2-4C2A-0DA7-D694-3338F36FF772}"/>
              </a:ext>
            </a:extLst>
          </p:cNvPr>
          <p:cNvSpPr>
            <a:spLocks noChangeAspect="1"/>
          </p:cNvSpPr>
          <p:nvPr/>
        </p:nvSpPr>
        <p:spPr>
          <a:xfrm>
            <a:off x="8445131" y="2009439"/>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8" name="Freeform 55">
            <a:extLst>
              <a:ext uri="{FF2B5EF4-FFF2-40B4-BE49-F238E27FC236}">
                <a16:creationId xmlns:a16="http://schemas.microsoft.com/office/drawing/2014/main" id="{96062C67-2AC0-2641-47B1-D982C15B6490}"/>
              </a:ext>
            </a:extLst>
          </p:cNvPr>
          <p:cNvSpPr>
            <a:spLocks noChangeAspect="1"/>
          </p:cNvSpPr>
          <p:nvPr/>
        </p:nvSpPr>
        <p:spPr>
          <a:xfrm>
            <a:off x="8803494" y="2258594"/>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17" name="Freeform 55">
            <a:extLst>
              <a:ext uri="{FF2B5EF4-FFF2-40B4-BE49-F238E27FC236}">
                <a16:creationId xmlns:a16="http://schemas.microsoft.com/office/drawing/2014/main" id="{1AA490F6-512A-914B-C494-B18EEB3B3573}"/>
              </a:ext>
            </a:extLst>
          </p:cNvPr>
          <p:cNvSpPr>
            <a:spLocks noChangeAspect="1"/>
          </p:cNvSpPr>
          <p:nvPr/>
        </p:nvSpPr>
        <p:spPr>
          <a:xfrm>
            <a:off x="8426767" y="2367876"/>
            <a:ext cx="548640" cy="548640"/>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2"/>
            <a:stretch>
              <a:fillRect/>
            </a:stretch>
          </a:blipFill>
          <a:ln cap="sq">
            <a:noFill/>
            <a:prstDash val="solid"/>
            <a:miter/>
          </a:ln>
        </p:spPr>
        <p:txBody>
          <a:bodyPr/>
          <a:lstStyle/>
          <a:p>
            <a:endParaRPr lang="en-US"/>
          </a:p>
        </p:txBody>
      </p:sp>
      <p:sp>
        <p:nvSpPr>
          <p:cNvPr id="1068" name="Freeform 78">
            <a:extLst>
              <a:ext uri="{FF2B5EF4-FFF2-40B4-BE49-F238E27FC236}">
                <a16:creationId xmlns:a16="http://schemas.microsoft.com/office/drawing/2014/main" id="{C32464FE-DC1A-66BF-8FA2-C69E9B649418}"/>
              </a:ext>
            </a:extLst>
          </p:cNvPr>
          <p:cNvSpPr>
            <a:spLocks noChangeAspect="1"/>
          </p:cNvSpPr>
          <p:nvPr/>
        </p:nvSpPr>
        <p:spPr>
          <a:xfrm>
            <a:off x="10826751" y="2460388"/>
            <a:ext cx="405480" cy="277325"/>
          </a:xfrm>
          <a:custGeom>
            <a:avLst/>
            <a:gdLst/>
            <a:ahLst/>
            <a:cxnLst/>
            <a:rect l="l" t="t" r="r" b="b"/>
            <a:pathLst>
              <a:path w="384505" h="263338">
                <a:moveTo>
                  <a:pt x="0" y="0"/>
                </a:moveTo>
                <a:lnTo>
                  <a:pt x="384505" y="0"/>
                </a:lnTo>
                <a:lnTo>
                  <a:pt x="384505" y="263338"/>
                </a:lnTo>
                <a:lnTo>
                  <a:pt x="0" y="263338"/>
                </a:lnTo>
                <a:lnTo>
                  <a:pt x="0" y="0"/>
                </a:lnTo>
                <a:close/>
              </a:path>
            </a:pathLst>
          </a:custGeom>
          <a:blipFill>
            <a:blip r:embed="rId13"/>
            <a:stretch>
              <a:fillRect b="-49948"/>
            </a:stretch>
          </a:blipFill>
        </p:spPr>
        <p:txBody>
          <a:bodyPr/>
          <a:lstStyle/>
          <a:p>
            <a:endParaRPr lang="en-US" sz="1200"/>
          </a:p>
        </p:txBody>
      </p:sp>
      <p:sp>
        <p:nvSpPr>
          <p:cNvPr id="1070" name="Freeform 79">
            <a:extLst>
              <a:ext uri="{FF2B5EF4-FFF2-40B4-BE49-F238E27FC236}">
                <a16:creationId xmlns:a16="http://schemas.microsoft.com/office/drawing/2014/main" id="{28864921-9E85-8287-F18A-85921135EB86}"/>
              </a:ext>
            </a:extLst>
          </p:cNvPr>
          <p:cNvSpPr>
            <a:spLocks noChangeAspect="1"/>
          </p:cNvSpPr>
          <p:nvPr/>
        </p:nvSpPr>
        <p:spPr>
          <a:xfrm>
            <a:off x="10520607" y="2821446"/>
            <a:ext cx="249192" cy="269524"/>
          </a:xfrm>
          <a:custGeom>
            <a:avLst/>
            <a:gdLst/>
            <a:ahLst/>
            <a:cxnLst/>
            <a:rect l="l" t="t" r="r" b="b"/>
            <a:pathLst>
              <a:path w="236303" h="255931">
                <a:moveTo>
                  <a:pt x="0" y="0"/>
                </a:moveTo>
                <a:lnTo>
                  <a:pt x="236303" y="0"/>
                </a:lnTo>
                <a:lnTo>
                  <a:pt x="236303" y="255932"/>
                </a:lnTo>
                <a:lnTo>
                  <a:pt x="0" y="255932"/>
                </a:lnTo>
                <a:lnTo>
                  <a:pt x="0" y="0"/>
                </a:lnTo>
                <a:close/>
              </a:path>
            </a:pathLst>
          </a:custGeom>
          <a:blipFill>
            <a:blip r:embed="rId14"/>
            <a:stretch>
              <a:fillRect l="-23965" t="-19572" r="-24013" b="-17057"/>
            </a:stretch>
          </a:blipFill>
        </p:spPr>
        <p:txBody>
          <a:bodyPr/>
          <a:lstStyle/>
          <a:p>
            <a:endParaRPr lang="en-US" sz="1200"/>
          </a:p>
        </p:txBody>
      </p:sp>
    </p:spTree>
    <p:extLst>
      <p:ext uri="{BB962C8B-B14F-4D97-AF65-F5344CB8AC3E}">
        <p14:creationId xmlns:p14="http://schemas.microsoft.com/office/powerpoint/2010/main" val="3540973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6" name="Picture 5"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A7A0E39E-5460-D02E-EE68-EFDD9B0DC12E}"/>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7" name="Maia Logo">
            <a:extLst>
              <a:ext uri="{FF2B5EF4-FFF2-40B4-BE49-F238E27FC236}">
                <a16:creationId xmlns:a16="http://schemas.microsoft.com/office/drawing/2014/main" id="{DE779BA9-E2A1-9B00-1503-9CD1D4A66611}"/>
              </a:ext>
            </a:extLst>
          </p:cNvPr>
          <p:cNvGrpSpPr/>
          <p:nvPr/>
        </p:nvGrpSpPr>
        <p:grpSpPr>
          <a:xfrm>
            <a:off x="9982492" y="6181218"/>
            <a:ext cx="1700948" cy="415640"/>
            <a:chOff x="1447800" y="2292350"/>
            <a:chExt cx="7774788" cy="1899831"/>
          </a:xfrm>
        </p:grpSpPr>
        <p:sp>
          <p:nvSpPr>
            <p:cNvPr id="8" name="Freeform 20">
              <a:extLst>
                <a:ext uri="{FF2B5EF4-FFF2-40B4-BE49-F238E27FC236}">
                  <a16:creationId xmlns:a16="http://schemas.microsoft.com/office/drawing/2014/main" id="{88B8EA80-3D9F-DF73-A06B-46A40A447F4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 name="Freeform 21">
              <a:extLst>
                <a:ext uri="{FF2B5EF4-FFF2-40B4-BE49-F238E27FC236}">
                  <a16:creationId xmlns:a16="http://schemas.microsoft.com/office/drawing/2014/main" id="{8125D4D4-838B-1900-99D5-231DF34ED3D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00234862-B16C-BF48-512D-1B235AA95D2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C36DC8D1-6732-5AF6-2C33-E0D1CB4BA627}"/>
              </a:ext>
            </a:extLst>
          </p:cNvPr>
          <p:cNvSpPr txBox="1"/>
          <p:nvPr/>
        </p:nvSpPr>
        <p:spPr>
          <a:xfrm>
            <a:off x="1594592" y="4036832"/>
            <a:ext cx="8890710" cy="984885"/>
          </a:xfrm>
          <a:prstGeom prst="rect">
            <a:avLst/>
          </a:prstGeom>
          <a:noFill/>
        </p:spPr>
        <p:txBody>
          <a:bodyPr wrap="square" lIns="0">
            <a:spAutoFit/>
          </a:bodyPr>
          <a:lstStyle/>
          <a:p>
            <a:pPr>
              <a:spcBef>
                <a:spcPts val="1200"/>
              </a:spcBef>
              <a:buClr>
                <a:schemeClr val="accent2"/>
              </a:buClr>
            </a:pPr>
            <a:r>
              <a:rPr lang="en-US" sz="2400" dirty="0">
                <a:solidFill>
                  <a:schemeClr val="bg1"/>
                </a:solidFill>
                <a:ea typeface="Roboto Medium" panose="02000000000000000000" pitchFamily="2" charset="0"/>
                <a:cs typeface="Arial" panose="020B0604020202020204" pitchFamily="34" charset="0"/>
              </a:rPr>
              <a:t>AI clusters should not deal with routing complexities.</a:t>
            </a:r>
          </a:p>
          <a:p>
            <a:pPr>
              <a:spcBef>
                <a:spcPts val="1200"/>
              </a:spcBef>
              <a:buClr>
                <a:schemeClr val="accent2"/>
              </a:buClr>
            </a:pPr>
            <a:r>
              <a:rPr lang="en-US" sz="2400" dirty="0">
                <a:solidFill>
                  <a:schemeClr val="bg1"/>
                </a:solidFill>
                <a:ea typeface="Roboto Medium" panose="02000000000000000000" pitchFamily="2" charset="0"/>
                <a:cs typeface="Arial" panose="020B0604020202020204" pitchFamily="34" charset="0"/>
              </a:rPr>
              <a:t>They should simply connect to form an instant network fabric.</a:t>
            </a:r>
            <a:endParaRPr lang="en-US" sz="2400" b="1" dirty="0">
              <a:solidFill>
                <a:schemeClr val="bg1"/>
              </a:solidFill>
              <a:ea typeface="Roboto Medium" panose="02000000000000000000" pitchFamily="2" charset="0"/>
              <a:cs typeface="Arial" panose="020B0604020202020204" pitchFamily="34" charset="0"/>
            </a:endParaRPr>
          </a:p>
        </p:txBody>
      </p:sp>
      <p:sp>
        <p:nvSpPr>
          <p:cNvPr id="16" name="Rectangle 15">
            <a:extLst>
              <a:ext uri="{FF2B5EF4-FFF2-40B4-BE49-F238E27FC236}">
                <a16:creationId xmlns:a16="http://schemas.microsoft.com/office/drawing/2014/main" id="{3740C8EC-6157-16D1-76DA-C0D887D18A5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7" name="Slide Number Placeholder 21">
            <a:extLst>
              <a:ext uri="{FF2B5EF4-FFF2-40B4-BE49-F238E27FC236}">
                <a16:creationId xmlns:a16="http://schemas.microsoft.com/office/drawing/2014/main" id="{0314691A-7282-E31A-FD21-DA0DDBB12B41}"/>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sp>
        <p:nvSpPr>
          <p:cNvPr id="2" name="Title 1">
            <a:extLst>
              <a:ext uri="{FF2B5EF4-FFF2-40B4-BE49-F238E27FC236}">
                <a16:creationId xmlns:a16="http://schemas.microsoft.com/office/drawing/2014/main" id="{35B814AE-C7D8-2694-3EFE-E4AAC77C605A}"/>
              </a:ext>
            </a:extLst>
          </p:cNvPr>
          <p:cNvSpPr>
            <a:spLocks noGrp="1"/>
          </p:cNvSpPr>
          <p:nvPr>
            <p:ph type="title"/>
          </p:nvPr>
        </p:nvSpPr>
        <p:spPr>
          <a:xfrm>
            <a:off x="1594592" y="1677701"/>
            <a:ext cx="9323186" cy="2180741"/>
          </a:xfrm>
        </p:spPr>
        <p:txBody>
          <a:bodyPr vert="horz" lIns="0" tIns="0" rIns="0" bIns="0" rtlCol="0" anchor="t" anchorCtr="0">
            <a:noAutofit/>
          </a:bodyPr>
          <a:lstStyle/>
          <a:p>
            <a:r>
              <a:rPr lang="en-US" sz="7200" dirty="0">
                <a:solidFill>
                  <a:schemeClr val="accent2"/>
                </a:solidFill>
              </a:rPr>
              <a:t>AI networks should behave like a fabric</a:t>
            </a:r>
          </a:p>
        </p:txBody>
      </p:sp>
    </p:spTree>
    <p:extLst>
      <p:ext uri="{BB962C8B-B14F-4D97-AF65-F5344CB8AC3E}">
        <p14:creationId xmlns:p14="http://schemas.microsoft.com/office/powerpoint/2010/main" val="189965801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3EA82-5779-E1FD-8067-20095F12F18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4F3A035-9C1E-5C4F-3944-723F3DC777A3}"/>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8" name="Maia Logo">
            <a:extLst>
              <a:ext uri="{FF2B5EF4-FFF2-40B4-BE49-F238E27FC236}">
                <a16:creationId xmlns:a16="http://schemas.microsoft.com/office/drawing/2014/main" id="{B0CD18AD-F44E-4398-63B0-FA91FF0489F9}"/>
              </a:ext>
            </a:extLst>
          </p:cNvPr>
          <p:cNvGrpSpPr/>
          <p:nvPr/>
        </p:nvGrpSpPr>
        <p:grpSpPr>
          <a:xfrm>
            <a:off x="9982492" y="6181218"/>
            <a:ext cx="1700948" cy="415640"/>
            <a:chOff x="1447800" y="2292350"/>
            <a:chExt cx="7774788" cy="1899831"/>
          </a:xfrm>
        </p:grpSpPr>
        <p:sp>
          <p:nvSpPr>
            <p:cNvPr id="30" name="Freeform 20">
              <a:extLst>
                <a:ext uri="{FF2B5EF4-FFF2-40B4-BE49-F238E27FC236}">
                  <a16:creationId xmlns:a16="http://schemas.microsoft.com/office/drawing/2014/main" id="{9AC47A25-3937-2DBE-B122-13F958B2E7A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1" name="Freeform 21">
              <a:extLst>
                <a:ext uri="{FF2B5EF4-FFF2-40B4-BE49-F238E27FC236}">
                  <a16:creationId xmlns:a16="http://schemas.microsoft.com/office/drawing/2014/main" id="{3A1E289D-AD84-B91E-872A-0B5359524D1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2" name="Freeform 22">
              <a:extLst>
                <a:ext uri="{FF2B5EF4-FFF2-40B4-BE49-F238E27FC236}">
                  <a16:creationId xmlns:a16="http://schemas.microsoft.com/office/drawing/2014/main" id="{487D2F9A-6EDF-42EB-1744-9131CC41FE9A}"/>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33" name="Slide Number Placeholder 21">
            <a:extLst>
              <a:ext uri="{FF2B5EF4-FFF2-40B4-BE49-F238E27FC236}">
                <a16:creationId xmlns:a16="http://schemas.microsoft.com/office/drawing/2014/main" id="{19937C05-377F-C8C9-BEAA-942F8BD3E597}"/>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21  © 2026 MaiaEdge</a:t>
            </a:r>
          </a:p>
        </p:txBody>
      </p:sp>
      <p:sp>
        <p:nvSpPr>
          <p:cNvPr id="11" name="Title 3">
            <a:extLst>
              <a:ext uri="{FF2B5EF4-FFF2-40B4-BE49-F238E27FC236}">
                <a16:creationId xmlns:a16="http://schemas.microsoft.com/office/drawing/2014/main" id="{9D5AAC43-EDB0-A9BE-0497-AD35C31B9622}"/>
              </a:ext>
            </a:extLst>
          </p:cNvPr>
          <p:cNvSpPr>
            <a:spLocks noGrp="1"/>
          </p:cNvSpPr>
          <p:nvPr>
            <p:ph type="title"/>
          </p:nvPr>
        </p:nvSpPr>
        <p:spPr/>
        <p:txBody>
          <a:bodyPr/>
          <a:lstStyle/>
          <a:p>
            <a:r>
              <a:rPr lang="en-US" sz="3600"/>
              <a:t>Distributed AI Infrastructure connected instantly </a:t>
            </a:r>
          </a:p>
        </p:txBody>
      </p:sp>
      <p:sp>
        <p:nvSpPr>
          <p:cNvPr id="27" name="TextBox 26">
            <a:extLst>
              <a:ext uri="{FF2B5EF4-FFF2-40B4-BE49-F238E27FC236}">
                <a16:creationId xmlns:a16="http://schemas.microsoft.com/office/drawing/2014/main" id="{FF6CD610-3435-A54A-6CD2-E01E658AE34B}"/>
              </a:ext>
            </a:extLst>
          </p:cNvPr>
          <p:cNvSpPr txBox="1"/>
          <p:nvPr/>
        </p:nvSpPr>
        <p:spPr bwMode="auto">
          <a:xfrm>
            <a:off x="1237689" y="5502460"/>
            <a:ext cx="3075304"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spc="100">
                <a:solidFill>
                  <a:schemeClr val="accent2"/>
                </a:solidFill>
                <a:latin typeface="Tomorrow Medium"/>
              </a:rPr>
              <a:t>Deploy a device at each DC</a:t>
            </a:r>
            <a:endParaRPr lang="en-US" sz="1800" b="0">
              <a:solidFill>
                <a:schemeClr val="accent2"/>
              </a:solidFill>
              <a:latin typeface="+mj-lt"/>
            </a:endParaRPr>
          </a:p>
        </p:txBody>
      </p:sp>
      <p:sp>
        <p:nvSpPr>
          <p:cNvPr id="28" name="TextBox 27">
            <a:extLst>
              <a:ext uri="{FF2B5EF4-FFF2-40B4-BE49-F238E27FC236}">
                <a16:creationId xmlns:a16="http://schemas.microsoft.com/office/drawing/2014/main" id="{289B0FA5-B2F9-BA1A-8649-BDE2CA9D1412}"/>
              </a:ext>
            </a:extLst>
          </p:cNvPr>
          <p:cNvSpPr txBox="1"/>
          <p:nvPr/>
        </p:nvSpPr>
        <p:spPr bwMode="auto">
          <a:xfrm>
            <a:off x="4678248" y="5502460"/>
            <a:ext cx="3075304"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b="0">
                <a:solidFill>
                  <a:schemeClr val="accent2"/>
                </a:solidFill>
                <a:latin typeface="+mj-lt"/>
              </a:rPr>
              <a:t>Connect over any available transport</a:t>
            </a:r>
          </a:p>
        </p:txBody>
      </p:sp>
      <p:sp>
        <p:nvSpPr>
          <p:cNvPr id="29" name="TextBox 28">
            <a:extLst>
              <a:ext uri="{FF2B5EF4-FFF2-40B4-BE49-F238E27FC236}">
                <a16:creationId xmlns:a16="http://schemas.microsoft.com/office/drawing/2014/main" id="{B3CE89D3-6826-10C2-6311-422CA0BBBB8D}"/>
              </a:ext>
            </a:extLst>
          </p:cNvPr>
          <p:cNvSpPr txBox="1"/>
          <p:nvPr/>
        </p:nvSpPr>
        <p:spPr bwMode="auto">
          <a:xfrm>
            <a:off x="7941411" y="5502460"/>
            <a:ext cx="2821821"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r>
              <a:rPr lang="en-US" sz="1800" b="0">
                <a:solidFill>
                  <a:schemeClr val="accent2"/>
                </a:solidFill>
                <a:latin typeface="+mj-lt"/>
              </a:rPr>
              <a:t>Provision connectivity instantly </a:t>
            </a:r>
          </a:p>
        </p:txBody>
      </p:sp>
      <p:grpSp>
        <p:nvGrpSpPr>
          <p:cNvPr id="2078" name="Group 2077">
            <a:extLst>
              <a:ext uri="{FF2B5EF4-FFF2-40B4-BE49-F238E27FC236}">
                <a16:creationId xmlns:a16="http://schemas.microsoft.com/office/drawing/2014/main" id="{4FFE4930-2179-6AFF-F544-A950CA9D12F7}"/>
              </a:ext>
            </a:extLst>
          </p:cNvPr>
          <p:cNvGrpSpPr/>
          <p:nvPr/>
        </p:nvGrpSpPr>
        <p:grpSpPr>
          <a:xfrm>
            <a:off x="4504071" y="5569073"/>
            <a:ext cx="3183857" cy="366820"/>
            <a:chOff x="4863165" y="5274541"/>
            <a:chExt cx="3183857" cy="366820"/>
          </a:xfrm>
        </p:grpSpPr>
        <p:cxnSp>
          <p:nvCxnSpPr>
            <p:cNvPr id="2050" name="Straight Connector 2049">
              <a:extLst>
                <a:ext uri="{FF2B5EF4-FFF2-40B4-BE49-F238E27FC236}">
                  <a16:creationId xmlns:a16="http://schemas.microsoft.com/office/drawing/2014/main" id="{2713A10B-AF1A-107B-B4F4-07B3E6C2A874}"/>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2076" name="Straight Connector 2075">
              <a:extLst>
                <a:ext uri="{FF2B5EF4-FFF2-40B4-BE49-F238E27FC236}">
                  <a16:creationId xmlns:a16="http://schemas.microsoft.com/office/drawing/2014/main" id="{96E86EAA-FC8B-E0FD-AD1F-2EE3B8D8AF3E}"/>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grpSp>
        <p:nvGrpSpPr>
          <p:cNvPr id="2240" name="Group 2239">
            <a:extLst>
              <a:ext uri="{FF2B5EF4-FFF2-40B4-BE49-F238E27FC236}">
                <a16:creationId xmlns:a16="http://schemas.microsoft.com/office/drawing/2014/main" id="{78993693-253A-0392-9995-41D12D144FA7}"/>
              </a:ext>
            </a:extLst>
          </p:cNvPr>
          <p:cNvGrpSpPr/>
          <p:nvPr/>
        </p:nvGrpSpPr>
        <p:grpSpPr>
          <a:xfrm>
            <a:off x="3918051" y="1613670"/>
            <a:ext cx="4023360" cy="3079124"/>
            <a:chOff x="3918051" y="1613670"/>
            <a:chExt cx="4023360" cy="3079124"/>
          </a:xfrm>
        </p:grpSpPr>
        <p:grpSp>
          <p:nvGrpSpPr>
            <p:cNvPr id="4" name="Group 3">
              <a:extLst>
                <a:ext uri="{FF2B5EF4-FFF2-40B4-BE49-F238E27FC236}">
                  <a16:creationId xmlns:a16="http://schemas.microsoft.com/office/drawing/2014/main" id="{57F83115-A4C6-E2AC-915A-B8B954D891E4}"/>
                </a:ext>
              </a:extLst>
            </p:cNvPr>
            <p:cNvGrpSpPr/>
            <p:nvPr/>
          </p:nvGrpSpPr>
          <p:grpSpPr>
            <a:xfrm>
              <a:off x="4953808" y="2580997"/>
              <a:ext cx="1875033" cy="1581674"/>
              <a:chOff x="3775302" y="3210202"/>
              <a:chExt cx="1542573" cy="1301294"/>
            </a:xfrm>
          </p:grpSpPr>
          <p:cxnSp>
            <p:nvCxnSpPr>
              <p:cNvPr id="2298" name="Straight Connector 2297">
                <a:extLst>
                  <a:ext uri="{FF2B5EF4-FFF2-40B4-BE49-F238E27FC236}">
                    <a16:creationId xmlns:a16="http://schemas.microsoft.com/office/drawing/2014/main" id="{C2961AF4-12F2-2EE2-8C57-3ECB65435969}"/>
                  </a:ext>
                </a:extLst>
              </p:cNvPr>
              <p:cNvCxnSpPr/>
              <p:nvPr/>
            </p:nvCxnSpPr>
            <p:spPr bwMode="auto">
              <a:xfrm>
                <a:off x="3775302" y="3210202"/>
                <a:ext cx="1542573" cy="1301294"/>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9" name="Straight Connector 2298">
                <a:extLst>
                  <a:ext uri="{FF2B5EF4-FFF2-40B4-BE49-F238E27FC236}">
                    <a16:creationId xmlns:a16="http://schemas.microsoft.com/office/drawing/2014/main" id="{3A817747-27C3-27EE-5E37-4D2862E8D8E9}"/>
                  </a:ext>
                </a:extLst>
              </p:cNvPr>
              <p:cNvCxnSpPr/>
              <p:nvPr/>
            </p:nvCxnSpPr>
            <p:spPr bwMode="auto">
              <a:xfrm flipV="1">
                <a:off x="3775302" y="3257971"/>
                <a:ext cx="1542573" cy="1216346"/>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5" name="Freeform 55">
              <a:extLst>
                <a:ext uri="{FF2B5EF4-FFF2-40B4-BE49-F238E27FC236}">
                  <a16:creationId xmlns:a16="http://schemas.microsoft.com/office/drawing/2014/main" id="{DFE52F93-84C1-CA27-1F28-EDC2ABB60CA1}"/>
                </a:ext>
              </a:extLst>
            </p:cNvPr>
            <p:cNvSpPr>
              <a:spLocks noChangeAspect="1"/>
            </p:cNvSpPr>
            <p:nvPr/>
          </p:nvSpPr>
          <p:spPr>
            <a:xfrm>
              <a:off x="3940777" y="3170116"/>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grpSp>
          <p:nvGrpSpPr>
            <p:cNvPr id="7" name="PBC 1">
              <a:extLst>
                <a:ext uri="{FF2B5EF4-FFF2-40B4-BE49-F238E27FC236}">
                  <a16:creationId xmlns:a16="http://schemas.microsoft.com/office/drawing/2014/main" id="{F734E1D4-6F7F-FC43-9D8A-5668474A5F3B}"/>
                </a:ext>
              </a:extLst>
            </p:cNvPr>
            <p:cNvGrpSpPr>
              <a:grpSpLocks noChangeAspect="1"/>
            </p:cNvGrpSpPr>
            <p:nvPr/>
          </p:nvGrpSpPr>
          <p:grpSpPr>
            <a:xfrm>
              <a:off x="4540062" y="4038609"/>
              <a:ext cx="922606" cy="178731"/>
              <a:chOff x="2364562" y="2976326"/>
              <a:chExt cx="7053344" cy="1366399"/>
            </a:xfrm>
          </p:grpSpPr>
          <p:sp>
            <p:nvSpPr>
              <p:cNvPr id="2277" name="Freeform 2276">
                <a:extLst>
                  <a:ext uri="{FF2B5EF4-FFF2-40B4-BE49-F238E27FC236}">
                    <a16:creationId xmlns:a16="http://schemas.microsoft.com/office/drawing/2014/main" id="{41A45DA4-35BD-CFF3-8B25-2EFEC81E934D}"/>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78" name="Freeform 2277">
                <a:extLst>
                  <a:ext uri="{FF2B5EF4-FFF2-40B4-BE49-F238E27FC236}">
                    <a16:creationId xmlns:a16="http://schemas.microsoft.com/office/drawing/2014/main" id="{9BEEE3A1-FC9A-D05E-C3A5-E8FF3DFBC9FA}"/>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79" name="Graphic 38">
                <a:extLst>
                  <a:ext uri="{FF2B5EF4-FFF2-40B4-BE49-F238E27FC236}">
                    <a16:creationId xmlns:a16="http://schemas.microsoft.com/office/drawing/2014/main" id="{F4DB9E5C-EC8E-1B5B-CD79-D3D3376B978A}"/>
                  </a:ext>
                </a:extLst>
              </p:cNvPr>
              <p:cNvGrpSpPr/>
              <p:nvPr/>
            </p:nvGrpSpPr>
            <p:grpSpPr>
              <a:xfrm>
                <a:off x="5658852" y="3694387"/>
                <a:ext cx="466200" cy="483019"/>
                <a:chOff x="5042020" y="5214715"/>
                <a:chExt cx="466200" cy="483019"/>
              </a:xfrm>
            </p:grpSpPr>
            <p:sp>
              <p:nvSpPr>
                <p:cNvPr id="2296" name="Freeform 2295">
                  <a:extLst>
                    <a:ext uri="{FF2B5EF4-FFF2-40B4-BE49-F238E27FC236}">
                      <a16:creationId xmlns:a16="http://schemas.microsoft.com/office/drawing/2014/main" id="{0B210D95-2101-CFA7-985E-1FC7336A80AC}"/>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97" name="Freeform 2296">
                  <a:extLst>
                    <a:ext uri="{FF2B5EF4-FFF2-40B4-BE49-F238E27FC236}">
                      <a16:creationId xmlns:a16="http://schemas.microsoft.com/office/drawing/2014/main" id="{E23B56E0-9706-B804-DB89-122220560EBA}"/>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80" name="Group 2279">
                <a:extLst>
                  <a:ext uri="{FF2B5EF4-FFF2-40B4-BE49-F238E27FC236}">
                    <a16:creationId xmlns:a16="http://schemas.microsoft.com/office/drawing/2014/main" id="{596B1B2F-E716-C403-0F54-56F3C4CED5B8}"/>
                  </a:ext>
                </a:extLst>
              </p:cNvPr>
              <p:cNvGrpSpPr/>
              <p:nvPr/>
            </p:nvGrpSpPr>
            <p:grpSpPr>
              <a:xfrm>
                <a:off x="6411669" y="3594476"/>
                <a:ext cx="2479697" cy="681402"/>
                <a:chOff x="6154005" y="2371943"/>
                <a:chExt cx="2479697" cy="681402"/>
              </a:xfrm>
            </p:grpSpPr>
            <p:sp>
              <p:nvSpPr>
                <p:cNvPr id="2294" name="Freeform 2293">
                  <a:extLst>
                    <a:ext uri="{FF2B5EF4-FFF2-40B4-BE49-F238E27FC236}">
                      <a16:creationId xmlns:a16="http://schemas.microsoft.com/office/drawing/2014/main" id="{16E0551F-247E-E04F-1969-7D571DE2B84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95" name="Freeform 2294">
                  <a:extLst>
                    <a:ext uri="{FF2B5EF4-FFF2-40B4-BE49-F238E27FC236}">
                      <a16:creationId xmlns:a16="http://schemas.microsoft.com/office/drawing/2014/main" id="{D66DED1B-61F4-66D9-C23D-6A28941DD38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81" name="Group 2280">
                <a:extLst>
                  <a:ext uri="{FF2B5EF4-FFF2-40B4-BE49-F238E27FC236}">
                    <a16:creationId xmlns:a16="http://schemas.microsoft.com/office/drawing/2014/main" id="{AAA0DD82-AF36-D85D-B8E7-6A751EC4DCAE}"/>
                  </a:ext>
                </a:extLst>
              </p:cNvPr>
              <p:cNvGrpSpPr/>
              <p:nvPr/>
            </p:nvGrpSpPr>
            <p:grpSpPr>
              <a:xfrm>
                <a:off x="2892539" y="3594476"/>
                <a:ext cx="2479697" cy="681402"/>
                <a:chOff x="6154005" y="2371943"/>
                <a:chExt cx="2479697" cy="681402"/>
              </a:xfrm>
            </p:grpSpPr>
            <p:sp>
              <p:nvSpPr>
                <p:cNvPr id="2292" name="Freeform 2291">
                  <a:extLst>
                    <a:ext uri="{FF2B5EF4-FFF2-40B4-BE49-F238E27FC236}">
                      <a16:creationId xmlns:a16="http://schemas.microsoft.com/office/drawing/2014/main" id="{AF4F7C10-CE2B-45FC-30CF-8BCCA423094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93" name="Freeform 2292">
                  <a:extLst>
                    <a:ext uri="{FF2B5EF4-FFF2-40B4-BE49-F238E27FC236}">
                      <a16:creationId xmlns:a16="http://schemas.microsoft.com/office/drawing/2014/main" id="{D313E580-11F4-973D-BB01-1DAF9258A862}"/>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82" name="Group 2281">
                <a:extLst>
                  <a:ext uri="{FF2B5EF4-FFF2-40B4-BE49-F238E27FC236}">
                    <a16:creationId xmlns:a16="http://schemas.microsoft.com/office/drawing/2014/main" id="{DE61404B-4E30-C043-6539-382AA80C0060}"/>
                  </a:ext>
                </a:extLst>
              </p:cNvPr>
              <p:cNvGrpSpPr/>
              <p:nvPr/>
            </p:nvGrpSpPr>
            <p:grpSpPr>
              <a:xfrm>
                <a:off x="9070232" y="3528349"/>
                <a:ext cx="347674" cy="800719"/>
                <a:chOff x="8812568" y="2305815"/>
                <a:chExt cx="347674" cy="800719"/>
              </a:xfrm>
            </p:grpSpPr>
            <p:sp>
              <p:nvSpPr>
                <p:cNvPr id="2288" name="Freeform 2287">
                  <a:extLst>
                    <a:ext uri="{FF2B5EF4-FFF2-40B4-BE49-F238E27FC236}">
                      <a16:creationId xmlns:a16="http://schemas.microsoft.com/office/drawing/2014/main" id="{0A68A80B-BE7E-7D81-1370-37947285B430}"/>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89" name="Group 2288">
                  <a:extLst>
                    <a:ext uri="{FF2B5EF4-FFF2-40B4-BE49-F238E27FC236}">
                      <a16:creationId xmlns:a16="http://schemas.microsoft.com/office/drawing/2014/main" id="{6C9888C7-4909-1A3B-39B6-D937CD002F60}"/>
                    </a:ext>
                  </a:extLst>
                </p:cNvPr>
                <p:cNvGrpSpPr/>
                <p:nvPr/>
              </p:nvGrpSpPr>
              <p:grpSpPr>
                <a:xfrm flipH="1">
                  <a:off x="8852795" y="2372662"/>
                  <a:ext cx="262193" cy="679246"/>
                  <a:chOff x="1433816" y="2372662"/>
                  <a:chExt cx="262193" cy="679246"/>
                </a:xfrm>
                <a:solidFill>
                  <a:schemeClr val="bg1"/>
                </a:solidFill>
              </p:grpSpPr>
              <p:sp>
                <p:nvSpPr>
                  <p:cNvPr id="2290" name="Rounded Rectangle 2289">
                    <a:extLst>
                      <a:ext uri="{FF2B5EF4-FFF2-40B4-BE49-F238E27FC236}">
                        <a16:creationId xmlns:a16="http://schemas.microsoft.com/office/drawing/2014/main" id="{F9E08882-0535-4410-B178-7DFCCB137F14}"/>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91" name="Rounded Rectangle 2290">
                    <a:extLst>
                      <a:ext uri="{FF2B5EF4-FFF2-40B4-BE49-F238E27FC236}">
                        <a16:creationId xmlns:a16="http://schemas.microsoft.com/office/drawing/2014/main" id="{97D78707-9321-7EF2-B19E-3EB9ADBA108D}"/>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283" name="Group 2282">
                <a:extLst>
                  <a:ext uri="{FF2B5EF4-FFF2-40B4-BE49-F238E27FC236}">
                    <a16:creationId xmlns:a16="http://schemas.microsoft.com/office/drawing/2014/main" id="{A13D918F-AF7E-C346-5435-D6680182C7BF}"/>
                  </a:ext>
                </a:extLst>
              </p:cNvPr>
              <p:cNvGrpSpPr/>
              <p:nvPr/>
            </p:nvGrpSpPr>
            <p:grpSpPr>
              <a:xfrm flipV="1">
                <a:off x="2364562" y="3528349"/>
                <a:ext cx="347674" cy="800719"/>
                <a:chOff x="8812568" y="2305815"/>
                <a:chExt cx="347674" cy="800719"/>
              </a:xfrm>
            </p:grpSpPr>
            <p:sp>
              <p:nvSpPr>
                <p:cNvPr id="2284" name="Freeform 2283">
                  <a:extLst>
                    <a:ext uri="{FF2B5EF4-FFF2-40B4-BE49-F238E27FC236}">
                      <a16:creationId xmlns:a16="http://schemas.microsoft.com/office/drawing/2014/main" id="{36D575D9-3881-608A-ACF7-261C8C58CAA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85" name="Group 2284">
                  <a:extLst>
                    <a:ext uri="{FF2B5EF4-FFF2-40B4-BE49-F238E27FC236}">
                      <a16:creationId xmlns:a16="http://schemas.microsoft.com/office/drawing/2014/main" id="{ADA30789-B37D-F379-8657-C660A146ACC5}"/>
                    </a:ext>
                  </a:extLst>
                </p:cNvPr>
                <p:cNvGrpSpPr/>
                <p:nvPr/>
              </p:nvGrpSpPr>
              <p:grpSpPr>
                <a:xfrm flipH="1">
                  <a:off x="8852795" y="2372662"/>
                  <a:ext cx="262193" cy="679246"/>
                  <a:chOff x="1433816" y="2372662"/>
                  <a:chExt cx="262193" cy="679246"/>
                </a:xfrm>
                <a:solidFill>
                  <a:schemeClr val="bg1"/>
                </a:solidFill>
              </p:grpSpPr>
              <p:sp>
                <p:nvSpPr>
                  <p:cNvPr id="2286" name="Rounded Rectangle 2285">
                    <a:extLst>
                      <a:ext uri="{FF2B5EF4-FFF2-40B4-BE49-F238E27FC236}">
                        <a16:creationId xmlns:a16="http://schemas.microsoft.com/office/drawing/2014/main" id="{7D9694B7-3B3B-506C-F4E2-0E850D576B2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87" name="Rounded Rectangle 2286">
                    <a:extLst>
                      <a:ext uri="{FF2B5EF4-FFF2-40B4-BE49-F238E27FC236}">
                        <a16:creationId xmlns:a16="http://schemas.microsoft.com/office/drawing/2014/main" id="{41355870-22AA-EA9B-62FF-5C75AA20BD0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9" name="PBC 1">
              <a:extLst>
                <a:ext uri="{FF2B5EF4-FFF2-40B4-BE49-F238E27FC236}">
                  <a16:creationId xmlns:a16="http://schemas.microsoft.com/office/drawing/2014/main" id="{F8623589-546B-699D-68A9-1407AF0547E4}"/>
                </a:ext>
              </a:extLst>
            </p:cNvPr>
            <p:cNvGrpSpPr>
              <a:grpSpLocks noChangeAspect="1"/>
            </p:cNvGrpSpPr>
            <p:nvPr/>
          </p:nvGrpSpPr>
          <p:grpSpPr>
            <a:xfrm>
              <a:off x="4475000" y="2495815"/>
              <a:ext cx="922606" cy="178731"/>
              <a:chOff x="2364562" y="2976326"/>
              <a:chExt cx="7053344" cy="1366399"/>
            </a:xfrm>
          </p:grpSpPr>
          <p:sp>
            <p:nvSpPr>
              <p:cNvPr id="2255" name="Freeform 2254">
                <a:extLst>
                  <a:ext uri="{FF2B5EF4-FFF2-40B4-BE49-F238E27FC236}">
                    <a16:creationId xmlns:a16="http://schemas.microsoft.com/office/drawing/2014/main" id="{86FCEC84-41B5-6BEF-2E56-5231446C08FF}"/>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57" name="Freeform 2256">
                <a:extLst>
                  <a:ext uri="{FF2B5EF4-FFF2-40B4-BE49-F238E27FC236}">
                    <a16:creationId xmlns:a16="http://schemas.microsoft.com/office/drawing/2014/main" id="{1EFD94C0-E601-491F-0D31-7B24121A3239}"/>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58" name="Graphic 38">
                <a:extLst>
                  <a:ext uri="{FF2B5EF4-FFF2-40B4-BE49-F238E27FC236}">
                    <a16:creationId xmlns:a16="http://schemas.microsoft.com/office/drawing/2014/main" id="{87D808F5-E127-896D-9C95-75B15975B683}"/>
                  </a:ext>
                </a:extLst>
              </p:cNvPr>
              <p:cNvGrpSpPr/>
              <p:nvPr/>
            </p:nvGrpSpPr>
            <p:grpSpPr>
              <a:xfrm>
                <a:off x="5658852" y="3694387"/>
                <a:ext cx="466200" cy="483019"/>
                <a:chOff x="5042020" y="5214715"/>
                <a:chExt cx="466200" cy="483019"/>
              </a:xfrm>
            </p:grpSpPr>
            <p:sp>
              <p:nvSpPr>
                <p:cNvPr id="2275" name="Freeform 2274">
                  <a:extLst>
                    <a:ext uri="{FF2B5EF4-FFF2-40B4-BE49-F238E27FC236}">
                      <a16:creationId xmlns:a16="http://schemas.microsoft.com/office/drawing/2014/main" id="{4EB69E62-62BF-7EA9-4594-FFF4AA01A7C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76" name="Freeform 2275">
                  <a:extLst>
                    <a:ext uri="{FF2B5EF4-FFF2-40B4-BE49-F238E27FC236}">
                      <a16:creationId xmlns:a16="http://schemas.microsoft.com/office/drawing/2014/main" id="{9D0E66C1-343D-38C5-17F3-6836D885077F}"/>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59" name="Group 2258">
                <a:extLst>
                  <a:ext uri="{FF2B5EF4-FFF2-40B4-BE49-F238E27FC236}">
                    <a16:creationId xmlns:a16="http://schemas.microsoft.com/office/drawing/2014/main" id="{34CA5EF1-E4DA-1A00-5440-77DE193FAC5C}"/>
                  </a:ext>
                </a:extLst>
              </p:cNvPr>
              <p:cNvGrpSpPr/>
              <p:nvPr/>
            </p:nvGrpSpPr>
            <p:grpSpPr>
              <a:xfrm>
                <a:off x="6411669" y="3594476"/>
                <a:ext cx="2479697" cy="681402"/>
                <a:chOff x="6154005" y="2371943"/>
                <a:chExt cx="2479697" cy="681402"/>
              </a:xfrm>
            </p:grpSpPr>
            <p:sp>
              <p:nvSpPr>
                <p:cNvPr id="2273" name="Freeform 2272">
                  <a:extLst>
                    <a:ext uri="{FF2B5EF4-FFF2-40B4-BE49-F238E27FC236}">
                      <a16:creationId xmlns:a16="http://schemas.microsoft.com/office/drawing/2014/main" id="{8C98ED3C-5685-A50B-70A5-E11E73CA153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74" name="Freeform 2273">
                  <a:extLst>
                    <a:ext uri="{FF2B5EF4-FFF2-40B4-BE49-F238E27FC236}">
                      <a16:creationId xmlns:a16="http://schemas.microsoft.com/office/drawing/2014/main" id="{688D4466-02F1-C749-7166-2C54DE9C558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60" name="Group 2259">
                <a:extLst>
                  <a:ext uri="{FF2B5EF4-FFF2-40B4-BE49-F238E27FC236}">
                    <a16:creationId xmlns:a16="http://schemas.microsoft.com/office/drawing/2014/main" id="{E404A498-4F20-8832-0347-928D8FB69D84}"/>
                  </a:ext>
                </a:extLst>
              </p:cNvPr>
              <p:cNvGrpSpPr/>
              <p:nvPr/>
            </p:nvGrpSpPr>
            <p:grpSpPr>
              <a:xfrm>
                <a:off x="2892539" y="3594476"/>
                <a:ext cx="2479697" cy="681402"/>
                <a:chOff x="6154005" y="2371943"/>
                <a:chExt cx="2479697" cy="681402"/>
              </a:xfrm>
            </p:grpSpPr>
            <p:sp>
              <p:nvSpPr>
                <p:cNvPr id="2271" name="Freeform 2270">
                  <a:extLst>
                    <a:ext uri="{FF2B5EF4-FFF2-40B4-BE49-F238E27FC236}">
                      <a16:creationId xmlns:a16="http://schemas.microsoft.com/office/drawing/2014/main" id="{F4B5DAF0-B722-BDE5-4C15-0CC7F293B13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72" name="Freeform 2271">
                  <a:extLst>
                    <a:ext uri="{FF2B5EF4-FFF2-40B4-BE49-F238E27FC236}">
                      <a16:creationId xmlns:a16="http://schemas.microsoft.com/office/drawing/2014/main" id="{D3616D30-4F25-D8B0-F207-77E02D1686F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61" name="Group 2260">
                <a:extLst>
                  <a:ext uri="{FF2B5EF4-FFF2-40B4-BE49-F238E27FC236}">
                    <a16:creationId xmlns:a16="http://schemas.microsoft.com/office/drawing/2014/main" id="{9553B145-4A72-2761-13A0-F4816D453D84}"/>
                  </a:ext>
                </a:extLst>
              </p:cNvPr>
              <p:cNvGrpSpPr/>
              <p:nvPr/>
            </p:nvGrpSpPr>
            <p:grpSpPr>
              <a:xfrm>
                <a:off x="9070232" y="3528349"/>
                <a:ext cx="347674" cy="800719"/>
                <a:chOff x="8812568" y="2305815"/>
                <a:chExt cx="347674" cy="800719"/>
              </a:xfrm>
            </p:grpSpPr>
            <p:sp>
              <p:nvSpPr>
                <p:cNvPr id="2267" name="Freeform 2266">
                  <a:extLst>
                    <a:ext uri="{FF2B5EF4-FFF2-40B4-BE49-F238E27FC236}">
                      <a16:creationId xmlns:a16="http://schemas.microsoft.com/office/drawing/2014/main" id="{59D168CC-2D87-0BB9-B83F-3AE26A08011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68" name="Group 2267">
                  <a:extLst>
                    <a:ext uri="{FF2B5EF4-FFF2-40B4-BE49-F238E27FC236}">
                      <a16:creationId xmlns:a16="http://schemas.microsoft.com/office/drawing/2014/main" id="{106FC80F-059E-994D-86FB-313A44AB95DE}"/>
                    </a:ext>
                  </a:extLst>
                </p:cNvPr>
                <p:cNvGrpSpPr/>
                <p:nvPr/>
              </p:nvGrpSpPr>
              <p:grpSpPr>
                <a:xfrm flipH="1">
                  <a:off x="8852795" y="2372662"/>
                  <a:ext cx="262193" cy="679246"/>
                  <a:chOff x="1433816" y="2372662"/>
                  <a:chExt cx="262193" cy="679246"/>
                </a:xfrm>
                <a:solidFill>
                  <a:schemeClr val="bg1"/>
                </a:solidFill>
              </p:grpSpPr>
              <p:sp>
                <p:nvSpPr>
                  <p:cNvPr id="2269" name="Rounded Rectangle 2268">
                    <a:extLst>
                      <a:ext uri="{FF2B5EF4-FFF2-40B4-BE49-F238E27FC236}">
                        <a16:creationId xmlns:a16="http://schemas.microsoft.com/office/drawing/2014/main" id="{5223158C-4359-0FAD-532E-AE64884451E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70" name="Rounded Rectangle 2269">
                    <a:extLst>
                      <a:ext uri="{FF2B5EF4-FFF2-40B4-BE49-F238E27FC236}">
                        <a16:creationId xmlns:a16="http://schemas.microsoft.com/office/drawing/2014/main" id="{E743F2D1-08AD-E9DE-3CA8-A6049A2C421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262" name="Group 2261">
                <a:extLst>
                  <a:ext uri="{FF2B5EF4-FFF2-40B4-BE49-F238E27FC236}">
                    <a16:creationId xmlns:a16="http://schemas.microsoft.com/office/drawing/2014/main" id="{A7030CF3-C635-0743-1F9D-4DCAE1213F63}"/>
                  </a:ext>
                </a:extLst>
              </p:cNvPr>
              <p:cNvGrpSpPr/>
              <p:nvPr/>
            </p:nvGrpSpPr>
            <p:grpSpPr>
              <a:xfrm flipV="1">
                <a:off x="2364562" y="3528349"/>
                <a:ext cx="347674" cy="800719"/>
                <a:chOff x="8812568" y="2305815"/>
                <a:chExt cx="347674" cy="800719"/>
              </a:xfrm>
            </p:grpSpPr>
            <p:sp>
              <p:nvSpPr>
                <p:cNvPr id="2263" name="Freeform 2262">
                  <a:extLst>
                    <a:ext uri="{FF2B5EF4-FFF2-40B4-BE49-F238E27FC236}">
                      <a16:creationId xmlns:a16="http://schemas.microsoft.com/office/drawing/2014/main" id="{5A2AA0E8-DB42-4472-957D-A8BA9C8BF5CC}"/>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264" name="Group 2263">
                  <a:extLst>
                    <a:ext uri="{FF2B5EF4-FFF2-40B4-BE49-F238E27FC236}">
                      <a16:creationId xmlns:a16="http://schemas.microsoft.com/office/drawing/2014/main" id="{C1D9B158-E1F5-C6AA-5E09-410AFA4ED48C}"/>
                    </a:ext>
                  </a:extLst>
                </p:cNvPr>
                <p:cNvGrpSpPr/>
                <p:nvPr/>
              </p:nvGrpSpPr>
              <p:grpSpPr>
                <a:xfrm flipH="1">
                  <a:off x="8852795" y="2372662"/>
                  <a:ext cx="262193" cy="679246"/>
                  <a:chOff x="1433816" y="2372662"/>
                  <a:chExt cx="262193" cy="679246"/>
                </a:xfrm>
                <a:solidFill>
                  <a:schemeClr val="bg1"/>
                </a:solidFill>
              </p:grpSpPr>
              <p:sp>
                <p:nvSpPr>
                  <p:cNvPr id="2265" name="Rounded Rectangle 2264">
                    <a:extLst>
                      <a:ext uri="{FF2B5EF4-FFF2-40B4-BE49-F238E27FC236}">
                        <a16:creationId xmlns:a16="http://schemas.microsoft.com/office/drawing/2014/main" id="{BB149941-A838-DDFB-A684-AFD68302402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266" name="Rounded Rectangle 2265">
                    <a:extLst>
                      <a:ext uri="{FF2B5EF4-FFF2-40B4-BE49-F238E27FC236}">
                        <a16:creationId xmlns:a16="http://schemas.microsoft.com/office/drawing/2014/main" id="{22EF79D7-0D31-C52E-3734-71C7FC38312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10" name="Freeform 55">
              <a:extLst>
                <a:ext uri="{FF2B5EF4-FFF2-40B4-BE49-F238E27FC236}">
                  <a16:creationId xmlns:a16="http://schemas.microsoft.com/office/drawing/2014/main" id="{C9D04A91-B817-7C8C-8BE6-12F8E658D504}"/>
                </a:ext>
              </a:extLst>
            </p:cNvPr>
            <p:cNvSpPr>
              <a:spLocks noChangeAspect="1"/>
            </p:cNvSpPr>
            <p:nvPr/>
          </p:nvSpPr>
          <p:spPr>
            <a:xfrm>
              <a:off x="3918051" y="161367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sp>
          <p:nvSpPr>
            <p:cNvPr id="12" name="Freeform 55">
              <a:extLst>
                <a:ext uri="{FF2B5EF4-FFF2-40B4-BE49-F238E27FC236}">
                  <a16:creationId xmlns:a16="http://schemas.microsoft.com/office/drawing/2014/main" id="{9353302F-F732-04EF-0435-8B944FBDE2B0}"/>
                </a:ext>
              </a:extLst>
            </p:cNvPr>
            <p:cNvSpPr>
              <a:spLocks noChangeAspect="1"/>
            </p:cNvSpPr>
            <p:nvPr/>
          </p:nvSpPr>
          <p:spPr>
            <a:xfrm>
              <a:off x="6813604" y="324316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grpSp>
          <p:nvGrpSpPr>
            <p:cNvPr id="13" name="PBC 1">
              <a:extLst>
                <a:ext uri="{FF2B5EF4-FFF2-40B4-BE49-F238E27FC236}">
                  <a16:creationId xmlns:a16="http://schemas.microsoft.com/office/drawing/2014/main" id="{06CC44D6-C58F-D38E-5B23-F1FAFC690606}"/>
                </a:ext>
              </a:extLst>
            </p:cNvPr>
            <p:cNvGrpSpPr>
              <a:grpSpLocks noChangeAspect="1"/>
            </p:cNvGrpSpPr>
            <p:nvPr/>
          </p:nvGrpSpPr>
          <p:grpSpPr>
            <a:xfrm>
              <a:off x="6408478" y="4038609"/>
              <a:ext cx="922606" cy="178731"/>
              <a:chOff x="2364562" y="2976326"/>
              <a:chExt cx="7053344" cy="1366399"/>
            </a:xfrm>
          </p:grpSpPr>
          <p:sp>
            <p:nvSpPr>
              <p:cNvPr id="45" name="Freeform 44">
                <a:extLst>
                  <a:ext uri="{FF2B5EF4-FFF2-40B4-BE49-F238E27FC236}">
                    <a16:creationId xmlns:a16="http://schemas.microsoft.com/office/drawing/2014/main" id="{07690E07-C8CE-1458-D5D5-A81B2FED921C}"/>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6" name="Freeform 45">
                <a:extLst>
                  <a:ext uri="{FF2B5EF4-FFF2-40B4-BE49-F238E27FC236}">
                    <a16:creationId xmlns:a16="http://schemas.microsoft.com/office/drawing/2014/main" id="{D2EC7B06-70B6-3EC6-42D4-0E26DC895E6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47" name="Graphic 38">
                <a:extLst>
                  <a:ext uri="{FF2B5EF4-FFF2-40B4-BE49-F238E27FC236}">
                    <a16:creationId xmlns:a16="http://schemas.microsoft.com/office/drawing/2014/main" id="{68A1EC12-8CF9-4008-8928-6D2BAD791D81}"/>
                  </a:ext>
                </a:extLst>
              </p:cNvPr>
              <p:cNvGrpSpPr/>
              <p:nvPr/>
            </p:nvGrpSpPr>
            <p:grpSpPr>
              <a:xfrm>
                <a:off x="5658852" y="3694387"/>
                <a:ext cx="466200" cy="483019"/>
                <a:chOff x="5042020" y="5214715"/>
                <a:chExt cx="466200" cy="483019"/>
              </a:xfrm>
            </p:grpSpPr>
            <p:sp>
              <p:nvSpPr>
                <p:cNvPr id="2253" name="Freeform 2252">
                  <a:extLst>
                    <a:ext uri="{FF2B5EF4-FFF2-40B4-BE49-F238E27FC236}">
                      <a16:creationId xmlns:a16="http://schemas.microsoft.com/office/drawing/2014/main" id="{75B6ACB0-D47D-18A1-1B5A-CCEB0F29BFB4}"/>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54" name="Freeform 2253">
                  <a:extLst>
                    <a:ext uri="{FF2B5EF4-FFF2-40B4-BE49-F238E27FC236}">
                      <a16:creationId xmlns:a16="http://schemas.microsoft.com/office/drawing/2014/main" id="{3C1AF295-7F93-CAD6-9B6D-2137B463AAB2}"/>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48" name="Group 47">
                <a:extLst>
                  <a:ext uri="{FF2B5EF4-FFF2-40B4-BE49-F238E27FC236}">
                    <a16:creationId xmlns:a16="http://schemas.microsoft.com/office/drawing/2014/main" id="{ECCCE2D5-0241-9EEF-1F70-DC3590E533DC}"/>
                  </a:ext>
                </a:extLst>
              </p:cNvPr>
              <p:cNvGrpSpPr/>
              <p:nvPr/>
            </p:nvGrpSpPr>
            <p:grpSpPr>
              <a:xfrm>
                <a:off x="6411669" y="3594476"/>
                <a:ext cx="2479697" cy="681402"/>
                <a:chOff x="6154005" y="2371943"/>
                <a:chExt cx="2479697" cy="681402"/>
              </a:xfrm>
            </p:grpSpPr>
            <p:sp>
              <p:nvSpPr>
                <p:cNvPr id="62" name="Freeform 61">
                  <a:extLst>
                    <a:ext uri="{FF2B5EF4-FFF2-40B4-BE49-F238E27FC236}">
                      <a16:creationId xmlns:a16="http://schemas.microsoft.com/office/drawing/2014/main" id="{81038EC3-FE50-E973-30AC-5E98B24C54E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dirty="0"/>
                </a:p>
              </p:txBody>
            </p:sp>
            <p:sp>
              <p:nvSpPr>
                <p:cNvPr id="63" name="Freeform 62">
                  <a:extLst>
                    <a:ext uri="{FF2B5EF4-FFF2-40B4-BE49-F238E27FC236}">
                      <a16:creationId xmlns:a16="http://schemas.microsoft.com/office/drawing/2014/main" id="{540124CA-BA9B-E246-1C1B-08EBBFCFEA8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9" name="Group 48">
                <a:extLst>
                  <a:ext uri="{FF2B5EF4-FFF2-40B4-BE49-F238E27FC236}">
                    <a16:creationId xmlns:a16="http://schemas.microsoft.com/office/drawing/2014/main" id="{E9011AAE-35AE-F16B-2DA9-2A6B3CC185C3}"/>
                  </a:ext>
                </a:extLst>
              </p:cNvPr>
              <p:cNvGrpSpPr/>
              <p:nvPr/>
            </p:nvGrpSpPr>
            <p:grpSpPr>
              <a:xfrm>
                <a:off x="2892539" y="3594476"/>
                <a:ext cx="2479697" cy="681402"/>
                <a:chOff x="6154005" y="2371943"/>
                <a:chExt cx="2479697" cy="681402"/>
              </a:xfrm>
            </p:grpSpPr>
            <p:sp>
              <p:nvSpPr>
                <p:cNvPr id="60" name="Freeform 59">
                  <a:extLst>
                    <a:ext uri="{FF2B5EF4-FFF2-40B4-BE49-F238E27FC236}">
                      <a16:creationId xmlns:a16="http://schemas.microsoft.com/office/drawing/2014/main" id="{81C7F4E8-0AC8-176D-B2A8-0EC3F85E041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1" name="Freeform 60">
                  <a:extLst>
                    <a:ext uri="{FF2B5EF4-FFF2-40B4-BE49-F238E27FC236}">
                      <a16:creationId xmlns:a16="http://schemas.microsoft.com/office/drawing/2014/main" id="{2C40B1F8-B877-6B54-B7AF-C0D45B0906F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0" name="Group 49">
                <a:extLst>
                  <a:ext uri="{FF2B5EF4-FFF2-40B4-BE49-F238E27FC236}">
                    <a16:creationId xmlns:a16="http://schemas.microsoft.com/office/drawing/2014/main" id="{0FCB74AB-2C37-7CC8-CB04-F365153C1841}"/>
                  </a:ext>
                </a:extLst>
              </p:cNvPr>
              <p:cNvGrpSpPr/>
              <p:nvPr/>
            </p:nvGrpSpPr>
            <p:grpSpPr>
              <a:xfrm>
                <a:off x="9070232" y="3528349"/>
                <a:ext cx="347674" cy="800719"/>
                <a:chOff x="8812568" y="2305815"/>
                <a:chExt cx="347674" cy="800719"/>
              </a:xfrm>
            </p:grpSpPr>
            <p:sp>
              <p:nvSpPr>
                <p:cNvPr id="56" name="Freeform 55">
                  <a:extLst>
                    <a:ext uri="{FF2B5EF4-FFF2-40B4-BE49-F238E27FC236}">
                      <a16:creationId xmlns:a16="http://schemas.microsoft.com/office/drawing/2014/main" id="{DB9844D4-B2B1-5547-FF87-1BB76FE9B2C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7" name="Group 56">
                  <a:extLst>
                    <a:ext uri="{FF2B5EF4-FFF2-40B4-BE49-F238E27FC236}">
                      <a16:creationId xmlns:a16="http://schemas.microsoft.com/office/drawing/2014/main" id="{ACB72D5A-ACFE-32B4-D733-8FA1CE77BDCA}"/>
                    </a:ext>
                  </a:extLst>
                </p:cNvPr>
                <p:cNvGrpSpPr/>
                <p:nvPr/>
              </p:nvGrpSpPr>
              <p:grpSpPr>
                <a:xfrm flipH="1">
                  <a:off x="8852795" y="2372662"/>
                  <a:ext cx="262193" cy="679246"/>
                  <a:chOff x="1433816" y="2372662"/>
                  <a:chExt cx="262193" cy="679246"/>
                </a:xfrm>
                <a:solidFill>
                  <a:schemeClr val="bg1"/>
                </a:solidFill>
              </p:grpSpPr>
              <p:sp>
                <p:nvSpPr>
                  <p:cNvPr id="58" name="Rounded Rectangle 57">
                    <a:extLst>
                      <a:ext uri="{FF2B5EF4-FFF2-40B4-BE49-F238E27FC236}">
                        <a16:creationId xmlns:a16="http://schemas.microsoft.com/office/drawing/2014/main" id="{FFC12352-DD68-D8CF-CE1C-9A6A479973C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9" name="Rounded Rectangle 58">
                    <a:extLst>
                      <a:ext uri="{FF2B5EF4-FFF2-40B4-BE49-F238E27FC236}">
                        <a16:creationId xmlns:a16="http://schemas.microsoft.com/office/drawing/2014/main" id="{5C37FE29-ACEE-73C0-9016-029A7F30F5E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1" name="Group 50">
                <a:extLst>
                  <a:ext uri="{FF2B5EF4-FFF2-40B4-BE49-F238E27FC236}">
                    <a16:creationId xmlns:a16="http://schemas.microsoft.com/office/drawing/2014/main" id="{E8B2D5BD-E63F-82EA-F785-BE7677193C92}"/>
                  </a:ext>
                </a:extLst>
              </p:cNvPr>
              <p:cNvGrpSpPr/>
              <p:nvPr/>
            </p:nvGrpSpPr>
            <p:grpSpPr>
              <a:xfrm flipV="1">
                <a:off x="2364562" y="3528349"/>
                <a:ext cx="347674" cy="800719"/>
                <a:chOff x="8812568" y="2305815"/>
                <a:chExt cx="347674" cy="800719"/>
              </a:xfrm>
            </p:grpSpPr>
            <p:sp>
              <p:nvSpPr>
                <p:cNvPr id="52" name="Freeform 51">
                  <a:extLst>
                    <a:ext uri="{FF2B5EF4-FFF2-40B4-BE49-F238E27FC236}">
                      <a16:creationId xmlns:a16="http://schemas.microsoft.com/office/drawing/2014/main" id="{994DB251-FDEA-E147-0AEB-19CF19EEC240}"/>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3" name="Group 52">
                  <a:extLst>
                    <a:ext uri="{FF2B5EF4-FFF2-40B4-BE49-F238E27FC236}">
                      <a16:creationId xmlns:a16="http://schemas.microsoft.com/office/drawing/2014/main" id="{96D0C964-3A11-6BD2-EB43-D5EFF95C57FA}"/>
                    </a:ext>
                  </a:extLst>
                </p:cNvPr>
                <p:cNvGrpSpPr/>
                <p:nvPr/>
              </p:nvGrpSpPr>
              <p:grpSpPr>
                <a:xfrm flipH="1">
                  <a:off x="8852795" y="2372662"/>
                  <a:ext cx="262193" cy="679246"/>
                  <a:chOff x="1433816" y="2372662"/>
                  <a:chExt cx="262193" cy="679246"/>
                </a:xfrm>
                <a:solidFill>
                  <a:schemeClr val="bg1"/>
                </a:solidFill>
              </p:grpSpPr>
              <p:sp>
                <p:nvSpPr>
                  <p:cNvPr id="54" name="Rounded Rectangle 53">
                    <a:extLst>
                      <a:ext uri="{FF2B5EF4-FFF2-40B4-BE49-F238E27FC236}">
                        <a16:creationId xmlns:a16="http://schemas.microsoft.com/office/drawing/2014/main" id="{CBFE79EC-F800-F4CE-C038-97C5B399EFA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5" name="Rounded Rectangle 54">
                    <a:extLst>
                      <a:ext uri="{FF2B5EF4-FFF2-40B4-BE49-F238E27FC236}">
                        <a16:creationId xmlns:a16="http://schemas.microsoft.com/office/drawing/2014/main" id="{6764CC16-109C-89B1-045C-F0FAE9F29E5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14" name="PBC 1">
              <a:extLst>
                <a:ext uri="{FF2B5EF4-FFF2-40B4-BE49-F238E27FC236}">
                  <a16:creationId xmlns:a16="http://schemas.microsoft.com/office/drawing/2014/main" id="{B23C12A6-DCF7-AE95-31C0-3C05F0B37355}"/>
                </a:ext>
              </a:extLst>
            </p:cNvPr>
            <p:cNvGrpSpPr>
              <a:grpSpLocks noChangeAspect="1"/>
            </p:cNvGrpSpPr>
            <p:nvPr/>
          </p:nvGrpSpPr>
          <p:grpSpPr>
            <a:xfrm>
              <a:off x="6343417" y="2495815"/>
              <a:ext cx="922606" cy="178731"/>
              <a:chOff x="2364562" y="2976326"/>
              <a:chExt cx="7053344" cy="1366399"/>
            </a:xfrm>
          </p:grpSpPr>
          <p:sp>
            <p:nvSpPr>
              <p:cNvPr id="17" name="Freeform 16">
                <a:extLst>
                  <a:ext uri="{FF2B5EF4-FFF2-40B4-BE49-F238E27FC236}">
                    <a16:creationId xmlns:a16="http://schemas.microsoft.com/office/drawing/2014/main" id="{3C5D3273-BAD1-DB8D-3FE6-006463B1B904}"/>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8" name="Freeform 17">
                <a:extLst>
                  <a:ext uri="{FF2B5EF4-FFF2-40B4-BE49-F238E27FC236}">
                    <a16:creationId xmlns:a16="http://schemas.microsoft.com/office/drawing/2014/main" id="{194DB42C-4FA5-24A1-C557-FF0700BA23E2}"/>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9" name="Graphic 38">
                <a:extLst>
                  <a:ext uri="{FF2B5EF4-FFF2-40B4-BE49-F238E27FC236}">
                    <a16:creationId xmlns:a16="http://schemas.microsoft.com/office/drawing/2014/main" id="{627CE1BA-75F5-4889-1D35-0258EE04CFA5}"/>
                  </a:ext>
                </a:extLst>
              </p:cNvPr>
              <p:cNvGrpSpPr/>
              <p:nvPr/>
            </p:nvGrpSpPr>
            <p:grpSpPr>
              <a:xfrm>
                <a:off x="5658852" y="3694387"/>
                <a:ext cx="466200" cy="483019"/>
                <a:chOff x="5042020" y="5214715"/>
                <a:chExt cx="466200" cy="483019"/>
              </a:xfrm>
            </p:grpSpPr>
            <p:sp>
              <p:nvSpPr>
                <p:cNvPr id="43" name="Freeform 42">
                  <a:extLst>
                    <a:ext uri="{FF2B5EF4-FFF2-40B4-BE49-F238E27FC236}">
                      <a16:creationId xmlns:a16="http://schemas.microsoft.com/office/drawing/2014/main" id="{07CBEC28-5ED9-B290-FF3A-7D83A182BB6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4" name="Freeform 43">
                  <a:extLst>
                    <a:ext uri="{FF2B5EF4-FFF2-40B4-BE49-F238E27FC236}">
                      <a16:creationId xmlns:a16="http://schemas.microsoft.com/office/drawing/2014/main" id="{3BEC7497-A459-34D4-B2AA-BF2D9B5F09CD}"/>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0" name="Group 19">
                <a:extLst>
                  <a:ext uri="{FF2B5EF4-FFF2-40B4-BE49-F238E27FC236}">
                    <a16:creationId xmlns:a16="http://schemas.microsoft.com/office/drawing/2014/main" id="{1282C137-46F4-F020-0D1A-A8D80B376CB1}"/>
                  </a:ext>
                </a:extLst>
              </p:cNvPr>
              <p:cNvGrpSpPr/>
              <p:nvPr/>
            </p:nvGrpSpPr>
            <p:grpSpPr>
              <a:xfrm>
                <a:off x="6411669" y="3594476"/>
                <a:ext cx="2479697" cy="681402"/>
                <a:chOff x="6154005" y="2371943"/>
                <a:chExt cx="2479697" cy="681402"/>
              </a:xfrm>
            </p:grpSpPr>
            <p:sp>
              <p:nvSpPr>
                <p:cNvPr id="41" name="Freeform 40">
                  <a:extLst>
                    <a:ext uri="{FF2B5EF4-FFF2-40B4-BE49-F238E27FC236}">
                      <a16:creationId xmlns:a16="http://schemas.microsoft.com/office/drawing/2014/main" id="{2B79725D-6480-992C-0E49-582BFD289D9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2" name="Freeform 41">
                  <a:extLst>
                    <a:ext uri="{FF2B5EF4-FFF2-40B4-BE49-F238E27FC236}">
                      <a16:creationId xmlns:a16="http://schemas.microsoft.com/office/drawing/2014/main" id="{B2D85D02-519D-828B-71BE-84E0602D0FB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 name="Group 20">
                <a:extLst>
                  <a:ext uri="{FF2B5EF4-FFF2-40B4-BE49-F238E27FC236}">
                    <a16:creationId xmlns:a16="http://schemas.microsoft.com/office/drawing/2014/main" id="{95A2A1BE-8A8A-97CD-F59B-E238FFE3AEC2}"/>
                  </a:ext>
                </a:extLst>
              </p:cNvPr>
              <p:cNvGrpSpPr/>
              <p:nvPr/>
            </p:nvGrpSpPr>
            <p:grpSpPr>
              <a:xfrm>
                <a:off x="2892539" y="3594476"/>
                <a:ext cx="2479697" cy="681402"/>
                <a:chOff x="6154005" y="2371943"/>
                <a:chExt cx="2479697" cy="681402"/>
              </a:xfrm>
            </p:grpSpPr>
            <p:sp>
              <p:nvSpPr>
                <p:cNvPr id="39" name="Freeform 38">
                  <a:extLst>
                    <a:ext uri="{FF2B5EF4-FFF2-40B4-BE49-F238E27FC236}">
                      <a16:creationId xmlns:a16="http://schemas.microsoft.com/office/drawing/2014/main" id="{A02E4019-07AC-1202-47B8-5056E917E10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0" name="Freeform 39">
                  <a:extLst>
                    <a:ext uri="{FF2B5EF4-FFF2-40B4-BE49-F238E27FC236}">
                      <a16:creationId xmlns:a16="http://schemas.microsoft.com/office/drawing/2014/main" id="{800BABFE-70F1-6DC5-8BAC-492603BA872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2" name="Group 21">
                <a:extLst>
                  <a:ext uri="{FF2B5EF4-FFF2-40B4-BE49-F238E27FC236}">
                    <a16:creationId xmlns:a16="http://schemas.microsoft.com/office/drawing/2014/main" id="{AA161EC5-70BB-E698-56CF-A53F6BC66E90}"/>
                  </a:ext>
                </a:extLst>
              </p:cNvPr>
              <p:cNvGrpSpPr/>
              <p:nvPr/>
            </p:nvGrpSpPr>
            <p:grpSpPr>
              <a:xfrm>
                <a:off x="9070232" y="3528349"/>
                <a:ext cx="347674" cy="800719"/>
                <a:chOff x="8812568" y="2305815"/>
                <a:chExt cx="347674" cy="800719"/>
              </a:xfrm>
            </p:grpSpPr>
            <p:sp>
              <p:nvSpPr>
                <p:cNvPr id="35" name="Freeform 34">
                  <a:extLst>
                    <a:ext uri="{FF2B5EF4-FFF2-40B4-BE49-F238E27FC236}">
                      <a16:creationId xmlns:a16="http://schemas.microsoft.com/office/drawing/2014/main" id="{41441FB5-4BFB-9F2B-58F1-87ECB87E6359}"/>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6" name="Group 35">
                  <a:extLst>
                    <a:ext uri="{FF2B5EF4-FFF2-40B4-BE49-F238E27FC236}">
                      <a16:creationId xmlns:a16="http://schemas.microsoft.com/office/drawing/2014/main" id="{1A17FD7B-BC5F-4C3D-007E-FC6248F6C514}"/>
                    </a:ext>
                  </a:extLst>
                </p:cNvPr>
                <p:cNvGrpSpPr/>
                <p:nvPr/>
              </p:nvGrpSpPr>
              <p:grpSpPr>
                <a:xfrm flipH="1">
                  <a:off x="8852795" y="2372662"/>
                  <a:ext cx="262193" cy="679246"/>
                  <a:chOff x="1433816" y="2372662"/>
                  <a:chExt cx="262193" cy="679246"/>
                </a:xfrm>
                <a:solidFill>
                  <a:schemeClr val="bg1"/>
                </a:solidFill>
              </p:grpSpPr>
              <p:sp>
                <p:nvSpPr>
                  <p:cNvPr id="37" name="Rounded Rectangle 36">
                    <a:extLst>
                      <a:ext uri="{FF2B5EF4-FFF2-40B4-BE49-F238E27FC236}">
                        <a16:creationId xmlns:a16="http://schemas.microsoft.com/office/drawing/2014/main" id="{5BEB7490-AD94-CCF4-9CCF-8D2D307C4E3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8" name="Rounded Rectangle 37">
                    <a:extLst>
                      <a:ext uri="{FF2B5EF4-FFF2-40B4-BE49-F238E27FC236}">
                        <a16:creationId xmlns:a16="http://schemas.microsoft.com/office/drawing/2014/main" id="{152502C5-037E-C0E2-08C2-4D938562689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 name="Group 22">
                <a:extLst>
                  <a:ext uri="{FF2B5EF4-FFF2-40B4-BE49-F238E27FC236}">
                    <a16:creationId xmlns:a16="http://schemas.microsoft.com/office/drawing/2014/main" id="{C6E2476F-6185-1D08-EBF7-160D4C387B30}"/>
                  </a:ext>
                </a:extLst>
              </p:cNvPr>
              <p:cNvGrpSpPr/>
              <p:nvPr/>
            </p:nvGrpSpPr>
            <p:grpSpPr>
              <a:xfrm flipV="1">
                <a:off x="2364562" y="3528349"/>
                <a:ext cx="347674" cy="800719"/>
                <a:chOff x="8812568" y="2305815"/>
                <a:chExt cx="347674" cy="800719"/>
              </a:xfrm>
            </p:grpSpPr>
            <p:sp>
              <p:nvSpPr>
                <p:cNvPr id="24" name="Freeform 23">
                  <a:extLst>
                    <a:ext uri="{FF2B5EF4-FFF2-40B4-BE49-F238E27FC236}">
                      <a16:creationId xmlns:a16="http://schemas.microsoft.com/office/drawing/2014/main" id="{F63E5EE6-297F-6152-803C-2E71C944EA8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5" name="Group 24">
                  <a:extLst>
                    <a:ext uri="{FF2B5EF4-FFF2-40B4-BE49-F238E27FC236}">
                      <a16:creationId xmlns:a16="http://schemas.microsoft.com/office/drawing/2014/main" id="{D69DDEF2-57F1-7C24-82E5-AE5E9ACCA081}"/>
                    </a:ext>
                  </a:extLst>
                </p:cNvPr>
                <p:cNvGrpSpPr/>
                <p:nvPr/>
              </p:nvGrpSpPr>
              <p:grpSpPr>
                <a:xfrm flipH="1">
                  <a:off x="8852795" y="2372662"/>
                  <a:ext cx="262193" cy="679246"/>
                  <a:chOff x="1433816" y="2372662"/>
                  <a:chExt cx="262193" cy="679246"/>
                </a:xfrm>
                <a:solidFill>
                  <a:schemeClr val="bg1"/>
                </a:solidFill>
              </p:grpSpPr>
              <p:sp>
                <p:nvSpPr>
                  <p:cNvPr id="26" name="Rounded Rectangle 25">
                    <a:extLst>
                      <a:ext uri="{FF2B5EF4-FFF2-40B4-BE49-F238E27FC236}">
                        <a16:creationId xmlns:a16="http://schemas.microsoft.com/office/drawing/2014/main" id="{F27FA9E4-1F73-0C8E-CB29-AB992612400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4" name="Rounded Rectangle 33">
                    <a:extLst>
                      <a:ext uri="{FF2B5EF4-FFF2-40B4-BE49-F238E27FC236}">
                        <a16:creationId xmlns:a16="http://schemas.microsoft.com/office/drawing/2014/main" id="{248A1765-35CC-775A-52D8-436D85C3E88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15" name="Freeform 55">
              <a:extLst>
                <a:ext uri="{FF2B5EF4-FFF2-40B4-BE49-F238E27FC236}">
                  <a16:creationId xmlns:a16="http://schemas.microsoft.com/office/drawing/2014/main" id="{02B67CC8-3F9B-B7D5-EC6D-2CBD53037BB8}"/>
                </a:ext>
              </a:extLst>
            </p:cNvPr>
            <p:cNvSpPr>
              <a:spLocks noChangeAspect="1"/>
            </p:cNvSpPr>
            <p:nvPr/>
          </p:nvSpPr>
          <p:spPr>
            <a:xfrm>
              <a:off x="6693958" y="1649987"/>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4"/>
              <a:stretch>
                <a:fillRect/>
              </a:stretch>
            </a:blipFill>
            <a:ln cap="sq">
              <a:noFill/>
              <a:prstDash val="solid"/>
              <a:miter/>
            </a:ln>
          </p:spPr>
          <p:txBody>
            <a:bodyPr/>
            <a:lstStyle/>
            <a:p>
              <a:endParaRPr lang="en-US"/>
            </a:p>
          </p:txBody>
        </p:sp>
        <p:sp>
          <p:nvSpPr>
            <p:cNvPr id="16" name="Cloud icon">
              <a:extLst>
                <a:ext uri="{FF2B5EF4-FFF2-40B4-BE49-F238E27FC236}">
                  <a16:creationId xmlns:a16="http://schemas.microsoft.com/office/drawing/2014/main" id="{09D63695-C5F2-A106-C4BB-9A45D059E3DF}"/>
                </a:ext>
              </a:extLst>
            </p:cNvPr>
            <p:cNvSpPr>
              <a:spLocks noChangeAspect="1"/>
            </p:cNvSpPr>
            <p:nvPr/>
          </p:nvSpPr>
          <p:spPr>
            <a:xfrm>
              <a:off x="5027161" y="2751309"/>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dirty="0">
                  <a:latin typeface="+mj-lt"/>
                </a:rPr>
                <a:t> 5G, DIA, Wave,  </a:t>
              </a:r>
            </a:p>
            <a:p>
              <a:pPr algn="ctr"/>
              <a:r>
                <a:rPr lang="en-US" sz="1400" dirty="0">
                  <a:latin typeface="+mj-lt"/>
                </a:rPr>
                <a:t>Satellite</a:t>
              </a:r>
            </a:p>
          </p:txBody>
        </p:sp>
        <p:sp>
          <p:nvSpPr>
            <p:cNvPr id="2" name="TextBox 65">
              <a:extLst>
                <a:ext uri="{FF2B5EF4-FFF2-40B4-BE49-F238E27FC236}">
                  <a16:creationId xmlns:a16="http://schemas.microsoft.com/office/drawing/2014/main" id="{1696DB22-47A3-63B5-135F-C04248A88FAD}"/>
                </a:ext>
              </a:extLst>
            </p:cNvPr>
            <p:cNvSpPr txBox="1"/>
            <p:nvPr/>
          </p:nvSpPr>
          <p:spPr>
            <a:xfrm>
              <a:off x="4778709" y="4365658"/>
              <a:ext cx="2265881" cy="327136"/>
            </a:xfrm>
            <a:prstGeom prst="rect">
              <a:avLst/>
            </a:prstGeom>
          </p:spPr>
          <p:txBody>
            <a:bodyPr lIns="50800" tIns="50800" rIns="50800" bIns="50800" rtlCol="0" anchor="ctr"/>
            <a:lstStyle/>
            <a:p>
              <a:pPr algn="ctr">
                <a:lnSpc>
                  <a:spcPts val="1320"/>
                </a:lnSpc>
              </a:pPr>
              <a:r>
                <a:rPr lang="en-US" sz="1400" b="1">
                  <a:solidFill>
                    <a:srgbClr val="000000"/>
                  </a:solidFill>
                  <a:latin typeface="Tomorrow" pitchFamily="2" charset="0"/>
                  <a:ea typeface="Tomorrow Bold"/>
                  <a:cs typeface="Tomorrow Bold"/>
                  <a:sym typeface="Tomorrow Bold"/>
                </a:rPr>
                <a:t>Instant Private Fabric</a:t>
              </a:r>
            </a:p>
          </p:txBody>
        </p:sp>
      </p:grpSp>
    </p:spTree>
    <p:custDataLst>
      <p:tags r:id="rId1"/>
    </p:custDataLst>
    <p:extLst>
      <p:ext uri="{BB962C8B-B14F-4D97-AF65-F5344CB8AC3E}">
        <p14:creationId xmlns:p14="http://schemas.microsoft.com/office/powerpoint/2010/main" val="101575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B21F-3F79-1447-5909-BD00E0BD8AD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7D78BA7-CE4E-9FAE-9CB3-AD793EBD9583}"/>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8" name="Maia Logo">
            <a:extLst>
              <a:ext uri="{FF2B5EF4-FFF2-40B4-BE49-F238E27FC236}">
                <a16:creationId xmlns:a16="http://schemas.microsoft.com/office/drawing/2014/main" id="{7BF7FBBD-488A-ED44-2CDF-6AE6A96FA8F8}"/>
              </a:ext>
            </a:extLst>
          </p:cNvPr>
          <p:cNvGrpSpPr/>
          <p:nvPr/>
        </p:nvGrpSpPr>
        <p:grpSpPr>
          <a:xfrm>
            <a:off x="9982492" y="6181218"/>
            <a:ext cx="1700948" cy="415640"/>
            <a:chOff x="1447800" y="2292350"/>
            <a:chExt cx="7774788" cy="1899831"/>
          </a:xfrm>
        </p:grpSpPr>
        <p:sp>
          <p:nvSpPr>
            <p:cNvPr id="30" name="Freeform 20">
              <a:extLst>
                <a:ext uri="{FF2B5EF4-FFF2-40B4-BE49-F238E27FC236}">
                  <a16:creationId xmlns:a16="http://schemas.microsoft.com/office/drawing/2014/main" id="{9DECAB43-9CCA-3BA0-1805-9CE58D90E36A}"/>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31" name="Freeform 21">
              <a:extLst>
                <a:ext uri="{FF2B5EF4-FFF2-40B4-BE49-F238E27FC236}">
                  <a16:creationId xmlns:a16="http://schemas.microsoft.com/office/drawing/2014/main" id="{4BE47D3F-1B95-BD59-1183-13B7BDB6B78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32" name="Freeform 22">
              <a:extLst>
                <a:ext uri="{FF2B5EF4-FFF2-40B4-BE49-F238E27FC236}">
                  <a16:creationId xmlns:a16="http://schemas.microsoft.com/office/drawing/2014/main" id="{917A2A27-651D-17E0-2714-5EA5A49E923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33" name="Slide Number Placeholder 21">
            <a:extLst>
              <a:ext uri="{FF2B5EF4-FFF2-40B4-BE49-F238E27FC236}">
                <a16:creationId xmlns:a16="http://schemas.microsoft.com/office/drawing/2014/main" id="{654BAC72-C2BB-D018-AB24-03EB87821409}"/>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22  © 2026 </a:t>
            </a:r>
            <a:r>
              <a:rPr lang="en-US" err="1">
                <a:solidFill>
                  <a:schemeClr val="bg1"/>
                </a:solidFill>
              </a:rPr>
              <a:t>MaiaEdge</a:t>
            </a:r>
            <a:endParaRPr lang="en-US">
              <a:solidFill>
                <a:schemeClr val="bg1"/>
              </a:solidFill>
            </a:endParaRPr>
          </a:p>
        </p:txBody>
      </p:sp>
      <p:sp>
        <p:nvSpPr>
          <p:cNvPr id="27" name="TextBox 26">
            <a:extLst>
              <a:ext uri="{FF2B5EF4-FFF2-40B4-BE49-F238E27FC236}">
                <a16:creationId xmlns:a16="http://schemas.microsoft.com/office/drawing/2014/main" id="{DE86745D-E6DC-0863-0A1C-1C39C0FE518F}"/>
              </a:ext>
            </a:extLst>
          </p:cNvPr>
          <p:cNvSpPr txBox="1"/>
          <p:nvPr/>
        </p:nvSpPr>
        <p:spPr bwMode="auto">
          <a:xfrm>
            <a:off x="1258482" y="5674082"/>
            <a:ext cx="3075304"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Instant GPU On-Ramp</a:t>
            </a:r>
          </a:p>
          <a:p>
            <a:pPr algn="ctr">
              <a:spcBef>
                <a:spcPts val="0"/>
              </a:spcBef>
            </a:pPr>
            <a:r>
              <a:rPr lang="en-US" sz="1800" b="0">
                <a:solidFill>
                  <a:schemeClr val="accent2"/>
                </a:solidFill>
                <a:latin typeface="+mj-lt"/>
              </a:rPr>
              <a:t>Speed customer onboarding</a:t>
            </a:r>
          </a:p>
          <a:p>
            <a:pPr algn="ctr">
              <a:spcBef>
                <a:spcPts val="0"/>
              </a:spcBef>
            </a:pPr>
            <a:endParaRPr lang="en-US" sz="1800" b="0">
              <a:solidFill>
                <a:schemeClr val="accent2"/>
              </a:solidFill>
              <a:latin typeface="+mj-lt"/>
            </a:endParaRPr>
          </a:p>
        </p:txBody>
      </p:sp>
      <p:sp>
        <p:nvSpPr>
          <p:cNvPr id="29" name="TextBox 28">
            <a:extLst>
              <a:ext uri="{FF2B5EF4-FFF2-40B4-BE49-F238E27FC236}">
                <a16:creationId xmlns:a16="http://schemas.microsoft.com/office/drawing/2014/main" id="{51C70997-E774-29C7-E234-C9F43D1912B5}"/>
              </a:ext>
            </a:extLst>
          </p:cNvPr>
          <p:cNvSpPr txBox="1"/>
          <p:nvPr/>
        </p:nvSpPr>
        <p:spPr bwMode="auto">
          <a:xfrm>
            <a:off x="7941411" y="5600323"/>
            <a:ext cx="2704103"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Ecosystem Access</a:t>
            </a:r>
          </a:p>
          <a:p>
            <a:pPr algn="ctr">
              <a:spcBef>
                <a:spcPts val="0"/>
              </a:spcBef>
              <a:spcAft>
                <a:spcPts val="600"/>
              </a:spcAft>
            </a:pPr>
            <a:r>
              <a:rPr lang="en-US" sz="1800" b="0">
                <a:solidFill>
                  <a:schemeClr val="accent2"/>
                </a:solidFill>
                <a:latin typeface="+mj-lt"/>
              </a:rPr>
              <a:t>Reach partners and services </a:t>
            </a:r>
          </a:p>
        </p:txBody>
      </p:sp>
      <p:grpSp>
        <p:nvGrpSpPr>
          <p:cNvPr id="2078" name="Group 2077">
            <a:extLst>
              <a:ext uri="{FF2B5EF4-FFF2-40B4-BE49-F238E27FC236}">
                <a16:creationId xmlns:a16="http://schemas.microsoft.com/office/drawing/2014/main" id="{D9D92950-0D4F-1ABF-B047-A66EED35B28F}"/>
              </a:ext>
            </a:extLst>
          </p:cNvPr>
          <p:cNvGrpSpPr/>
          <p:nvPr/>
        </p:nvGrpSpPr>
        <p:grpSpPr>
          <a:xfrm>
            <a:off x="4504071" y="5569073"/>
            <a:ext cx="3183857" cy="366820"/>
            <a:chOff x="4863165" y="5274541"/>
            <a:chExt cx="3183857" cy="366820"/>
          </a:xfrm>
        </p:grpSpPr>
        <p:cxnSp>
          <p:nvCxnSpPr>
            <p:cNvPr id="2050" name="Straight Connector 2049">
              <a:extLst>
                <a:ext uri="{FF2B5EF4-FFF2-40B4-BE49-F238E27FC236}">
                  <a16:creationId xmlns:a16="http://schemas.microsoft.com/office/drawing/2014/main" id="{60856145-90F6-F590-0E20-408B95DA7CB0}"/>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2076" name="Straight Connector 2075">
              <a:extLst>
                <a:ext uri="{FF2B5EF4-FFF2-40B4-BE49-F238E27FC236}">
                  <a16:creationId xmlns:a16="http://schemas.microsoft.com/office/drawing/2014/main" id="{EACA400A-9CBD-9801-8EA9-E45179360E8E}"/>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grpSp>
        <p:nvGrpSpPr>
          <p:cNvPr id="2300" name="Group 2299">
            <a:extLst>
              <a:ext uri="{FF2B5EF4-FFF2-40B4-BE49-F238E27FC236}">
                <a16:creationId xmlns:a16="http://schemas.microsoft.com/office/drawing/2014/main" id="{9E4B1BBB-DEA9-AF39-00F3-BC3526DFE899}"/>
              </a:ext>
            </a:extLst>
          </p:cNvPr>
          <p:cNvGrpSpPr/>
          <p:nvPr/>
        </p:nvGrpSpPr>
        <p:grpSpPr>
          <a:xfrm>
            <a:off x="1280074" y="1882935"/>
            <a:ext cx="1897028" cy="2625343"/>
            <a:chOff x="376180" y="2355251"/>
            <a:chExt cx="1897028" cy="2625343"/>
          </a:xfrm>
        </p:grpSpPr>
        <p:grpSp>
          <p:nvGrpSpPr>
            <p:cNvPr id="2301" name="Group 2300">
              <a:extLst>
                <a:ext uri="{FF2B5EF4-FFF2-40B4-BE49-F238E27FC236}">
                  <a16:creationId xmlns:a16="http://schemas.microsoft.com/office/drawing/2014/main" id="{7FD8112C-E7D4-1F61-575E-79A5D112A3C6}"/>
                </a:ext>
              </a:extLst>
            </p:cNvPr>
            <p:cNvGrpSpPr/>
            <p:nvPr/>
          </p:nvGrpSpPr>
          <p:grpSpPr>
            <a:xfrm>
              <a:off x="376180" y="2355251"/>
              <a:ext cx="1679187" cy="1277195"/>
              <a:chOff x="2593124" y="2040945"/>
              <a:chExt cx="1679187" cy="1277195"/>
            </a:xfrm>
          </p:grpSpPr>
          <p:sp>
            <p:nvSpPr>
              <p:cNvPr id="2049" name="Freeform 54">
                <a:extLst>
                  <a:ext uri="{FF2B5EF4-FFF2-40B4-BE49-F238E27FC236}">
                    <a16:creationId xmlns:a16="http://schemas.microsoft.com/office/drawing/2014/main" id="{0FBDF490-70D6-4153-D343-FF4106A03F99}"/>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051" name="Freeform 55">
                <a:extLst>
                  <a:ext uri="{FF2B5EF4-FFF2-40B4-BE49-F238E27FC236}">
                    <a16:creationId xmlns:a16="http://schemas.microsoft.com/office/drawing/2014/main" id="{7CD6CB5C-3F90-9224-69F8-FF037AAFF56E}"/>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2052" name="Freeform 56">
                <a:extLst>
                  <a:ext uri="{FF2B5EF4-FFF2-40B4-BE49-F238E27FC236}">
                    <a16:creationId xmlns:a16="http://schemas.microsoft.com/office/drawing/2014/main" id="{E0E3D97E-CF1E-5862-452E-2914EBA1723B}"/>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053" name="Freeform 57">
                <a:extLst>
                  <a:ext uri="{FF2B5EF4-FFF2-40B4-BE49-F238E27FC236}">
                    <a16:creationId xmlns:a16="http://schemas.microsoft.com/office/drawing/2014/main" id="{3CD00644-E249-8F6B-372A-940E8EAC59F4}"/>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2054" name="Freeform 58">
                <a:extLst>
                  <a:ext uri="{FF2B5EF4-FFF2-40B4-BE49-F238E27FC236}">
                    <a16:creationId xmlns:a16="http://schemas.microsoft.com/office/drawing/2014/main" id="{B67A00D1-C3F8-DA33-41E9-594683B68BC4}"/>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055" name="Freeform 59">
                <a:extLst>
                  <a:ext uri="{FF2B5EF4-FFF2-40B4-BE49-F238E27FC236}">
                    <a16:creationId xmlns:a16="http://schemas.microsoft.com/office/drawing/2014/main" id="{49541C61-963C-4965-A194-B07B30CE2E4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056" name="TextBox 62">
                <a:extLst>
                  <a:ext uri="{FF2B5EF4-FFF2-40B4-BE49-F238E27FC236}">
                    <a16:creationId xmlns:a16="http://schemas.microsoft.com/office/drawing/2014/main" id="{60A92600-E6A6-001B-27EF-470D435EFC34}"/>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2302" name="Freeform 69">
              <a:extLst>
                <a:ext uri="{FF2B5EF4-FFF2-40B4-BE49-F238E27FC236}">
                  <a16:creationId xmlns:a16="http://schemas.microsoft.com/office/drawing/2014/main" id="{04018F92-ADCC-B883-D57D-8D23B0B5D31D}"/>
                </a:ext>
              </a:extLst>
            </p:cNvPr>
            <p:cNvSpPr/>
            <p:nvPr/>
          </p:nvSpPr>
          <p:spPr>
            <a:xfrm>
              <a:off x="1106915" y="3738099"/>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2303" name="Freeform 70">
              <a:extLst>
                <a:ext uri="{FF2B5EF4-FFF2-40B4-BE49-F238E27FC236}">
                  <a16:creationId xmlns:a16="http://schemas.microsoft.com/office/drawing/2014/main" id="{DBEDA25A-5F23-3B70-396A-9C6129149FC9}"/>
                </a:ext>
              </a:extLst>
            </p:cNvPr>
            <p:cNvSpPr/>
            <p:nvPr/>
          </p:nvSpPr>
          <p:spPr>
            <a:xfrm>
              <a:off x="553790" y="3760746"/>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2048" name="TextBox 73">
              <a:extLst>
                <a:ext uri="{FF2B5EF4-FFF2-40B4-BE49-F238E27FC236}">
                  <a16:creationId xmlns:a16="http://schemas.microsoft.com/office/drawing/2014/main" id="{3FCBCA63-B5B2-7BAB-7CA7-93ED41804EFE}"/>
                </a:ext>
              </a:extLst>
            </p:cNvPr>
            <p:cNvSpPr txBox="1"/>
            <p:nvPr/>
          </p:nvSpPr>
          <p:spPr>
            <a:xfrm>
              <a:off x="447281" y="4618065"/>
              <a:ext cx="1825927" cy="362529"/>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Enterprises</a:t>
              </a:r>
            </a:p>
          </p:txBody>
        </p:sp>
      </p:grpSp>
      <p:sp>
        <p:nvSpPr>
          <p:cNvPr id="2057" name="TextBox 68">
            <a:extLst>
              <a:ext uri="{FF2B5EF4-FFF2-40B4-BE49-F238E27FC236}">
                <a16:creationId xmlns:a16="http://schemas.microsoft.com/office/drawing/2014/main" id="{165FD6CB-A1F3-EE7F-6788-7D20CF4543FD}"/>
              </a:ext>
            </a:extLst>
          </p:cNvPr>
          <p:cNvSpPr txBox="1"/>
          <p:nvPr/>
        </p:nvSpPr>
        <p:spPr>
          <a:xfrm>
            <a:off x="8850391" y="4033148"/>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2058" name="Group 76">
            <a:extLst>
              <a:ext uri="{FF2B5EF4-FFF2-40B4-BE49-F238E27FC236}">
                <a16:creationId xmlns:a16="http://schemas.microsoft.com/office/drawing/2014/main" id="{E8E096CB-3F2C-D0C5-E122-30E7496FB346}"/>
              </a:ext>
            </a:extLst>
          </p:cNvPr>
          <p:cNvGrpSpPr/>
          <p:nvPr/>
        </p:nvGrpSpPr>
        <p:grpSpPr>
          <a:xfrm>
            <a:off x="8831667" y="3202227"/>
            <a:ext cx="1497143" cy="901935"/>
            <a:chOff x="0" y="0"/>
            <a:chExt cx="1996191" cy="1202580"/>
          </a:xfrm>
        </p:grpSpPr>
        <p:sp>
          <p:nvSpPr>
            <p:cNvPr id="2059" name="Freeform 77">
              <a:extLst>
                <a:ext uri="{FF2B5EF4-FFF2-40B4-BE49-F238E27FC236}">
                  <a16:creationId xmlns:a16="http://schemas.microsoft.com/office/drawing/2014/main" id="{E8347329-EB15-251F-D314-5F0B55B99C3B}"/>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2060" name="Freeform 78">
              <a:extLst>
                <a:ext uri="{FF2B5EF4-FFF2-40B4-BE49-F238E27FC236}">
                  <a16:creationId xmlns:a16="http://schemas.microsoft.com/office/drawing/2014/main" id="{1B716128-A4D0-5ADE-8105-E3D4AE4A5B22}"/>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2061" name="Freeform 79">
              <a:extLst>
                <a:ext uri="{FF2B5EF4-FFF2-40B4-BE49-F238E27FC236}">
                  <a16:creationId xmlns:a16="http://schemas.microsoft.com/office/drawing/2014/main" id="{360AE062-FD67-B9AD-A277-551E5DAD3617}"/>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2062" name="Freeform 80">
              <a:extLst>
                <a:ext uri="{FF2B5EF4-FFF2-40B4-BE49-F238E27FC236}">
                  <a16:creationId xmlns:a16="http://schemas.microsoft.com/office/drawing/2014/main" id="{A349127D-2B18-E2C5-E207-B0EAF6EFD13A}"/>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0"/>
              <a:stretch>
                <a:fillRect l="-89563" r="-93613" b="-65656"/>
              </a:stretch>
            </a:blipFill>
          </p:spPr>
          <p:txBody>
            <a:bodyPr/>
            <a:lstStyle/>
            <a:p>
              <a:endParaRPr lang="en-US"/>
            </a:p>
          </p:txBody>
        </p:sp>
        <p:sp>
          <p:nvSpPr>
            <p:cNvPr id="2063" name="Freeform 82">
              <a:extLst>
                <a:ext uri="{FF2B5EF4-FFF2-40B4-BE49-F238E27FC236}">
                  <a16:creationId xmlns:a16="http://schemas.microsoft.com/office/drawing/2014/main" id="{D1A97823-DC8C-AD19-A201-667CC7CE7037}"/>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grpSp>
      <p:sp>
        <p:nvSpPr>
          <p:cNvPr id="2064" name="TextBox 65">
            <a:extLst>
              <a:ext uri="{FF2B5EF4-FFF2-40B4-BE49-F238E27FC236}">
                <a16:creationId xmlns:a16="http://schemas.microsoft.com/office/drawing/2014/main" id="{A36BFD82-6547-C87D-0679-B50D03DCCDC4}"/>
              </a:ext>
            </a:extLst>
          </p:cNvPr>
          <p:cNvSpPr txBox="1"/>
          <p:nvPr/>
        </p:nvSpPr>
        <p:spPr>
          <a:xfrm>
            <a:off x="8735109" y="2627826"/>
            <a:ext cx="1663324" cy="341612"/>
          </a:xfrm>
          <a:prstGeom prst="rect">
            <a:avLst/>
          </a:prstGeom>
        </p:spPr>
        <p:txBody>
          <a:bodyPr lIns="50800" tIns="50800" rIns="50800" bIns="50800" rtlCol="0" anchor="ctr"/>
          <a:lstStyle/>
          <a:p>
            <a:pPr algn="ctr">
              <a:lnSpc>
                <a:spcPts val="1320"/>
              </a:lnSpc>
            </a:pPr>
            <a:r>
              <a:rPr lang="en-US" sz="1100" b="1">
                <a:solidFill>
                  <a:srgbClr val="000000"/>
                </a:solidFill>
                <a:latin typeface="Tomorrow Bold"/>
                <a:ea typeface="Tomorrow Bold"/>
                <a:cs typeface="Tomorrow Bold"/>
                <a:sym typeface="Tomorrow Bold"/>
              </a:rPr>
              <a:t>MSPs &amp; DCs</a:t>
            </a:r>
          </a:p>
        </p:txBody>
      </p:sp>
      <p:sp>
        <p:nvSpPr>
          <p:cNvPr id="2065" name="Freeform 74">
            <a:extLst>
              <a:ext uri="{FF2B5EF4-FFF2-40B4-BE49-F238E27FC236}">
                <a16:creationId xmlns:a16="http://schemas.microsoft.com/office/drawing/2014/main" id="{9A18818F-2C13-6140-9609-AEFB60BEB63C}"/>
              </a:ext>
            </a:extLst>
          </p:cNvPr>
          <p:cNvSpPr/>
          <p:nvPr/>
        </p:nvSpPr>
        <p:spPr>
          <a:xfrm>
            <a:off x="8727018" y="1811084"/>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2"/>
            <a:stretch>
              <a:fillRect/>
            </a:stretch>
          </a:blipFill>
        </p:spPr>
        <p:txBody>
          <a:bodyPr/>
          <a:lstStyle/>
          <a:p>
            <a:endParaRPr lang="en-US"/>
          </a:p>
        </p:txBody>
      </p:sp>
      <p:sp>
        <p:nvSpPr>
          <p:cNvPr id="2066" name="Freeform 75">
            <a:extLst>
              <a:ext uri="{FF2B5EF4-FFF2-40B4-BE49-F238E27FC236}">
                <a16:creationId xmlns:a16="http://schemas.microsoft.com/office/drawing/2014/main" id="{7255A773-145A-B054-765E-8AB090F69A8D}"/>
              </a:ext>
            </a:extLst>
          </p:cNvPr>
          <p:cNvSpPr/>
          <p:nvPr/>
        </p:nvSpPr>
        <p:spPr>
          <a:xfrm>
            <a:off x="9429798" y="1790146"/>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2"/>
            <a:stretch>
              <a:fillRect/>
            </a:stretch>
          </a:blipFill>
        </p:spPr>
        <p:txBody>
          <a:bodyPr/>
          <a:lstStyle/>
          <a:p>
            <a:endParaRPr lang="en-US"/>
          </a:p>
        </p:txBody>
      </p:sp>
      <p:pic>
        <p:nvPicPr>
          <p:cNvPr id="2067" name="Picture 2" descr="Introducing Kentik | Kentik Blog">
            <a:extLst>
              <a:ext uri="{FF2B5EF4-FFF2-40B4-BE49-F238E27FC236}">
                <a16:creationId xmlns:a16="http://schemas.microsoft.com/office/drawing/2014/main" id="{4D9CDC1B-C4C5-3F77-8F5F-8D4365E8212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04230" y="3339230"/>
            <a:ext cx="387074" cy="250824"/>
          </a:xfrm>
          <a:prstGeom prst="rect">
            <a:avLst/>
          </a:prstGeom>
          <a:noFill/>
          <a:extLst>
            <a:ext uri="{909E8E84-426E-40DD-AFC4-6F175D3DCCD1}">
              <a14:hiddenFill xmlns:a14="http://schemas.microsoft.com/office/drawing/2010/main">
                <a:solidFill>
                  <a:srgbClr val="FFFFFF"/>
                </a:solidFill>
              </a14:hiddenFill>
            </a:ext>
          </a:extLst>
        </p:spPr>
      </p:pic>
      <p:cxnSp>
        <p:nvCxnSpPr>
          <p:cNvPr id="2068" name="Straight Connector 2067">
            <a:extLst>
              <a:ext uri="{FF2B5EF4-FFF2-40B4-BE49-F238E27FC236}">
                <a16:creationId xmlns:a16="http://schemas.microsoft.com/office/drawing/2014/main" id="{0D4FDBDE-39F2-28A7-CC99-2D94332DB024}"/>
              </a:ext>
            </a:extLst>
          </p:cNvPr>
          <p:cNvCxnSpPr>
            <a:cxnSpLocks/>
          </p:cNvCxnSpPr>
          <p:nvPr/>
        </p:nvCxnSpPr>
        <p:spPr>
          <a:xfrm flipV="1">
            <a:off x="7981087" y="2726936"/>
            <a:ext cx="809425" cy="409191"/>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332ADDB5-C2DD-5409-D6BB-3D9C395DF78F}"/>
              </a:ext>
            </a:extLst>
          </p:cNvPr>
          <p:cNvCxnSpPr>
            <a:cxnSpLocks/>
          </p:cNvCxnSpPr>
          <p:nvPr/>
        </p:nvCxnSpPr>
        <p:spPr>
          <a:xfrm>
            <a:off x="7989535" y="3267575"/>
            <a:ext cx="791333" cy="382326"/>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2070" name="Group 2069">
            <a:extLst>
              <a:ext uri="{FF2B5EF4-FFF2-40B4-BE49-F238E27FC236}">
                <a16:creationId xmlns:a16="http://schemas.microsoft.com/office/drawing/2014/main" id="{94AE7DC9-674D-5660-7AC3-6A9CA2759D31}"/>
              </a:ext>
            </a:extLst>
          </p:cNvPr>
          <p:cNvGrpSpPr/>
          <p:nvPr/>
        </p:nvGrpSpPr>
        <p:grpSpPr>
          <a:xfrm rot="10800000">
            <a:off x="3154227" y="2784495"/>
            <a:ext cx="809425" cy="922965"/>
            <a:chOff x="2270401" y="5139394"/>
            <a:chExt cx="809425" cy="922965"/>
          </a:xfrm>
        </p:grpSpPr>
        <p:cxnSp>
          <p:nvCxnSpPr>
            <p:cNvPr id="2071" name="Straight Connector 2070">
              <a:extLst>
                <a:ext uri="{FF2B5EF4-FFF2-40B4-BE49-F238E27FC236}">
                  <a16:creationId xmlns:a16="http://schemas.microsoft.com/office/drawing/2014/main" id="{5462CCBB-5EE3-A15A-C233-7977B94B96EB}"/>
                </a:ext>
              </a:extLst>
            </p:cNvPr>
            <p:cNvCxnSpPr>
              <a:cxnSpLocks/>
            </p:cNvCxnSpPr>
            <p:nvPr/>
          </p:nvCxnSpPr>
          <p:spPr>
            <a:xfrm flipV="1">
              <a:off x="2270401" y="5139394"/>
              <a:ext cx="809425" cy="409191"/>
            </a:xfrm>
            <a:prstGeom prst="line">
              <a:avLst/>
            </a:prstGeom>
            <a:ln w="254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5571BC09-94EE-247E-2375-EFF3FF3A7D22}"/>
                </a:ext>
              </a:extLst>
            </p:cNvPr>
            <p:cNvCxnSpPr>
              <a:cxnSpLocks/>
            </p:cNvCxnSpPr>
            <p:nvPr/>
          </p:nvCxnSpPr>
          <p:spPr>
            <a:xfrm>
              <a:off x="2278849" y="5680033"/>
              <a:ext cx="791333" cy="382326"/>
            </a:xfrm>
            <a:prstGeom prst="line">
              <a:avLst/>
            </a:prstGeom>
            <a:ln w="28575">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2097" name="TextBox 2096">
            <a:extLst>
              <a:ext uri="{FF2B5EF4-FFF2-40B4-BE49-F238E27FC236}">
                <a16:creationId xmlns:a16="http://schemas.microsoft.com/office/drawing/2014/main" id="{EE4A6F83-23C5-B828-3C07-44480CD22039}"/>
              </a:ext>
            </a:extLst>
          </p:cNvPr>
          <p:cNvSpPr txBox="1"/>
          <p:nvPr/>
        </p:nvSpPr>
        <p:spPr bwMode="auto">
          <a:xfrm>
            <a:off x="4709880" y="5570845"/>
            <a:ext cx="2807762"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a:solidFill>
                  <a:schemeClr val="accent1"/>
                </a:solidFill>
                <a:latin typeface="+mj-lt"/>
              </a:rPr>
              <a:t>Cloud Connectivity</a:t>
            </a:r>
          </a:p>
          <a:p>
            <a:pPr algn="ctr">
              <a:spcBef>
                <a:spcPts val="0"/>
              </a:spcBef>
            </a:pPr>
            <a:r>
              <a:rPr lang="en-US" sz="1800" b="0">
                <a:solidFill>
                  <a:schemeClr val="accent2"/>
                </a:solidFill>
                <a:latin typeface="+mj-lt"/>
              </a:rPr>
              <a:t>Reduce cloud egress fees</a:t>
            </a:r>
          </a:p>
        </p:txBody>
      </p:sp>
      <p:grpSp>
        <p:nvGrpSpPr>
          <p:cNvPr id="2106" name="Group 2105">
            <a:extLst>
              <a:ext uri="{FF2B5EF4-FFF2-40B4-BE49-F238E27FC236}">
                <a16:creationId xmlns:a16="http://schemas.microsoft.com/office/drawing/2014/main" id="{E3E826BB-8E16-D0BB-2B19-C8542A0AEB59}"/>
              </a:ext>
            </a:extLst>
          </p:cNvPr>
          <p:cNvGrpSpPr/>
          <p:nvPr/>
        </p:nvGrpSpPr>
        <p:grpSpPr>
          <a:xfrm>
            <a:off x="3918051" y="1613670"/>
            <a:ext cx="4023360" cy="3079124"/>
            <a:chOff x="3918051" y="1613670"/>
            <a:chExt cx="4023360" cy="3079124"/>
          </a:xfrm>
        </p:grpSpPr>
        <p:grpSp>
          <p:nvGrpSpPr>
            <p:cNvPr id="2107" name="Group 2106">
              <a:extLst>
                <a:ext uri="{FF2B5EF4-FFF2-40B4-BE49-F238E27FC236}">
                  <a16:creationId xmlns:a16="http://schemas.microsoft.com/office/drawing/2014/main" id="{6D1149DB-8618-0D93-ED39-BF72343A94A4}"/>
                </a:ext>
              </a:extLst>
            </p:cNvPr>
            <p:cNvGrpSpPr/>
            <p:nvPr/>
          </p:nvGrpSpPr>
          <p:grpSpPr>
            <a:xfrm>
              <a:off x="4953808" y="2580997"/>
              <a:ext cx="1875033" cy="1581674"/>
              <a:chOff x="3775302" y="3210202"/>
              <a:chExt cx="1542573" cy="1301294"/>
            </a:xfrm>
          </p:grpSpPr>
          <p:cxnSp>
            <p:nvCxnSpPr>
              <p:cNvPr id="2363" name="Straight Connector 2362">
                <a:extLst>
                  <a:ext uri="{FF2B5EF4-FFF2-40B4-BE49-F238E27FC236}">
                    <a16:creationId xmlns:a16="http://schemas.microsoft.com/office/drawing/2014/main" id="{B636AD47-1178-88E3-503C-FDE30A306DD4}"/>
                  </a:ext>
                </a:extLst>
              </p:cNvPr>
              <p:cNvCxnSpPr/>
              <p:nvPr/>
            </p:nvCxnSpPr>
            <p:spPr bwMode="auto">
              <a:xfrm>
                <a:off x="3775302" y="3210202"/>
                <a:ext cx="1542573" cy="1301294"/>
              </a:xfrm>
              <a:prstGeom prst="line">
                <a:avLst/>
              </a:prstGeom>
              <a:ln w="1905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4" name="Straight Connector 2363">
                <a:extLst>
                  <a:ext uri="{FF2B5EF4-FFF2-40B4-BE49-F238E27FC236}">
                    <a16:creationId xmlns:a16="http://schemas.microsoft.com/office/drawing/2014/main" id="{BAEA594A-6898-AF5B-AC08-F4AA03F4125F}"/>
                  </a:ext>
                </a:extLst>
              </p:cNvPr>
              <p:cNvCxnSpPr/>
              <p:nvPr/>
            </p:nvCxnSpPr>
            <p:spPr bwMode="auto">
              <a:xfrm flipV="1">
                <a:off x="3775302" y="3257971"/>
                <a:ext cx="1542573" cy="1216346"/>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08" name="Freeform 55">
              <a:extLst>
                <a:ext uri="{FF2B5EF4-FFF2-40B4-BE49-F238E27FC236}">
                  <a16:creationId xmlns:a16="http://schemas.microsoft.com/office/drawing/2014/main" id="{AEDCF0A0-2474-4A03-65F7-9139836EDE90}"/>
                </a:ext>
              </a:extLst>
            </p:cNvPr>
            <p:cNvSpPr>
              <a:spLocks noChangeAspect="1"/>
            </p:cNvSpPr>
            <p:nvPr/>
          </p:nvSpPr>
          <p:spPr>
            <a:xfrm>
              <a:off x="3940777" y="3170116"/>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grpSp>
          <p:nvGrpSpPr>
            <p:cNvPr id="2109" name="PBC 1">
              <a:extLst>
                <a:ext uri="{FF2B5EF4-FFF2-40B4-BE49-F238E27FC236}">
                  <a16:creationId xmlns:a16="http://schemas.microsoft.com/office/drawing/2014/main" id="{8141EB8F-A43D-8301-ADC3-2EA35E65F36E}"/>
                </a:ext>
              </a:extLst>
            </p:cNvPr>
            <p:cNvGrpSpPr>
              <a:grpSpLocks noChangeAspect="1"/>
            </p:cNvGrpSpPr>
            <p:nvPr/>
          </p:nvGrpSpPr>
          <p:grpSpPr>
            <a:xfrm>
              <a:off x="4540062" y="4038609"/>
              <a:ext cx="922606" cy="178731"/>
              <a:chOff x="2364562" y="2976326"/>
              <a:chExt cx="7053344" cy="1366399"/>
            </a:xfrm>
          </p:grpSpPr>
          <p:sp>
            <p:nvSpPr>
              <p:cNvPr id="2342" name="Freeform 2341">
                <a:extLst>
                  <a:ext uri="{FF2B5EF4-FFF2-40B4-BE49-F238E27FC236}">
                    <a16:creationId xmlns:a16="http://schemas.microsoft.com/office/drawing/2014/main" id="{6A73FAC2-B3D2-7892-4373-2A6DD6A252AB}"/>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343" name="Freeform 2342">
                <a:extLst>
                  <a:ext uri="{FF2B5EF4-FFF2-40B4-BE49-F238E27FC236}">
                    <a16:creationId xmlns:a16="http://schemas.microsoft.com/office/drawing/2014/main" id="{4D51C706-E1AA-98EE-DF6C-008208E3004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344" name="Graphic 38">
                <a:extLst>
                  <a:ext uri="{FF2B5EF4-FFF2-40B4-BE49-F238E27FC236}">
                    <a16:creationId xmlns:a16="http://schemas.microsoft.com/office/drawing/2014/main" id="{F749D2CF-37C6-9546-59D6-A57D702D33A0}"/>
                  </a:ext>
                </a:extLst>
              </p:cNvPr>
              <p:cNvGrpSpPr/>
              <p:nvPr/>
            </p:nvGrpSpPr>
            <p:grpSpPr>
              <a:xfrm>
                <a:off x="5658852" y="3694387"/>
                <a:ext cx="466200" cy="483019"/>
                <a:chOff x="5042020" y="5214715"/>
                <a:chExt cx="466200" cy="483019"/>
              </a:xfrm>
            </p:grpSpPr>
            <p:sp>
              <p:nvSpPr>
                <p:cNvPr id="2361" name="Freeform 2360">
                  <a:extLst>
                    <a:ext uri="{FF2B5EF4-FFF2-40B4-BE49-F238E27FC236}">
                      <a16:creationId xmlns:a16="http://schemas.microsoft.com/office/drawing/2014/main" id="{2950F83A-29D8-A0DD-8C00-F5381D8C394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62" name="Freeform 2361">
                  <a:extLst>
                    <a:ext uri="{FF2B5EF4-FFF2-40B4-BE49-F238E27FC236}">
                      <a16:creationId xmlns:a16="http://schemas.microsoft.com/office/drawing/2014/main" id="{AD378F12-C339-7103-77AE-4AE9EC1DBE1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345" name="Group 2344">
                <a:extLst>
                  <a:ext uri="{FF2B5EF4-FFF2-40B4-BE49-F238E27FC236}">
                    <a16:creationId xmlns:a16="http://schemas.microsoft.com/office/drawing/2014/main" id="{2AD0AA2C-25E1-4808-714D-EE914741C94C}"/>
                  </a:ext>
                </a:extLst>
              </p:cNvPr>
              <p:cNvGrpSpPr/>
              <p:nvPr/>
            </p:nvGrpSpPr>
            <p:grpSpPr>
              <a:xfrm>
                <a:off x="6411669" y="3594476"/>
                <a:ext cx="2479697" cy="681402"/>
                <a:chOff x="6154005" y="2371943"/>
                <a:chExt cx="2479697" cy="681402"/>
              </a:xfrm>
            </p:grpSpPr>
            <p:sp>
              <p:nvSpPr>
                <p:cNvPr id="2359" name="Freeform 2358">
                  <a:extLst>
                    <a:ext uri="{FF2B5EF4-FFF2-40B4-BE49-F238E27FC236}">
                      <a16:creationId xmlns:a16="http://schemas.microsoft.com/office/drawing/2014/main" id="{2E71681D-5516-6F61-4C2C-8E1708BDE2C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60" name="Freeform 2359">
                  <a:extLst>
                    <a:ext uri="{FF2B5EF4-FFF2-40B4-BE49-F238E27FC236}">
                      <a16:creationId xmlns:a16="http://schemas.microsoft.com/office/drawing/2014/main" id="{99EE2C16-E144-BF4B-A857-6A77014822B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46" name="Group 2345">
                <a:extLst>
                  <a:ext uri="{FF2B5EF4-FFF2-40B4-BE49-F238E27FC236}">
                    <a16:creationId xmlns:a16="http://schemas.microsoft.com/office/drawing/2014/main" id="{1148925F-B992-7C81-05E6-BD0811C0FB02}"/>
                  </a:ext>
                </a:extLst>
              </p:cNvPr>
              <p:cNvGrpSpPr/>
              <p:nvPr/>
            </p:nvGrpSpPr>
            <p:grpSpPr>
              <a:xfrm>
                <a:off x="2892539" y="3594476"/>
                <a:ext cx="2479697" cy="681402"/>
                <a:chOff x="6154005" y="2371943"/>
                <a:chExt cx="2479697" cy="681402"/>
              </a:xfrm>
            </p:grpSpPr>
            <p:sp>
              <p:nvSpPr>
                <p:cNvPr id="2357" name="Freeform 2356">
                  <a:extLst>
                    <a:ext uri="{FF2B5EF4-FFF2-40B4-BE49-F238E27FC236}">
                      <a16:creationId xmlns:a16="http://schemas.microsoft.com/office/drawing/2014/main" id="{A69CC4C9-B8C8-4D99-7852-6DF34AD3DFD4}"/>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58" name="Freeform 2357">
                  <a:extLst>
                    <a:ext uri="{FF2B5EF4-FFF2-40B4-BE49-F238E27FC236}">
                      <a16:creationId xmlns:a16="http://schemas.microsoft.com/office/drawing/2014/main" id="{9257C071-A835-C187-76A1-046D7014B80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47" name="Group 2346">
                <a:extLst>
                  <a:ext uri="{FF2B5EF4-FFF2-40B4-BE49-F238E27FC236}">
                    <a16:creationId xmlns:a16="http://schemas.microsoft.com/office/drawing/2014/main" id="{6128169B-AD73-3AA0-3FBE-F924DA8FD00E}"/>
                  </a:ext>
                </a:extLst>
              </p:cNvPr>
              <p:cNvGrpSpPr/>
              <p:nvPr/>
            </p:nvGrpSpPr>
            <p:grpSpPr>
              <a:xfrm>
                <a:off x="9070232" y="3528349"/>
                <a:ext cx="347674" cy="800719"/>
                <a:chOff x="8812568" y="2305815"/>
                <a:chExt cx="347674" cy="800719"/>
              </a:xfrm>
            </p:grpSpPr>
            <p:sp>
              <p:nvSpPr>
                <p:cNvPr id="2353" name="Freeform 2352">
                  <a:extLst>
                    <a:ext uri="{FF2B5EF4-FFF2-40B4-BE49-F238E27FC236}">
                      <a16:creationId xmlns:a16="http://schemas.microsoft.com/office/drawing/2014/main" id="{65AE221F-849D-7025-36B6-B4A9516B5AA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54" name="Group 2353">
                  <a:extLst>
                    <a:ext uri="{FF2B5EF4-FFF2-40B4-BE49-F238E27FC236}">
                      <a16:creationId xmlns:a16="http://schemas.microsoft.com/office/drawing/2014/main" id="{D2707085-0625-A252-8E9A-BAF42E911F74}"/>
                    </a:ext>
                  </a:extLst>
                </p:cNvPr>
                <p:cNvGrpSpPr/>
                <p:nvPr/>
              </p:nvGrpSpPr>
              <p:grpSpPr>
                <a:xfrm flipH="1">
                  <a:off x="8852795" y="2372662"/>
                  <a:ext cx="262193" cy="679246"/>
                  <a:chOff x="1433816" y="2372662"/>
                  <a:chExt cx="262193" cy="679246"/>
                </a:xfrm>
                <a:solidFill>
                  <a:schemeClr val="bg1"/>
                </a:solidFill>
              </p:grpSpPr>
              <p:sp>
                <p:nvSpPr>
                  <p:cNvPr id="2355" name="Rounded Rectangle 2354">
                    <a:extLst>
                      <a:ext uri="{FF2B5EF4-FFF2-40B4-BE49-F238E27FC236}">
                        <a16:creationId xmlns:a16="http://schemas.microsoft.com/office/drawing/2014/main" id="{DC60AAA7-6EFC-07B9-37C9-08FF8B4EA387}"/>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56" name="Rounded Rectangle 2355">
                    <a:extLst>
                      <a:ext uri="{FF2B5EF4-FFF2-40B4-BE49-F238E27FC236}">
                        <a16:creationId xmlns:a16="http://schemas.microsoft.com/office/drawing/2014/main" id="{A36BD663-E0E6-5B7D-5067-B28DD168BAC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48" name="Group 2347">
                <a:extLst>
                  <a:ext uri="{FF2B5EF4-FFF2-40B4-BE49-F238E27FC236}">
                    <a16:creationId xmlns:a16="http://schemas.microsoft.com/office/drawing/2014/main" id="{3BD6665D-32D2-EB9E-48C7-AEB2B8D9543D}"/>
                  </a:ext>
                </a:extLst>
              </p:cNvPr>
              <p:cNvGrpSpPr/>
              <p:nvPr/>
            </p:nvGrpSpPr>
            <p:grpSpPr>
              <a:xfrm flipV="1">
                <a:off x="2364562" y="3528349"/>
                <a:ext cx="347674" cy="800719"/>
                <a:chOff x="8812568" y="2305815"/>
                <a:chExt cx="347674" cy="800719"/>
              </a:xfrm>
            </p:grpSpPr>
            <p:sp>
              <p:nvSpPr>
                <p:cNvPr id="2349" name="Freeform 2348">
                  <a:extLst>
                    <a:ext uri="{FF2B5EF4-FFF2-40B4-BE49-F238E27FC236}">
                      <a16:creationId xmlns:a16="http://schemas.microsoft.com/office/drawing/2014/main" id="{AD3A195F-3964-21BE-BECB-38E97E7CF692}"/>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50" name="Group 2349">
                  <a:extLst>
                    <a:ext uri="{FF2B5EF4-FFF2-40B4-BE49-F238E27FC236}">
                      <a16:creationId xmlns:a16="http://schemas.microsoft.com/office/drawing/2014/main" id="{EFE5772E-FDD8-E39C-B165-B480EF11BBA9}"/>
                    </a:ext>
                  </a:extLst>
                </p:cNvPr>
                <p:cNvGrpSpPr/>
                <p:nvPr/>
              </p:nvGrpSpPr>
              <p:grpSpPr>
                <a:xfrm flipH="1">
                  <a:off x="8852795" y="2372662"/>
                  <a:ext cx="262193" cy="679246"/>
                  <a:chOff x="1433816" y="2372662"/>
                  <a:chExt cx="262193" cy="679246"/>
                </a:xfrm>
                <a:solidFill>
                  <a:schemeClr val="bg1"/>
                </a:solidFill>
              </p:grpSpPr>
              <p:sp>
                <p:nvSpPr>
                  <p:cNvPr id="2351" name="Rounded Rectangle 2350">
                    <a:extLst>
                      <a:ext uri="{FF2B5EF4-FFF2-40B4-BE49-F238E27FC236}">
                        <a16:creationId xmlns:a16="http://schemas.microsoft.com/office/drawing/2014/main" id="{727A3822-A8A2-3DF5-39DF-0AFB513AA7E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52" name="Rounded Rectangle 2351">
                    <a:extLst>
                      <a:ext uri="{FF2B5EF4-FFF2-40B4-BE49-F238E27FC236}">
                        <a16:creationId xmlns:a16="http://schemas.microsoft.com/office/drawing/2014/main" id="{42FA37FB-01F6-A863-435E-97E0338299A8}"/>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2110" name="PBC 1">
              <a:extLst>
                <a:ext uri="{FF2B5EF4-FFF2-40B4-BE49-F238E27FC236}">
                  <a16:creationId xmlns:a16="http://schemas.microsoft.com/office/drawing/2014/main" id="{6D68540C-3ED8-A539-6987-5EF6E064F359}"/>
                </a:ext>
              </a:extLst>
            </p:cNvPr>
            <p:cNvGrpSpPr>
              <a:grpSpLocks noChangeAspect="1"/>
            </p:cNvGrpSpPr>
            <p:nvPr/>
          </p:nvGrpSpPr>
          <p:grpSpPr>
            <a:xfrm>
              <a:off x="4475000" y="2495815"/>
              <a:ext cx="922606" cy="178731"/>
              <a:chOff x="2364562" y="2976326"/>
              <a:chExt cx="7053344" cy="1366399"/>
            </a:xfrm>
          </p:grpSpPr>
          <p:sp>
            <p:nvSpPr>
              <p:cNvPr id="2321" name="Freeform 2320">
                <a:extLst>
                  <a:ext uri="{FF2B5EF4-FFF2-40B4-BE49-F238E27FC236}">
                    <a16:creationId xmlns:a16="http://schemas.microsoft.com/office/drawing/2014/main" id="{2E873C6A-4CE1-F20E-D9F8-67F10F199FD7}"/>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322" name="Freeform 2321">
                <a:extLst>
                  <a:ext uri="{FF2B5EF4-FFF2-40B4-BE49-F238E27FC236}">
                    <a16:creationId xmlns:a16="http://schemas.microsoft.com/office/drawing/2014/main" id="{69C234CA-0CA6-63B0-CC4E-BA63DD1F79FF}"/>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323" name="Graphic 38">
                <a:extLst>
                  <a:ext uri="{FF2B5EF4-FFF2-40B4-BE49-F238E27FC236}">
                    <a16:creationId xmlns:a16="http://schemas.microsoft.com/office/drawing/2014/main" id="{42CD1287-AC14-F34E-DF77-9D88AC3009B6}"/>
                  </a:ext>
                </a:extLst>
              </p:cNvPr>
              <p:cNvGrpSpPr/>
              <p:nvPr/>
            </p:nvGrpSpPr>
            <p:grpSpPr>
              <a:xfrm>
                <a:off x="5658852" y="3694387"/>
                <a:ext cx="466200" cy="483019"/>
                <a:chOff x="5042020" y="5214715"/>
                <a:chExt cx="466200" cy="483019"/>
              </a:xfrm>
            </p:grpSpPr>
            <p:sp>
              <p:nvSpPr>
                <p:cNvPr id="2340" name="Freeform 2339">
                  <a:extLst>
                    <a:ext uri="{FF2B5EF4-FFF2-40B4-BE49-F238E27FC236}">
                      <a16:creationId xmlns:a16="http://schemas.microsoft.com/office/drawing/2014/main" id="{EC8EB2E1-6457-07E9-9D37-B60A07AC2C74}"/>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41" name="Freeform 2340">
                  <a:extLst>
                    <a:ext uri="{FF2B5EF4-FFF2-40B4-BE49-F238E27FC236}">
                      <a16:creationId xmlns:a16="http://schemas.microsoft.com/office/drawing/2014/main" id="{FD6A56B2-AD04-1A8E-E598-E001E4B5E9B7}"/>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324" name="Group 2323">
                <a:extLst>
                  <a:ext uri="{FF2B5EF4-FFF2-40B4-BE49-F238E27FC236}">
                    <a16:creationId xmlns:a16="http://schemas.microsoft.com/office/drawing/2014/main" id="{775D86DE-A804-1AAE-B1F8-BF5650EE4199}"/>
                  </a:ext>
                </a:extLst>
              </p:cNvPr>
              <p:cNvGrpSpPr/>
              <p:nvPr/>
            </p:nvGrpSpPr>
            <p:grpSpPr>
              <a:xfrm>
                <a:off x="6411669" y="3594476"/>
                <a:ext cx="2479697" cy="681402"/>
                <a:chOff x="6154005" y="2371943"/>
                <a:chExt cx="2479697" cy="681402"/>
              </a:xfrm>
            </p:grpSpPr>
            <p:sp>
              <p:nvSpPr>
                <p:cNvPr id="2338" name="Freeform 2337">
                  <a:extLst>
                    <a:ext uri="{FF2B5EF4-FFF2-40B4-BE49-F238E27FC236}">
                      <a16:creationId xmlns:a16="http://schemas.microsoft.com/office/drawing/2014/main" id="{9147AD96-564F-C7C8-E2AB-AC39249C6EF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39" name="Freeform 2338">
                  <a:extLst>
                    <a:ext uri="{FF2B5EF4-FFF2-40B4-BE49-F238E27FC236}">
                      <a16:creationId xmlns:a16="http://schemas.microsoft.com/office/drawing/2014/main" id="{F683477C-9410-D839-F47E-9606FDC97FC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25" name="Group 2324">
                <a:extLst>
                  <a:ext uri="{FF2B5EF4-FFF2-40B4-BE49-F238E27FC236}">
                    <a16:creationId xmlns:a16="http://schemas.microsoft.com/office/drawing/2014/main" id="{066A949A-7801-4F65-D859-89D6BFA1BA8B}"/>
                  </a:ext>
                </a:extLst>
              </p:cNvPr>
              <p:cNvGrpSpPr/>
              <p:nvPr/>
            </p:nvGrpSpPr>
            <p:grpSpPr>
              <a:xfrm>
                <a:off x="2892539" y="3594476"/>
                <a:ext cx="2479697" cy="681402"/>
                <a:chOff x="6154005" y="2371943"/>
                <a:chExt cx="2479697" cy="681402"/>
              </a:xfrm>
            </p:grpSpPr>
            <p:sp>
              <p:nvSpPr>
                <p:cNvPr id="2336" name="Freeform 2335">
                  <a:extLst>
                    <a:ext uri="{FF2B5EF4-FFF2-40B4-BE49-F238E27FC236}">
                      <a16:creationId xmlns:a16="http://schemas.microsoft.com/office/drawing/2014/main" id="{A4B09C4C-9A18-E177-2479-2FEB08F89D3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37" name="Freeform 2336">
                  <a:extLst>
                    <a:ext uri="{FF2B5EF4-FFF2-40B4-BE49-F238E27FC236}">
                      <a16:creationId xmlns:a16="http://schemas.microsoft.com/office/drawing/2014/main" id="{C2E13A0D-7E88-4194-B90B-3EC0ECBCB6A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26" name="Group 2325">
                <a:extLst>
                  <a:ext uri="{FF2B5EF4-FFF2-40B4-BE49-F238E27FC236}">
                    <a16:creationId xmlns:a16="http://schemas.microsoft.com/office/drawing/2014/main" id="{212D3BA3-BE86-AC44-69C3-52E51CC12F4C}"/>
                  </a:ext>
                </a:extLst>
              </p:cNvPr>
              <p:cNvGrpSpPr/>
              <p:nvPr/>
            </p:nvGrpSpPr>
            <p:grpSpPr>
              <a:xfrm>
                <a:off x="9070232" y="3528349"/>
                <a:ext cx="347674" cy="800719"/>
                <a:chOff x="8812568" y="2305815"/>
                <a:chExt cx="347674" cy="800719"/>
              </a:xfrm>
            </p:grpSpPr>
            <p:sp>
              <p:nvSpPr>
                <p:cNvPr id="2332" name="Freeform 2331">
                  <a:extLst>
                    <a:ext uri="{FF2B5EF4-FFF2-40B4-BE49-F238E27FC236}">
                      <a16:creationId xmlns:a16="http://schemas.microsoft.com/office/drawing/2014/main" id="{03822B7B-6920-C848-1ADE-CE198F2149B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33" name="Group 2332">
                  <a:extLst>
                    <a:ext uri="{FF2B5EF4-FFF2-40B4-BE49-F238E27FC236}">
                      <a16:creationId xmlns:a16="http://schemas.microsoft.com/office/drawing/2014/main" id="{E07B3726-BDCD-32C8-6B3E-A35C4335B880}"/>
                    </a:ext>
                  </a:extLst>
                </p:cNvPr>
                <p:cNvGrpSpPr/>
                <p:nvPr/>
              </p:nvGrpSpPr>
              <p:grpSpPr>
                <a:xfrm flipH="1">
                  <a:off x="8852795" y="2372662"/>
                  <a:ext cx="262193" cy="679246"/>
                  <a:chOff x="1433816" y="2372662"/>
                  <a:chExt cx="262193" cy="679246"/>
                </a:xfrm>
                <a:solidFill>
                  <a:schemeClr val="bg1"/>
                </a:solidFill>
              </p:grpSpPr>
              <p:sp>
                <p:nvSpPr>
                  <p:cNvPr id="2334" name="Rounded Rectangle 2333">
                    <a:extLst>
                      <a:ext uri="{FF2B5EF4-FFF2-40B4-BE49-F238E27FC236}">
                        <a16:creationId xmlns:a16="http://schemas.microsoft.com/office/drawing/2014/main" id="{A7530D8D-EDAC-1306-4858-BAC14E778564}"/>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35" name="Rounded Rectangle 2334">
                    <a:extLst>
                      <a:ext uri="{FF2B5EF4-FFF2-40B4-BE49-F238E27FC236}">
                        <a16:creationId xmlns:a16="http://schemas.microsoft.com/office/drawing/2014/main" id="{FEB7685B-827E-1F08-A7FE-BC2ED27F4BA1}"/>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27" name="Group 2326">
                <a:extLst>
                  <a:ext uri="{FF2B5EF4-FFF2-40B4-BE49-F238E27FC236}">
                    <a16:creationId xmlns:a16="http://schemas.microsoft.com/office/drawing/2014/main" id="{D7B0A85E-9627-3CAE-F271-ECD0D43B9F52}"/>
                  </a:ext>
                </a:extLst>
              </p:cNvPr>
              <p:cNvGrpSpPr/>
              <p:nvPr/>
            </p:nvGrpSpPr>
            <p:grpSpPr>
              <a:xfrm flipV="1">
                <a:off x="2364562" y="3528349"/>
                <a:ext cx="347674" cy="800719"/>
                <a:chOff x="8812568" y="2305815"/>
                <a:chExt cx="347674" cy="800719"/>
              </a:xfrm>
            </p:grpSpPr>
            <p:sp>
              <p:nvSpPr>
                <p:cNvPr id="2328" name="Freeform 2327">
                  <a:extLst>
                    <a:ext uri="{FF2B5EF4-FFF2-40B4-BE49-F238E27FC236}">
                      <a16:creationId xmlns:a16="http://schemas.microsoft.com/office/drawing/2014/main" id="{130B8290-014E-F694-72DC-0948FD6A7038}"/>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29" name="Group 2328">
                  <a:extLst>
                    <a:ext uri="{FF2B5EF4-FFF2-40B4-BE49-F238E27FC236}">
                      <a16:creationId xmlns:a16="http://schemas.microsoft.com/office/drawing/2014/main" id="{F49315CA-DEB9-C9BF-853A-6140915E69CD}"/>
                    </a:ext>
                  </a:extLst>
                </p:cNvPr>
                <p:cNvGrpSpPr/>
                <p:nvPr/>
              </p:nvGrpSpPr>
              <p:grpSpPr>
                <a:xfrm flipH="1">
                  <a:off x="8852795" y="2372662"/>
                  <a:ext cx="262193" cy="679246"/>
                  <a:chOff x="1433816" y="2372662"/>
                  <a:chExt cx="262193" cy="679246"/>
                </a:xfrm>
                <a:solidFill>
                  <a:schemeClr val="bg1"/>
                </a:solidFill>
              </p:grpSpPr>
              <p:sp>
                <p:nvSpPr>
                  <p:cNvPr id="2330" name="Rounded Rectangle 2329">
                    <a:extLst>
                      <a:ext uri="{FF2B5EF4-FFF2-40B4-BE49-F238E27FC236}">
                        <a16:creationId xmlns:a16="http://schemas.microsoft.com/office/drawing/2014/main" id="{3B4A3867-F3EE-50C3-0E0C-FCD52B7B4A4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31" name="Rounded Rectangle 2330">
                    <a:extLst>
                      <a:ext uri="{FF2B5EF4-FFF2-40B4-BE49-F238E27FC236}">
                        <a16:creationId xmlns:a16="http://schemas.microsoft.com/office/drawing/2014/main" id="{2436262D-04BD-E089-F777-F3F22009869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2111" name="Freeform 55">
              <a:extLst>
                <a:ext uri="{FF2B5EF4-FFF2-40B4-BE49-F238E27FC236}">
                  <a16:creationId xmlns:a16="http://schemas.microsoft.com/office/drawing/2014/main" id="{29E5301E-D55F-7EB9-1860-419C9C12A6FF}"/>
                </a:ext>
              </a:extLst>
            </p:cNvPr>
            <p:cNvSpPr>
              <a:spLocks noChangeAspect="1"/>
            </p:cNvSpPr>
            <p:nvPr/>
          </p:nvSpPr>
          <p:spPr>
            <a:xfrm>
              <a:off x="3918051" y="161367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sp>
          <p:nvSpPr>
            <p:cNvPr id="2176" name="Freeform 55">
              <a:extLst>
                <a:ext uri="{FF2B5EF4-FFF2-40B4-BE49-F238E27FC236}">
                  <a16:creationId xmlns:a16="http://schemas.microsoft.com/office/drawing/2014/main" id="{0DF4C274-586C-2605-4293-48DE5097A06D}"/>
                </a:ext>
              </a:extLst>
            </p:cNvPr>
            <p:cNvSpPr>
              <a:spLocks noChangeAspect="1"/>
            </p:cNvSpPr>
            <p:nvPr/>
          </p:nvSpPr>
          <p:spPr>
            <a:xfrm>
              <a:off x="6813604" y="3243160"/>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grpSp>
          <p:nvGrpSpPr>
            <p:cNvPr id="2177" name="PBC 1">
              <a:extLst>
                <a:ext uri="{FF2B5EF4-FFF2-40B4-BE49-F238E27FC236}">
                  <a16:creationId xmlns:a16="http://schemas.microsoft.com/office/drawing/2014/main" id="{D16EF890-AFA5-0FBA-8515-646484E0EB31}"/>
                </a:ext>
              </a:extLst>
            </p:cNvPr>
            <p:cNvGrpSpPr>
              <a:grpSpLocks noChangeAspect="1"/>
            </p:cNvGrpSpPr>
            <p:nvPr/>
          </p:nvGrpSpPr>
          <p:grpSpPr>
            <a:xfrm>
              <a:off x="6408478" y="4038609"/>
              <a:ext cx="922606" cy="178731"/>
              <a:chOff x="2364562" y="2976326"/>
              <a:chExt cx="7053344" cy="1366399"/>
            </a:xfrm>
          </p:grpSpPr>
          <p:sp>
            <p:nvSpPr>
              <p:cNvPr id="2204" name="Freeform 2203">
                <a:extLst>
                  <a:ext uri="{FF2B5EF4-FFF2-40B4-BE49-F238E27FC236}">
                    <a16:creationId xmlns:a16="http://schemas.microsoft.com/office/drawing/2014/main" id="{7FF4E422-5248-0F92-ADD8-6A8AD862FC39}"/>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205" name="Freeform 2204">
                <a:extLst>
                  <a:ext uri="{FF2B5EF4-FFF2-40B4-BE49-F238E27FC236}">
                    <a16:creationId xmlns:a16="http://schemas.microsoft.com/office/drawing/2014/main" id="{4086A7FD-27D7-4E75-EA80-B869B6C47D97}"/>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206" name="Graphic 38">
                <a:extLst>
                  <a:ext uri="{FF2B5EF4-FFF2-40B4-BE49-F238E27FC236}">
                    <a16:creationId xmlns:a16="http://schemas.microsoft.com/office/drawing/2014/main" id="{B4B7E516-4692-C434-6711-F98EE3531D0C}"/>
                  </a:ext>
                </a:extLst>
              </p:cNvPr>
              <p:cNvGrpSpPr/>
              <p:nvPr/>
            </p:nvGrpSpPr>
            <p:grpSpPr>
              <a:xfrm>
                <a:off x="5658852" y="3694387"/>
                <a:ext cx="466200" cy="483019"/>
                <a:chOff x="5042020" y="5214715"/>
                <a:chExt cx="466200" cy="483019"/>
              </a:xfrm>
            </p:grpSpPr>
            <p:sp>
              <p:nvSpPr>
                <p:cNvPr id="2319" name="Freeform 2318">
                  <a:extLst>
                    <a:ext uri="{FF2B5EF4-FFF2-40B4-BE49-F238E27FC236}">
                      <a16:creationId xmlns:a16="http://schemas.microsoft.com/office/drawing/2014/main" id="{3F225537-619F-EE8C-D49D-EB64CCE8D345}"/>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320" name="Freeform 2319">
                  <a:extLst>
                    <a:ext uri="{FF2B5EF4-FFF2-40B4-BE49-F238E27FC236}">
                      <a16:creationId xmlns:a16="http://schemas.microsoft.com/office/drawing/2014/main" id="{B648B665-09BC-1714-1D68-2C598837E2D8}"/>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207" name="Group 2206">
                <a:extLst>
                  <a:ext uri="{FF2B5EF4-FFF2-40B4-BE49-F238E27FC236}">
                    <a16:creationId xmlns:a16="http://schemas.microsoft.com/office/drawing/2014/main" id="{D2B3D7C5-254F-6AF4-8789-6637AFC225C6}"/>
                  </a:ext>
                </a:extLst>
              </p:cNvPr>
              <p:cNvGrpSpPr/>
              <p:nvPr/>
            </p:nvGrpSpPr>
            <p:grpSpPr>
              <a:xfrm>
                <a:off x="6411669" y="3594476"/>
                <a:ext cx="2479697" cy="681402"/>
                <a:chOff x="6154005" y="2371943"/>
                <a:chExt cx="2479697" cy="681402"/>
              </a:xfrm>
            </p:grpSpPr>
            <p:sp>
              <p:nvSpPr>
                <p:cNvPr id="2317" name="Freeform 2316">
                  <a:extLst>
                    <a:ext uri="{FF2B5EF4-FFF2-40B4-BE49-F238E27FC236}">
                      <a16:creationId xmlns:a16="http://schemas.microsoft.com/office/drawing/2014/main" id="{276F3EBD-41B7-66E9-FFED-5A63042DD242}"/>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18" name="Freeform 2317">
                  <a:extLst>
                    <a:ext uri="{FF2B5EF4-FFF2-40B4-BE49-F238E27FC236}">
                      <a16:creationId xmlns:a16="http://schemas.microsoft.com/office/drawing/2014/main" id="{31BF9E37-D03D-61E8-F95A-8A7ECF9DB41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04" name="Group 2303">
                <a:extLst>
                  <a:ext uri="{FF2B5EF4-FFF2-40B4-BE49-F238E27FC236}">
                    <a16:creationId xmlns:a16="http://schemas.microsoft.com/office/drawing/2014/main" id="{ADD38AA4-4486-43DC-76D6-58DC207E7C01}"/>
                  </a:ext>
                </a:extLst>
              </p:cNvPr>
              <p:cNvGrpSpPr/>
              <p:nvPr/>
            </p:nvGrpSpPr>
            <p:grpSpPr>
              <a:xfrm>
                <a:off x="2892539" y="3594476"/>
                <a:ext cx="2479697" cy="681402"/>
                <a:chOff x="6154005" y="2371943"/>
                <a:chExt cx="2479697" cy="681402"/>
              </a:xfrm>
            </p:grpSpPr>
            <p:sp>
              <p:nvSpPr>
                <p:cNvPr id="2315" name="Freeform 2314">
                  <a:extLst>
                    <a:ext uri="{FF2B5EF4-FFF2-40B4-BE49-F238E27FC236}">
                      <a16:creationId xmlns:a16="http://schemas.microsoft.com/office/drawing/2014/main" id="{8EDB07C8-B3BB-9258-1C6A-FE2AA0A3550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316" name="Freeform 2315">
                  <a:extLst>
                    <a:ext uri="{FF2B5EF4-FFF2-40B4-BE49-F238E27FC236}">
                      <a16:creationId xmlns:a16="http://schemas.microsoft.com/office/drawing/2014/main" id="{6F5C5668-DE2E-CFD0-F3AF-778CD3C1A7F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305" name="Group 2304">
                <a:extLst>
                  <a:ext uri="{FF2B5EF4-FFF2-40B4-BE49-F238E27FC236}">
                    <a16:creationId xmlns:a16="http://schemas.microsoft.com/office/drawing/2014/main" id="{5BCDE9F2-F080-00FF-FBB0-573A628D60F3}"/>
                  </a:ext>
                </a:extLst>
              </p:cNvPr>
              <p:cNvGrpSpPr/>
              <p:nvPr/>
            </p:nvGrpSpPr>
            <p:grpSpPr>
              <a:xfrm>
                <a:off x="9070232" y="3528349"/>
                <a:ext cx="347674" cy="800719"/>
                <a:chOff x="8812568" y="2305815"/>
                <a:chExt cx="347674" cy="800719"/>
              </a:xfrm>
            </p:grpSpPr>
            <p:sp>
              <p:nvSpPr>
                <p:cNvPr id="2311" name="Freeform 2310">
                  <a:extLst>
                    <a:ext uri="{FF2B5EF4-FFF2-40B4-BE49-F238E27FC236}">
                      <a16:creationId xmlns:a16="http://schemas.microsoft.com/office/drawing/2014/main" id="{A77B4664-0CAE-3C2D-F5B7-F8D37DBB9F8E}"/>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12" name="Group 2311">
                  <a:extLst>
                    <a:ext uri="{FF2B5EF4-FFF2-40B4-BE49-F238E27FC236}">
                      <a16:creationId xmlns:a16="http://schemas.microsoft.com/office/drawing/2014/main" id="{2B6C153E-CA41-CC81-C15D-DEFB493C724D}"/>
                    </a:ext>
                  </a:extLst>
                </p:cNvPr>
                <p:cNvGrpSpPr/>
                <p:nvPr/>
              </p:nvGrpSpPr>
              <p:grpSpPr>
                <a:xfrm flipH="1">
                  <a:off x="8852795" y="2372662"/>
                  <a:ext cx="262193" cy="679246"/>
                  <a:chOff x="1433816" y="2372662"/>
                  <a:chExt cx="262193" cy="679246"/>
                </a:xfrm>
                <a:solidFill>
                  <a:schemeClr val="bg1"/>
                </a:solidFill>
              </p:grpSpPr>
              <p:sp>
                <p:nvSpPr>
                  <p:cNvPr id="2313" name="Rounded Rectangle 2312">
                    <a:extLst>
                      <a:ext uri="{FF2B5EF4-FFF2-40B4-BE49-F238E27FC236}">
                        <a16:creationId xmlns:a16="http://schemas.microsoft.com/office/drawing/2014/main" id="{81F49758-78F4-EA92-96AC-32F6D8ABE9D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14" name="Rounded Rectangle 2313">
                    <a:extLst>
                      <a:ext uri="{FF2B5EF4-FFF2-40B4-BE49-F238E27FC236}">
                        <a16:creationId xmlns:a16="http://schemas.microsoft.com/office/drawing/2014/main" id="{73193D73-0A1B-520D-A5A9-3800BA63AC2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306" name="Group 2305">
                <a:extLst>
                  <a:ext uri="{FF2B5EF4-FFF2-40B4-BE49-F238E27FC236}">
                    <a16:creationId xmlns:a16="http://schemas.microsoft.com/office/drawing/2014/main" id="{6C925BE2-5DBD-8C5C-0FAD-7CFF95003FA8}"/>
                  </a:ext>
                </a:extLst>
              </p:cNvPr>
              <p:cNvGrpSpPr/>
              <p:nvPr/>
            </p:nvGrpSpPr>
            <p:grpSpPr>
              <a:xfrm flipV="1">
                <a:off x="2364562" y="3528349"/>
                <a:ext cx="347674" cy="800719"/>
                <a:chOff x="8812568" y="2305815"/>
                <a:chExt cx="347674" cy="800719"/>
              </a:xfrm>
            </p:grpSpPr>
            <p:sp>
              <p:nvSpPr>
                <p:cNvPr id="2307" name="Freeform 2306">
                  <a:extLst>
                    <a:ext uri="{FF2B5EF4-FFF2-40B4-BE49-F238E27FC236}">
                      <a16:creationId xmlns:a16="http://schemas.microsoft.com/office/drawing/2014/main" id="{C028E12C-E8CB-709C-3805-6CF77C13374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308" name="Group 2307">
                  <a:extLst>
                    <a:ext uri="{FF2B5EF4-FFF2-40B4-BE49-F238E27FC236}">
                      <a16:creationId xmlns:a16="http://schemas.microsoft.com/office/drawing/2014/main" id="{1675DD4E-211D-B9F6-F875-D97EFE288107}"/>
                    </a:ext>
                  </a:extLst>
                </p:cNvPr>
                <p:cNvGrpSpPr/>
                <p:nvPr/>
              </p:nvGrpSpPr>
              <p:grpSpPr>
                <a:xfrm flipH="1">
                  <a:off x="8852795" y="2372662"/>
                  <a:ext cx="262193" cy="679246"/>
                  <a:chOff x="1433816" y="2372662"/>
                  <a:chExt cx="262193" cy="679246"/>
                </a:xfrm>
                <a:solidFill>
                  <a:schemeClr val="bg1"/>
                </a:solidFill>
              </p:grpSpPr>
              <p:sp>
                <p:nvSpPr>
                  <p:cNvPr id="2309" name="Rounded Rectangle 2308">
                    <a:extLst>
                      <a:ext uri="{FF2B5EF4-FFF2-40B4-BE49-F238E27FC236}">
                        <a16:creationId xmlns:a16="http://schemas.microsoft.com/office/drawing/2014/main" id="{A9BE9F5E-B9D1-1BB0-10BD-9ABB4DE40F9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310" name="Rounded Rectangle 2309">
                    <a:extLst>
                      <a:ext uri="{FF2B5EF4-FFF2-40B4-BE49-F238E27FC236}">
                        <a16:creationId xmlns:a16="http://schemas.microsoft.com/office/drawing/2014/main" id="{53A79553-67B7-0CBE-29ED-841DF6E2CF82}"/>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2178" name="PBC 1">
              <a:extLst>
                <a:ext uri="{FF2B5EF4-FFF2-40B4-BE49-F238E27FC236}">
                  <a16:creationId xmlns:a16="http://schemas.microsoft.com/office/drawing/2014/main" id="{0459E9E5-D180-7442-4638-7D547815E6C1}"/>
                </a:ext>
              </a:extLst>
            </p:cNvPr>
            <p:cNvGrpSpPr>
              <a:grpSpLocks noChangeAspect="1"/>
            </p:cNvGrpSpPr>
            <p:nvPr/>
          </p:nvGrpSpPr>
          <p:grpSpPr>
            <a:xfrm>
              <a:off x="6343417" y="2495815"/>
              <a:ext cx="922606" cy="178731"/>
              <a:chOff x="2364562" y="2976326"/>
              <a:chExt cx="7053344" cy="1366399"/>
            </a:xfrm>
          </p:grpSpPr>
          <p:sp>
            <p:nvSpPr>
              <p:cNvPr id="2182" name="Freeform 2181">
                <a:extLst>
                  <a:ext uri="{FF2B5EF4-FFF2-40B4-BE49-F238E27FC236}">
                    <a16:creationId xmlns:a16="http://schemas.microsoft.com/office/drawing/2014/main" id="{9A1D651B-8F25-1F0B-DA00-AD1A4BD76D05}"/>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2183" name="Freeform 2182">
                <a:extLst>
                  <a:ext uri="{FF2B5EF4-FFF2-40B4-BE49-F238E27FC236}">
                    <a16:creationId xmlns:a16="http://schemas.microsoft.com/office/drawing/2014/main" id="{A63C273D-C0BE-508E-A502-7F455D150A6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184" name="Graphic 38">
                <a:extLst>
                  <a:ext uri="{FF2B5EF4-FFF2-40B4-BE49-F238E27FC236}">
                    <a16:creationId xmlns:a16="http://schemas.microsoft.com/office/drawing/2014/main" id="{704D9BED-C36D-DEA2-1274-20888487BD89}"/>
                  </a:ext>
                </a:extLst>
              </p:cNvPr>
              <p:cNvGrpSpPr/>
              <p:nvPr/>
            </p:nvGrpSpPr>
            <p:grpSpPr>
              <a:xfrm>
                <a:off x="5658852" y="3694387"/>
                <a:ext cx="466200" cy="483019"/>
                <a:chOff x="5042020" y="5214715"/>
                <a:chExt cx="466200" cy="483019"/>
              </a:xfrm>
            </p:grpSpPr>
            <p:sp>
              <p:nvSpPr>
                <p:cNvPr id="2202" name="Freeform 2201">
                  <a:extLst>
                    <a:ext uri="{FF2B5EF4-FFF2-40B4-BE49-F238E27FC236}">
                      <a16:creationId xmlns:a16="http://schemas.microsoft.com/office/drawing/2014/main" id="{F0C8C010-CA7E-2AB5-71DF-D826B77EB0F2}"/>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2203" name="Freeform 2202">
                  <a:extLst>
                    <a:ext uri="{FF2B5EF4-FFF2-40B4-BE49-F238E27FC236}">
                      <a16:creationId xmlns:a16="http://schemas.microsoft.com/office/drawing/2014/main" id="{32BE3E74-BFD0-F9D5-A365-13EE261CE230}"/>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186" name="Group 2185">
                <a:extLst>
                  <a:ext uri="{FF2B5EF4-FFF2-40B4-BE49-F238E27FC236}">
                    <a16:creationId xmlns:a16="http://schemas.microsoft.com/office/drawing/2014/main" id="{945C4FD0-A4FD-8A9F-AA2D-8ACF5126FC72}"/>
                  </a:ext>
                </a:extLst>
              </p:cNvPr>
              <p:cNvGrpSpPr/>
              <p:nvPr/>
            </p:nvGrpSpPr>
            <p:grpSpPr>
              <a:xfrm>
                <a:off x="6411669" y="3594476"/>
                <a:ext cx="2479697" cy="681402"/>
                <a:chOff x="6154005" y="2371943"/>
                <a:chExt cx="2479697" cy="681402"/>
              </a:xfrm>
            </p:grpSpPr>
            <p:sp>
              <p:nvSpPr>
                <p:cNvPr id="2200" name="Freeform 2199">
                  <a:extLst>
                    <a:ext uri="{FF2B5EF4-FFF2-40B4-BE49-F238E27FC236}">
                      <a16:creationId xmlns:a16="http://schemas.microsoft.com/office/drawing/2014/main" id="{6918D0EA-1707-D14D-D56B-DB655D94AB5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201" name="Freeform 2200">
                  <a:extLst>
                    <a:ext uri="{FF2B5EF4-FFF2-40B4-BE49-F238E27FC236}">
                      <a16:creationId xmlns:a16="http://schemas.microsoft.com/office/drawing/2014/main" id="{5083DE1E-EB66-14F6-21A9-BB5CC946A94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87" name="Group 2186">
                <a:extLst>
                  <a:ext uri="{FF2B5EF4-FFF2-40B4-BE49-F238E27FC236}">
                    <a16:creationId xmlns:a16="http://schemas.microsoft.com/office/drawing/2014/main" id="{9A327887-96B1-C0BA-35F8-E89490C312D8}"/>
                  </a:ext>
                </a:extLst>
              </p:cNvPr>
              <p:cNvGrpSpPr/>
              <p:nvPr/>
            </p:nvGrpSpPr>
            <p:grpSpPr>
              <a:xfrm>
                <a:off x="2892539" y="3594476"/>
                <a:ext cx="2479697" cy="681402"/>
                <a:chOff x="6154005" y="2371943"/>
                <a:chExt cx="2479697" cy="681402"/>
              </a:xfrm>
            </p:grpSpPr>
            <p:sp>
              <p:nvSpPr>
                <p:cNvPr id="2198" name="Freeform 2197">
                  <a:extLst>
                    <a:ext uri="{FF2B5EF4-FFF2-40B4-BE49-F238E27FC236}">
                      <a16:creationId xmlns:a16="http://schemas.microsoft.com/office/drawing/2014/main" id="{E99180B9-002B-3597-E5C6-FC040BB5426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2199" name="Freeform 2198">
                  <a:extLst>
                    <a:ext uri="{FF2B5EF4-FFF2-40B4-BE49-F238E27FC236}">
                      <a16:creationId xmlns:a16="http://schemas.microsoft.com/office/drawing/2014/main" id="{5A5A5846-C6CB-5262-551C-F69E54788336}"/>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188" name="Group 2187">
                <a:extLst>
                  <a:ext uri="{FF2B5EF4-FFF2-40B4-BE49-F238E27FC236}">
                    <a16:creationId xmlns:a16="http://schemas.microsoft.com/office/drawing/2014/main" id="{C99221E9-5C3C-8C28-3A11-6A27BF8C82BB}"/>
                  </a:ext>
                </a:extLst>
              </p:cNvPr>
              <p:cNvGrpSpPr/>
              <p:nvPr/>
            </p:nvGrpSpPr>
            <p:grpSpPr>
              <a:xfrm>
                <a:off x="9070232" y="3528349"/>
                <a:ext cx="347674" cy="800719"/>
                <a:chOff x="8812568" y="2305815"/>
                <a:chExt cx="347674" cy="800719"/>
              </a:xfrm>
            </p:grpSpPr>
            <p:sp>
              <p:nvSpPr>
                <p:cNvPr id="2194" name="Freeform 2193">
                  <a:extLst>
                    <a:ext uri="{FF2B5EF4-FFF2-40B4-BE49-F238E27FC236}">
                      <a16:creationId xmlns:a16="http://schemas.microsoft.com/office/drawing/2014/main" id="{9C463FC0-270C-F496-073B-EEAD93344213}"/>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195" name="Group 2194">
                  <a:extLst>
                    <a:ext uri="{FF2B5EF4-FFF2-40B4-BE49-F238E27FC236}">
                      <a16:creationId xmlns:a16="http://schemas.microsoft.com/office/drawing/2014/main" id="{C7642899-FBD9-E734-FD59-1BC0D62DC459}"/>
                    </a:ext>
                  </a:extLst>
                </p:cNvPr>
                <p:cNvGrpSpPr/>
                <p:nvPr/>
              </p:nvGrpSpPr>
              <p:grpSpPr>
                <a:xfrm flipH="1">
                  <a:off x="8852795" y="2372662"/>
                  <a:ext cx="262193" cy="679246"/>
                  <a:chOff x="1433816" y="2372662"/>
                  <a:chExt cx="262193" cy="679246"/>
                </a:xfrm>
                <a:solidFill>
                  <a:schemeClr val="bg1"/>
                </a:solidFill>
              </p:grpSpPr>
              <p:sp>
                <p:nvSpPr>
                  <p:cNvPr id="2196" name="Rounded Rectangle 2195">
                    <a:extLst>
                      <a:ext uri="{FF2B5EF4-FFF2-40B4-BE49-F238E27FC236}">
                        <a16:creationId xmlns:a16="http://schemas.microsoft.com/office/drawing/2014/main" id="{98D952B8-4A83-CB3F-BDA3-C972DB25A99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97" name="Rounded Rectangle 2196">
                    <a:extLst>
                      <a:ext uri="{FF2B5EF4-FFF2-40B4-BE49-F238E27FC236}">
                        <a16:creationId xmlns:a16="http://schemas.microsoft.com/office/drawing/2014/main" id="{012BF8CA-FBA1-CA06-3C0F-BEEE4661906E}"/>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189" name="Group 2188">
                <a:extLst>
                  <a:ext uri="{FF2B5EF4-FFF2-40B4-BE49-F238E27FC236}">
                    <a16:creationId xmlns:a16="http://schemas.microsoft.com/office/drawing/2014/main" id="{E869BB81-ABAB-9F9B-CC70-2BEFD51F250D}"/>
                  </a:ext>
                </a:extLst>
              </p:cNvPr>
              <p:cNvGrpSpPr/>
              <p:nvPr/>
            </p:nvGrpSpPr>
            <p:grpSpPr>
              <a:xfrm flipV="1">
                <a:off x="2364562" y="3528349"/>
                <a:ext cx="347674" cy="800719"/>
                <a:chOff x="8812568" y="2305815"/>
                <a:chExt cx="347674" cy="800719"/>
              </a:xfrm>
            </p:grpSpPr>
            <p:sp>
              <p:nvSpPr>
                <p:cNvPr id="2190" name="Freeform 2189">
                  <a:extLst>
                    <a:ext uri="{FF2B5EF4-FFF2-40B4-BE49-F238E27FC236}">
                      <a16:creationId xmlns:a16="http://schemas.microsoft.com/office/drawing/2014/main" id="{9242346E-0FF6-D010-BC2B-32409C820B4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191" name="Group 2190">
                  <a:extLst>
                    <a:ext uri="{FF2B5EF4-FFF2-40B4-BE49-F238E27FC236}">
                      <a16:creationId xmlns:a16="http://schemas.microsoft.com/office/drawing/2014/main" id="{6A7691AC-7C8B-8CF5-B333-0043D55DED9A}"/>
                    </a:ext>
                  </a:extLst>
                </p:cNvPr>
                <p:cNvGrpSpPr/>
                <p:nvPr/>
              </p:nvGrpSpPr>
              <p:grpSpPr>
                <a:xfrm flipH="1">
                  <a:off x="8852795" y="2372662"/>
                  <a:ext cx="262193" cy="679246"/>
                  <a:chOff x="1433816" y="2372662"/>
                  <a:chExt cx="262193" cy="679246"/>
                </a:xfrm>
                <a:solidFill>
                  <a:schemeClr val="bg1"/>
                </a:solidFill>
              </p:grpSpPr>
              <p:sp>
                <p:nvSpPr>
                  <p:cNvPr id="2192" name="Rounded Rectangle 2191">
                    <a:extLst>
                      <a:ext uri="{FF2B5EF4-FFF2-40B4-BE49-F238E27FC236}">
                        <a16:creationId xmlns:a16="http://schemas.microsoft.com/office/drawing/2014/main" id="{EDA94A49-FBC5-BB06-B2FF-0D0AE315B11B}"/>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93" name="Rounded Rectangle 2192">
                    <a:extLst>
                      <a:ext uri="{FF2B5EF4-FFF2-40B4-BE49-F238E27FC236}">
                        <a16:creationId xmlns:a16="http://schemas.microsoft.com/office/drawing/2014/main" id="{02154674-E00B-4CAF-F8A4-DC52429FD617}"/>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
          <p:nvSpPr>
            <p:cNvPr id="2179" name="Freeform 55">
              <a:extLst>
                <a:ext uri="{FF2B5EF4-FFF2-40B4-BE49-F238E27FC236}">
                  <a16:creationId xmlns:a16="http://schemas.microsoft.com/office/drawing/2014/main" id="{A550B404-27BE-3F77-8282-5B2BDF65C3F8}"/>
                </a:ext>
              </a:extLst>
            </p:cNvPr>
            <p:cNvSpPr>
              <a:spLocks noChangeAspect="1"/>
            </p:cNvSpPr>
            <p:nvPr/>
          </p:nvSpPr>
          <p:spPr>
            <a:xfrm>
              <a:off x="6693958" y="1649987"/>
              <a:ext cx="1127807" cy="1127806"/>
            </a:xfrm>
            <a:custGeom>
              <a:avLst/>
              <a:gdLst/>
              <a:ahLst/>
              <a:cxnLst/>
              <a:rect l="l" t="t" r="r" b="b"/>
              <a:pathLst>
                <a:path w="3739190" h="3739190">
                  <a:moveTo>
                    <a:pt x="0" y="0"/>
                  </a:moveTo>
                  <a:lnTo>
                    <a:pt x="3739190" y="0"/>
                  </a:lnTo>
                  <a:lnTo>
                    <a:pt x="3739190" y="3739190"/>
                  </a:lnTo>
                  <a:lnTo>
                    <a:pt x="0" y="3739190"/>
                  </a:lnTo>
                  <a:lnTo>
                    <a:pt x="0" y="0"/>
                  </a:lnTo>
                  <a:close/>
                </a:path>
              </a:pathLst>
            </a:custGeom>
            <a:blipFill>
              <a:blip r:embed="rId14"/>
              <a:stretch>
                <a:fillRect/>
              </a:stretch>
            </a:blipFill>
            <a:ln cap="sq">
              <a:noFill/>
              <a:prstDash val="solid"/>
              <a:miter/>
            </a:ln>
          </p:spPr>
          <p:txBody>
            <a:bodyPr/>
            <a:lstStyle/>
            <a:p>
              <a:endParaRPr lang="en-US"/>
            </a:p>
          </p:txBody>
        </p:sp>
        <p:sp>
          <p:nvSpPr>
            <p:cNvPr id="2180" name="Cloud icon">
              <a:extLst>
                <a:ext uri="{FF2B5EF4-FFF2-40B4-BE49-F238E27FC236}">
                  <a16:creationId xmlns:a16="http://schemas.microsoft.com/office/drawing/2014/main" id="{9A68033D-F06C-A1FA-14B8-C3E8ADB52699}"/>
                </a:ext>
              </a:extLst>
            </p:cNvPr>
            <p:cNvSpPr>
              <a:spLocks noChangeAspect="1"/>
            </p:cNvSpPr>
            <p:nvPr/>
          </p:nvSpPr>
          <p:spPr>
            <a:xfrm>
              <a:off x="5027161" y="2751309"/>
              <a:ext cx="1728326" cy="1072119"/>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400">
                  <a:latin typeface="+mj-lt"/>
                </a:rPr>
                <a:t> 5G, DIA, Wave,  </a:t>
              </a:r>
            </a:p>
            <a:p>
              <a:pPr algn="ctr"/>
              <a:r>
                <a:rPr lang="en-US" sz="1400">
                  <a:latin typeface="+mj-lt"/>
                </a:rPr>
                <a:t>Satcom</a:t>
              </a:r>
            </a:p>
          </p:txBody>
        </p:sp>
        <p:sp>
          <p:nvSpPr>
            <p:cNvPr id="2181" name="TextBox 65">
              <a:extLst>
                <a:ext uri="{FF2B5EF4-FFF2-40B4-BE49-F238E27FC236}">
                  <a16:creationId xmlns:a16="http://schemas.microsoft.com/office/drawing/2014/main" id="{7E1203F5-842C-D6E7-6DBA-7B52765C458B}"/>
                </a:ext>
              </a:extLst>
            </p:cNvPr>
            <p:cNvSpPr txBox="1"/>
            <p:nvPr/>
          </p:nvSpPr>
          <p:spPr>
            <a:xfrm>
              <a:off x="4778709" y="4365658"/>
              <a:ext cx="2265881" cy="327136"/>
            </a:xfrm>
            <a:prstGeom prst="rect">
              <a:avLst/>
            </a:prstGeom>
          </p:spPr>
          <p:txBody>
            <a:bodyPr lIns="50800" tIns="50800" rIns="50800" bIns="50800" rtlCol="0" anchor="ctr"/>
            <a:lstStyle/>
            <a:p>
              <a:pPr algn="ctr">
                <a:lnSpc>
                  <a:spcPts val="1320"/>
                </a:lnSpc>
              </a:pPr>
              <a:r>
                <a:rPr lang="en-US" sz="1400" b="1">
                  <a:solidFill>
                    <a:srgbClr val="000000"/>
                  </a:solidFill>
                  <a:latin typeface="Tomorrow" pitchFamily="2" charset="0"/>
                  <a:ea typeface="Tomorrow Bold"/>
                  <a:cs typeface="Tomorrow Bold"/>
                  <a:sym typeface="Tomorrow Bold"/>
                </a:rPr>
                <a:t>Instant Private Fabric</a:t>
              </a:r>
            </a:p>
          </p:txBody>
        </p:sp>
      </p:grpSp>
      <p:sp>
        <p:nvSpPr>
          <p:cNvPr id="2366" name="Title 2365">
            <a:extLst>
              <a:ext uri="{FF2B5EF4-FFF2-40B4-BE49-F238E27FC236}">
                <a16:creationId xmlns:a16="http://schemas.microsoft.com/office/drawing/2014/main" id="{F7223A18-2483-F58F-BA19-F08C564461A9}"/>
              </a:ext>
            </a:extLst>
          </p:cNvPr>
          <p:cNvSpPr>
            <a:spLocks noGrp="1"/>
          </p:cNvSpPr>
          <p:nvPr>
            <p:ph type="title"/>
          </p:nvPr>
        </p:nvSpPr>
        <p:spPr/>
        <p:txBody>
          <a:bodyPr/>
          <a:lstStyle/>
          <a:p>
            <a:r>
              <a:rPr lang="en-US" sz="3600" dirty="0"/>
              <a:t>Extend Your AI Fabric </a:t>
            </a:r>
          </a:p>
        </p:txBody>
      </p:sp>
      <p:sp>
        <p:nvSpPr>
          <p:cNvPr id="2367" name="Title 3">
            <a:extLst>
              <a:ext uri="{FF2B5EF4-FFF2-40B4-BE49-F238E27FC236}">
                <a16:creationId xmlns:a16="http://schemas.microsoft.com/office/drawing/2014/main" id="{2962DA34-83F9-7851-BE4B-C0203D2E183F}"/>
              </a:ext>
            </a:extLst>
          </p:cNvPr>
          <p:cNvSpPr txBox="1">
            <a:spLocks/>
          </p:cNvSpPr>
          <p:nvPr/>
        </p:nvSpPr>
        <p:spPr>
          <a:xfrm>
            <a:off x="662763" y="440035"/>
            <a:ext cx="11171274" cy="1107996"/>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000" b="0" i="0" kern="1200">
                <a:solidFill>
                  <a:schemeClr val="tx1"/>
                </a:solidFill>
                <a:latin typeface="+mj-lt"/>
                <a:ea typeface="Verdana" panose="020B0604030504040204" pitchFamily="34" charset="0"/>
                <a:cs typeface="Arial" panose="020B0604020202020204" pitchFamily="34" charset="0"/>
              </a:defRPr>
            </a:lvl1pPr>
          </a:lstStyle>
          <a:p>
            <a:endParaRPr lang="en-US" sz="3600"/>
          </a:p>
        </p:txBody>
      </p:sp>
    </p:spTree>
    <p:custDataLst>
      <p:tags r:id="rId1"/>
    </p:custDataLst>
    <p:extLst>
      <p:ext uri="{BB962C8B-B14F-4D97-AF65-F5344CB8AC3E}">
        <p14:creationId xmlns:p14="http://schemas.microsoft.com/office/powerpoint/2010/main" val="4176074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598AECE2-D75E-4511-EDC9-90A3A342ECD1}"/>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C11154A-89DB-FB3B-6AEB-C8339CCB7D5B}"/>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6AC3C933-A417-9B88-B83E-5759EA2DC96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24</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006C9B43-B4E0-2339-BCAD-534C97050EB5}"/>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F30722BF-AD15-B492-3EE2-F8F62CF1DE7C}"/>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46963B72-796D-C458-D469-8445CB633261}"/>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007A9565-F28D-E535-E1AA-98999E2BB2B3}"/>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C6F73FCC-93C4-6F29-143B-25EC6AD08261}"/>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79F710C9-81FE-7BEF-5D2E-F687B446EC96}"/>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EDB6A93-47D8-A4F6-4C24-80F87C16504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C495B5D3-F8C4-96BB-5555-A20D4267477F}"/>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7C0283E3-D9FE-1E52-EBE7-0E3F5E31DA0C}"/>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E9991CFF-C522-28B4-4E9C-87EB471656B5}"/>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A0922658-C409-A932-3E16-A6749B12DB64}"/>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EC188EB4-66EF-CC79-7868-9A34A218F57A}"/>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86AC90BB-A7EB-4D86-AA3E-8A3F434E8AD1}"/>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indent="-182880">
              <a:spcBef>
                <a:spcPts val="600"/>
              </a:spcBef>
              <a:buClr>
                <a:srgbClr val="FF9400"/>
              </a:buClr>
              <a:defRPr/>
            </a:pPr>
            <a:r>
              <a:rPr lang="en-US" sz="1400">
                <a:solidFill>
                  <a:srgbClr val="000000"/>
                </a:solidFill>
              </a:rPr>
              <a:t>End-to-end encryption</a:t>
            </a:r>
            <a:endPar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endParaRP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5A91A28F-5598-7702-6483-7003594FB07E}"/>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3600BD75-DA3A-AB70-CBC7-99293EC6A6B5}"/>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13FFA6D5-B124-0707-FAAA-BB5DF4AD16C1}"/>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6D3B6D2D-2EB1-5ED2-15CB-0E6BAA5ED0BF}"/>
              </a:ext>
            </a:extLst>
          </p:cNvPr>
          <p:cNvSpPr txBox="1"/>
          <p:nvPr/>
        </p:nvSpPr>
        <p:spPr bwMode="auto">
          <a:xfrm>
            <a:off x="-858982" y="5417127"/>
            <a:ext cx="0" cy="0"/>
          </a:xfrm>
          <a:prstGeom prst="rect">
            <a:avLst/>
          </a:prstGeom>
          <a:noFill/>
        </p:spPr>
        <p:txBody>
          <a:bodyPr wrap="none" rtlCol="0">
            <a:noAutofit/>
          </a:bodyPr>
          <a:lstStyle/>
          <a:p>
            <a:pPr algn="l">
              <a:spcBef>
                <a:spcPts val="600"/>
              </a:spcBef>
            </a:pPr>
            <a:endParaRPr lang="en-US"/>
          </a:p>
        </p:txBody>
      </p:sp>
    </p:spTree>
    <p:extLst>
      <p:ext uri="{BB962C8B-B14F-4D97-AF65-F5344CB8AC3E}">
        <p14:creationId xmlns:p14="http://schemas.microsoft.com/office/powerpoint/2010/main" val="304497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529A9B6B-BCAD-D3E1-0849-5476879FDF9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B55063D4-EC0E-DDC3-2BEE-86AD83318753}"/>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84FF8D59-8832-E3F7-7E06-C64C46E26DA6}"/>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29DCAF85-60BB-B142-E2F1-F4BAC3C20521}"/>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B7B659BE-2A87-F7CC-C6DF-B49EF208FB9A}"/>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8BBA9E92-F3D1-595E-2D2E-C588A610FD4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9FE65812-7F86-4F99-93ED-F8927AA4E196}"/>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FF84229D-B094-40F2-AB60-5687A2BFE8CC}"/>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25</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A73BC4E1-33EA-1B76-8179-F4C4D61C279E}"/>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36C5BAAF-C63A-F59D-89FB-A0EBF430201B}"/>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47261874-7E78-CAE6-060F-5671C4303210}"/>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CFFDF04-4E52-CBAD-ABD1-F83E2567DF74}"/>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3ACA3D33-5B34-19F0-2269-1242F99BED10}"/>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35E7B624-F992-4632-45CE-485F1035E309}"/>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45D2E7C8-13DB-FBE2-FF3B-74B734691EFB}"/>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65A54961-4743-0C61-D68A-5885F8C5A037}"/>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A466C1B3-358F-56D3-93A6-0ACC7EBC5B1E}"/>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25</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FDA1EBC5-11A6-C49F-B816-E0784B58CE39}"/>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DE9EBFA9-4AB2-7D46-4A3A-A0838314F792}"/>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93C9E28E-ADF1-144B-7013-D17861D306D5}"/>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6A92025A-B988-520D-C5AD-F7356F175F16}"/>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C323F97F-6A06-3845-2741-BEC87C27956F}"/>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30445C00-33EC-6617-BF36-7BBD77EBE91F}"/>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3625197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38BD602-C957-9A1F-918C-2FDE100F4031}"/>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260CCA6B-D9E1-2556-9B45-DC4C0898D8C8}"/>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E9753DAC-9B09-D01D-BF7E-36E4D49498EE}"/>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F46788A7-4CE4-9A70-D190-8303850D2D52}"/>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CD1D0683-38B1-DD49-696F-C523938CB8C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DF33ED2D-FA82-04AD-23B6-552DA032825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C3E0A6C0-FAAD-8226-A9C6-17B29C4D306F}"/>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4A4D42F3-7CA1-DFE5-50B1-AA07EC071F52}"/>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1303F8C4-7519-D524-D5EC-7142DA559F90}"/>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DE55D066-E54C-8DE0-D91D-371F48A82587}"/>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7BED1774-C8F4-DABC-F215-85A6AD24B75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CF974473-FC97-1170-0FFF-513F0FEA5CBE}"/>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26</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306651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39C1-E443-F301-D810-1F1B62716A4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E6ED1825-6BFC-C9DF-AEEA-25E46F5B1E13}"/>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DCB6860B-3BB8-ABBE-BD0C-D4968C19D35E}"/>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92D75050-DDBA-AFB4-C105-9883D2607721}"/>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470A1F08-1C53-13D3-6189-C3D9FB3BFAC8}"/>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251EF00A-D9E0-FDC3-A2C7-08CF37F3EEF0}"/>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BDA4B0EF-03AF-2017-8E0C-35FD12FE6487}"/>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27</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74FC5EB2-1C92-85B1-99AF-422F77C759A1}"/>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825DBC55-5BFA-7DED-1EB4-16FF1C6042F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8C2ECAFF-B4E3-4301-A558-CC513D22095A}"/>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272A714C-418F-D4E2-A126-053F29DB8DE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07B07150-7CC3-6E97-7B6E-CD8519F4EB0E}"/>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B7E03199-C65D-4DC9-A350-15A614ED081C}"/>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760EBECB-8924-8A2B-102A-294C2620BB80}"/>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6760E695-7498-015E-1FA7-BA963DF69640}"/>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E5844D18-FB01-4E35-F757-BB34DEFD681B}"/>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634A131B-6546-DE4C-99A0-772E763AABFD}"/>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12BF9D68-0DF9-84D6-0751-4F18FE887E3E}"/>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E511A976-6812-9B3C-1600-7A6CF8EE85E7}"/>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a:t>
            </a:r>
            <a:r>
              <a:rPr lang="en-US" sz="1400" dirty="0">
                <a:solidFill>
                  <a:srgbClr val="FFFFFF"/>
                </a:solidFill>
                <a:latin typeface="Arial"/>
              </a:rPr>
              <a:t>view </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8D761B89-64B5-ABBD-C1C1-507D3501FE63}"/>
              </a:ext>
            </a:extLst>
          </p:cNvPr>
          <p:cNvSpPr/>
          <p:nvPr/>
        </p:nvSpPr>
        <p:spPr>
          <a:xfrm>
            <a:off x="6495605" y="5016508"/>
            <a:ext cx="4922124" cy="1279928"/>
          </a:xfrm>
          <a:prstGeom prst="rect">
            <a:avLst/>
          </a:prstGeom>
          <a:noFill/>
          <a:ln/>
        </p:spPr>
        <p:txBody>
          <a:bodyPr wrap="square" lIns="274320" tIns="0" rtlCol="0" anchor="t">
            <a:noAutofit/>
          </a:bodyPr>
          <a:lstStyle/>
          <a:p>
            <a:pPr marL="182563" lvl="0" indent="-182563">
              <a:spcBef>
                <a:spcPts val="300"/>
              </a:spcBef>
              <a:buClr>
                <a:srgbClr val="FF9400"/>
              </a:buClr>
              <a:buFont typeface="Arial" panose="020B0604020202020204" pitchFamily="34" charset="0"/>
              <a:buChar char="•"/>
              <a:defRPr/>
            </a:pPr>
            <a:r>
              <a:rPr lang="en-US" sz="1400" dirty="0">
                <a:solidFill>
                  <a:srgbClr val="FFFFFF"/>
                </a:solidFill>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F81CBB18-05A0-DC47-2E8A-13D1E7CE59BB}"/>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118588441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EF5F0-1F52-1205-E4AE-D14ED571C171}"/>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CAD64E1-3A22-130B-9360-578640102045}"/>
              </a:ext>
            </a:extLst>
          </p:cNvPr>
          <p:cNvSpPr/>
          <p:nvPr/>
        </p:nvSpPr>
        <p:spPr bwMode="auto">
          <a:xfrm>
            <a:off x="4476608" y="1971833"/>
            <a:ext cx="7715392"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5" name="Group 14">
            <a:extLst>
              <a:ext uri="{FF2B5EF4-FFF2-40B4-BE49-F238E27FC236}">
                <a16:creationId xmlns:a16="http://schemas.microsoft.com/office/drawing/2014/main" id="{7C5D17A7-3C3F-4005-78A0-99A36D3A45EA}"/>
              </a:ext>
            </a:extLst>
          </p:cNvPr>
          <p:cNvGrpSpPr/>
          <p:nvPr/>
        </p:nvGrpSpPr>
        <p:grpSpPr>
          <a:xfrm>
            <a:off x="0" y="1958770"/>
            <a:ext cx="6096000" cy="3566871"/>
            <a:chOff x="0" y="1919581"/>
            <a:chExt cx="6096000" cy="3566871"/>
          </a:xfrm>
        </p:grpSpPr>
        <p:sp>
          <p:nvSpPr>
            <p:cNvPr id="9" name="Rectangle 8">
              <a:extLst>
                <a:ext uri="{FF2B5EF4-FFF2-40B4-BE49-F238E27FC236}">
                  <a16:creationId xmlns:a16="http://schemas.microsoft.com/office/drawing/2014/main" id="{853D3033-52DA-F23A-F80D-2E13DC1E9171}"/>
                </a:ext>
              </a:extLst>
            </p:cNvPr>
            <p:cNvSpPr/>
            <p:nvPr/>
          </p:nvSpPr>
          <p:spPr bwMode="auto">
            <a:xfrm>
              <a:off x="0" y="1932644"/>
              <a:ext cx="6096000" cy="3553808"/>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7" name="Picture 6" descr="A black and white pattern&#10;&#10;AI-generated content may be incorrect.">
              <a:extLst>
                <a:ext uri="{FF2B5EF4-FFF2-40B4-BE49-F238E27FC236}">
                  <a16:creationId xmlns:a16="http://schemas.microsoft.com/office/drawing/2014/main" id="{F37F3AE9-F015-3408-FF14-40AF3F31D3BE}"/>
                </a:ext>
              </a:extLst>
            </p:cNvPr>
            <p:cNvPicPr>
              <a:picLocks noChangeAspect="1"/>
            </p:cNvPicPr>
            <p:nvPr/>
          </p:nvPicPr>
          <p:blipFill>
            <a:blip r:embed="rId4"/>
            <a:srcRect l="21185" t="12310" r="382" b="6488"/>
            <a:stretch>
              <a:fillRect/>
            </a:stretch>
          </p:blipFill>
          <p:spPr>
            <a:xfrm>
              <a:off x="0" y="1932644"/>
              <a:ext cx="6096000" cy="3553808"/>
            </a:xfrm>
            <a:prstGeom prst="rect">
              <a:avLst/>
            </a:prstGeom>
          </p:spPr>
        </p:pic>
        <p:sp>
          <p:nvSpPr>
            <p:cNvPr id="8" name="Fade">
              <a:extLst>
                <a:ext uri="{FF2B5EF4-FFF2-40B4-BE49-F238E27FC236}">
                  <a16:creationId xmlns:a16="http://schemas.microsoft.com/office/drawing/2014/main" id="{E3AFA7C7-EF1A-D252-6CCF-244B026FA912}"/>
                </a:ext>
              </a:extLst>
            </p:cNvPr>
            <p:cNvSpPr/>
            <p:nvPr/>
          </p:nvSpPr>
          <p:spPr bwMode="auto">
            <a:xfrm flipH="1" flipV="1">
              <a:off x="0" y="1932644"/>
              <a:ext cx="6096000" cy="3553808"/>
            </a:xfrm>
            <a:prstGeom prst="rect">
              <a:avLst/>
            </a:prstGeom>
            <a:gradFill>
              <a:gsLst>
                <a:gs pos="0">
                  <a:schemeClr val="tx1">
                    <a:lumMod val="75000"/>
                    <a:lumOff val="25000"/>
                    <a:alpha val="65000"/>
                  </a:schemeClr>
                </a:gs>
                <a:gs pos="72000">
                  <a:schemeClr val="tx1">
                    <a:alpha val="71000"/>
                  </a:schemeClr>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14" name="Right Triangle 13">
              <a:extLst>
                <a:ext uri="{FF2B5EF4-FFF2-40B4-BE49-F238E27FC236}">
                  <a16:creationId xmlns:a16="http://schemas.microsoft.com/office/drawing/2014/main" id="{5A7B1280-F21A-77B1-2A5F-A474F4381268}"/>
                </a:ext>
              </a:extLst>
            </p:cNvPr>
            <p:cNvSpPr/>
            <p:nvPr/>
          </p:nvSpPr>
          <p:spPr bwMode="auto">
            <a:xfrm rot="10800000">
              <a:off x="5047837" y="1919581"/>
              <a:ext cx="1048163" cy="731936"/>
            </a:xfrm>
            <a:prstGeom prst="rtTriangle">
              <a:avLst/>
            </a:prstGeom>
            <a:solidFill>
              <a:schemeClr val="bg1">
                <a:lumMod val="95000"/>
              </a:schemeClr>
            </a:solidFill>
            <a:ln w="12700" cap="sq" algn="ctr">
              <a:noFill/>
              <a:prstDash val="dash"/>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sp>
        <p:nvSpPr>
          <p:cNvPr id="2" name="Title 1">
            <a:extLst>
              <a:ext uri="{FF2B5EF4-FFF2-40B4-BE49-F238E27FC236}">
                <a16:creationId xmlns:a16="http://schemas.microsoft.com/office/drawing/2014/main" id="{3365C48D-5949-94F3-2DA6-014D4C37D5C6}"/>
              </a:ext>
            </a:extLst>
          </p:cNvPr>
          <p:cNvSpPr>
            <a:spLocks noGrp="1"/>
          </p:cNvSpPr>
          <p:nvPr>
            <p:ph type="title"/>
          </p:nvPr>
        </p:nvSpPr>
        <p:spPr/>
        <p:txBody>
          <a:bodyPr/>
          <a:lstStyle/>
          <a:p>
            <a:r>
              <a:rPr lang="en-US" sz="3600"/>
              <a:t>Instant Private Fabric for Distributed </a:t>
            </a:r>
            <a:br>
              <a:rPr lang="en-US" sz="3600"/>
            </a:br>
            <a:r>
              <a:rPr lang="en-US" sz="3600"/>
              <a:t>AI Infrastructure </a:t>
            </a:r>
          </a:p>
        </p:txBody>
      </p:sp>
      <p:sp>
        <p:nvSpPr>
          <p:cNvPr id="4" name="TextBox 3">
            <a:extLst>
              <a:ext uri="{FF2B5EF4-FFF2-40B4-BE49-F238E27FC236}">
                <a16:creationId xmlns:a16="http://schemas.microsoft.com/office/drawing/2014/main" id="{FE82560F-CE9B-C4E2-C69B-94A5011A95C2}"/>
              </a:ext>
            </a:extLst>
          </p:cNvPr>
          <p:cNvSpPr txBox="1"/>
          <p:nvPr/>
        </p:nvSpPr>
        <p:spPr>
          <a:xfrm>
            <a:off x="833434" y="2859727"/>
            <a:ext cx="4421400" cy="89768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Tomorrow Medium"/>
                <a:ea typeface="+mn-ea"/>
                <a:cs typeface="Calibri" pitchFamily="34" charset="-120"/>
              </a:rPr>
              <a:t>One </a:t>
            </a:r>
            <a:r>
              <a:rPr lang="en-US" sz="2400" dirty="0">
                <a:solidFill>
                  <a:srgbClr val="FFFFFF"/>
                </a:solidFill>
                <a:latin typeface="Tomorrow Medium"/>
                <a:cs typeface="Calibri" pitchFamily="34" charset="-120"/>
              </a:rPr>
              <a:t>PBC</a:t>
            </a:r>
            <a:r>
              <a:rPr kumimoji="0" lang="en-US" sz="2400" b="0" i="0" u="none" strike="noStrike" kern="1200" cap="none" spc="0" normalizeH="0" baseline="0" noProof="0" dirty="0">
                <a:ln>
                  <a:noFill/>
                </a:ln>
                <a:solidFill>
                  <a:srgbClr val="FFFFFF"/>
                </a:solidFill>
                <a:effectLst/>
                <a:uLnTx/>
                <a:uFillTx/>
                <a:latin typeface="Tomorrow Medium"/>
                <a:ea typeface="+mn-ea"/>
                <a:cs typeface="Calibri" pitchFamily="34" charset="-120"/>
              </a:rPr>
              <a:t>. Instant private connectivity, anywhere. </a:t>
            </a:r>
            <a:endParaRPr kumimoji="0" lang="en-US" sz="2400" b="0" i="0" u="none" strike="noStrike" kern="1200" cap="none" spc="0" normalizeH="0" baseline="0" noProof="0" dirty="0">
              <a:ln>
                <a:noFill/>
              </a:ln>
              <a:solidFill>
                <a:srgbClr val="FFFFFF"/>
              </a:solidFill>
              <a:effectLst/>
              <a:uLnTx/>
              <a:uFillTx/>
              <a:latin typeface="Tomorrow Medium"/>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lang="en-US" sz="2400" dirty="0">
                <a:solidFill>
                  <a:srgbClr val="FFC200"/>
                </a:solidFill>
                <a:latin typeface="Tomorrow Medium"/>
                <a:ea typeface="Calibri" pitchFamily="34" charset="-122"/>
                <a:cs typeface="Calibri" pitchFamily="34" charset="-120"/>
              </a:rPr>
              <a:t>Ethernet over </a:t>
            </a:r>
            <a: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t>DIA or wave. </a:t>
            </a:r>
            <a:b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br>
            <a:r>
              <a:rPr kumimoji="0" lang="en-US" sz="2400" b="0" i="0" u="none" strike="noStrike" kern="1200" cap="none" spc="0" normalizeH="0" baseline="0" noProof="0" dirty="0">
                <a:ln>
                  <a:noFill/>
                </a:ln>
                <a:solidFill>
                  <a:srgbClr val="FFC200"/>
                </a:solidFill>
                <a:effectLst/>
                <a:uLnTx/>
                <a:uFillTx/>
                <a:latin typeface="Tomorrow Medium"/>
                <a:ea typeface="Calibri" pitchFamily="34" charset="-122"/>
                <a:cs typeface="Calibri" pitchFamily="34" charset="-120"/>
              </a:rPr>
              <a:t>Live in minutes, not years.</a:t>
            </a:r>
            <a:endParaRPr kumimoji="0" lang="en-US" sz="2400" b="0" i="0" u="none" strike="noStrike" kern="1200" cap="none" spc="0" normalizeH="0" baseline="0" noProof="0" dirty="0">
              <a:ln>
                <a:noFill/>
              </a:ln>
              <a:solidFill>
                <a:srgbClr val="FFC200"/>
              </a:solidFill>
              <a:effectLst/>
              <a:uLnTx/>
              <a:uFillTx/>
              <a:latin typeface="Tomorrow Medium"/>
              <a:ea typeface="+mn-ea"/>
              <a:cs typeface="+mn-cs"/>
            </a:endParaRPr>
          </a:p>
        </p:txBody>
      </p:sp>
      <p:sp>
        <p:nvSpPr>
          <p:cNvPr id="13" name="Rectangle 12">
            <a:extLst>
              <a:ext uri="{FF2B5EF4-FFF2-40B4-BE49-F238E27FC236}">
                <a16:creationId xmlns:a16="http://schemas.microsoft.com/office/drawing/2014/main" id="{F21D499D-D6C6-3A73-7CC9-7B2971F24360}"/>
              </a:ext>
            </a:extLst>
          </p:cNvPr>
          <p:cNvSpPr/>
          <p:nvPr/>
        </p:nvSpPr>
        <p:spPr bwMode="auto">
          <a:xfrm>
            <a:off x="495300" y="2864307"/>
            <a:ext cx="27432" cy="17373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3" name="TextBox 22">
            <a:extLst>
              <a:ext uri="{FF2B5EF4-FFF2-40B4-BE49-F238E27FC236}">
                <a16:creationId xmlns:a16="http://schemas.microsoft.com/office/drawing/2014/main" id="{D45CDE36-6478-2F12-8573-9F9BEBF31EB2}"/>
              </a:ext>
            </a:extLst>
          </p:cNvPr>
          <p:cNvSpPr txBox="1"/>
          <p:nvPr/>
        </p:nvSpPr>
        <p:spPr bwMode="auto">
          <a:xfrm>
            <a:off x="6591300" y="2690707"/>
            <a:ext cx="5015017" cy="214674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rPr>
              <a:t>Deterministic performance</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rPr>
              <a:t>No routing complexity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Sovereign Routing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Multi-tenant </a:t>
            </a:r>
          </a:p>
          <a:p>
            <a:pPr marL="285750" marR="0" lvl="0" indent="-285750" algn="l" defTabSz="914400" rtl="0" eaLnBrk="1" fontAlgn="auto" latinLnBrk="0" hangingPunct="1">
              <a:lnSpc>
                <a:spcPct val="100000"/>
              </a:lnSpc>
              <a:spcBef>
                <a:spcPts val="0"/>
              </a:spcBef>
              <a:spcAft>
                <a:spcPts val="900"/>
              </a:spcAft>
              <a:buClrTx/>
              <a:buSzTx/>
              <a:buFontTx/>
              <a:buBlip>
                <a:blip>
                  <a:extLst>
                    <a:ext uri="{96DAC541-7B7A-43D3-8B79-37D633B846F1}">
                      <asvg:svgBlip xmlns:asvg="http://schemas.microsoft.com/office/drawing/2016/SVG/main" r:embed="rId5"/>
                    </a:ext>
                  </a:extLst>
                </a:blip>
              </a:buBlip>
              <a:tabLst/>
              <a:defRPr/>
            </a:pPr>
            <a:r>
              <a:rPr lang="en-US" sz="1600" dirty="0">
                <a:solidFill>
                  <a:srgbClr val="000000"/>
                </a:solidFill>
                <a:latin typeface="Arial"/>
                <a:ea typeface="Calibri" pitchFamily="34" charset="-122"/>
                <a:cs typeface="Calibri" pitchFamily="34" charset="-120"/>
              </a:rPr>
              <a:t>End-to-end visibility </a:t>
            </a:r>
          </a:p>
          <a:p>
            <a:pPr marR="0" lvl="0" algn="l" defTabSz="914400" rtl="0" eaLnBrk="1" fontAlgn="auto" latinLnBrk="0" hangingPunct="1">
              <a:lnSpc>
                <a:spcPct val="100000"/>
              </a:lnSpc>
              <a:spcBef>
                <a:spcPts val="0"/>
              </a:spcBef>
              <a:spcAft>
                <a:spcPts val="900"/>
              </a:spcAft>
              <a:buClrTx/>
              <a:buSzTx/>
              <a:tabLst/>
              <a:defRPr/>
            </a:pPr>
            <a:endParaRPr kumimoji="0" lang="en-US" sz="1600" b="0" i="0" u="none" strike="noStrike" kern="1200" cap="none" spc="0" normalizeH="0" baseline="0" noProof="0" dirty="0">
              <a:ln>
                <a:noFill/>
              </a:ln>
              <a:solidFill>
                <a:srgbClr val="000000"/>
              </a:solidFill>
              <a:effectLst/>
              <a:uLnTx/>
              <a:uFillTx/>
              <a:latin typeface="Arial"/>
              <a:ea typeface="Calibri" pitchFamily="34" charset="-122"/>
              <a:cs typeface="Calibri" pitchFamily="34" charset="-120"/>
            </a:endParaRPr>
          </a:p>
        </p:txBody>
      </p:sp>
      <p:sp>
        <p:nvSpPr>
          <p:cNvPr id="24" name="Slide Number Placeholder 1">
            <a:extLst>
              <a:ext uri="{FF2B5EF4-FFF2-40B4-BE49-F238E27FC236}">
                <a16:creationId xmlns:a16="http://schemas.microsoft.com/office/drawing/2014/main" id="{850878FB-7010-DB65-195D-E20B1810C8D3}"/>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custDataLst>
      <p:tags r:id="rId1"/>
    </p:custDataLst>
    <p:extLst>
      <p:ext uri="{BB962C8B-B14F-4D97-AF65-F5344CB8AC3E}">
        <p14:creationId xmlns:p14="http://schemas.microsoft.com/office/powerpoint/2010/main" val="36864796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118E5-1BE5-EF53-A637-B8B9C23CA23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46692EB-ED3C-4DB2-C63F-7E2486CACA7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29</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2025 MaiaEdge</a:t>
            </a:r>
          </a:p>
        </p:txBody>
      </p:sp>
      <p:pic>
        <p:nvPicPr>
          <p:cNvPr id="7" name="Picture 6">
            <a:extLst>
              <a:ext uri="{FF2B5EF4-FFF2-40B4-BE49-F238E27FC236}">
                <a16:creationId xmlns:a16="http://schemas.microsoft.com/office/drawing/2014/main" id="{F977EDBB-27DB-1121-9B6D-C6E1366D0D1C}"/>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0"/>
            <a:ext cx="12192000" cy="6857998"/>
          </a:xfrm>
          <a:prstGeom prst="rect">
            <a:avLst/>
          </a:prstGeom>
        </p:spPr>
      </p:pic>
      <p:grpSp>
        <p:nvGrpSpPr>
          <p:cNvPr id="9" name="Maia Logo">
            <a:extLst>
              <a:ext uri="{FF2B5EF4-FFF2-40B4-BE49-F238E27FC236}">
                <a16:creationId xmlns:a16="http://schemas.microsoft.com/office/drawing/2014/main" id="{3E7B4E57-C9CF-63D5-4805-AF2FC6642EDF}"/>
              </a:ext>
            </a:extLst>
          </p:cNvPr>
          <p:cNvGrpSpPr/>
          <p:nvPr/>
        </p:nvGrpSpPr>
        <p:grpSpPr>
          <a:xfrm>
            <a:off x="9982492" y="6181218"/>
            <a:ext cx="1700948" cy="415640"/>
            <a:chOff x="1447800" y="2292350"/>
            <a:chExt cx="7774788" cy="1899831"/>
          </a:xfrm>
        </p:grpSpPr>
        <p:sp>
          <p:nvSpPr>
            <p:cNvPr id="10" name="Freeform 20">
              <a:extLst>
                <a:ext uri="{FF2B5EF4-FFF2-40B4-BE49-F238E27FC236}">
                  <a16:creationId xmlns:a16="http://schemas.microsoft.com/office/drawing/2014/main" id="{52EF7766-5485-F3FC-F21A-5EB581020A37}"/>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8DFAB871-AF30-EBC3-9A9E-B1DA0F614EA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675EC66B-62AA-8A95-A28D-386F7C82808A}"/>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3" name="Slide Number Placeholder 21">
            <a:extLst>
              <a:ext uri="{FF2B5EF4-FFF2-40B4-BE49-F238E27FC236}">
                <a16:creationId xmlns:a16="http://schemas.microsoft.com/office/drawing/2014/main" id="{A466956B-86F8-2493-83AC-D7A799C223E0}"/>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Tree>
    <p:extLst>
      <p:ext uri="{BB962C8B-B14F-4D97-AF65-F5344CB8AC3E}">
        <p14:creationId xmlns:p14="http://schemas.microsoft.com/office/powerpoint/2010/main" val="215894569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6722-A5F1-A7AE-DB30-1A3013F025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B983EC-6E52-21AF-8719-CBEBE2E7ED6E}"/>
              </a:ext>
            </a:extLst>
          </p:cNvPr>
          <p:cNvSpPr>
            <a:spLocks noGrp="1"/>
          </p:cNvSpPr>
          <p:nvPr>
            <p:ph type="ctrTitle"/>
          </p:nvPr>
        </p:nvSpPr>
        <p:spPr>
          <a:xfrm>
            <a:off x="510362" y="2560320"/>
            <a:ext cx="7452360" cy="1682495"/>
          </a:xfrm>
        </p:spPr>
        <p:txBody>
          <a:bodyPr/>
          <a:lstStyle/>
          <a:p>
            <a:r>
              <a:rPr lang="en-US" dirty="0"/>
              <a:t>Fabric of Fabrics </a:t>
            </a:r>
          </a:p>
        </p:txBody>
      </p:sp>
      <p:sp>
        <p:nvSpPr>
          <p:cNvPr id="5" name="Subtitle 4">
            <a:extLst>
              <a:ext uri="{FF2B5EF4-FFF2-40B4-BE49-F238E27FC236}">
                <a16:creationId xmlns:a16="http://schemas.microsoft.com/office/drawing/2014/main" id="{C89DCEE6-09A2-C837-B1E1-7EC1E3394948}"/>
              </a:ext>
            </a:extLst>
          </p:cNvPr>
          <p:cNvSpPr>
            <a:spLocks noGrp="1"/>
          </p:cNvSpPr>
          <p:nvPr>
            <p:ph type="subTitle" idx="1"/>
          </p:nvPr>
        </p:nvSpPr>
        <p:spPr>
          <a:xfrm>
            <a:off x="510362" y="4506932"/>
            <a:ext cx="7452360" cy="914400"/>
          </a:xfrm>
        </p:spPr>
        <p:txBody>
          <a:bodyPr/>
          <a:lstStyle/>
          <a:p>
            <a:r>
              <a:rPr lang="en-US" dirty="0"/>
              <a:t>Instant DCI, Virtual MMRs, Connectivity Marketplace </a:t>
            </a:r>
          </a:p>
        </p:txBody>
      </p:sp>
      <p:sp>
        <p:nvSpPr>
          <p:cNvPr id="36" name="Text Placeholder 35">
            <a:extLst>
              <a:ext uri="{FF2B5EF4-FFF2-40B4-BE49-F238E27FC236}">
                <a16:creationId xmlns:a16="http://schemas.microsoft.com/office/drawing/2014/main" id="{C4268BEA-75F2-515F-1B93-081FC056466C}"/>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5DFD5446-45CC-1ABF-B4FE-30DDBE98B1B3}"/>
              </a:ext>
            </a:extLst>
          </p:cNvPr>
          <p:cNvSpPr>
            <a:spLocks noGrp="1"/>
          </p:cNvSpPr>
          <p:nvPr>
            <p:ph type="body" sz="quarter" idx="12"/>
          </p:nvPr>
        </p:nvSpPr>
        <p:spPr>
          <a:xfrm>
            <a:off x="510362" y="2103120"/>
            <a:ext cx="7452360" cy="457200"/>
          </a:xfrm>
        </p:spPr>
        <p:txBody>
          <a:bodyPr/>
          <a:lstStyle/>
          <a:p>
            <a:r>
              <a:rPr lang="en-US" dirty="0"/>
              <a:t>DATA CENTERS AND COLOCATION PROVIDERS</a:t>
            </a:r>
          </a:p>
        </p:txBody>
      </p:sp>
      <p:sp>
        <p:nvSpPr>
          <p:cNvPr id="37" name="Slide Number Placeholder 36">
            <a:extLst>
              <a:ext uri="{FF2B5EF4-FFF2-40B4-BE49-F238E27FC236}">
                <a16:creationId xmlns:a16="http://schemas.microsoft.com/office/drawing/2014/main" id="{DF7F45A0-D985-5C52-C7E3-29E4D87B7DC7}"/>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27498521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B6BCC-EE27-B1EB-BB33-58E2B95A28EC}"/>
            </a:ext>
          </a:extLst>
        </p:cNvPr>
        <p:cNvGrpSpPr/>
        <p:nvPr/>
      </p:nvGrpSpPr>
      <p:grpSpPr>
        <a:xfrm>
          <a:off x="0" y="0"/>
          <a:ext cx="0" cy="0"/>
          <a:chOff x="0" y="0"/>
          <a:chExt cx="0" cy="0"/>
        </a:xfrm>
      </p:grpSpPr>
      <p:pic>
        <p:nvPicPr>
          <p:cNvPr id="7" name="Picture 6"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8719376D-9628-9946-A74F-802F9CE9ABD4}"/>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22" name="Maia Logo">
            <a:extLst>
              <a:ext uri="{FF2B5EF4-FFF2-40B4-BE49-F238E27FC236}">
                <a16:creationId xmlns:a16="http://schemas.microsoft.com/office/drawing/2014/main" id="{A4063426-CA40-83A0-D7FD-EC31A38FC805}"/>
              </a:ext>
            </a:extLst>
          </p:cNvPr>
          <p:cNvGrpSpPr/>
          <p:nvPr/>
        </p:nvGrpSpPr>
        <p:grpSpPr>
          <a:xfrm>
            <a:off x="9982492" y="6181218"/>
            <a:ext cx="1700948" cy="415640"/>
            <a:chOff x="1447800" y="2292350"/>
            <a:chExt cx="7774788" cy="1899831"/>
          </a:xfrm>
        </p:grpSpPr>
        <p:sp>
          <p:nvSpPr>
            <p:cNvPr id="23" name="Freeform 20">
              <a:extLst>
                <a:ext uri="{FF2B5EF4-FFF2-40B4-BE49-F238E27FC236}">
                  <a16:creationId xmlns:a16="http://schemas.microsoft.com/office/drawing/2014/main" id="{345C27F7-9929-DCF4-A5D2-4B6B33D54502}"/>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1">
              <a:extLst>
                <a:ext uri="{FF2B5EF4-FFF2-40B4-BE49-F238E27FC236}">
                  <a16:creationId xmlns:a16="http://schemas.microsoft.com/office/drawing/2014/main" id="{B6461DD9-98C1-B41A-0A53-E8F9F04B51F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2">
              <a:extLst>
                <a:ext uri="{FF2B5EF4-FFF2-40B4-BE49-F238E27FC236}">
                  <a16:creationId xmlns:a16="http://schemas.microsoft.com/office/drawing/2014/main" id="{528F8959-CA47-DA66-93CE-CCED7E53CEE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extBox 2">
            <a:extLst>
              <a:ext uri="{FF2B5EF4-FFF2-40B4-BE49-F238E27FC236}">
                <a16:creationId xmlns:a16="http://schemas.microsoft.com/office/drawing/2014/main" id="{EAA7A680-FFA2-2722-DE44-5F0DE4933ABA}"/>
              </a:ext>
            </a:extLst>
          </p:cNvPr>
          <p:cNvSpPr txBox="1"/>
          <p:nvPr/>
        </p:nvSpPr>
        <p:spPr>
          <a:xfrm>
            <a:off x="1594592" y="5030550"/>
            <a:ext cx="8304550" cy="461665"/>
          </a:xfrm>
          <a:prstGeom prst="rect">
            <a:avLst/>
          </a:prstGeom>
          <a:noFill/>
        </p:spPr>
        <p:txBody>
          <a:bodyPr wrap="square" lIns="0">
            <a:spAutoFit/>
          </a:bodyPr>
          <a:lstStyle/>
          <a:p>
            <a:pPr marL="0" marR="0" lvl="0" indent="0" algn="l" defTabSz="914400" rtl="0" eaLnBrk="1" fontAlgn="auto" latinLnBrk="0" hangingPunct="1">
              <a:lnSpc>
                <a:spcPct val="100000"/>
              </a:lnSpc>
              <a:spcBef>
                <a:spcPts val="1200"/>
              </a:spcBef>
              <a:spcAft>
                <a:spcPts val="0"/>
              </a:spcAft>
              <a:buClr>
                <a:srgbClr val="FF9400"/>
              </a:buClr>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Roboto Medium" panose="02000000000000000000" pitchFamily="2" charset="0"/>
                <a:cs typeface="Arial" panose="020B0604020202020204" pitchFamily="34" charset="0"/>
              </a:rPr>
              <a:t>Programmable private paths — </a:t>
            </a:r>
            <a:r>
              <a:rPr kumimoji="0" lang="en-US" sz="2400" b="1" i="0" u="none" strike="noStrike" kern="1200" cap="none" spc="0" normalizeH="0" baseline="0" noProof="0" dirty="0">
                <a:ln>
                  <a:noFill/>
                </a:ln>
                <a:solidFill>
                  <a:srgbClr val="FFFFFF"/>
                </a:solidFill>
                <a:effectLst/>
                <a:uLnTx/>
                <a:uFillTx/>
                <a:latin typeface="Arial"/>
                <a:ea typeface="Roboto Medium" panose="02000000000000000000" pitchFamily="2" charset="0"/>
                <a:cs typeface="Arial" panose="020B0604020202020204" pitchFamily="34" charset="0"/>
              </a:rPr>
              <a:t>instant network fabric. </a:t>
            </a:r>
          </a:p>
        </p:txBody>
      </p:sp>
      <p:sp>
        <p:nvSpPr>
          <p:cNvPr id="2" name="TextBox 1">
            <a:extLst>
              <a:ext uri="{FF2B5EF4-FFF2-40B4-BE49-F238E27FC236}">
                <a16:creationId xmlns:a16="http://schemas.microsoft.com/office/drawing/2014/main" id="{2EBE9DF5-7DEC-1AD4-C6AE-9F4B1567EF8D}"/>
              </a:ext>
            </a:extLst>
          </p:cNvPr>
          <p:cNvSpPr txBox="1"/>
          <p:nvPr/>
        </p:nvSpPr>
        <p:spPr>
          <a:xfrm>
            <a:off x="1594592" y="1188955"/>
            <a:ext cx="2930671" cy="369332"/>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solidFill>
                  <a:srgbClr val="FFC200"/>
                </a:solidFill>
                <a:effectLst/>
                <a:uLnTx/>
                <a:uFillTx/>
                <a:latin typeface="Tomorrow"/>
                <a:ea typeface="Verdana"/>
                <a:cs typeface="Arial"/>
              </a:rPr>
              <a:t>OUR VISION</a:t>
            </a:r>
            <a:endParaRPr kumimoji="0" lang="en-US" sz="1800" b="0" i="0" u="none" strike="noStrike" kern="1200" cap="none" spc="300" normalizeH="0" baseline="0" noProof="0">
              <a:ln>
                <a:noFill/>
              </a:ln>
              <a:solidFill>
                <a:srgbClr val="FFC200"/>
              </a:solidFill>
              <a:effectLst/>
              <a:uLnTx/>
              <a:uFillTx/>
              <a:latin typeface="Arial"/>
              <a:ea typeface="+mn-ea"/>
              <a:cs typeface="+mn-cs"/>
            </a:endParaRPr>
          </a:p>
        </p:txBody>
      </p:sp>
      <p:sp>
        <p:nvSpPr>
          <p:cNvPr id="5" name="Title 4">
            <a:extLst>
              <a:ext uri="{FF2B5EF4-FFF2-40B4-BE49-F238E27FC236}">
                <a16:creationId xmlns:a16="http://schemas.microsoft.com/office/drawing/2014/main" id="{57C9A9D1-7A03-CB55-C8C3-48A8D5E9951E}"/>
              </a:ext>
            </a:extLst>
          </p:cNvPr>
          <p:cNvSpPr>
            <a:spLocks noGrp="1"/>
          </p:cNvSpPr>
          <p:nvPr>
            <p:ph type="title"/>
          </p:nvPr>
        </p:nvSpPr>
        <p:spPr>
          <a:xfrm>
            <a:off x="1594592" y="1766397"/>
            <a:ext cx="9323185" cy="2873330"/>
          </a:xfrm>
        </p:spPr>
        <p:txBody>
          <a:bodyPr/>
          <a:lstStyle/>
          <a:p>
            <a:r>
              <a:rPr lang="en-US" sz="7200">
                <a:solidFill>
                  <a:schemeClr val="accent2"/>
                </a:solidFill>
              </a:rPr>
              <a:t>Instant Private </a:t>
            </a:r>
            <a:br>
              <a:rPr lang="en-US" sz="7200">
                <a:solidFill>
                  <a:schemeClr val="accent2"/>
                </a:solidFill>
              </a:rPr>
            </a:br>
            <a:r>
              <a:rPr lang="en-US" sz="7200">
                <a:solidFill>
                  <a:schemeClr val="accent2"/>
                </a:solidFill>
              </a:rPr>
              <a:t>Connectivity, </a:t>
            </a:r>
            <a:r>
              <a:rPr lang="en-US" sz="7200">
                <a:solidFill>
                  <a:schemeClr val="bg1"/>
                </a:solidFill>
              </a:rPr>
              <a:t>Anywhere.</a:t>
            </a:r>
            <a:endParaRPr lang="en-US" sz="7200"/>
          </a:p>
        </p:txBody>
      </p:sp>
      <p:sp>
        <p:nvSpPr>
          <p:cNvPr id="8" name="Slide Number Placeholder 21">
            <a:extLst>
              <a:ext uri="{FF2B5EF4-FFF2-40B4-BE49-F238E27FC236}">
                <a16:creationId xmlns:a16="http://schemas.microsoft.com/office/drawing/2014/main" id="{DC76D864-E261-807E-0B0A-19109A14EAB0}"/>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sp>
        <p:nvSpPr>
          <p:cNvPr id="27" name="Rectangle 26">
            <a:extLst>
              <a:ext uri="{FF2B5EF4-FFF2-40B4-BE49-F238E27FC236}">
                <a16:creationId xmlns:a16="http://schemas.microsoft.com/office/drawing/2014/main" id="{5D2AB133-C721-1ECC-452E-711C566263B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28313566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F0A0-04A6-DF01-8DC0-37E1F208B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E85323-EAAC-499D-C3F0-4677BAFD49C7}"/>
              </a:ext>
            </a:extLst>
          </p:cNvPr>
          <p:cNvSpPr>
            <a:spLocks noGrp="1"/>
          </p:cNvSpPr>
          <p:nvPr>
            <p:ph type="sldNum" sz="quarter" idx="10"/>
          </p:nvPr>
        </p:nvSpPr>
        <p:spPr/>
        <p:txBody>
          <a:bodyPr/>
          <a:lstStyle/>
          <a:p>
            <a:fld id="{0246F002-FF83-614A-810B-169E974B53D7}" type="slidenum">
              <a:rPr lang="en-US" smtClean="0"/>
              <a:pPr/>
              <a:t>32</a:t>
            </a:fld>
            <a:r>
              <a:rPr lang="en-US"/>
              <a:t>  © 2026 MaiaEdge</a:t>
            </a:r>
            <a:endParaRPr lang="en-US" sz="900"/>
          </a:p>
        </p:txBody>
      </p:sp>
      <p:sp>
        <p:nvSpPr>
          <p:cNvPr id="4" name="Rectangle 3">
            <a:extLst>
              <a:ext uri="{FF2B5EF4-FFF2-40B4-BE49-F238E27FC236}">
                <a16:creationId xmlns:a16="http://schemas.microsoft.com/office/drawing/2014/main" id="{773B66B9-CBC1-71F7-E223-EA1186A0A33F}"/>
              </a:ext>
            </a:extLst>
          </p:cNvPr>
          <p:cNvSpPr/>
          <p:nvPr/>
        </p:nvSpPr>
        <p:spPr bwMode="auto">
          <a:xfrm>
            <a:off x="8808720" y="74221"/>
            <a:ext cx="3383280" cy="6858000"/>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 name="Freeform 4">
            <a:extLst>
              <a:ext uri="{FF2B5EF4-FFF2-40B4-BE49-F238E27FC236}">
                <a16:creationId xmlns:a16="http://schemas.microsoft.com/office/drawing/2014/main" id="{9E2B231B-9119-B8AB-0171-D4384278A83C}"/>
              </a:ext>
            </a:extLst>
          </p:cNvPr>
          <p:cNvSpPr/>
          <p:nvPr/>
        </p:nvSpPr>
        <p:spPr bwMode="auto">
          <a:xfrm>
            <a:off x="8808720" y="0"/>
            <a:ext cx="3383280" cy="6645280"/>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66B254DA-D6B0-2676-69C3-D928D8D30649}"/>
              </a:ext>
            </a:extLst>
          </p:cNvPr>
          <p:cNvSpPr txBox="1"/>
          <p:nvPr/>
        </p:nvSpPr>
        <p:spPr>
          <a:xfrm>
            <a:off x="9185422" y="773716"/>
            <a:ext cx="2861321" cy="159389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Acme Packet</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Invented Session Border Controller. Founded in 2000. Acquired by Oracle in 2013. </a:t>
            </a:r>
          </a:p>
        </p:txBody>
      </p:sp>
      <p:pic>
        <p:nvPicPr>
          <p:cNvPr id="9" name="Picture 8">
            <a:extLst>
              <a:ext uri="{FF2B5EF4-FFF2-40B4-BE49-F238E27FC236}">
                <a16:creationId xmlns:a16="http://schemas.microsoft.com/office/drawing/2014/main" id="{4FA43008-E146-5018-04D7-3D95C777A716}"/>
              </a:ext>
            </a:extLst>
          </p:cNvPr>
          <p:cNvPicPr preferRelativeResize="0">
            <a:picLocks/>
          </p:cNvPicPr>
          <p:nvPr/>
        </p:nvPicPr>
        <p:blipFill>
          <a:blip r:embed="rId3" cstate="email">
            <a:extLst>
              <a:ext uri="{28A0092B-C50C-407E-A947-70E740481C1C}">
                <a14:useLocalDpi xmlns:a14="http://schemas.microsoft.com/office/drawing/2010/main"/>
              </a:ext>
            </a:extLst>
          </a:blip>
          <a:srcRect l="-1" b="-1"/>
          <a:stretch>
            <a:fillRect/>
          </a:stretch>
        </p:blipFill>
        <p:spPr>
          <a:xfrm>
            <a:off x="496552" y="2486772"/>
            <a:ext cx="1547343" cy="1547343"/>
          </a:xfrm>
          <a:prstGeom prst="ellipse">
            <a:avLst/>
          </a:prstGeom>
          <a:effectLst/>
        </p:spPr>
      </p:pic>
      <p:pic>
        <p:nvPicPr>
          <p:cNvPr id="10" name="Picture 9">
            <a:extLst>
              <a:ext uri="{FF2B5EF4-FFF2-40B4-BE49-F238E27FC236}">
                <a16:creationId xmlns:a16="http://schemas.microsoft.com/office/drawing/2014/main" id="{D34E32F3-5F73-FD90-5507-FB173FA18B4D}"/>
              </a:ext>
            </a:extLst>
          </p:cNvPr>
          <p:cNvPicPr preferRelativeResize="0">
            <a:picLocks/>
          </p:cNvPicPr>
          <p:nvPr/>
        </p:nvPicPr>
        <p:blipFill>
          <a:blip r:embed="rId4" cstate="email">
            <a:extLst>
              <a:ext uri="{28A0092B-C50C-407E-A947-70E740481C1C}">
                <a14:useLocalDpi xmlns:a14="http://schemas.microsoft.com/office/drawing/2010/main"/>
              </a:ext>
            </a:extLst>
          </a:blip>
          <a:srcRect/>
          <a:stretch/>
        </p:blipFill>
        <p:spPr>
          <a:xfrm>
            <a:off x="2633653" y="2486772"/>
            <a:ext cx="1547343" cy="1547343"/>
          </a:xfrm>
          <a:prstGeom prst="ellipse">
            <a:avLst/>
          </a:prstGeom>
          <a:effectLst/>
        </p:spPr>
      </p:pic>
      <p:sp>
        <p:nvSpPr>
          <p:cNvPr id="14" name="TextBox 13">
            <a:extLst>
              <a:ext uri="{FF2B5EF4-FFF2-40B4-BE49-F238E27FC236}">
                <a16:creationId xmlns:a16="http://schemas.microsoft.com/office/drawing/2014/main" id="{5D027248-0216-DB48-83E0-237D47B16ABB}"/>
              </a:ext>
            </a:extLst>
          </p:cNvPr>
          <p:cNvSpPr txBox="1"/>
          <p:nvPr/>
        </p:nvSpPr>
        <p:spPr>
          <a:xfrm>
            <a:off x="185340"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ABILASH MENON</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CEO &amp; Co-Founder</a:t>
            </a:r>
          </a:p>
        </p:txBody>
      </p:sp>
      <p:sp>
        <p:nvSpPr>
          <p:cNvPr id="15" name="TextBox 14">
            <a:extLst>
              <a:ext uri="{FF2B5EF4-FFF2-40B4-BE49-F238E27FC236}">
                <a16:creationId xmlns:a16="http://schemas.microsoft.com/office/drawing/2014/main" id="{4BBF3A74-2408-B5EC-30BA-D23BA072A3B8}"/>
              </a:ext>
            </a:extLst>
          </p:cNvPr>
          <p:cNvSpPr txBox="1"/>
          <p:nvPr/>
        </p:nvSpPr>
        <p:spPr>
          <a:xfrm>
            <a:off x="2322441" y="4118939"/>
            <a:ext cx="2169766" cy="581761"/>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TIM ZIEMER</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CRO &amp; Co-Founder</a:t>
            </a:r>
          </a:p>
        </p:txBody>
      </p:sp>
      <p:sp>
        <p:nvSpPr>
          <p:cNvPr id="16" name="TextBox 15">
            <a:extLst>
              <a:ext uri="{FF2B5EF4-FFF2-40B4-BE49-F238E27FC236}">
                <a16:creationId xmlns:a16="http://schemas.microsoft.com/office/drawing/2014/main" id="{CF86E3F0-FD57-5BCC-1508-3480683B777E}"/>
              </a:ext>
            </a:extLst>
          </p:cNvPr>
          <p:cNvSpPr txBox="1"/>
          <p:nvPr/>
        </p:nvSpPr>
        <p:spPr>
          <a:xfrm>
            <a:off x="2322441"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17" name="TextBox 16">
            <a:extLst>
              <a:ext uri="{FF2B5EF4-FFF2-40B4-BE49-F238E27FC236}">
                <a16:creationId xmlns:a16="http://schemas.microsoft.com/office/drawing/2014/main" id="{4BFD4055-9E6C-CE5B-60C1-590C30BB092F}"/>
              </a:ext>
            </a:extLst>
          </p:cNvPr>
          <p:cNvSpPr txBox="1"/>
          <p:nvPr/>
        </p:nvSpPr>
        <p:spPr>
          <a:xfrm>
            <a:off x="223607" y="4792405"/>
            <a:ext cx="2093233"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Cisco, 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20" name="TextBox 19">
            <a:extLst>
              <a:ext uri="{FF2B5EF4-FFF2-40B4-BE49-F238E27FC236}">
                <a16:creationId xmlns:a16="http://schemas.microsoft.com/office/drawing/2014/main" id="{0691323C-E28F-4C77-6FF3-E6F4ECC583A8}"/>
              </a:ext>
            </a:extLst>
          </p:cNvPr>
          <p:cNvSpPr txBox="1"/>
          <p:nvPr/>
        </p:nvSpPr>
        <p:spPr>
          <a:xfrm>
            <a:off x="9177044" y="2796393"/>
            <a:ext cx="2861738" cy="1705082"/>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128 Technology</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Invented Secure Vector Routing. Founded in 2014. </a:t>
            </a:r>
            <a:r>
              <a:rPr lang="en-US" sz="1400">
                <a:solidFill>
                  <a:srgbClr val="FFFFFF">
                    <a:lumMod val="85000"/>
                  </a:srgbClr>
                </a:solidFill>
                <a:latin typeface="Arial"/>
              </a:rPr>
              <a:t>Acquired by Juniper Networks in 2020.</a:t>
            </a:r>
          </a:p>
        </p:txBody>
      </p:sp>
      <p:grpSp>
        <p:nvGrpSpPr>
          <p:cNvPr id="22" name="Group 21">
            <a:extLst>
              <a:ext uri="{FF2B5EF4-FFF2-40B4-BE49-F238E27FC236}">
                <a16:creationId xmlns:a16="http://schemas.microsoft.com/office/drawing/2014/main" id="{25CD8192-93F2-F681-7B68-41E7C6461DA0}"/>
              </a:ext>
            </a:extLst>
          </p:cNvPr>
          <p:cNvGrpSpPr/>
          <p:nvPr/>
        </p:nvGrpSpPr>
        <p:grpSpPr>
          <a:xfrm>
            <a:off x="9984505" y="6181905"/>
            <a:ext cx="1676381" cy="412539"/>
            <a:chOff x="1447800" y="2292350"/>
            <a:chExt cx="7720101" cy="1899831"/>
          </a:xfrm>
        </p:grpSpPr>
        <p:sp>
          <p:nvSpPr>
            <p:cNvPr id="23" name="Freeform 22">
              <a:extLst>
                <a:ext uri="{FF2B5EF4-FFF2-40B4-BE49-F238E27FC236}">
                  <a16:creationId xmlns:a16="http://schemas.microsoft.com/office/drawing/2014/main" id="{EF3D5031-5A8F-AD73-D93E-48ACB763EF7C}"/>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4" name="Freeform 23">
              <a:extLst>
                <a:ext uri="{FF2B5EF4-FFF2-40B4-BE49-F238E27FC236}">
                  <a16:creationId xmlns:a16="http://schemas.microsoft.com/office/drawing/2014/main" id="{7C26081A-7055-49F4-D245-673EF312DBAA}"/>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5" name="Freeform 24">
              <a:extLst>
                <a:ext uri="{FF2B5EF4-FFF2-40B4-BE49-F238E27FC236}">
                  <a16:creationId xmlns:a16="http://schemas.microsoft.com/office/drawing/2014/main" id="{049C2DA7-978D-F256-EDD9-98E05C04CFCB}"/>
                </a:ext>
              </a:extLst>
            </p:cNvPr>
            <p:cNvSpPr/>
            <p:nvPr/>
          </p:nvSpPr>
          <p:spPr>
            <a:xfrm>
              <a:off x="3691384" y="2705875"/>
              <a:ext cx="5476517"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CA58C13D-A9C8-A141-1308-2670657C436E}"/>
              </a:ext>
            </a:extLst>
          </p:cNvPr>
          <p:cNvSpPr txBox="1"/>
          <p:nvPr/>
        </p:nvSpPr>
        <p:spPr bwMode="auto">
          <a:xfrm>
            <a:off x="510363" y="421035"/>
            <a:ext cx="6100996" cy="369332"/>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300" normalizeH="0" baseline="0" noProof="0">
                <a:ln>
                  <a:noFill/>
                </a:ln>
                <a:effectLst/>
                <a:uLnTx/>
                <a:uFillTx/>
                <a:latin typeface="Tomorrow"/>
                <a:ea typeface="Verdana"/>
                <a:cs typeface="Arial"/>
              </a:rPr>
              <a:t>The Team </a:t>
            </a:r>
          </a:p>
        </p:txBody>
      </p:sp>
      <p:sp>
        <p:nvSpPr>
          <p:cNvPr id="30" name="Title 29">
            <a:extLst>
              <a:ext uri="{FF2B5EF4-FFF2-40B4-BE49-F238E27FC236}">
                <a16:creationId xmlns:a16="http://schemas.microsoft.com/office/drawing/2014/main" id="{B2ED774F-8187-506C-452A-881E24FEB59F}"/>
              </a:ext>
            </a:extLst>
          </p:cNvPr>
          <p:cNvSpPr>
            <a:spLocks noGrp="1"/>
          </p:cNvSpPr>
          <p:nvPr>
            <p:ph type="title"/>
          </p:nvPr>
        </p:nvSpPr>
        <p:spPr>
          <a:xfrm>
            <a:off x="510363" y="807017"/>
            <a:ext cx="11171274" cy="588613"/>
          </a:xfrm>
        </p:spPr>
        <p:txBody>
          <a:bodyPr/>
          <a:lstStyle/>
          <a:p>
            <a:r>
              <a:rPr lang="en-US" sz="3600"/>
              <a:t>3 Decades of Connecting Networks</a:t>
            </a:r>
          </a:p>
        </p:txBody>
      </p:sp>
      <p:sp>
        <p:nvSpPr>
          <p:cNvPr id="11" name="TextBox 10">
            <a:extLst>
              <a:ext uri="{FF2B5EF4-FFF2-40B4-BE49-F238E27FC236}">
                <a16:creationId xmlns:a16="http://schemas.microsoft.com/office/drawing/2014/main" id="{DE8E84FB-21C9-CF13-DDCF-9E14D2429A54}"/>
              </a:ext>
            </a:extLst>
          </p:cNvPr>
          <p:cNvSpPr txBox="1"/>
          <p:nvPr/>
        </p:nvSpPr>
        <p:spPr>
          <a:xfrm>
            <a:off x="620560" y="703481"/>
            <a:ext cx="7413400" cy="646331"/>
          </a:xfrm>
          <a:prstGeom prst="rect">
            <a:avLst/>
          </a:prstGeom>
        </p:spPr>
        <p:txBody>
          <a:bodyPr vert="horz" lIns="0" tIns="0" rIns="0" bIns="0" rtlCol="0" anchor="b" anchorCtr="0">
            <a:noAutofit/>
          </a:bodyPr>
          <a:lstStyle>
            <a:lvl1pPr>
              <a:lnSpc>
                <a:spcPct val="90000"/>
              </a:lnSpc>
              <a:spcBef>
                <a:spcPct val="0"/>
              </a:spcBef>
              <a:buNone/>
              <a:defRPr sz="4000" b="0" i="0">
                <a:latin typeface="+mj-lt"/>
                <a:ea typeface="Verdana" panose="020B0604030504040204" pitchFamily="34" charset="0"/>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0" i="0" u="none" strike="noStrike" kern="1200" cap="none" spc="0" normalizeH="0" baseline="0" noProof="0">
              <a:ln>
                <a:noFill/>
              </a:ln>
              <a:solidFill>
                <a:srgbClr val="000000"/>
              </a:solidFill>
              <a:effectLst/>
              <a:uLnTx/>
              <a:uFillTx/>
              <a:latin typeface="Tomorrow Medium"/>
              <a:ea typeface="Verdana" panose="020B060403050404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98DC1B71-F11B-44C2-A366-D3E63DDCD6F5}"/>
              </a:ext>
            </a:extLst>
          </p:cNvPr>
          <p:cNvPicPr preferRelativeResize="0">
            <a:picLocks/>
          </p:cNvPicPr>
          <p:nvPr/>
        </p:nvPicPr>
        <p:blipFill>
          <a:blip r:embed="rId5" cstate="email">
            <a:extLst>
              <a:ext uri="{28A0092B-C50C-407E-A947-70E740481C1C}">
                <a14:useLocalDpi xmlns:a14="http://schemas.microsoft.com/office/drawing/2010/main"/>
              </a:ext>
            </a:extLst>
          </a:blip>
          <a:srcRect/>
          <a:stretch/>
        </p:blipFill>
        <p:spPr>
          <a:xfrm>
            <a:off x="4652636" y="2486772"/>
            <a:ext cx="1547343" cy="1547343"/>
          </a:xfrm>
          <a:prstGeom prst="ellipse">
            <a:avLst/>
          </a:prstGeom>
          <a:effectLst/>
        </p:spPr>
      </p:pic>
      <p:pic>
        <p:nvPicPr>
          <p:cNvPr id="21" name="Picture 20">
            <a:extLst>
              <a:ext uri="{FF2B5EF4-FFF2-40B4-BE49-F238E27FC236}">
                <a16:creationId xmlns:a16="http://schemas.microsoft.com/office/drawing/2014/main" id="{BE6A8303-BAD7-D9AF-32D5-27790F3D0CD9}"/>
              </a:ext>
            </a:extLst>
          </p:cNvPr>
          <p:cNvPicPr preferRelativeResize="0">
            <a:picLocks/>
          </p:cNvPicPr>
          <p:nvPr/>
        </p:nvPicPr>
        <p:blipFill>
          <a:blip r:embed="rId6" cstate="email">
            <a:extLst>
              <a:ext uri="{28A0092B-C50C-407E-A947-70E740481C1C}">
                <a14:useLocalDpi xmlns:a14="http://schemas.microsoft.com/office/drawing/2010/main"/>
              </a:ext>
            </a:extLst>
          </a:blip>
          <a:srcRect/>
          <a:stretch/>
        </p:blipFill>
        <p:spPr>
          <a:xfrm>
            <a:off x="6789737" y="2486772"/>
            <a:ext cx="1547343" cy="1547343"/>
          </a:xfrm>
          <a:prstGeom prst="ellipse">
            <a:avLst/>
          </a:prstGeom>
          <a:effectLst/>
        </p:spPr>
      </p:pic>
      <p:sp>
        <p:nvSpPr>
          <p:cNvPr id="26" name="TextBox 25">
            <a:extLst>
              <a:ext uri="{FF2B5EF4-FFF2-40B4-BE49-F238E27FC236}">
                <a16:creationId xmlns:a16="http://schemas.microsoft.com/office/drawing/2014/main" id="{0B78F015-4039-2D6D-3B4B-FFD0152BC29D}"/>
              </a:ext>
            </a:extLst>
          </p:cNvPr>
          <p:cNvSpPr txBox="1"/>
          <p:nvPr/>
        </p:nvSpPr>
        <p:spPr>
          <a:xfrm>
            <a:off x="4341425" y="4118939"/>
            <a:ext cx="2169765"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ANDY ORY</a:t>
            </a:r>
            <a:endParaRPr kumimoji="0" lang="en-US" sz="1200" b="0" i="0" u="none" strike="noStrike" kern="1200" cap="none" spc="0" normalizeH="0" baseline="0" noProof="0">
              <a:ln>
                <a:noFill/>
              </a:ln>
              <a:solidFill>
                <a:srgbClr val="FF9400"/>
              </a:solidFill>
              <a:effectLst/>
              <a:uLnTx/>
              <a:uFillTx/>
              <a:latin typeface="Tomorrow" pitchFamily="2" charset="0"/>
              <a:ea typeface="+mn-ea"/>
              <a:cs typeface="+mn-cs"/>
            </a:endParaRP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Executive Chairman</a:t>
            </a:r>
          </a:p>
          <a:p>
            <a:pPr marL="0" marR="0" lvl="0" indent="0" algn="ctr" defTabSz="914400" rtl="0" eaLnBrk="1" fontAlgn="auto" latinLnBrk="0" hangingPunct="1">
              <a:lnSpc>
                <a:spcPct val="100000"/>
              </a:lnSpc>
              <a:spcBef>
                <a:spcPts val="20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Lato" panose="020F0502020204030203" pitchFamily="34" charset="77"/>
              <a:ea typeface="+mn-ea"/>
              <a:cs typeface="+mn-cs"/>
            </a:endParaRPr>
          </a:p>
        </p:txBody>
      </p:sp>
      <p:sp>
        <p:nvSpPr>
          <p:cNvPr id="28" name="TextBox 27">
            <a:extLst>
              <a:ext uri="{FF2B5EF4-FFF2-40B4-BE49-F238E27FC236}">
                <a16:creationId xmlns:a16="http://schemas.microsoft.com/office/drawing/2014/main" id="{C2443473-414D-77A4-F0A8-E83475DB9602}"/>
              </a:ext>
            </a:extLst>
          </p:cNvPr>
          <p:cNvSpPr txBox="1"/>
          <p:nvPr/>
        </p:nvSpPr>
        <p:spPr>
          <a:xfrm>
            <a:off x="6478525" y="4118939"/>
            <a:ext cx="2169766" cy="581762"/>
          </a:xfrm>
          <a:prstGeom prst="rect">
            <a:avLst/>
          </a:prstGeom>
          <a:noFill/>
        </p:spPr>
        <p:txBody>
          <a:bodyPr wrap="square" lIns="0" rtlCol="0">
            <a:noAutofit/>
          </a:bodyPr>
          <a:lstStyle/>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0" normalizeH="0" baseline="0" noProof="0">
                <a:ln>
                  <a:noFill/>
                </a:ln>
                <a:solidFill>
                  <a:srgbClr val="FF9400"/>
                </a:solidFill>
                <a:effectLst/>
                <a:uLnTx/>
                <a:uFillTx/>
                <a:latin typeface="Tomorrow Medium"/>
                <a:ea typeface="+mn-ea"/>
                <a:cs typeface="+mn-cs"/>
              </a:rPr>
              <a:t>PATRICK MELAMPY</a:t>
            </a:r>
          </a:p>
          <a:p>
            <a:pPr marL="0" marR="0" lvl="0" indent="0" algn="ctr"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CFO &amp; Board Member</a:t>
            </a:r>
          </a:p>
        </p:txBody>
      </p:sp>
      <p:sp>
        <p:nvSpPr>
          <p:cNvPr id="29" name="TextBox 28">
            <a:extLst>
              <a:ext uri="{FF2B5EF4-FFF2-40B4-BE49-F238E27FC236}">
                <a16:creationId xmlns:a16="http://schemas.microsoft.com/office/drawing/2014/main" id="{491219CF-C724-B1DA-C8F7-FAF1A83F0CA6}"/>
              </a:ext>
            </a:extLst>
          </p:cNvPr>
          <p:cNvSpPr txBox="1"/>
          <p:nvPr/>
        </p:nvSpPr>
        <p:spPr>
          <a:xfrm>
            <a:off x="4341424"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1" name="TextBox 30">
            <a:extLst>
              <a:ext uri="{FF2B5EF4-FFF2-40B4-BE49-F238E27FC236}">
                <a16:creationId xmlns:a16="http://schemas.microsoft.com/office/drawing/2014/main" id="{6589FD5D-E5E9-8ACE-23D1-AF930CA4BAAC}"/>
              </a:ext>
            </a:extLst>
          </p:cNvPr>
          <p:cNvSpPr txBox="1"/>
          <p:nvPr/>
        </p:nvSpPr>
        <p:spPr>
          <a:xfrm>
            <a:off x="6478525" y="4782589"/>
            <a:ext cx="2169766" cy="581762"/>
          </a:xfrm>
          <a:prstGeom prst="rect">
            <a:avLst/>
          </a:prstGeom>
          <a:noFill/>
        </p:spPr>
        <p:txBody>
          <a:bodyPr wrap="square" lIns="91440" rIns="18288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Acme Packet, Oracle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rPr>
              <a:t>128 Technology, Juniper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lumMod val="75000"/>
                  <a:lumOff val="25000"/>
                </a:srgbClr>
              </a:solidFill>
              <a:effectLst/>
              <a:uLnTx/>
              <a:uFillTx/>
              <a:latin typeface="Arial"/>
              <a:ea typeface="+mn-ea"/>
              <a:cs typeface="+mn-cs"/>
            </a:endParaRPr>
          </a:p>
        </p:txBody>
      </p:sp>
      <p:sp>
        <p:nvSpPr>
          <p:cNvPr id="32" name="TextBox 31">
            <a:extLst>
              <a:ext uri="{FF2B5EF4-FFF2-40B4-BE49-F238E27FC236}">
                <a16:creationId xmlns:a16="http://schemas.microsoft.com/office/drawing/2014/main" id="{D83FB845-5F7E-65D9-1371-5F6C8AB07815}"/>
              </a:ext>
            </a:extLst>
          </p:cNvPr>
          <p:cNvSpPr txBox="1"/>
          <p:nvPr/>
        </p:nvSpPr>
        <p:spPr>
          <a:xfrm>
            <a:off x="9158022" y="1963059"/>
            <a:ext cx="2861321" cy="807695"/>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Cisco</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Led MPLS Architecture team. </a:t>
            </a:r>
          </a:p>
          <a:p>
            <a:pPr marL="0" marR="0" lvl="0" indent="0" algn="l" defTabSz="914400" rtl="0" eaLnBrk="1" fontAlgn="auto" latinLnBrk="0" hangingPunct="1">
              <a:lnSpc>
                <a:spcPct val="110000"/>
              </a:lnSpc>
              <a:spcBef>
                <a:spcPts val="0"/>
              </a:spcBef>
              <a:spcAft>
                <a:spcPts val="600"/>
              </a:spcAft>
              <a:buClrTx/>
              <a:buSzTx/>
              <a:buFontTx/>
              <a:buNone/>
              <a:tabLst/>
              <a:defRPr/>
            </a:pPr>
            <a:r>
              <a:rPr lang="en-US" sz="1400">
                <a:solidFill>
                  <a:srgbClr val="FFFFFF">
                    <a:lumMod val="85000"/>
                  </a:srgbClr>
                </a:solidFill>
                <a:latin typeface="Arial"/>
              </a:rPr>
              <a:t>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p:txBody>
      </p:sp>
      <p:sp>
        <p:nvSpPr>
          <p:cNvPr id="7" name="TextBox 6">
            <a:extLst>
              <a:ext uri="{FF2B5EF4-FFF2-40B4-BE49-F238E27FC236}">
                <a16:creationId xmlns:a16="http://schemas.microsoft.com/office/drawing/2014/main" id="{68587D6D-5F00-EE64-C722-152153FC01DE}"/>
              </a:ext>
            </a:extLst>
          </p:cNvPr>
          <p:cNvSpPr txBox="1"/>
          <p:nvPr/>
        </p:nvSpPr>
        <p:spPr>
          <a:xfrm>
            <a:off x="9119931" y="4045942"/>
            <a:ext cx="2540955" cy="1027528"/>
          </a:xfrm>
          <a:prstGeom prst="rect">
            <a:avLst/>
          </a:prstGeom>
          <a:noFill/>
        </p:spPr>
        <p:txBody>
          <a:bodyPr wrap="square" lIns="0" t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C200"/>
                </a:solidFill>
                <a:effectLst/>
                <a:uLnTx/>
                <a:uFillTx/>
                <a:latin typeface="Tomorrow Medium"/>
                <a:ea typeface="+mn-ea"/>
                <a:cs typeface="+mn-cs"/>
              </a:rPr>
              <a:t>Juniper Networks  </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FFFF">
                    <a:lumMod val="85000"/>
                  </a:srgbClr>
                </a:solidFill>
                <a:effectLst/>
                <a:uLnTx/>
                <a:uFillTx/>
                <a:latin typeface="Arial"/>
                <a:ea typeface="+mn-ea"/>
                <a:cs typeface="+mn-cs"/>
              </a:rPr>
              <a:t>Integrated</a:t>
            </a:r>
            <a:r>
              <a:rPr lang="en-US" sz="1400">
                <a:solidFill>
                  <a:srgbClr val="FFFFFF">
                    <a:lumMod val="85000"/>
                  </a:srgbClr>
                </a:solidFill>
                <a:latin typeface="Arial"/>
              </a:rPr>
              <a:t> SD-WAN technology as the routing engine for Mist AI. </a:t>
            </a:r>
            <a:endParaRPr kumimoji="0" lang="en-US" sz="1400" b="0" i="0" u="none" strike="noStrike" kern="1200" cap="none" spc="0" normalizeH="0" baseline="0" noProof="0">
              <a:ln>
                <a:noFill/>
              </a:ln>
              <a:solidFill>
                <a:srgbClr val="FFFFFF">
                  <a:lumMod val="85000"/>
                </a:srgbClr>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Tomorrow" pitchFamily="2" charset="0"/>
              <a:ea typeface="+mn-ea"/>
              <a:cs typeface="+mn-cs"/>
            </a:endParaRPr>
          </a:p>
        </p:txBody>
      </p:sp>
    </p:spTree>
    <p:extLst>
      <p:ext uri="{BB962C8B-B14F-4D97-AF65-F5344CB8AC3E}">
        <p14:creationId xmlns:p14="http://schemas.microsoft.com/office/powerpoint/2010/main" val="4237665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1B644-A459-394F-8684-01457D2A9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98B883-A036-D50D-338B-8374FE21C11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33</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643D4A3A-7A41-2D46-6469-E751C48A6554}"/>
              </a:ext>
            </a:extLst>
          </p:cNvPr>
          <p:cNvSpPr>
            <a:spLocks noGrp="1"/>
          </p:cNvSpPr>
          <p:nvPr>
            <p:ph type="title"/>
          </p:nvPr>
        </p:nvSpPr>
        <p:spPr>
          <a:xfrm>
            <a:off x="510363" y="175755"/>
            <a:ext cx="11171274" cy="1107996"/>
          </a:xfrm>
        </p:spPr>
        <p:txBody>
          <a:bodyPr/>
          <a:lstStyle/>
          <a:p>
            <a:r>
              <a:rPr lang="en-US" sz="2800" dirty="0"/>
              <a:t>Traditional Interconnection </a:t>
            </a:r>
          </a:p>
        </p:txBody>
      </p:sp>
      <p:sp>
        <p:nvSpPr>
          <p:cNvPr id="11" name="Rectangle 10">
            <a:extLst>
              <a:ext uri="{FF2B5EF4-FFF2-40B4-BE49-F238E27FC236}">
                <a16:creationId xmlns:a16="http://schemas.microsoft.com/office/drawing/2014/main" id="{432E46D3-2FDC-B6FB-FBA1-083FC31CD84C}"/>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E8FA0769-BEA6-4296-08D0-AEFA94078D7B}"/>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3AF27FF3-4B75-7DC0-3F98-00A8697301B2}"/>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76C92AC7-59F1-3E30-8E55-E41BC12D239B}"/>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lvl="0">
              <a:lnSpc>
                <a:spcPct val="110000"/>
              </a:lnSpc>
              <a:spcAft>
                <a:spcPts val="2400"/>
              </a:spcAf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Manual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Every cross-connect requires engineering effort and configuration overhead. </a:t>
            </a:r>
          </a:p>
          <a:p>
            <a:pPr lvl="0">
              <a:lnSpc>
                <a:spcPct val="110000"/>
              </a:lnSpc>
              <a:spcAft>
                <a:spcPts val="2400"/>
              </a:spcAft>
              <a:defRPr/>
            </a:pPr>
            <a:r>
              <a:rPr lang="en-US" sz="2000" b="1" spc="100" dirty="0">
                <a:solidFill>
                  <a:srgbClr val="FFC200"/>
                </a:solidFill>
                <a:latin typeface="Tomorrow Medium"/>
              </a:rPr>
              <a:t>No On-Ramp</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latin typeface="Arial"/>
              </a:rPr>
              <a:t>Cloud connectivity is complex to provision. NaaS fabrics take revenue and a share of customer ownership. </a:t>
            </a:r>
            <a:endParaRPr kumimoji="0" lang="en-US" sz="1600" b="0" i="0" u="none" strike="noStrike" kern="1200" cap="none" spc="0" normalizeH="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No Marketplace</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noProof="0" dirty="0">
                <a:solidFill>
                  <a:srgbClr val="D4D0C9"/>
                </a:solidFill>
                <a:latin typeface="Arial"/>
              </a:rPr>
              <a:t>Providing a fabric-like experience requires years of development and capital.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sp>
        <p:nvSpPr>
          <p:cNvPr id="54" name="Slide Number Placeholder 11">
            <a:extLst>
              <a:ext uri="{FF2B5EF4-FFF2-40B4-BE49-F238E27FC236}">
                <a16:creationId xmlns:a16="http://schemas.microsoft.com/office/drawing/2014/main" id="{1911E10E-63F9-D81C-92CD-BD570955E90C}"/>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33</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B147D26B-D7FF-CF69-9A74-451827E3B9C7}"/>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2AE1708-168B-1AF0-A296-05A081BC4794}"/>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8947FB99-E04F-AC36-9965-A2F96F5080D6}"/>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028F594F-E8D2-E653-2F62-5F45BAAD8413}"/>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6624C8A3-E99A-71F8-4C58-945AF4F78FEA}"/>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8" name="Oval 17">
            <a:extLst>
              <a:ext uri="{FF2B5EF4-FFF2-40B4-BE49-F238E27FC236}">
                <a16:creationId xmlns:a16="http://schemas.microsoft.com/office/drawing/2014/main" id="{95ACA335-BA3B-747D-256F-8F57D4AA3AED}"/>
              </a:ext>
            </a:extLst>
          </p:cNvPr>
          <p:cNvSpPr/>
          <p:nvPr/>
        </p:nvSpPr>
        <p:spPr bwMode="auto">
          <a:xfrm>
            <a:off x="1120918" y="204949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1</a:t>
            </a:r>
          </a:p>
        </p:txBody>
      </p:sp>
      <p:grpSp>
        <p:nvGrpSpPr>
          <p:cNvPr id="39" name="Group 38">
            <a:extLst>
              <a:ext uri="{FF2B5EF4-FFF2-40B4-BE49-F238E27FC236}">
                <a16:creationId xmlns:a16="http://schemas.microsoft.com/office/drawing/2014/main" id="{1782907A-F74B-1DBC-7E08-7351014CA506}"/>
              </a:ext>
            </a:extLst>
          </p:cNvPr>
          <p:cNvGrpSpPr/>
          <p:nvPr/>
        </p:nvGrpSpPr>
        <p:grpSpPr>
          <a:xfrm>
            <a:off x="1677057" y="2862061"/>
            <a:ext cx="5415324" cy="1739275"/>
            <a:chOff x="1417093" y="2867593"/>
            <a:chExt cx="6141356" cy="2032234"/>
          </a:xfrm>
        </p:grpSpPr>
        <p:sp>
          <p:nvSpPr>
            <p:cNvPr id="4" name="Freeform 3">
              <a:extLst>
                <a:ext uri="{FF2B5EF4-FFF2-40B4-BE49-F238E27FC236}">
                  <a16:creationId xmlns:a16="http://schemas.microsoft.com/office/drawing/2014/main" id="{F0A543FF-0E7B-9474-14AC-60472EBA3C7B}"/>
                </a:ext>
              </a:extLst>
            </p:cNvPr>
            <p:cNvSpPr/>
            <p:nvPr/>
          </p:nvSpPr>
          <p:spPr>
            <a:xfrm>
              <a:off x="1762790" y="3044621"/>
              <a:ext cx="1795346" cy="1618752"/>
            </a:xfrm>
            <a:custGeom>
              <a:avLst/>
              <a:gdLst>
                <a:gd name="connsiteX0" fmla="*/ 1795346 w 1795346"/>
                <a:gd name="connsiteY0" fmla="*/ 436912 h 1452327"/>
                <a:gd name="connsiteX1" fmla="*/ 836341 w 1795346"/>
                <a:gd name="connsiteY1" fmla="*/ 2014 h 1452327"/>
                <a:gd name="connsiteX2" fmla="*/ 178419 w 1795346"/>
                <a:gd name="connsiteY2" fmla="*/ 593029 h 1452327"/>
                <a:gd name="connsiteX3" fmla="*/ 1494263 w 1795346"/>
                <a:gd name="connsiteY3" fmla="*/ 1451673 h 1452327"/>
                <a:gd name="connsiteX4" fmla="*/ 1505415 w 1795346"/>
                <a:gd name="connsiteY4" fmla="*/ 737994 h 1452327"/>
                <a:gd name="connsiteX5" fmla="*/ 0 w 1795346"/>
                <a:gd name="connsiteY5" fmla="*/ 938716 h 145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5346" h="1452327">
                  <a:moveTo>
                    <a:pt x="1795346" y="436912"/>
                  </a:moveTo>
                  <a:cubicBezTo>
                    <a:pt x="1450587" y="206453"/>
                    <a:pt x="1105829" y="-24005"/>
                    <a:pt x="836341" y="2014"/>
                  </a:cubicBezTo>
                  <a:cubicBezTo>
                    <a:pt x="566853" y="28033"/>
                    <a:pt x="68765" y="351419"/>
                    <a:pt x="178419" y="593029"/>
                  </a:cubicBezTo>
                  <a:cubicBezTo>
                    <a:pt x="288073" y="834639"/>
                    <a:pt x="1273097" y="1427512"/>
                    <a:pt x="1494263" y="1451673"/>
                  </a:cubicBezTo>
                  <a:cubicBezTo>
                    <a:pt x="1715429" y="1475834"/>
                    <a:pt x="1754459" y="823487"/>
                    <a:pt x="1505415" y="737994"/>
                  </a:cubicBezTo>
                  <a:cubicBezTo>
                    <a:pt x="1256371" y="652501"/>
                    <a:pt x="628185" y="795608"/>
                    <a:pt x="0" y="938716"/>
                  </a:cubicBezTo>
                </a:path>
              </a:pathLst>
            </a:cu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4">
              <a:extLst>
                <a:ext uri="{FF2B5EF4-FFF2-40B4-BE49-F238E27FC236}">
                  <a16:creationId xmlns:a16="http://schemas.microsoft.com/office/drawing/2014/main" id="{8EBF7B17-A36F-F24B-695D-546214015B8E}"/>
                </a:ext>
              </a:extLst>
            </p:cNvPr>
            <p:cNvSpPr/>
            <p:nvPr/>
          </p:nvSpPr>
          <p:spPr>
            <a:xfrm rot="10800000">
              <a:off x="5567047" y="3135068"/>
              <a:ext cx="1795346" cy="1618752"/>
            </a:xfrm>
            <a:custGeom>
              <a:avLst/>
              <a:gdLst>
                <a:gd name="connsiteX0" fmla="*/ 1795346 w 1795346"/>
                <a:gd name="connsiteY0" fmla="*/ 436912 h 1452327"/>
                <a:gd name="connsiteX1" fmla="*/ 836341 w 1795346"/>
                <a:gd name="connsiteY1" fmla="*/ 2014 h 1452327"/>
                <a:gd name="connsiteX2" fmla="*/ 178419 w 1795346"/>
                <a:gd name="connsiteY2" fmla="*/ 593029 h 1452327"/>
                <a:gd name="connsiteX3" fmla="*/ 1494263 w 1795346"/>
                <a:gd name="connsiteY3" fmla="*/ 1451673 h 1452327"/>
                <a:gd name="connsiteX4" fmla="*/ 1505415 w 1795346"/>
                <a:gd name="connsiteY4" fmla="*/ 737994 h 1452327"/>
                <a:gd name="connsiteX5" fmla="*/ 0 w 1795346"/>
                <a:gd name="connsiteY5" fmla="*/ 938716 h 145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5346" h="1452327">
                  <a:moveTo>
                    <a:pt x="1795346" y="436912"/>
                  </a:moveTo>
                  <a:cubicBezTo>
                    <a:pt x="1450587" y="206453"/>
                    <a:pt x="1105829" y="-24005"/>
                    <a:pt x="836341" y="2014"/>
                  </a:cubicBezTo>
                  <a:cubicBezTo>
                    <a:pt x="566853" y="28033"/>
                    <a:pt x="68765" y="351419"/>
                    <a:pt x="178419" y="593029"/>
                  </a:cubicBezTo>
                  <a:cubicBezTo>
                    <a:pt x="288073" y="834639"/>
                    <a:pt x="1273097" y="1427512"/>
                    <a:pt x="1494263" y="1451673"/>
                  </a:cubicBezTo>
                  <a:cubicBezTo>
                    <a:pt x="1715429" y="1475834"/>
                    <a:pt x="1754459" y="823487"/>
                    <a:pt x="1505415" y="737994"/>
                  </a:cubicBezTo>
                  <a:cubicBezTo>
                    <a:pt x="1256371" y="652501"/>
                    <a:pt x="628185" y="795608"/>
                    <a:pt x="0" y="938716"/>
                  </a:cubicBezTo>
                </a:path>
              </a:pathLst>
            </a:custGeom>
            <a:noFill/>
            <a:ln w="254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Curved Connector 5">
              <a:extLst>
                <a:ext uri="{FF2B5EF4-FFF2-40B4-BE49-F238E27FC236}">
                  <a16:creationId xmlns:a16="http://schemas.microsoft.com/office/drawing/2014/main" id="{20598D63-5518-1DDE-4C21-E24947BDBC14}"/>
                </a:ext>
              </a:extLst>
            </p:cNvPr>
            <p:cNvCxnSpPr>
              <a:cxnSpLocks/>
            </p:cNvCxnSpPr>
            <p:nvPr/>
          </p:nvCxnSpPr>
          <p:spPr>
            <a:xfrm>
              <a:off x="2451245" y="2947001"/>
              <a:ext cx="1121856" cy="69141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 name="Curved Connector 6">
              <a:extLst>
                <a:ext uri="{FF2B5EF4-FFF2-40B4-BE49-F238E27FC236}">
                  <a16:creationId xmlns:a16="http://schemas.microsoft.com/office/drawing/2014/main" id="{11C99EEE-2BFF-3B58-3C0B-5A4751D0055F}"/>
                </a:ext>
              </a:extLst>
            </p:cNvPr>
            <p:cNvCxnSpPr>
              <a:cxnSpLocks/>
            </p:cNvCxnSpPr>
            <p:nvPr/>
          </p:nvCxnSpPr>
          <p:spPr>
            <a:xfrm>
              <a:off x="1417093" y="3354726"/>
              <a:ext cx="1695211" cy="589718"/>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 name="Curved Connector 7">
              <a:extLst>
                <a:ext uri="{FF2B5EF4-FFF2-40B4-BE49-F238E27FC236}">
                  <a16:creationId xmlns:a16="http://schemas.microsoft.com/office/drawing/2014/main" id="{AC7753B5-DF46-DF9E-72CD-46904EA398D4}"/>
                </a:ext>
              </a:extLst>
            </p:cNvPr>
            <p:cNvCxnSpPr>
              <a:cxnSpLocks/>
            </p:cNvCxnSpPr>
            <p:nvPr/>
          </p:nvCxnSpPr>
          <p:spPr>
            <a:xfrm flipV="1">
              <a:off x="1703097" y="3315510"/>
              <a:ext cx="1534574" cy="628934"/>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 name="Curved Connector 8">
              <a:extLst>
                <a:ext uri="{FF2B5EF4-FFF2-40B4-BE49-F238E27FC236}">
                  <a16:creationId xmlns:a16="http://schemas.microsoft.com/office/drawing/2014/main" id="{15954CA4-E279-9B30-8949-2FAFCFC9ECBD}"/>
                </a:ext>
              </a:extLst>
            </p:cNvPr>
            <p:cNvCxnSpPr>
              <a:cxnSpLocks/>
            </p:cNvCxnSpPr>
            <p:nvPr/>
          </p:nvCxnSpPr>
          <p:spPr>
            <a:xfrm flipV="1">
              <a:off x="2011044" y="3910232"/>
              <a:ext cx="1534574" cy="628934"/>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A1AF571A-7625-E944-9DD6-10CDBB90E5C9}"/>
                </a:ext>
              </a:extLst>
            </p:cNvPr>
            <p:cNvCxnSpPr>
              <a:cxnSpLocks/>
            </p:cNvCxnSpPr>
            <p:nvPr/>
          </p:nvCxnSpPr>
          <p:spPr>
            <a:xfrm flipV="1">
              <a:off x="5575741" y="2867593"/>
              <a:ext cx="1666111" cy="656887"/>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 name="Curved Connector 13">
              <a:extLst>
                <a:ext uri="{FF2B5EF4-FFF2-40B4-BE49-F238E27FC236}">
                  <a16:creationId xmlns:a16="http://schemas.microsoft.com/office/drawing/2014/main" id="{C6C7688F-4363-1A1A-1E43-CF806757BE71}"/>
                </a:ext>
              </a:extLst>
            </p:cNvPr>
            <p:cNvCxnSpPr>
              <a:cxnSpLocks/>
            </p:cNvCxnSpPr>
            <p:nvPr/>
          </p:nvCxnSpPr>
          <p:spPr>
            <a:xfrm flipV="1">
              <a:off x="6609426" y="3463511"/>
              <a:ext cx="949023" cy="843371"/>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 name="Curved Connector 14">
              <a:extLst>
                <a:ext uri="{FF2B5EF4-FFF2-40B4-BE49-F238E27FC236}">
                  <a16:creationId xmlns:a16="http://schemas.microsoft.com/office/drawing/2014/main" id="{DBEE3715-7E83-6039-780D-25F3F3E837AF}"/>
                </a:ext>
              </a:extLst>
            </p:cNvPr>
            <p:cNvCxnSpPr>
              <a:cxnSpLocks/>
            </p:cNvCxnSpPr>
            <p:nvPr/>
          </p:nvCxnSpPr>
          <p:spPr>
            <a:xfrm>
              <a:off x="5766971" y="3987594"/>
              <a:ext cx="1755598" cy="23710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6" name="Curved Connector 15">
              <a:extLst>
                <a:ext uri="{FF2B5EF4-FFF2-40B4-BE49-F238E27FC236}">
                  <a16:creationId xmlns:a16="http://schemas.microsoft.com/office/drawing/2014/main" id="{F7DA8F43-028B-CC8E-530B-C0B3525EDDFA}"/>
                </a:ext>
              </a:extLst>
            </p:cNvPr>
            <p:cNvCxnSpPr>
              <a:cxnSpLocks/>
            </p:cNvCxnSpPr>
            <p:nvPr/>
          </p:nvCxnSpPr>
          <p:spPr>
            <a:xfrm rot="16200000" flipH="1">
              <a:off x="5973366" y="3858496"/>
              <a:ext cx="1083182" cy="999479"/>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Curved Connector 16">
              <a:extLst>
                <a:ext uri="{FF2B5EF4-FFF2-40B4-BE49-F238E27FC236}">
                  <a16:creationId xmlns:a16="http://schemas.microsoft.com/office/drawing/2014/main" id="{25A07FBB-2E16-64A7-2203-4058E89BC6C7}"/>
                </a:ext>
              </a:extLst>
            </p:cNvPr>
            <p:cNvCxnSpPr>
              <a:cxnSpLocks/>
            </p:cNvCxnSpPr>
            <p:nvPr/>
          </p:nvCxnSpPr>
          <p:spPr>
            <a:xfrm>
              <a:off x="5709606" y="4071472"/>
              <a:ext cx="979201" cy="563855"/>
            </a:xfrm>
            <a:prstGeom prst="curvedConnector3">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9" name="!!Data Center Icon2">
              <a:extLst>
                <a:ext uri="{FF2B5EF4-FFF2-40B4-BE49-F238E27FC236}">
                  <a16:creationId xmlns:a16="http://schemas.microsoft.com/office/drawing/2014/main" id="{E6FB77A5-589E-D3A0-BDC0-8EEE03894075}"/>
                </a:ext>
              </a:extLst>
            </p:cNvPr>
            <p:cNvGrpSpPr/>
            <p:nvPr/>
          </p:nvGrpSpPr>
          <p:grpSpPr>
            <a:xfrm>
              <a:off x="3779994" y="3196036"/>
              <a:ext cx="1487420" cy="1090646"/>
              <a:chOff x="3915783" y="5046954"/>
              <a:chExt cx="1011845" cy="741000"/>
            </a:xfrm>
            <a:solidFill>
              <a:schemeClr val="bg1">
                <a:lumMod val="95000"/>
              </a:schemeClr>
            </a:solidFill>
          </p:grpSpPr>
          <p:sp>
            <p:nvSpPr>
              <p:cNvPr id="20" name="White fill">
                <a:extLst>
                  <a:ext uri="{FF2B5EF4-FFF2-40B4-BE49-F238E27FC236}">
                    <a16:creationId xmlns:a16="http://schemas.microsoft.com/office/drawing/2014/main" id="{DFA552D5-A813-A60A-5CA6-37F2F3890D21}"/>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21" name="Freeform: Shape 3">
                <a:extLst>
                  <a:ext uri="{FF2B5EF4-FFF2-40B4-BE49-F238E27FC236}">
                    <a16:creationId xmlns:a16="http://schemas.microsoft.com/office/drawing/2014/main" id="{6B6C3508-0D53-4920-75EB-7E72B6035722}"/>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22" name="Freeform: Shape 4">
                <a:extLst>
                  <a:ext uri="{FF2B5EF4-FFF2-40B4-BE49-F238E27FC236}">
                    <a16:creationId xmlns:a16="http://schemas.microsoft.com/office/drawing/2014/main" id="{2E3D6D59-7500-D859-5C0D-B7A47BC48E93}"/>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23" name="Freeform: Shape 5">
                <a:extLst>
                  <a:ext uri="{FF2B5EF4-FFF2-40B4-BE49-F238E27FC236}">
                    <a16:creationId xmlns:a16="http://schemas.microsoft.com/office/drawing/2014/main" id="{E1E5846B-DDCA-7894-C2F6-6DFAFA19C02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4" name="Freeform: Shape 6">
                <a:extLst>
                  <a:ext uri="{FF2B5EF4-FFF2-40B4-BE49-F238E27FC236}">
                    <a16:creationId xmlns:a16="http://schemas.microsoft.com/office/drawing/2014/main" id="{9DA0DA0B-B48B-E262-7782-7668F53A8F4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sp>
        <p:nvSpPr>
          <p:cNvPr id="25" name="Oval 24">
            <a:extLst>
              <a:ext uri="{FF2B5EF4-FFF2-40B4-BE49-F238E27FC236}">
                <a16:creationId xmlns:a16="http://schemas.microsoft.com/office/drawing/2014/main" id="{29A204C2-D750-F187-539E-FCCAC3FA3BB0}"/>
              </a:ext>
            </a:extLst>
          </p:cNvPr>
          <p:cNvSpPr/>
          <p:nvPr/>
        </p:nvSpPr>
        <p:spPr bwMode="auto">
          <a:xfrm>
            <a:off x="412032" y="310786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2</a:t>
            </a:r>
          </a:p>
        </p:txBody>
      </p:sp>
      <p:sp>
        <p:nvSpPr>
          <p:cNvPr id="26" name="Oval 25">
            <a:extLst>
              <a:ext uri="{FF2B5EF4-FFF2-40B4-BE49-F238E27FC236}">
                <a16:creationId xmlns:a16="http://schemas.microsoft.com/office/drawing/2014/main" id="{B8D74962-A545-67AD-8BEC-96C0F8B76B66}"/>
              </a:ext>
            </a:extLst>
          </p:cNvPr>
          <p:cNvSpPr/>
          <p:nvPr/>
        </p:nvSpPr>
        <p:spPr bwMode="auto">
          <a:xfrm>
            <a:off x="977590" y="4325707"/>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3</a:t>
            </a:r>
          </a:p>
        </p:txBody>
      </p:sp>
      <p:sp>
        <p:nvSpPr>
          <p:cNvPr id="27" name="Oval 26">
            <a:extLst>
              <a:ext uri="{FF2B5EF4-FFF2-40B4-BE49-F238E27FC236}">
                <a16:creationId xmlns:a16="http://schemas.microsoft.com/office/drawing/2014/main" id="{AA8CAD69-C775-85C4-905F-5A3185514768}"/>
              </a:ext>
            </a:extLst>
          </p:cNvPr>
          <p:cNvSpPr/>
          <p:nvPr/>
        </p:nvSpPr>
        <p:spPr bwMode="auto">
          <a:xfrm>
            <a:off x="6862944" y="1834912"/>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 </a:t>
            </a:r>
          </a:p>
          <a:p>
            <a:pPr algn="ctr">
              <a:lnSpc>
                <a:spcPct val="95000"/>
              </a:lnSpc>
            </a:pPr>
            <a:r>
              <a:rPr lang="en-US" sz="1200" b="1" dirty="0">
                <a:latin typeface="+mj-lt"/>
              </a:rPr>
              <a:t>4</a:t>
            </a:r>
            <a:endParaRPr lang="en-US" sz="1600" b="1" dirty="0">
              <a:latin typeface="+mj-lt"/>
            </a:endParaRPr>
          </a:p>
        </p:txBody>
      </p:sp>
      <p:sp>
        <p:nvSpPr>
          <p:cNvPr id="28" name="Oval 27">
            <a:extLst>
              <a:ext uri="{FF2B5EF4-FFF2-40B4-BE49-F238E27FC236}">
                <a16:creationId xmlns:a16="http://schemas.microsoft.com/office/drawing/2014/main" id="{C49625CF-FA3C-8FC8-28BC-47F1FB650AD5}"/>
              </a:ext>
            </a:extLst>
          </p:cNvPr>
          <p:cNvSpPr/>
          <p:nvPr/>
        </p:nvSpPr>
        <p:spPr bwMode="auto">
          <a:xfrm>
            <a:off x="7266380" y="3124819"/>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5</a:t>
            </a:r>
          </a:p>
        </p:txBody>
      </p:sp>
      <p:sp>
        <p:nvSpPr>
          <p:cNvPr id="29" name="Oval 28">
            <a:extLst>
              <a:ext uri="{FF2B5EF4-FFF2-40B4-BE49-F238E27FC236}">
                <a16:creationId xmlns:a16="http://schemas.microsoft.com/office/drawing/2014/main" id="{F1325E35-A208-096F-7C00-78A3F28717B7}"/>
              </a:ext>
            </a:extLst>
          </p:cNvPr>
          <p:cNvSpPr/>
          <p:nvPr/>
        </p:nvSpPr>
        <p:spPr bwMode="auto">
          <a:xfrm>
            <a:off x="6948191" y="4398968"/>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6</a:t>
            </a:r>
          </a:p>
        </p:txBody>
      </p:sp>
      <p:sp>
        <p:nvSpPr>
          <p:cNvPr id="40" name="Rectangle 39">
            <a:extLst>
              <a:ext uri="{FF2B5EF4-FFF2-40B4-BE49-F238E27FC236}">
                <a16:creationId xmlns:a16="http://schemas.microsoft.com/office/drawing/2014/main" id="{9481BCE9-D102-7CE8-F244-E28E6F2AFCF2}"/>
              </a:ext>
            </a:extLst>
          </p:cNvPr>
          <p:cNvSpPr/>
          <p:nvPr/>
        </p:nvSpPr>
        <p:spPr bwMode="auto">
          <a:xfrm>
            <a:off x="3555913" y="4175413"/>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omorrow Medium"/>
                <a:ea typeface="+mn-ea"/>
                <a:cs typeface="+mn-cs"/>
              </a:rPr>
              <a:t>Meet-me Room</a:t>
            </a:r>
          </a:p>
        </p:txBody>
      </p:sp>
    </p:spTree>
    <p:extLst>
      <p:ext uri="{BB962C8B-B14F-4D97-AF65-F5344CB8AC3E}">
        <p14:creationId xmlns:p14="http://schemas.microsoft.com/office/powerpoint/2010/main" val="291388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anim calcmode="lin" valueType="num">
                                      <p:cBhvr>
                                        <p:cTn id="11" dur="500" fill="hold"/>
                                        <p:tgtEl>
                                          <p:spTgt spid="40"/>
                                        </p:tgtEl>
                                        <p:attrNameLst>
                                          <p:attrName>ppt_x</p:attrName>
                                        </p:attrNameLst>
                                      </p:cBhvr>
                                      <p:tavLst>
                                        <p:tav tm="0">
                                          <p:val>
                                            <p:strVal val="#ppt_x"/>
                                          </p:val>
                                        </p:tav>
                                        <p:tav tm="100000">
                                          <p:val>
                                            <p:strVal val="#ppt_x"/>
                                          </p:val>
                                        </p:tav>
                                      </p:tavLst>
                                    </p:anim>
                                    <p:anim calcmode="lin" valueType="num">
                                      <p:cBhvr>
                                        <p:cTn id="12" dur="5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4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2B76A-DBB3-F10D-42C6-9C1529305551}"/>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4BD2753-B3EB-6CD4-656D-0D8335ADA865}"/>
              </a:ext>
            </a:extLst>
          </p:cNvPr>
          <p:cNvGrpSpPr/>
          <p:nvPr/>
        </p:nvGrpSpPr>
        <p:grpSpPr>
          <a:xfrm>
            <a:off x="0" y="4704977"/>
            <a:ext cx="12192000" cy="2187331"/>
            <a:chOff x="0" y="4390275"/>
            <a:chExt cx="12192000" cy="2467725"/>
          </a:xfrm>
        </p:grpSpPr>
        <p:sp>
          <p:nvSpPr>
            <p:cNvPr id="15" name="Rectangle 14">
              <a:extLst>
                <a:ext uri="{FF2B5EF4-FFF2-40B4-BE49-F238E27FC236}">
                  <a16:creationId xmlns:a16="http://schemas.microsoft.com/office/drawing/2014/main" id="{36C8C745-B449-70A7-2866-4F796FF45463}"/>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6" name="Picture 15" descr="A black and white pattern&#10;&#10;AI-generated content may be incorrect.">
              <a:extLst>
                <a:ext uri="{FF2B5EF4-FFF2-40B4-BE49-F238E27FC236}">
                  <a16:creationId xmlns:a16="http://schemas.microsoft.com/office/drawing/2014/main" id="{DF70A9D3-EE0F-F81D-ED70-8FF8E1315C45}"/>
                </a:ext>
              </a:extLst>
            </p:cNvPr>
            <p:cNvPicPr>
              <a:picLocks noChangeAspect="1"/>
            </p:cNvPicPr>
            <p:nvPr/>
          </p:nvPicPr>
          <p:blipFill>
            <a:blip r:embed="rId3"/>
            <a:srcRect l="5289" t="22420" r="230" b="43617"/>
            <a:stretch>
              <a:fillRect/>
            </a:stretch>
          </p:blipFill>
          <p:spPr>
            <a:xfrm>
              <a:off x="0" y="4390275"/>
              <a:ext cx="12192000" cy="2467724"/>
            </a:xfrm>
            <a:prstGeom prst="rect">
              <a:avLst/>
            </a:prstGeom>
          </p:spPr>
        </p:pic>
        <p:sp>
          <p:nvSpPr>
            <p:cNvPr id="20" name="Fade">
              <a:extLst>
                <a:ext uri="{FF2B5EF4-FFF2-40B4-BE49-F238E27FC236}">
                  <a16:creationId xmlns:a16="http://schemas.microsoft.com/office/drawing/2014/main" id="{33356CFD-B8C4-5AF3-D865-A66494369157}"/>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5300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3" name="Title 2">
            <a:extLst>
              <a:ext uri="{FF2B5EF4-FFF2-40B4-BE49-F238E27FC236}">
                <a16:creationId xmlns:a16="http://schemas.microsoft.com/office/drawing/2014/main" id="{EF7BEAAB-9D8E-9F70-CA68-B21A3BA7257D}"/>
              </a:ext>
            </a:extLst>
          </p:cNvPr>
          <p:cNvSpPr>
            <a:spLocks noGrp="1"/>
          </p:cNvSpPr>
          <p:nvPr>
            <p:ph type="title"/>
          </p:nvPr>
        </p:nvSpPr>
        <p:spPr>
          <a:xfrm>
            <a:off x="507270" y="499815"/>
            <a:ext cx="5412765" cy="1107996"/>
          </a:xfrm>
        </p:spPr>
        <p:txBody>
          <a:bodyPr/>
          <a:lstStyle/>
          <a:p>
            <a:r>
              <a:rPr lang="en-US"/>
              <a:t>What if connectivity was this simple?</a:t>
            </a:r>
          </a:p>
        </p:txBody>
      </p:sp>
      <p:sp>
        <p:nvSpPr>
          <p:cNvPr id="4" name="TextBox 3">
            <a:extLst>
              <a:ext uri="{FF2B5EF4-FFF2-40B4-BE49-F238E27FC236}">
                <a16:creationId xmlns:a16="http://schemas.microsoft.com/office/drawing/2014/main" id="{948378B0-3033-F4F4-4FAB-C1D8A3F5684A}"/>
              </a:ext>
            </a:extLst>
          </p:cNvPr>
          <p:cNvSpPr txBox="1"/>
          <p:nvPr/>
        </p:nvSpPr>
        <p:spPr>
          <a:xfrm>
            <a:off x="507270" y="4255914"/>
            <a:ext cx="11177459" cy="461665"/>
          </a:xfrm>
          <a:prstGeom prst="rect">
            <a:avLst/>
          </a:prstGeom>
          <a:solidFill>
            <a:schemeClr val="accent2"/>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omorrow Medium"/>
                <a:ea typeface="+mn-ea"/>
                <a:cs typeface="+mn-cs"/>
              </a:rPr>
              <a:t>Programmable private paths — Instant network fabric </a:t>
            </a:r>
          </a:p>
        </p:txBody>
      </p:sp>
      <p:grpSp>
        <p:nvGrpSpPr>
          <p:cNvPr id="9" name="Group 8">
            <a:extLst>
              <a:ext uri="{FF2B5EF4-FFF2-40B4-BE49-F238E27FC236}">
                <a16:creationId xmlns:a16="http://schemas.microsoft.com/office/drawing/2014/main" id="{05D3D75C-1A17-7F46-A1A6-1CDE97F74857}"/>
              </a:ext>
            </a:extLst>
          </p:cNvPr>
          <p:cNvGrpSpPr/>
          <p:nvPr/>
        </p:nvGrpSpPr>
        <p:grpSpPr>
          <a:xfrm>
            <a:off x="870952" y="5114911"/>
            <a:ext cx="7222733" cy="747166"/>
            <a:chOff x="792480" y="4815498"/>
            <a:chExt cx="7222733" cy="929640"/>
          </a:xfrm>
        </p:grpSpPr>
        <p:cxnSp>
          <p:nvCxnSpPr>
            <p:cNvPr id="10" name="Straight Connector 9">
              <a:extLst>
                <a:ext uri="{FF2B5EF4-FFF2-40B4-BE49-F238E27FC236}">
                  <a16:creationId xmlns:a16="http://schemas.microsoft.com/office/drawing/2014/main" id="{94A8ACB2-D9A3-2380-9464-2844892ACA68}"/>
                </a:ext>
              </a:extLst>
            </p:cNvPr>
            <p:cNvCxnSpPr>
              <a:cxnSpLocks/>
            </p:cNvCxnSpPr>
            <p:nvPr/>
          </p:nvCxnSpPr>
          <p:spPr bwMode="auto">
            <a:xfrm>
              <a:off x="792480"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41A12941-19A3-EE12-EBE4-E5443C4A40D0}"/>
                </a:ext>
              </a:extLst>
            </p:cNvPr>
            <p:cNvCxnSpPr>
              <a:cxnSpLocks/>
            </p:cNvCxnSpPr>
            <p:nvPr/>
          </p:nvCxnSpPr>
          <p:spPr bwMode="auto">
            <a:xfrm>
              <a:off x="4403847"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55224362-A33F-E616-A610-4A533259BCC0}"/>
                </a:ext>
              </a:extLst>
            </p:cNvPr>
            <p:cNvCxnSpPr>
              <a:cxnSpLocks/>
            </p:cNvCxnSpPr>
            <p:nvPr/>
          </p:nvCxnSpPr>
          <p:spPr bwMode="auto">
            <a:xfrm>
              <a:off x="8015213" y="4815498"/>
              <a:ext cx="0" cy="92964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21" name="TextBox 20">
            <a:extLst>
              <a:ext uri="{FF2B5EF4-FFF2-40B4-BE49-F238E27FC236}">
                <a16:creationId xmlns:a16="http://schemas.microsoft.com/office/drawing/2014/main" id="{6ACE705C-82C5-C80A-5335-637BD632E7FA}"/>
              </a:ext>
            </a:extLst>
          </p:cNvPr>
          <p:cNvSpPr txBox="1"/>
          <p:nvPr/>
        </p:nvSpPr>
        <p:spPr>
          <a:xfrm>
            <a:off x="497930" y="2141150"/>
            <a:ext cx="4826097" cy="1188719"/>
          </a:xfrm>
          <a:prstGeom prst="rect">
            <a:avLst/>
          </a:prstGeom>
          <a:noFill/>
        </p:spPr>
        <p:txBody>
          <a:bodyPr wrap="square" lIns="0" rtlCol="0">
            <a:noAutofit/>
          </a:bodyPr>
          <a:lstStyle>
            <a:defPPr>
              <a:defRPr lang="en-US"/>
            </a:defPPr>
            <a:lvl1pPr>
              <a:defRPr>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omorrow Medium"/>
                <a:ea typeface="+mn-ea"/>
                <a:cs typeface="+mn-cs"/>
              </a:rPr>
              <a:t>Private connectivity across any network. Provisioned in minutes without routing complexity. </a:t>
            </a:r>
          </a:p>
        </p:txBody>
      </p:sp>
      <p:grpSp>
        <p:nvGrpSpPr>
          <p:cNvPr id="64" name="Group 63">
            <a:extLst>
              <a:ext uri="{FF2B5EF4-FFF2-40B4-BE49-F238E27FC236}">
                <a16:creationId xmlns:a16="http://schemas.microsoft.com/office/drawing/2014/main" id="{94598EBF-A47B-D2CD-6696-E4D906DB463E}"/>
              </a:ext>
            </a:extLst>
          </p:cNvPr>
          <p:cNvGrpSpPr/>
          <p:nvPr/>
        </p:nvGrpSpPr>
        <p:grpSpPr>
          <a:xfrm>
            <a:off x="9328520" y="1700039"/>
            <a:ext cx="608986" cy="1453889"/>
            <a:chOff x="9352398" y="1682554"/>
            <a:chExt cx="845151" cy="1364916"/>
          </a:xfrm>
        </p:grpSpPr>
        <p:cxnSp>
          <p:nvCxnSpPr>
            <p:cNvPr id="65" name="Straight Connector 64">
              <a:extLst>
                <a:ext uri="{FF2B5EF4-FFF2-40B4-BE49-F238E27FC236}">
                  <a16:creationId xmlns:a16="http://schemas.microsoft.com/office/drawing/2014/main" id="{26E0331F-06C5-29F1-9F4D-F23582CEE3E1}"/>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35E8786-1218-881B-2671-C8A83522A6C0}"/>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3826EA1A-D4AB-EA4B-9240-9E2E5B99C391}"/>
              </a:ext>
            </a:extLst>
          </p:cNvPr>
          <p:cNvGrpSpPr/>
          <p:nvPr/>
        </p:nvGrpSpPr>
        <p:grpSpPr>
          <a:xfrm flipH="1">
            <a:off x="7701524" y="1715242"/>
            <a:ext cx="608985" cy="1453889"/>
            <a:chOff x="9352398" y="1682554"/>
            <a:chExt cx="845151" cy="1364916"/>
          </a:xfrm>
        </p:grpSpPr>
        <p:cxnSp>
          <p:nvCxnSpPr>
            <p:cNvPr id="68" name="Straight Connector 67">
              <a:extLst>
                <a:ext uri="{FF2B5EF4-FFF2-40B4-BE49-F238E27FC236}">
                  <a16:creationId xmlns:a16="http://schemas.microsoft.com/office/drawing/2014/main" id="{43975EAE-EEEA-B383-DB87-946BDEAEDA9F}"/>
                </a:ext>
              </a:extLst>
            </p:cNvPr>
            <p:cNvCxnSpPr>
              <a:cxnSpLocks/>
            </p:cNvCxnSpPr>
            <p:nvPr/>
          </p:nvCxnSpPr>
          <p:spPr>
            <a:xfrm>
              <a:off x="9352398" y="2624175"/>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844186-B699-0442-ABCC-037E499FF63F}"/>
                </a:ext>
              </a:extLst>
            </p:cNvPr>
            <p:cNvCxnSpPr>
              <a:cxnSpLocks/>
            </p:cNvCxnSpPr>
            <p:nvPr/>
          </p:nvCxnSpPr>
          <p:spPr>
            <a:xfrm flipV="1">
              <a:off x="9352398" y="1682554"/>
              <a:ext cx="845151" cy="423295"/>
            </a:xfrm>
            <a:prstGeom prst="line">
              <a:avLst/>
            </a:prstGeom>
            <a:ln w="25400">
              <a:solidFill>
                <a:schemeClr val="accent1"/>
              </a:solidFill>
              <a:headEnd type="none"/>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BE69C8C1-A12A-0C71-97E0-C32B98E07346}"/>
              </a:ext>
            </a:extLst>
          </p:cNvPr>
          <p:cNvGrpSpPr/>
          <p:nvPr/>
        </p:nvGrpSpPr>
        <p:grpSpPr>
          <a:xfrm>
            <a:off x="9352164" y="1690553"/>
            <a:ext cx="759468" cy="1458925"/>
            <a:chOff x="9523050" y="1355992"/>
            <a:chExt cx="759468" cy="1458925"/>
          </a:xfrm>
        </p:grpSpPr>
        <p:grpSp>
          <p:nvGrpSpPr>
            <p:cNvPr id="71" name="Group 70">
              <a:extLst>
                <a:ext uri="{FF2B5EF4-FFF2-40B4-BE49-F238E27FC236}">
                  <a16:creationId xmlns:a16="http://schemas.microsoft.com/office/drawing/2014/main" id="{C3A06EFF-6865-55EC-7F21-74C66BBC5E4C}"/>
                </a:ext>
              </a:extLst>
            </p:cNvPr>
            <p:cNvGrpSpPr/>
            <p:nvPr/>
          </p:nvGrpSpPr>
          <p:grpSpPr>
            <a:xfrm>
              <a:off x="9523050" y="1471796"/>
              <a:ext cx="304290" cy="1253525"/>
              <a:chOff x="9650765" y="1230847"/>
              <a:chExt cx="304290" cy="1390593"/>
            </a:xfrm>
          </p:grpSpPr>
          <p:cxnSp>
            <p:nvCxnSpPr>
              <p:cNvPr id="75" name="Straight Connector 74">
                <a:extLst>
                  <a:ext uri="{FF2B5EF4-FFF2-40B4-BE49-F238E27FC236}">
                    <a16:creationId xmlns:a16="http://schemas.microsoft.com/office/drawing/2014/main" id="{D29C1013-4128-95AD-14DA-D1582B447A2C}"/>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298FBAB-889B-FBF1-F3DE-B696AE2810A4}"/>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0B916459-3566-DAE3-CA31-F71207FC4AEE}"/>
                </a:ext>
              </a:extLst>
            </p:cNvPr>
            <p:cNvGrpSpPr/>
            <p:nvPr/>
          </p:nvGrpSpPr>
          <p:grpSpPr>
            <a:xfrm>
              <a:off x="9583271" y="1355992"/>
              <a:ext cx="699247" cy="1458925"/>
              <a:chOff x="9583271" y="1355992"/>
              <a:chExt cx="699247" cy="1458925"/>
            </a:xfrm>
          </p:grpSpPr>
          <p:cxnSp>
            <p:nvCxnSpPr>
              <p:cNvPr id="73" name="Straight Connector 72">
                <a:extLst>
                  <a:ext uri="{FF2B5EF4-FFF2-40B4-BE49-F238E27FC236}">
                    <a16:creationId xmlns:a16="http://schemas.microsoft.com/office/drawing/2014/main" id="{1EB4C860-6400-EF85-C2F3-DDD25E76F7FB}"/>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28137DE-A2C6-6F44-B5F5-B762BB270329}"/>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544A2D36-3D40-A497-8C08-BD28FA4D4B39}"/>
              </a:ext>
            </a:extLst>
          </p:cNvPr>
          <p:cNvGrpSpPr/>
          <p:nvPr/>
        </p:nvGrpSpPr>
        <p:grpSpPr>
          <a:xfrm flipH="1">
            <a:off x="7531031" y="1700039"/>
            <a:ext cx="759468" cy="1458925"/>
            <a:chOff x="9523050" y="1355992"/>
            <a:chExt cx="759468" cy="1458925"/>
          </a:xfrm>
        </p:grpSpPr>
        <p:grpSp>
          <p:nvGrpSpPr>
            <p:cNvPr id="78" name="Group 77">
              <a:extLst>
                <a:ext uri="{FF2B5EF4-FFF2-40B4-BE49-F238E27FC236}">
                  <a16:creationId xmlns:a16="http://schemas.microsoft.com/office/drawing/2014/main" id="{D83B1269-F349-A918-930E-A5C7B5192D91}"/>
                </a:ext>
              </a:extLst>
            </p:cNvPr>
            <p:cNvGrpSpPr/>
            <p:nvPr/>
          </p:nvGrpSpPr>
          <p:grpSpPr>
            <a:xfrm>
              <a:off x="9523050" y="1471796"/>
              <a:ext cx="304290" cy="1253525"/>
              <a:chOff x="9650765" y="1230847"/>
              <a:chExt cx="304290" cy="1390593"/>
            </a:xfrm>
          </p:grpSpPr>
          <p:cxnSp>
            <p:nvCxnSpPr>
              <p:cNvPr id="82" name="Straight Connector 81">
                <a:extLst>
                  <a:ext uri="{FF2B5EF4-FFF2-40B4-BE49-F238E27FC236}">
                    <a16:creationId xmlns:a16="http://schemas.microsoft.com/office/drawing/2014/main" id="{9BB6F15C-8FF5-B4EF-72BD-02C15D0293D2}"/>
                  </a:ext>
                </a:extLst>
              </p:cNvPr>
              <p:cNvCxnSpPr>
                <a:cxnSpLocks/>
              </p:cNvCxnSpPr>
              <p:nvPr/>
            </p:nvCxnSpPr>
            <p:spPr>
              <a:xfrm flipV="1">
                <a:off x="9650765" y="1230847"/>
                <a:ext cx="293359" cy="237308"/>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533D4FF-A9CD-2B72-EA96-1AB5CCB26150}"/>
                  </a:ext>
                </a:extLst>
              </p:cNvPr>
              <p:cNvCxnSpPr>
                <a:cxnSpLocks/>
              </p:cNvCxnSpPr>
              <p:nvPr/>
            </p:nvCxnSpPr>
            <p:spPr>
              <a:xfrm>
                <a:off x="9662051" y="2384419"/>
                <a:ext cx="293004" cy="237021"/>
              </a:xfrm>
              <a:prstGeom prst="line">
                <a:avLst/>
              </a:prstGeom>
              <a:ln w="127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246E8E51-C329-CEA1-8A4C-A6DB64280031}"/>
                </a:ext>
              </a:extLst>
            </p:cNvPr>
            <p:cNvGrpSpPr/>
            <p:nvPr/>
          </p:nvGrpSpPr>
          <p:grpSpPr>
            <a:xfrm>
              <a:off x="9583271" y="1355992"/>
              <a:ext cx="699247" cy="1458925"/>
              <a:chOff x="9583271" y="1355992"/>
              <a:chExt cx="699247" cy="1458925"/>
            </a:xfrm>
          </p:grpSpPr>
          <p:cxnSp>
            <p:nvCxnSpPr>
              <p:cNvPr id="80" name="Straight Connector 79">
                <a:extLst>
                  <a:ext uri="{FF2B5EF4-FFF2-40B4-BE49-F238E27FC236}">
                    <a16:creationId xmlns:a16="http://schemas.microsoft.com/office/drawing/2014/main" id="{5CE1F3A5-1765-8A9F-A24A-B855E999F150}"/>
                  </a:ext>
                </a:extLst>
              </p:cNvPr>
              <p:cNvCxnSpPr>
                <a:cxnSpLocks/>
              </p:cNvCxnSpPr>
              <p:nvPr/>
            </p:nvCxnSpPr>
            <p:spPr>
              <a:xfrm flipH="1" flipV="1">
                <a:off x="9583271" y="2277035"/>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824784F-BB10-B2B0-374D-8D76BDA58DA8}"/>
                  </a:ext>
                </a:extLst>
              </p:cNvPr>
              <p:cNvCxnSpPr>
                <a:cxnSpLocks/>
              </p:cNvCxnSpPr>
              <p:nvPr/>
            </p:nvCxnSpPr>
            <p:spPr>
              <a:xfrm flipH="1">
                <a:off x="9583271" y="1355992"/>
                <a:ext cx="699247" cy="537882"/>
              </a:xfrm>
              <a:prstGeom prst="line">
                <a:avLst/>
              </a:prstGeom>
              <a:ln w="12700">
                <a:solidFill>
                  <a:schemeClr val="accent1"/>
                </a:solidFill>
                <a:headEnd type="arrow"/>
                <a:tailEnd type="arrow"/>
              </a:ln>
            </p:spPr>
            <p:style>
              <a:lnRef idx="1">
                <a:schemeClr val="accent1"/>
              </a:lnRef>
              <a:fillRef idx="0">
                <a:schemeClr val="accent1"/>
              </a:fillRef>
              <a:effectRef idx="0">
                <a:schemeClr val="accent1"/>
              </a:effectRef>
              <a:fontRef idx="minor">
                <a:schemeClr val="tx1"/>
              </a:fontRef>
            </p:style>
          </p:cxnSp>
        </p:grpSp>
      </p:grpSp>
      <p:sp>
        <p:nvSpPr>
          <p:cNvPr id="6" name="Slide Number Placeholder 1">
            <a:extLst>
              <a:ext uri="{FF2B5EF4-FFF2-40B4-BE49-F238E27FC236}">
                <a16:creationId xmlns:a16="http://schemas.microsoft.com/office/drawing/2014/main" id="{C2D66223-CEB2-C4EE-01D8-BD64A91CE02D}"/>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34</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7" name="Maia Logo">
            <a:extLst>
              <a:ext uri="{FF2B5EF4-FFF2-40B4-BE49-F238E27FC236}">
                <a16:creationId xmlns:a16="http://schemas.microsoft.com/office/drawing/2014/main" id="{04F6181F-5425-6755-68A9-DF066BF60CCC}"/>
              </a:ext>
            </a:extLst>
          </p:cNvPr>
          <p:cNvGrpSpPr/>
          <p:nvPr/>
        </p:nvGrpSpPr>
        <p:grpSpPr>
          <a:xfrm>
            <a:off x="9984505" y="6181344"/>
            <a:ext cx="1697132" cy="414708"/>
            <a:chOff x="1447800" y="2292350"/>
            <a:chExt cx="7774788" cy="1899831"/>
          </a:xfrm>
        </p:grpSpPr>
        <p:sp>
          <p:nvSpPr>
            <p:cNvPr id="84" name="Freeform 20">
              <a:extLst>
                <a:ext uri="{FF2B5EF4-FFF2-40B4-BE49-F238E27FC236}">
                  <a16:creationId xmlns:a16="http://schemas.microsoft.com/office/drawing/2014/main" id="{0239A77F-E67B-E066-58AD-20E08D671590}"/>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21">
              <a:extLst>
                <a:ext uri="{FF2B5EF4-FFF2-40B4-BE49-F238E27FC236}">
                  <a16:creationId xmlns:a16="http://schemas.microsoft.com/office/drawing/2014/main" id="{FB313864-B323-37EB-F593-5472C6065FEB}"/>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22">
              <a:extLst>
                <a:ext uri="{FF2B5EF4-FFF2-40B4-BE49-F238E27FC236}">
                  <a16:creationId xmlns:a16="http://schemas.microsoft.com/office/drawing/2014/main" id="{252526A6-A311-31BB-06F9-55EE5D2217B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2" name="Group 1">
            <a:extLst>
              <a:ext uri="{FF2B5EF4-FFF2-40B4-BE49-F238E27FC236}">
                <a16:creationId xmlns:a16="http://schemas.microsoft.com/office/drawing/2014/main" id="{EFE444EF-7487-A6D6-042F-496293477130}"/>
              </a:ext>
            </a:extLst>
          </p:cNvPr>
          <p:cNvGrpSpPr/>
          <p:nvPr/>
        </p:nvGrpSpPr>
        <p:grpSpPr>
          <a:xfrm>
            <a:off x="5702324" y="960205"/>
            <a:ext cx="1679187" cy="1277195"/>
            <a:chOff x="2593124" y="2040945"/>
            <a:chExt cx="1679187" cy="1277195"/>
          </a:xfrm>
        </p:grpSpPr>
        <p:sp>
          <p:nvSpPr>
            <p:cNvPr id="22" name="Freeform 54">
              <a:extLst>
                <a:ext uri="{FF2B5EF4-FFF2-40B4-BE49-F238E27FC236}">
                  <a16:creationId xmlns:a16="http://schemas.microsoft.com/office/drawing/2014/main" id="{F4EE5819-A1CA-D92D-6286-072BD50241AD}"/>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26" name="Freeform 55">
              <a:extLst>
                <a:ext uri="{FF2B5EF4-FFF2-40B4-BE49-F238E27FC236}">
                  <a16:creationId xmlns:a16="http://schemas.microsoft.com/office/drawing/2014/main" id="{05DB0475-B6F6-3915-4490-233111D3EFC3}"/>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87" name="Freeform 56">
              <a:extLst>
                <a:ext uri="{FF2B5EF4-FFF2-40B4-BE49-F238E27FC236}">
                  <a16:creationId xmlns:a16="http://schemas.microsoft.com/office/drawing/2014/main" id="{02850D14-A7F9-C6C3-66E7-8469E1334421}"/>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8" name="Freeform 57">
              <a:extLst>
                <a:ext uri="{FF2B5EF4-FFF2-40B4-BE49-F238E27FC236}">
                  <a16:creationId xmlns:a16="http://schemas.microsoft.com/office/drawing/2014/main" id="{88CF53AC-614D-6347-9A30-032365054433}"/>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89" name="Freeform 58">
              <a:extLst>
                <a:ext uri="{FF2B5EF4-FFF2-40B4-BE49-F238E27FC236}">
                  <a16:creationId xmlns:a16="http://schemas.microsoft.com/office/drawing/2014/main" id="{A02358FD-3F8E-B6FA-71A8-BF5FE7D88405}"/>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0" name="Freeform 59">
              <a:extLst>
                <a:ext uri="{FF2B5EF4-FFF2-40B4-BE49-F238E27FC236}">
                  <a16:creationId xmlns:a16="http://schemas.microsoft.com/office/drawing/2014/main" id="{7819493E-C3ED-CFC4-2D71-90277A8EEEA6}"/>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1" name="TextBox 62">
              <a:extLst>
                <a:ext uri="{FF2B5EF4-FFF2-40B4-BE49-F238E27FC236}">
                  <a16:creationId xmlns:a16="http://schemas.microsoft.com/office/drawing/2014/main" id="{7D175DE9-ADC6-AB80-12AE-EC043CF334CC}"/>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92" name="Freeform 69">
            <a:extLst>
              <a:ext uri="{FF2B5EF4-FFF2-40B4-BE49-F238E27FC236}">
                <a16:creationId xmlns:a16="http://schemas.microsoft.com/office/drawing/2014/main" id="{4AD01FAB-4678-DBD4-AE40-98698D863A32}"/>
              </a:ext>
            </a:extLst>
          </p:cNvPr>
          <p:cNvSpPr/>
          <p:nvPr/>
        </p:nvSpPr>
        <p:spPr>
          <a:xfrm>
            <a:off x="6433059" y="2343053"/>
            <a:ext cx="1089072" cy="1089072"/>
          </a:xfrm>
          <a:custGeom>
            <a:avLst/>
            <a:gdLst/>
            <a:ahLst/>
            <a:cxnLst/>
            <a:rect l="l" t="t" r="r" b="b"/>
            <a:pathLst>
              <a:path w="1089072" h="1089072">
                <a:moveTo>
                  <a:pt x="0" y="0"/>
                </a:moveTo>
                <a:lnTo>
                  <a:pt x="1089072" y="0"/>
                </a:lnTo>
                <a:lnTo>
                  <a:pt x="1089072" y="1089072"/>
                </a:lnTo>
                <a:lnTo>
                  <a:pt x="0" y="1089072"/>
                </a:lnTo>
                <a:lnTo>
                  <a:pt x="0" y="0"/>
                </a:lnTo>
                <a:close/>
              </a:path>
            </a:pathLst>
          </a:custGeom>
          <a:blipFill>
            <a:blip r:embed="rId9"/>
            <a:stretch>
              <a:fillRect/>
            </a:stretch>
          </a:blipFill>
        </p:spPr>
        <p:txBody>
          <a:bodyPr/>
          <a:lstStyle/>
          <a:p>
            <a:endParaRPr lang="en-US"/>
          </a:p>
        </p:txBody>
      </p:sp>
      <p:sp>
        <p:nvSpPr>
          <p:cNvPr id="93" name="Freeform 70">
            <a:extLst>
              <a:ext uri="{FF2B5EF4-FFF2-40B4-BE49-F238E27FC236}">
                <a16:creationId xmlns:a16="http://schemas.microsoft.com/office/drawing/2014/main" id="{F0CCB90A-476E-56D3-37CB-8FF0A97D39A9}"/>
              </a:ext>
            </a:extLst>
          </p:cNvPr>
          <p:cNvSpPr/>
          <p:nvPr/>
        </p:nvSpPr>
        <p:spPr>
          <a:xfrm>
            <a:off x="5879934" y="2365700"/>
            <a:ext cx="1050972" cy="1050972"/>
          </a:xfrm>
          <a:custGeom>
            <a:avLst/>
            <a:gdLst/>
            <a:ahLst/>
            <a:cxnLst/>
            <a:rect l="l" t="t" r="r" b="b"/>
            <a:pathLst>
              <a:path w="1050972" h="1050972">
                <a:moveTo>
                  <a:pt x="0" y="0"/>
                </a:moveTo>
                <a:lnTo>
                  <a:pt x="1050972" y="0"/>
                </a:lnTo>
                <a:lnTo>
                  <a:pt x="1050972" y="1050972"/>
                </a:lnTo>
                <a:lnTo>
                  <a:pt x="0" y="1050972"/>
                </a:lnTo>
                <a:lnTo>
                  <a:pt x="0" y="0"/>
                </a:lnTo>
                <a:close/>
              </a:path>
            </a:pathLst>
          </a:custGeom>
          <a:blipFill>
            <a:blip r:embed="rId9"/>
            <a:stretch>
              <a:fillRect/>
            </a:stretch>
          </a:blipFill>
        </p:spPr>
        <p:txBody>
          <a:bodyPr/>
          <a:lstStyle/>
          <a:p>
            <a:endParaRPr lang="en-US"/>
          </a:p>
        </p:txBody>
      </p:sp>
      <p:sp>
        <p:nvSpPr>
          <p:cNvPr id="94" name="TextBox 73">
            <a:extLst>
              <a:ext uri="{FF2B5EF4-FFF2-40B4-BE49-F238E27FC236}">
                <a16:creationId xmlns:a16="http://schemas.microsoft.com/office/drawing/2014/main" id="{EADD0A4F-7529-EC89-CE81-CC4ADDC985C6}"/>
              </a:ext>
            </a:extLst>
          </p:cNvPr>
          <p:cNvSpPr txBox="1"/>
          <p:nvPr/>
        </p:nvSpPr>
        <p:spPr>
          <a:xfrm>
            <a:off x="5748327" y="3249070"/>
            <a:ext cx="1825927" cy="362529"/>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Tenants</a:t>
            </a:r>
          </a:p>
        </p:txBody>
      </p:sp>
      <p:sp>
        <p:nvSpPr>
          <p:cNvPr id="105" name="TextBox 65">
            <a:extLst>
              <a:ext uri="{FF2B5EF4-FFF2-40B4-BE49-F238E27FC236}">
                <a16:creationId xmlns:a16="http://schemas.microsoft.com/office/drawing/2014/main" id="{024ED5E5-D657-5829-03E1-B7D2EB7F90D6}"/>
              </a:ext>
            </a:extLst>
          </p:cNvPr>
          <p:cNvSpPr txBox="1"/>
          <p:nvPr/>
        </p:nvSpPr>
        <p:spPr>
          <a:xfrm>
            <a:off x="10066833" y="1758588"/>
            <a:ext cx="1663324" cy="341612"/>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DCs</a:t>
            </a:r>
          </a:p>
        </p:txBody>
      </p:sp>
      <p:sp>
        <p:nvSpPr>
          <p:cNvPr id="106" name="TextBox 68">
            <a:extLst>
              <a:ext uri="{FF2B5EF4-FFF2-40B4-BE49-F238E27FC236}">
                <a16:creationId xmlns:a16="http://schemas.microsoft.com/office/drawing/2014/main" id="{A296DC33-D80E-E3DF-B805-E3FEBBE70429}"/>
              </a:ext>
            </a:extLst>
          </p:cNvPr>
          <p:cNvSpPr txBox="1"/>
          <p:nvPr/>
        </p:nvSpPr>
        <p:spPr>
          <a:xfrm>
            <a:off x="10182115" y="316391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sp>
        <p:nvSpPr>
          <p:cNvPr id="107" name="Freeform 74">
            <a:extLst>
              <a:ext uri="{FF2B5EF4-FFF2-40B4-BE49-F238E27FC236}">
                <a16:creationId xmlns:a16="http://schemas.microsoft.com/office/drawing/2014/main" id="{ED38E4FB-7C16-FF0B-334C-269DD22C5E5B}"/>
              </a:ext>
            </a:extLst>
          </p:cNvPr>
          <p:cNvSpPr/>
          <p:nvPr/>
        </p:nvSpPr>
        <p:spPr>
          <a:xfrm>
            <a:off x="10058742" y="941846"/>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0"/>
            <a:stretch>
              <a:fillRect/>
            </a:stretch>
          </a:blipFill>
        </p:spPr>
        <p:txBody>
          <a:bodyPr/>
          <a:lstStyle/>
          <a:p>
            <a:endParaRPr lang="en-US"/>
          </a:p>
        </p:txBody>
      </p:sp>
      <p:sp>
        <p:nvSpPr>
          <p:cNvPr id="108" name="Freeform 75">
            <a:extLst>
              <a:ext uri="{FF2B5EF4-FFF2-40B4-BE49-F238E27FC236}">
                <a16:creationId xmlns:a16="http://schemas.microsoft.com/office/drawing/2014/main" id="{4373A0C9-DD87-6425-7281-3D6020A7627C}"/>
              </a:ext>
            </a:extLst>
          </p:cNvPr>
          <p:cNvSpPr/>
          <p:nvPr/>
        </p:nvSpPr>
        <p:spPr>
          <a:xfrm>
            <a:off x="10761522" y="920908"/>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0"/>
            <a:stretch>
              <a:fillRect/>
            </a:stretch>
          </a:blipFill>
        </p:spPr>
        <p:txBody>
          <a:bodyPr/>
          <a:lstStyle/>
          <a:p>
            <a:endParaRPr lang="en-US"/>
          </a:p>
        </p:txBody>
      </p:sp>
      <p:grpSp>
        <p:nvGrpSpPr>
          <p:cNvPr id="109" name="Group 76">
            <a:extLst>
              <a:ext uri="{FF2B5EF4-FFF2-40B4-BE49-F238E27FC236}">
                <a16:creationId xmlns:a16="http://schemas.microsoft.com/office/drawing/2014/main" id="{F803D796-9689-1D3D-07BD-9CEBDB7B38F4}"/>
              </a:ext>
            </a:extLst>
          </p:cNvPr>
          <p:cNvGrpSpPr/>
          <p:nvPr/>
        </p:nvGrpSpPr>
        <p:grpSpPr>
          <a:xfrm>
            <a:off x="10163391" y="2332989"/>
            <a:ext cx="1497143" cy="901935"/>
            <a:chOff x="0" y="0"/>
            <a:chExt cx="1996191" cy="1202580"/>
          </a:xfrm>
        </p:grpSpPr>
        <p:sp>
          <p:nvSpPr>
            <p:cNvPr id="110" name="Freeform 77">
              <a:extLst>
                <a:ext uri="{FF2B5EF4-FFF2-40B4-BE49-F238E27FC236}">
                  <a16:creationId xmlns:a16="http://schemas.microsoft.com/office/drawing/2014/main" id="{764E5F45-7A46-63D3-7FBA-BAC8F4DFABB2}"/>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11" name="Freeform 78">
              <a:extLst>
                <a:ext uri="{FF2B5EF4-FFF2-40B4-BE49-F238E27FC236}">
                  <a16:creationId xmlns:a16="http://schemas.microsoft.com/office/drawing/2014/main" id="{84CCA4C8-2A2E-7912-7B50-53C1BB7368FA}"/>
                </a:ext>
              </a:extLst>
            </p:cNvPr>
            <p:cNvSpPr/>
            <p:nvPr/>
          </p:nvSpPr>
          <p:spPr>
            <a:xfrm>
              <a:off x="0" y="423902"/>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12" name="Freeform 79">
              <a:extLst>
                <a:ext uri="{FF2B5EF4-FFF2-40B4-BE49-F238E27FC236}">
                  <a16:creationId xmlns:a16="http://schemas.microsoft.com/office/drawing/2014/main" id="{F454D035-81F2-A91A-2EC1-3924B5E2571E}"/>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13" name="Freeform 80">
              <a:extLst>
                <a:ext uri="{FF2B5EF4-FFF2-40B4-BE49-F238E27FC236}">
                  <a16:creationId xmlns:a16="http://schemas.microsoft.com/office/drawing/2014/main" id="{51F48F1D-E1D4-D9C7-241E-1AA78E580A59}"/>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11"/>
              <a:stretch>
                <a:fillRect l="-89563" r="-93613" b="-65656"/>
              </a:stretch>
            </a:blipFill>
          </p:spPr>
          <p:txBody>
            <a:bodyPr/>
            <a:lstStyle/>
            <a:p>
              <a:endParaRPr lang="en-US"/>
            </a:p>
          </p:txBody>
        </p:sp>
        <p:sp>
          <p:nvSpPr>
            <p:cNvPr id="114" name="Freeform 81">
              <a:extLst>
                <a:ext uri="{FF2B5EF4-FFF2-40B4-BE49-F238E27FC236}">
                  <a16:creationId xmlns:a16="http://schemas.microsoft.com/office/drawing/2014/main" id="{1BEAD1ED-1299-C67D-36BE-ADAEDE1F909B}"/>
                </a:ext>
              </a:extLst>
            </p:cNvPr>
            <p:cNvSpPr/>
            <p:nvPr/>
          </p:nvSpPr>
          <p:spPr>
            <a:xfrm>
              <a:off x="968967" y="187914"/>
              <a:ext cx="420958" cy="294670"/>
            </a:xfrm>
            <a:custGeom>
              <a:avLst/>
              <a:gdLst/>
              <a:ahLst/>
              <a:cxnLst/>
              <a:rect l="l" t="t" r="r" b="b"/>
              <a:pathLst>
                <a:path w="420958" h="294670">
                  <a:moveTo>
                    <a:pt x="0" y="0"/>
                  </a:moveTo>
                  <a:lnTo>
                    <a:pt x="420957" y="0"/>
                  </a:lnTo>
                  <a:lnTo>
                    <a:pt x="420957" y="294670"/>
                  </a:lnTo>
                  <a:lnTo>
                    <a:pt x="0" y="294670"/>
                  </a:lnTo>
                  <a:lnTo>
                    <a:pt x="0" y="0"/>
                  </a:lnTo>
                  <a:close/>
                </a:path>
              </a:pathLst>
            </a:custGeom>
            <a:blipFill>
              <a:blip r:embed="rId12"/>
              <a:stretch>
                <a:fillRect/>
              </a:stretch>
            </a:blipFill>
          </p:spPr>
          <p:txBody>
            <a:bodyPr/>
            <a:lstStyle/>
            <a:p>
              <a:endParaRPr lang="en-US"/>
            </a:p>
          </p:txBody>
        </p:sp>
        <p:sp>
          <p:nvSpPr>
            <p:cNvPr id="115" name="Freeform 82">
              <a:extLst>
                <a:ext uri="{FF2B5EF4-FFF2-40B4-BE49-F238E27FC236}">
                  <a16:creationId xmlns:a16="http://schemas.microsoft.com/office/drawing/2014/main" id="{2FF02E91-D38E-63D5-3E65-69E6AD3C4320}"/>
                </a:ext>
              </a:extLst>
            </p:cNvPr>
            <p:cNvSpPr/>
            <p:nvPr/>
          </p:nvSpPr>
          <p:spPr>
            <a:xfrm>
              <a:off x="372841" y="596899"/>
              <a:ext cx="382557" cy="382557"/>
            </a:xfrm>
            <a:custGeom>
              <a:avLst/>
              <a:gdLst/>
              <a:ahLst/>
              <a:cxnLst/>
              <a:rect l="l" t="t" r="r" b="b"/>
              <a:pathLst>
                <a:path w="382557" h="382557">
                  <a:moveTo>
                    <a:pt x="0" y="0"/>
                  </a:moveTo>
                  <a:lnTo>
                    <a:pt x="382558" y="0"/>
                  </a:lnTo>
                  <a:lnTo>
                    <a:pt x="382558" y="382557"/>
                  </a:lnTo>
                  <a:lnTo>
                    <a:pt x="0" y="382557"/>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grpSp>
      <p:grpSp>
        <p:nvGrpSpPr>
          <p:cNvPr id="123" name="Group 122">
            <a:extLst>
              <a:ext uri="{FF2B5EF4-FFF2-40B4-BE49-F238E27FC236}">
                <a16:creationId xmlns:a16="http://schemas.microsoft.com/office/drawing/2014/main" id="{71558674-C5E0-E8E1-1569-7DA0BE5806E0}"/>
              </a:ext>
            </a:extLst>
          </p:cNvPr>
          <p:cNvGrpSpPr/>
          <p:nvPr/>
        </p:nvGrpSpPr>
        <p:grpSpPr>
          <a:xfrm>
            <a:off x="870952" y="4932670"/>
            <a:ext cx="3561806" cy="1088131"/>
            <a:chOff x="826535" y="5054194"/>
            <a:chExt cx="3561806" cy="1088131"/>
          </a:xfrm>
        </p:grpSpPr>
        <p:sp>
          <p:nvSpPr>
            <p:cNvPr id="5" name="TextBox 4">
              <a:extLst>
                <a:ext uri="{FF2B5EF4-FFF2-40B4-BE49-F238E27FC236}">
                  <a16:creationId xmlns:a16="http://schemas.microsoft.com/office/drawing/2014/main" id="{8D00D858-AEDC-2570-87BB-57FBF3BDBCA3}"/>
                </a:ext>
              </a:extLst>
            </p:cNvPr>
            <p:cNvSpPr txBox="1"/>
            <p:nvPr/>
          </p:nvSpPr>
          <p:spPr bwMode="auto">
            <a:xfrm>
              <a:off x="826535" y="5054194"/>
              <a:ext cx="3561806"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lang="en-US" sz="1600" dirty="0">
                  <a:solidFill>
                    <a:srgbClr val="FFFFFF"/>
                  </a:solidFill>
                  <a:latin typeface="Arial"/>
                </a:rPr>
                <a:t>Cross connects and private paths established in minutes. </a:t>
              </a: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117" name="TextBox 116">
              <a:extLst>
                <a:ext uri="{FF2B5EF4-FFF2-40B4-BE49-F238E27FC236}">
                  <a16:creationId xmlns:a16="http://schemas.microsoft.com/office/drawing/2014/main" id="{0B8CB2A8-2A93-7121-5ADE-0A025B7FC006}"/>
                </a:ext>
              </a:extLst>
            </p:cNvPr>
            <p:cNvSpPr txBox="1"/>
            <p:nvPr/>
          </p:nvSpPr>
          <p:spPr bwMode="auto">
            <a:xfrm>
              <a:off x="935007" y="5210338"/>
              <a:ext cx="1662718"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Automated</a:t>
              </a:r>
            </a:p>
          </p:txBody>
        </p:sp>
      </p:grpSp>
      <p:grpSp>
        <p:nvGrpSpPr>
          <p:cNvPr id="122" name="Group 121">
            <a:extLst>
              <a:ext uri="{FF2B5EF4-FFF2-40B4-BE49-F238E27FC236}">
                <a16:creationId xmlns:a16="http://schemas.microsoft.com/office/drawing/2014/main" id="{7BE33A18-4BF3-A392-43DA-459D5B984897}"/>
              </a:ext>
            </a:extLst>
          </p:cNvPr>
          <p:cNvGrpSpPr/>
          <p:nvPr/>
        </p:nvGrpSpPr>
        <p:grpSpPr>
          <a:xfrm>
            <a:off x="4557658" y="4990000"/>
            <a:ext cx="3581127" cy="1088131"/>
            <a:chOff x="4513241" y="5111524"/>
            <a:chExt cx="3581127" cy="1088131"/>
          </a:xfrm>
        </p:grpSpPr>
        <p:sp>
          <p:nvSpPr>
            <p:cNvPr id="7" name="TextBox 6">
              <a:extLst>
                <a:ext uri="{FF2B5EF4-FFF2-40B4-BE49-F238E27FC236}">
                  <a16:creationId xmlns:a16="http://schemas.microsoft.com/office/drawing/2014/main" id="{2950DA63-E252-51B3-F6A7-7F550D494105}"/>
                </a:ext>
              </a:extLst>
            </p:cNvPr>
            <p:cNvSpPr txBox="1"/>
            <p:nvPr/>
          </p:nvSpPr>
          <p:spPr bwMode="auto">
            <a:xfrm>
              <a:off x="4513241" y="5111524"/>
              <a:ext cx="3581127"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a:p>
              <a:pPr lvl="0">
                <a:defRPr/>
              </a:pPr>
              <a:r>
                <a:rPr lang="en-US" sz="1600">
                  <a:solidFill>
                    <a:srgbClr val="FFFFFF"/>
                  </a:solidFill>
                </a:rPr>
                <a:t>Deterministic connectivity across network boundaries. </a:t>
              </a:r>
            </a:p>
            <a:p>
              <a:pPr lvl="0">
                <a:defRPr/>
              </a:pPr>
              <a:endParaRPr lang="en-US" sz="1600">
                <a:solidFill>
                  <a:srgbClr val="FFFFFF"/>
                </a:solidFill>
              </a:endParaRPr>
            </a:p>
          </p:txBody>
        </p:sp>
        <p:sp>
          <p:nvSpPr>
            <p:cNvPr id="118" name="TextBox 117">
              <a:extLst>
                <a:ext uri="{FF2B5EF4-FFF2-40B4-BE49-F238E27FC236}">
                  <a16:creationId xmlns:a16="http://schemas.microsoft.com/office/drawing/2014/main" id="{73A4C681-9CEC-1B5E-4C4E-B20ECF5FCDC5}"/>
                </a:ext>
              </a:extLst>
            </p:cNvPr>
            <p:cNvSpPr txBox="1"/>
            <p:nvPr/>
          </p:nvSpPr>
          <p:spPr bwMode="auto">
            <a:xfrm>
              <a:off x="4580574" y="5192196"/>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Tomorrow Medium"/>
                  <a:ea typeface="+mn-ea"/>
                  <a:cs typeface="+mn-cs"/>
                </a:rPr>
                <a:t>Programmable </a:t>
              </a:r>
            </a:p>
          </p:txBody>
        </p:sp>
      </p:grpSp>
      <p:grpSp>
        <p:nvGrpSpPr>
          <p:cNvPr id="124" name="Group 123">
            <a:extLst>
              <a:ext uri="{FF2B5EF4-FFF2-40B4-BE49-F238E27FC236}">
                <a16:creationId xmlns:a16="http://schemas.microsoft.com/office/drawing/2014/main" id="{B26F5516-F5A1-4A4D-E991-594362033C87}"/>
              </a:ext>
            </a:extLst>
          </p:cNvPr>
          <p:cNvGrpSpPr/>
          <p:nvPr/>
        </p:nvGrpSpPr>
        <p:grpSpPr>
          <a:xfrm>
            <a:off x="8150930" y="5029456"/>
            <a:ext cx="3509604" cy="1088131"/>
            <a:chOff x="8106513" y="5150980"/>
            <a:chExt cx="3509604" cy="1088131"/>
          </a:xfrm>
        </p:grpSpPr>
        <p:sp>
          <p:nvSpPr>
            <p:cNvPr id="119" name="TextBox 118">
              <a:extLst>
                <a:ext uri="{FF2B5EF4-FFF2-40B4-BE49-F238E27FC236}">
                  <a16:creationId xmlns:a16="http://schemas.microsoft.com/office/drawing/2014/main" id="{7EEEC6C9-EAE0-AA58-710F-3AA662350364}"/>
                </a:ext>
              </a:extLst>
            </p:cNvPr>
            <p:cNvSpPr txBox="1"/>
            <p:nvPr/>
          </p:nvSpPr>
          <p:spPr bwMode="auto">
            <a:xfrm>
              <a:off x="8106513" y="5150980"/>
              <a:ext cx="3437559" cy="1088131"/>
            </a:xfrm>
            <a:prstGeom prst="rect">
              <a:avLst/>
            </a:prstGeom>
            <a:noFill/>
          </p:spPr>
          <p:txBody>
            <a:bodyPr wrap="square" lIns="182880" tIns="182880" rIns="18288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End-to-end insights across partner networks, fabrics, and clouds. </a:t>
              </a:r>
            </a:p>
          </p:txBody>
        </p:sp>
        <p:sp>
          <p:nvSpPr>
            <p:cNvPr id="120" name="TextBox 119">
              <a:extLst>
                <a:ext uri="{FF2B5EF4-FFF2-40B4-BE49-F238E27FC236}">
                  <a16:creationId xmlns:a16="http://schemas.microsoft.com/office/drawing/2014/main" id="{9122F856-5939-DA40-4143-3750BC1B5D5F}"/>
                </a:ext>
              </a:extLst>
            </p:cNvPr>
            <p:cNvSpPr txBox="1"/>
            <p:nvPr/>
          </p:nvSpPr>
          <p:spPr bwMode="auto">
            <a:xfrm>
              <a:off x="8178556" y="5198598"/>
              <a:ext cx="3437561" cy="355482"/>
            </a:xfrm>
            <a:prstGeom prst="rect">
              <a:avLst/>
            </a:prstGeom>
            <a:noFill/>
          </p:spPr>
          <p:txBody>
            <a:bodyPr wrap="square">
              <a:sp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r>
                <a:rPr lang="en-US">
                  <a:solidFill>
                    <a:schemeClr val="accent1"/>
                  </a:solidFill>
                  <a:latin typeface="Tomorrow Medium"/>
                </a:rPr>
                <a:t>Visible</a:t>
              </a:r>
              <a:endParaRPr kumimoji="0" lang="en-US" sz="1800" b="0" i="0" u="none" strike="noStrike" kern="1200" cap="none" spc="0" normalizeH="0" baseline="0" noProof="0">
                <a:ln>
                  <a:noFill/>
                </a:ln>
                <a:solidFill>
                  <a:schemeClr val="accent1"/>
                </a:solidFill>
                <a:effectLst/>
                <a:uLnTx/>
                <a:uFillTx/>
                <a:latin typeface="Tomorrow Medium"/>
                <a:ea typeface="+mn-ea"/>
                <a:cs typeface="+mn-cs"/>
              </a:endParaRPr>
            </a:p>
          </p:txBody>
        </p:sp>
      </p:grpSp>
      <p:sp>
        <p:nvSpPr>
          <p:cNvPr id="121" name="TextBox 120">
            <a:extLst>
              <a:ext uri="{FF2B5EF4-FFF2-40B4-BE49-F238E27FC236}">
                <a16:creationId xmlns:a16="http://schemas.microsoft.com/office/drawing/2014/main" id="{D303FC73-A140-F7C9-CBF7-1485C61656D6}"/>
              </a:ext>
            </a:extLst>
          </p:cNvPr>
          <p:cNvSpPr txBox="1"/>
          <p:nvPr/>
        </p:nvSpPr>
        <p:spPr bwMode="auto">
          <a:xfrm>
            <a:off x="9310255" y="7913716"/>
            <a:ext cx="0" cy="0"/>
          </a:xfrm>
          <a:prstGeom prst="rect">
            <a:avLst/>
          </a:prstGeom>
          <a:noFill/>
        </p:spPr>
        <p:txBody>
          <a:bodyPr wrap="none" rtlCol="0">
            <a:noAutofit/>
          </a:bodyPr>
          <a:lstStyle/>
          <a:p>
            <a:pPr algn="l">
              <a:spcBef>
                <a:spcPts val="600"/>
              </a:spcBef>
            </a:pPr>
            <a:endParaRPr lang="en-US"/>
          </a:p>
        </p:txBody>
      </p:sp>
      <p:sp>
        <p:nvSpPr>
          <p:cNvPr id="11" name="Provider4">
            <a:extLst>
              <a:ext uri="{FF2B5EF4-FFF2-40B4-BE49-F238E27FC236}">
                <a16:creationId xmlns:a16="http://schemas.microsoft.com/office/drawing/2014/main" id="{ECE66F51-6B75-2668-1011-8BDA92D3D9E5}"/>
              </a:ext>
            </a:extLst>
          </p:cNvPr>
          <p:cNvSpPr/>
          <p:nvPr/>
        </p:nvSpPr>
        <p:spPr bwMode="auto">
          <a:xfrm>
            <a:off x="8330690" y="1962021"/>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a:latin typeface="+mj-lt"/>
              </a:rPr>
              <a:t>Your Network</a:t>
            </a:r>
            <a:endParaRPr lang="en-US" sz="1600" b="1">
              <a:latin typeface="+mj-lt"/>
            </a:endParaRPr>
          </a:p>
        </p:txBody>
      </p:sp>
    </p:spTree>
    <p:extLst>
      <p:ext uri="{BB962C8B-B14F-4D97-AF65-F5344CB8AC3E}">
        <p14:creationId xmlns:p14="http://schemas.microsoft.com/office/powerpoint/2010/main" val="2970757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E2B01-D9EA-9E21-4026-212B5B3D4AF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C857F2-5872-4CF9-BE7F-7934BD09B15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35</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F522ED16-04A9-165E-A379-CFE5B2A6DE95}"/>
              </a:ext>
            </a:extLst>
          </p:cNvPr>
          <p:cNvSpPr>
            <a:spLocks noGrp="1"/>
          </p:cNvSpPr>
          <p:nvPr>
            <p:ph type="title"/>
          </p:nvPr>
        </p:nvSpPr>
        <p:spPr>
          <a:xfrm>
            <a:off x="510363" y="175755"/>
            <a:ext cx="11171274" cy="1107996"/>
          </a:xfrm>
        </p:spPr>
        <p:txBody>
          <a:bodyPr/>
          <a:lstStyle/>
          <a:p>
            <a:r>
              <a:rPr lang="en-US" sz="2800" dirty="0"/>
              <a:t>Instant Services Fabric </a:t>
            </a:r>
          </a:p>
        </p:txBody>
      </p:sp>
      <p:sp>
        <p:nvSpPr>
          <p:cNvPr id="11" name="Rectangle 10">
            <a:extLst>
              <a:ext uri="{FF2B5EF4-FFF2-40B4-BE49-F238E27FC236}">
                <a16:creationId xmlns:a16="http://schemas.microsoft.com/office/drawing/2014/main" id="{97B0055B-1BC8-A355-1382-558DCD3A5951}"/>
              </a:ext>
            </a:extLst>
          </p:cNvPr>
          <p:cNvSpPr/>
          <p:nvPr/>
        </p:nvSpPr>
        <p:spPr bwMode="auto">
          <a:xfrm>
            <a:off x="8808720" y="1"/>
            <a:ext cx="3383280" cy="6857999"/>
          </a:xfrm>
          <a:prstGeom prst="rect">
            <a:avLst/>
          </a:prstGeom>
          <a:solidFill>
            <a:schemeClr val="tx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A black and white pattern&#10;&#10;AI-generated content may be incorrect.">
            <a:extLst>
              <a:ext uri="{FF2B5EF4-FFF2-40B4-BE49-F238E27FC236}">
                <a16:creationId xmlns:a16="http://schemas.microsoft.com/office/drawing/2014/main" id="{B87FE7AF-9667-580E-E9A7-7B5131D834EB}"/>
              </a:ext>
            </a:extLst>
          </p:cNvPr>
          <p:cNvPicPr>
            <a:picLocks noChangeAspect="1"/>
          </p:cNvPicPr>
          <p:nvPr/>
        </p:nvPicPr>
        <p:blipFill>
          <a:blip r:embed="rId3"/>
          <a:srcRect l="55617" r="382" b="6488"/>
          <a:stretch>
            <a:fillRect/>
          </a:stretch>
        </p:blipFill>
        <p:spPr>
          <a:xfrm>
            <a:off x="8772144" y="2761154"/>
            <a:ext cx="3419856" cy="4092545"/>
          </a:xfrm>
          <a:prstGeom prst="rect">
            <a:avLst/>
          </a:prstGeom>
        </p:spPr>
      </p:pic>
      <p:sp>
        <p:nvSpPr>
          <p:cNvPr id="13" name="Fade">
            <a:extLst>
              <a:ext uri="{FF2B5EF4-FFF2-40B4-BE49-F238E27FC236}">
                <a16:creationId xmlns:a16="http://schemas.microsoft.com/office/drawing/2014/main" id="{4EB1F3AA-2305-1411-279C-67E6C3942E4E}"/>
              </a:ext>
            </a:extLst>
          </p:cNvPr>
          <p:cNvSpPr/>
          <p:nvPr/>
        </p:nvSpPr>
        <p:spPr bwMode="auto">
          <a:xfrm>
            <a:off x="8808720" y="2751737"/>
            <a:ext cx="3383280" cy="4106263"/>
          </a:xfrm>
          <a:prstGeom prst="rect">
            <a:avLst/>
          </a:prstGeom>
          <a:gradFill flip="none" rotWithShape="1">
            <a:gsLst>
              <a:gs pos="20000">
                <a:schemeClr val="tx1"/>
              </a:gs>
              <a:gs pos="90000">
                <a:schemeClr val="tx1"/>
              </a:gs>
              <a:gs pos="60000">
                <a:schemeClr val="bg2">
                  <a:lumMod val="25000"/>
                  <a:alpha val="40000"/>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F1EFF9B7-8C3B-246E-CDE9-0E7CAD3C32F6}"/>
              </a:ext>
            </a:extLst>
          </p:cNvPr>
          <p:cNvSpPr txBox="1"/>
          <p:nvPr/>
        </p:nvSpPr>
        <p:spPr>
          <a:xfrm>
            <a:off x="9144000" y="1097280"/>
            <a:ext cx="2743200" cy="4389120"/>
          </a:xfrm>
          <a:prstGeom prst="rect">
            <a:avLst/>
          </a:prstGeom>
          <a:noFill/>
        </p:spPr>
        <p:txBody>
          <a:bodyPr wrap="square" lIns="0" tIns="45720" rIns="0" bIns="45720" rtlCol="0" anchor="ctr" anchorCtr="0">
            <a:noAutofit/>
          </a:bodyPr>
          <a:lstStyle/>
          <a:p>
            <a:pPr marL="0" marR="0" lvl="0" indent="0" algn="l" defTabSz="914400" rtl="0" eaLnBrk="1" fontAlgn="auto" latinLnBrk="0" hangingPunct="1">
              <a:lnSpc>
                <a:spcPct val="110000"/>
              </a:lnSpc>
              <a:spcBef>
                <a:spcPts val="0"/>
              </a:spcBef>
              <a:spcAft>
                <a:spcPts val="2400"/>
              </a:spcAft>
              <a:buClrTx/>
              <a:buSzTx/>
              <a:buFontTx/>
              <a:buNone/>
              <a:tabLst/>
              <a:defRPr/>
            </a:pPr>
            <a:r>
              <a:rPr kumimoji="0" lang="en-US" sz="2000" b="1" i="0" u="none" strike="noStrike" kern="1200" cap="none" spc="100" normalizeH="0" baseline="0" noProof="0" dirty="0">
                <a:ln>
                  <a:noFill/>
                </a:ln>
                <a:solidFill>
                  <a:srgbClr val="FFC200"/>
                </a:solidFill>
                <a:effectLst/>
                <a:uLnTx/>
                <a:uFillTx/>
                <a:latin typeface="Tomorrow Medium"/>
                <a:ea typeface="+mn-ea"/>
                <a:cs typeface="+mn-cs"/>
              </a:rPr>
              <a:t>Automated</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latin typeface="Arial"/>
              </a:rPr>
              <a:t>Spin up cross-connects and provision private Ethernet paths. No routing complexity. </a:t>
            </a: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Self-Service Portal</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lang="en-US" sz="1600" dirty="0">
                <a:solidFill>
                  <a:srgbClr val="D4D0C9"/>
                </a:solidFill>
              </a:rPr>
              <a:t>Tenants can </a:t>
            </a:r>
            <a:r>
              <a:rPr lang="en-US" sz="1600" dirty="0">
                <a:solidFill>
                  <a:srgbClr val="D4D0C9"/>
                </a:solidFill>
                <a:latin typeface="Arial"/>
              </a:rPr>
              <a:t>self-provision connectivity services through your white-label portal.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a:p>
            <a:pPr marL="0" marR="0" lvl="0" indent="0" algn="l" defTabSz="914400" rtl="0" eaLnBrk="1" fontAlgn="auto" latinLnBrk="0" hangingPunct="1">
              <a:lnSpc>
                <a:spcPct val="110000"/>
              </a:lnSpc>
              <a:spcBef>
                <a:spcPts val="0"/>
              </a:spcBef>
              <a:spcAft>
                <a:spcPts val="2400"/>
              </a:spcAft>
              <a:buClrTx/>
              <a:buSzTx/>
              <a:buFontTx/>
              <a:buNone/>
              <a:tabLst/>
              <a:defRPr/>
            </a:pPr>
            <a:r>
              <a:rPr lang="en-US" sz="2000" b="1" spc="100" dirty="0">
                <a:solidFill>
                  <a:srgbClr val="FFC200"/>
                </a:solidFill>
                <a:latin typeface="Tomorrow Medium"/>
              </a:rPr>
              <a:t>Marketplace </a:t>
            </a:r>
            <a:br>
              <a:rPr kumimoji="0" lang="en-US" sz="2400" b="0" i="0" u="none" strike="noStrike" kern="1200" cap="none" spc="100" normalizeH="0" baseline="0" noProof="0" dirty="0">
                <a:ln>
                  <a:noFill/>
                </a:ln>
                <a:solidFill>
                  <a:srgbClr val="1C180D"/>
                </a:solidFill>
                <a:effectLst/>
                <a:uLnTx/>
                <a:uFillTx/>
                <a:latin typeface="Arial"/>
                <a:ea typeface="+mn-ea"/>
                <a:cs typeface="+mn-cs"/>
              </a:rPr>
            </a:br>
            <a:r>
              <a:rPr kumimoji="0" lang="en-US" sz="1600" b="0" i="0" u="none" strike="noStrike" kern="1200" cap="none" spc="0" normalizeH="0" baseline="0" noProof="0" dirty="0">
                <a:ln>
                  <a:noFill/>
                </a:ln>
                <a:solidFill>
                  <a:srgbClr val="D4D0C9"/>
                </a:solidFill>
                <a:effectLst/>
                <a:uLnTx/>
                <a:uFillTx/>
                <a:latin typeface="Arial"/>
                <a:ea typeface="+mn-ea"/>
                <a:cs typeface="+mn-cs"/>
              </a:rPr>
              <a:t>Extend reach through partnerships</a:t>
            </a:r>
            <a:r>
              <a:rPr kumimoji="0" lang="en-US" sz="1600" b="0" i="0" u="none" strike="noStrike" kern="1200" cap="none" spc="0" normalizeH="0" noProof="0" dirty="0">
                <a:ln>
                  <a:noFill/>
                </a:ln>
                <a:solidFill>
                  <a:srgbClr val="D4D0C9"/>
                </a:solidFill>
                <a:effectLst/>
                <a:uLnTx/>
                <a:uFillTx/>
                <a:latin typeface="Arial"/>
                <a:ea typeface="+mn-ea"/>
                <a:cs typeface="+mn-cs"/>
              </a:rPr>
              <a:t> to deliver your own connectivity marketplace. </a:t>
            </a:r>
            <a:endParaRPr kumimoji="0" lang="en-US" sz="1600" b="0" i="0" u="none" strike="noStrike" kern="1200" cap="none" spc="0" normalizeH="0" baseline="0" noProof="0" dirty="0">
              <a:ln>
                <a:noFill/>
              </a:ln>
              <a:solidFill>
                <a:srgbClr val="D4D0C9"/>
              </a:solidFill>
              <a:effectLst/>
              <a:uLnTx/>
              <a:uFillTx/>
              <a:latin typeface="Arial"/>
              <a:ea typeface="+mn-ea"/>
              <a:cs typeface="+mn-cs"/>
            </a:endParaRPr>
          </a:p>
        </p:txBody>
      </p:sp>
      <p:sp>
        <p:nvSpPr>
          <p:cNvPr id="54" name="Slide Number Placeholder 11">
            <a:extLst>
              <a:ext uri="{FF2B5EF4-FFF2-40B4-BE49-F238E27FC236}">
                <a16:creationId xmlns:a16="http://schemas.microsoft.com/office/drawing/2014/main" id="{925F3BAD-455E-8E45-3AE9-DDADDF94F0B3}"/>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35</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grpSp>
        <p:nvGrpSpPr>
          <p:cNvPr id="55" name="Maia Logo">
            <a:extLst>
              <a:ext uri="{FF2B5EF4-FFF2-40B4-BE49-F238E27FC236}">
                <a16:creationId xmlns:a16="http://schemas.microsoft.com/office/drawing/2014/main" id="{07569BBD-4F1B-4C94-EE26-9BCA5AE72712}"/>
              </a:ext>
            </a:extLst>
          </p:cNvPr>
          <p:cNvGrpSpPr/>
          <p:nvPr/>
        </p:nvGrpSpPr>
        <p:grpSpPr>
          <a:xfrm>
            <a:off x="9984505" y="6181344"/>
            <a:ext cx="1697132" cy="414708"/>
            <a:chOff x="1447800" y="2292350"/>
            <a:chExt cx="7774788" cy="1899831"/>
          </a:xfrm>
        </p:grpSpPr>
        <p:sp>
          <p:nvSpPr>
            <p:cNvPr id="56" name="Freeform 20">
              <a:extLst>
                <a:ext uri="{FF2B5EF4-FFF2-40B4-BE49-F238E27FC236}">
                  <a16:creationId xmlns:a16="http://schemas.microsoft.com/office/drawing/2014/main" id="{88ED51C7-A846-BB88-390D-CC578E10F481}"/>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7" name="Freeform 21">
              <a:extLst>
                <a:ext uri="{FF2B5EF4-FFF2-40B4-BE49-F238E27FC236}">
                  <a16:creationId xmlns:a16="http://schemas.microsoft.com/office/drawing/2014/main" id="{CCE7053E-5E28-79B8-4323-9E9A6365D653}"/>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8" name="Freeform 22">
              <a:extLst>
                <a:ext uri="{FF2B5EF4-FFF2-40B4-BE49-F238E27FC236}">
                  <a16:creationId xmlns:a16="http://schemas.microsoft.com/office/drawing/2014/main" id="{6D08B32A-6E1B-20B7-18CC-6BC0834D913D}"/>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4" name="TextBox 41">
            <a:extLst>
              <a:ext uri="{FF2B5EF4-FFF2-40B4-BE49-F238E27FC236}">
                <a16:creationId xmlns:a16="http://schemas.microsoft.com/office/drawing/2014/main" id="{6FF0D8D0-7438-6A91-C413-DD88E403A0B6}"/>
              </a:ext>
            </a:extLst>
          </p:cNvPr>
          <p:cNvSpPr txBox="1"/>
          <p:nvPr/>
        </p:nvSpPr>
        <p:spPr>
          <a:xfrm>
            <a:off x="0" y="356742"/>
            <a:ext cx="8772144" cy="5532886"/>
          </a:xfrm>
          <a:prstGeom prst="rect">
            <a:avLst/>
          </a:prstGeom>
        </p:spPr>
        <p:txBody>
          <a:bodyPr lIns="51955" tIns="51955" rIns="51955" bIns="51955" rtlCol="0" anchor="ctr"/>
          <a:lstStyle/>
          <a:p>
            <a:pPr marL="0" marR="0" lvl="0" indent="0" algn="ctr" defTabSz="914400" rtl="0" eaLnBrk="1" fontAlgn="auto" latinLnBrk="0" hangingPunct="1">
              <a:lnSpc>
                <a:spcPts val="1718"/>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rial"/>
              <a:ea typeface="+mn-ea"/>
              <a:cs typeface="+mn-cs"/>
            </a:endParaRPr>
          </a:p>
        </p:txBody>
      </p:sp>
      <p:sp>
        <p:nvSpPr>
          <p:cNvPr id="116" name="Rectangle 115">
            <a:extLst>
              <a:ext uri="{FF2B5EF4-FFF2-40B4-BE49-F238E27FC236}">
                <a16:creationId xmlns:a16="http://schemas.microsoft.com/office/drawing/2014/main" id="{E25C474B-2D11-BDE3-255C-7BCC95DB737F}"/>
              </a:ext>
            </a:extLst>
          </p:cNvPr>
          <p:cNvSpPr/>
          <p:nvPr/>
        </p:nvSpPr>
        <p:spPr bwMode="auto">
          <a:xfrm>
            <a:off x="1571753" y="3906925"/>
            <a:ext cx="1828800" cy="365760"/>
          </a:xfrm>
          <a:prstGeom prst="rect">
            <a:avLst/>
          </a:prstGeom>
          <a:noFill/>
          <a:ln w="12700" cap="sq" algn="ctr">
            <a:noFill/>
            <a:miter lim="800000"/>
            <a:headEnd/>
            <a:tailEnd/>
          </a:ln>
          <a:effectLst/>
        </p:spPr>
        <p:txBody>
          <a:bodyPr wrap="square" lIns="0" tIns="0" rIns="0" bIns="0" rtlCol="0" anchor="ctr" anchorCtr="0"/>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Tomorrow Medium"/>
                <a:ea typeface="+mn-ea"/>
                <a:cs typeface="+mn-cs"/>
              </a:rPr>
              <a:t>Virtual Meet-me Room</a:t>
            </a:r>
          </a:p>
        </p:txBody>
      </p:sp>
      <p:sp>
        <p:nvSpPr>
          <p:cNvPr id="175" name="Rounded Rectangle 174">
            <a:extLst>
              <a:ext uri="{FF2B5EF4-FFF2-40B4-BE49-F238E27FC236}">
                <a16:creationId xmlns:a16="http://schemas.microsoft.com/office/drawing/2014/main" id="{3A58577D-1E2A-86E0-ED99-C7190363A189}"/>
              </a:ext>
            </a:extLst>
          </p:cNvPr>
          <p:cNvSpPr/>
          <p:nvPr/>
        </p:nvSpPr>
        <p:spPr>
          <a:xfrm>
            <a:off x="1569156" y="3176772"/>
            <a:ext cx="4164812" cy="128816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6" name="!!Data Center Icon2">
            <a:extLst>
              <a:ext uri="{FF2B5EF4-FFF2-40B4-BE49-F238E27FC236}">
                <a16:creationId xmlns:a16="http://schemas.microsoft.com/office/drawing/2014/main" id="{1599C661-9CEB-006C-6EE7-9D5E8A8A84C3}"/>
              </a:ext>
            </a:extLst>
          </p:cNvPr>
          <p:cNvGrpSpPr/>
          <p:nvPr/>
        </p:nvGrpSpPr>
        <p:grpSpPr>
          <a:xfrm>
            <a:off x="1742444" y="2669265"/>
            <a:ext cx="1487420" cy="1090646"/>
            <a:chOff x="3915783" y="5046954"/>
            <a:chExt cx="1011845" cy="741000"/>
          </a:xfrm>
          <a:solidFill>
            <a:schemeClr val="bg1">
              <a:lumMod val="95000"/>
            </a:schemeClr>
          </a:solidFill>
        </p:grpSpPr>
        <p:sp>
          <p:nvSpPr>
            <p:cNvPr id="177" name="White fill">
              <a:extLst>
                <a:ext uri="{FF2B5EF4-FFF2-40B4-BE49-F238E27FC236}">
                  <a16:creationId xmlns:a16="http://schemas.microsoft.com/office/drawing/2014/main" id="{4AFB3970-C461-5083-E55E-93E8F7E184B7}"/>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78" name="Freeform: Shape 3">
              <a:extLst>
                <a:ext uri="{FF2B5EF4-FFF2-40B4-BE49-F238E27FC236}">
                  <a16:creationId xmlns:a16="http://schemas.microsoft.com/office/drawing/2014/main" id="{B51125AF-9088-9707-AA38-CC302E87F6D7}"/>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79" name="Freeform: Shape 4">
              <a:extLst>
                <a:ext uri="{FF2B5EF4-FFF2-40B4-BE49-F238E27FC236}">
                  <a16:creationId xmlns:a16="http://schemas.microsoft.com/office/drawing/2014/main" id="{EA4969AB-C56C-3C31-A020-554BF4D1854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80" name="Freeform: Shape 5">
              <a:extLst>
                <a:ext uri="{FF2B5EF4-FFF2-40B4-BE49-F238E27FC236}">
                  <a16:creationId xmlns:a16="http://schemas.microsoft.com/office/drawing/2014/main" id="{C5D417F9-E899-FAD7-7FBB-66EFA7A473EA}"/>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81" name="Freeform: Shape 6">
              <a:extLst>
                <a:ext uri="{FF2B5EF4-FFF2-40B4-BE49-F238E27FC236}">
                  <a16:creationId xmlns:a16="http://schemas.microsoft.com/office/drawing/2014/main" id="{B222E5FF-A223-0CCA-6FA3-9B53029C9275}"/>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sp>
        <p:nvSpPr>
          <p:cNvPr id="182" name="Oval 181">
            <a:extLst>
              <a:ext uri="{FF2B5EF4-FFF2-40B4-BE49-F238E27FC236}">
                <a16:creationId xmlns:a16="http://schemas.microsoft.com/office/drawing/2014/main" id="{2BAFEDCD-AC95-0E1E-A5BE-5653262E740B}"/>
              </a:ext>
            </a:extLst>
          </p:cNvPr>
          <p:cNvSpPr/>
          <p:nvPr/>
        </p:nvSpPr>
        <p:spPr bwMode="auto">
          <a:xfrm>
            <a:off x="3383888" y="168326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1</a:t>
            </a:r>
          </a:p>
        </p:txBody>
      </p:sp>
      <p:sp>
        <p:nvSpPr>
          <p:cNvPr id="183" name="Oval 182">
            <a:extLst>
              <a:ext uri="{FF2B5EF4-FFF2-40B4-BE49-F238E27FC236}">
                <a16:creationId xmlns:a16="http://schemas.microsoft.com/office/drawing/2014/main" id="{A4A3CBFF-F5D5-B450-16BC-FD4972D7784C}"/>
              </a:ext>
            </a:extLst>
          </p:cNvPr>
          <p:cNvSpPr/>
          <p:nvPr/>
        </p:nvSpPr>
        <p:spPr bwMode="auto">
          <a:xfrm>
            <a:off x="4805110" y="1683265"/>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2</a:t>
            </a:r>
          </a:p>
        </p:txBody>
      </p:sp>
      <p:sp>
        <p:nvSpPr>
          <p:cNvPr id="184" name="Oval 183">
            <a:extLst>
              <a:ext uri="{FF2B5EF4-FFF2-40B4-BE49-F238E27FC236}">
                <a16:creationId xmlns:a16="http://schemas.microsoft.com/office/drawing/2014/main" id="{5BB86B42-298F-C16B-530D-648E59DB0CC9}"/>
              </a:ext>
            </a:extLst>
          </p:cNvPr>
          <p:cNvSpPr/>
          <p:nvPr/>
        </p:nvSpPr>
        <p:spPr bwMode="auto">
          <a:xfrm>
            <a:off x="5876927" y="2427890"/>
            <a:ext cx="986008" cy="986000"/>
          </a:xfrm>
          <a:prstGeom prst="ellipse">
            <a:avLst/>
          </a:prstGeom>
          <a:solidFill>
            <a:schemeClr val="bg1"/>
          </a:solidFill>
          <a:ln w="41275" cap="sq" algn="ctr">
            <a:solidFill>
              <a:schemeClr val="accent1"/>
            </a:solidFill>
            <a:miter lim="800000"/>
            <a:headEnd/>
            <a:tailEnd/>
          </a:ln>
          <a:effectLst/>
        </p:spPr>
        <p:txBody>
          <a:bodyPr wrap="square" lIns="0" tIns="0" rIns="0" bIns="0" rtlCol="0" anchor="ctr" anchorCtr="1"/>
          <a:lstStyle/>
          <a:p>
            <a:pPr algn="ctr">
              <a:lnSpc>
                <a:spcPct val="95000"/>
              </a:lnSpc>
            </a:pPr>
            <a:r>
              <a:rPr lang="en-US" sz="1200" dirty="0">
                <a:latin typeface="+mj-lt"/>
              </a:rPr>
              <a:t>Tenant</a:t>
            </a:r>
          </a:p>
          <a:p>
            <a:pPr algn="ctr">
              <a:lnSpc>
                <a:spcPct val="95000"/>
              </a:lnSpc>
            </a:pPr>
            <a:r>
              <a:rPr lang="en-US" sz="1600" b="1" dirty="0">
                <a:latin typeface="+mj-lt"/>
              </a:rPr>
              <a:t>3</a:t>
            </a:r>
          </a:p>
        </p:txBody>
      </p:sp>
      <p:grpSp>
        <p:nvGrpSpPr>
          <p:cNvPr id="185" name="Group 184">
            <a:extLst>
              <a:ext uri="{FF2B5EF4-FFF2-40B4-BE49-F238E27FC236}">
                <a16:creationId xmlns:a16="http://schemas.microsoft.com/office/drawing/2014/main" id="{7056A6E0-1702-4FDF-D25C-F3BA88DDFE26}"/>
              </a:ext>
            </a:extLst>
          </p:cNvPr>
          <p:cNvGrpSpPr/>
          <p:nvPr/>
        </p:nvGrpSpPr>
        <p:grpSpPr>
          <a:xfrm>
            <a:off x="4456393" y="4990411"/>
            <a:ext cx="1679187" cy="1277195"/>
            <a:chOff x="2593124" y="2040945"/>
            <a:chExt cx="1679187" cy="1277195"/>
          </a:xfrm>
        </p:grpSpPr>
        <p:sp>
          <p:nvSpPr>
            <p:cNvPr id="186" name="Freeform 185">
              <a:extLst>
                <a:ext uri="{FF2B5EF4-FFF2-40B4-BE49-F238E27FC236}">
                  <a16:creationId xmlns:a16="http://schemas.microsoft.com/office/drawing/2014/main" id="{207615AE-490E-4378-1B60-1EFB4AC7C2AD}"/>
                </a:ext>
              </a:extLst>
            </p:cNvPr>
            <p:cNvSpPr/>
            <p:nvPr/>
          </p:nvSpPr>
          <p:spPr>
            <a:xfrm>
              <a:off x="3251059" y="2040945"/>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4"/>
              <a:stretch>
                <a:fillRect/>
              </a:stretch>
            </a:blipFill>
          </p:spPr>
          <p:txBody>
            <a:bodyPr/>
            <a:lstStyle/>
            <a:p>
              <a:endParaRPr lang="en-US"/>
            </a:p>
          </p:txBody>
        </p:sp>
        <p:sp>
          <p:nvSpPr>
            <p:cNvPr id="187" name="Freeform 186">
              <a:extLst>
                <a:ext uri="{FF2B5EF4-FFF2-40B4-BE49-F238E27FC236}">
                  <a16:creationId xmlns:a16="http://schemas.microsoft.com/office/drawing/2014/main" id="{028AB85C-82C6-6B71-E6E3-714BBC589D22}"/>
                </a:ext>
              </a:extLst>
            </p:cNvPr>
            <p:cNvSpPr/>
            <p:nvPr/>
          </p:nvSpPr>
          <p:spPr>
            <a:xfrm>
              <a:off x="2761415" y="2361792"/>
              <a:ext cx="774653" cy="482632"/>
            </a:xfrm>
            <a:custGeom>
              <a:avLst/>
              <a:gdLst/>
              <a:ahLst/>
              <a:cxnLst/>
              <a:rect l="l" t="t" r="r" b="b"/>
              <a:pathLst>
                <a:path w="774653" h="482632">
                  <a:moveTo>
                    <a:pt x="0" y="0"/>
                  </a:moveTo>
                  <a:lnTo>
                    <a:pt x="774653" y="0"/>
                  </a:lnTo>
                  <a:lnTo>
                    <a:pt x="774653" y="482632"/>
                  </a:lnTo>
                  <a:lnTo>
                    <a:pt x="0" y="482632"/>
                  </a:lnTo>
                  <a:lnTo>
                    <a:pt x="0" y="0"/>
                  </a:lnTo>
                  <a:close/>
                </a:path>
              </a:pathLst>
            </a:custGeom>
            <a:blipFill>
              <a:blip r:embed="rId5"/>
              <a:stretch>
                <a:fillRect/>
              </a:stretch>
            </a:blipFill>
          </p:spPr>
          <p:txBody>
            <a:bodyPr/>
            <a:lstStyle/>
            <a:p>
              <a:endParaRPr lang="en-US"/>
            </a:p>
          </p:txBody>
        </p:sp>
        <p:sp>
          <p:nvSpPr>
            <p:cNvPr id="188" name="Freeform 187">
              <a:extLst>
                <a:ext uri="{FF2B5EF4-FFF2-40B4-BE49-F238E27FC236}">
                  <a16:creationId xmlns:a16="http://schemas.microsoft.com/office/drawing/2014/main" id="{B7875224-CFAE-1338-DA01-4E49654AAF7D}"/>
                </a:ext>
              </a:extLst>
            </p:cNvPr>
            <p:cNvSpPr/>
            <p:nvPr/>
          </p:nvSpPr>
          <p:spPr>
            <a:xfrm>
              <a:off x="2992818" y="2494283"/>
              <a:ext cx="311848" cy="311848"/>
            </a:xfrm>
            <a:custGeom>
              <a:avLst/>
              <a:gdLst/>
              <a:ahLst/>
              <a:cxnLst/>
              <a:rect l="l" t="t" r="r" b="b"/>
              <a:pathLst>
                <a:path w="311848" h="311848">
                  <a:moveTo>
                    <a:pt x="0" y="0"/>
                  </a:moveTo>
                  <a:lnTo>
                    <a:pt x="311848" y="0"/>
                  </a:lnTo>
                  <a:lnTo>
                    <a:pt x="311848" y="311848"/>
                  </a:lnTo>
                  <a:lnTo>
                    <a:pt x="0" y="311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89" name="Freeform 188">
              <a:extLst>
                <a:ext uri="{FF2B5EF4-FFF2-40B4-BE49-F238E27FC236}">
                  <a16:creationId xmlns:a16="http://schemas.microsoft.com/office/drawing/2014/main" id="{D1DF0712-943F-137C-7739-88ADBA6DA8CC}"/>
                </a:ext>
              </a:extLst>
            </p:cNvPr>
            <p:cNvSpPr/>
            <p:nvPr/>
          </p:nvSpPr>
          <p:spPr>
            <a:xfrm>
              <a:off x="3432571" y="2427982"/>
              <a:ext cx="839740" cy="523183"/>
            </a:xfrm>
            <a:custGeom>
              <a:avLst/>
              <a:gdLst/>
              <a:ahLst/>
              <a:cxnLst/>
              <a:rect l="l" t="t" r="r" b="b"/>
              <a:pathLst>
                <a:path w="839740" h="523183">
                  <a:moveTo>
                    <a:pt x="0" y="0"/>
                  </a:moveTo>
                  <a:lnTo>
                    <a:pt x="839739" y="0"/>
                  </a:lnTo>
                  <a:lnTo>
                    <a:pt x="839739" y="523183"/>
                  </a:lnTo>
                  <a:lnTo>
                    <a:pt x="0" y="523183"/>
                  </a:lnTo>
                  <a:lnTo>
                    <a:pt x="0" y="0"/>
                  </a:lnTo>
                  <a:close/>
                </a:path>
              </a:pathLst>
            </a:custGeom>
            <a:blipFill>
              <a:blip r:embed="rId4"/>
              <a:stretch>
                <a:fillRect/>
              </a:stretch>
            </a:blipFill>
          </p:spPr>
          <p:txBody>
            <a:bodyPr/>
            <a:lstStyle/>
            <a:p>
              <a:endParaRPr lang="en-US"/>
            </a:p>
          </p:txBody>
        </p:sp>
        <p:sp>
          <p:nvSpPr>
            <p:cNvPr id="190" name="Freeform 189">
              <a:extLst>
                <a:ext uri="{FF2B5EF4-FFF2-40B4-BE49-F238E27FC236}">
                  <a16:creationId xmlns:a16="http://schemas.microsoft.com/office/drawing/2014/main" id="{1E613C1F-44C5-9AF9-E35B-8F2B83B65613}"/>
                </a:ext>
              </a:extLst>
            </p:cNvPr>
            <p:cNvSpPr/>
            <p:nvPr/>
          </p:nvSpPr>
          <p:spPr>
            <a:xfrm>
              <a:off x="3534870" y="2156422"/>
              <a:ext cx="255701" cy="255701"/>
            </a:xfrm>
            <a:custGeom>
              <a:avLst/>
              <a:gdLst/>
              <a:ahLst/>
              <a:cxnLst/>
              <a:rect l="l" t="t" r="r" b="b"/>
              <a:pathLst>
                <a:path w="255701" h="255701">
                  <a:moveTo>
                    <a:pt x="0" y="0"/>
                  </a:moveTo>
                  <a:lnTo>
                    <a:pt x="255701" y="0"/>
                  </a:lnTo>
                  <a:lnTo>
                    <a:pt x="255701" y="255701"/>
                  </a:lnTo>
                  <a:lnTo>
                    <a:pt x="0" y="2557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1" name="Freeform 190">
              <a:extLst>
                <a:ext uri="{FF2B5EF4-FFF2-40B4-BE49-F238E27FC236}">
                  <a16:creationId xmlns:a16="http://schemas.microsoft.com/office/drawing/2014/main" id="{2F405D31-2B11-7B15-FB0B-696BF8EC08A3}"/>
                </a:ext>
              </a:extLst>
            </p:cNvPr>
            <p:cNvSpPr/>
            <p:nvPr/>
          </p:nvSpPr>
          <p:spPr>
            <a:xfrm>
              <a:off x="3708050" y="2574485"/>
              <a:ext cx="329202" cy="329202"/>
            </a:xfrm>
            <a:custGeom>
              <a:avLst/>
              <a:gdLst/>
              <a:ahLst/>
              <a:cxnLst/>
              <a:rect l="l" t="t" r="r" b="b"/>
              <a:pathLst>
                <a:path w="329202" h="329202">
                  <a:moveTo>
                    <a:pt x="0" y="0"/>
                  </a:moveTo>
                  <a:lnTo>
                    <a:pt x="329201" y="0"/>
                  </a:lnTo>
                  <a:lnTo>
                    <a:pt x="329201" y="329202"/>
                  </a:lnTo>
                  <a:lnTo>
                    <a:pt x="0" y="32920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24" name="TextBox 62">
              <a:extLst>
                <a:ext uri="{FF2B5EF4-FFF2-40B4-BE49-F238E27FC236}">
                  <a16:creationId xmlns:a16="http://schemas.microsoft.com/office/drawing/2014/main" id="{F791AA45-3983-EDB2-A24C-DAF90099360F}"/>
                </a:ext>
              </a:extLst>
            </p:cNvPr>
            <p:cNvSpPr txBox="1"/>
            <p:nvPr/>
          </p:nvSpPr>
          <p:spPr>
            <a:xfrm>
              <a:off x="2593124" y="2952155"/>
              <a:ext cx="1679186" cy="365985"/>
            </a:xfrm>
            <a:prstGeom prst="rect">
              <a:avLst/>
            </a:prstGeom>
          </p:spPr>
          <p:txBody>
            <a:bodyPr lIns="51284" tIns="51284" rIns="51284" bIns="51284" rtlCol="0" anchor="ctr"/>
            <a:lstStyle/>
            <a:p>
              <a:pPr algn="ctr">
                <a:lnSpc>
                  <a:spcPts val="1320"/>
                </a:lnSpc>
              </a:pPr>
              <a:r>
                <a:rPr lang="en-US" sz="1100" b="1">
                  <a:solidFill>
                    <a:srgbClr val="000000"/>
                  </a:solidFill>
                  <a:latin typeface="Tomorrow Bold"/>
                  <a:ea typeface="Tomorrow Bold"/>
                  <a:cs typeface="Tomorrow Bold"/>
                  <a:sym typeface="Tomorrow Bold"/>
                </a:rPr>
                <a:t>Cloud On-Ramps</a:t>
              </a:r>
            </a:p>
          </p:txBody>
        </p:sp>
      </p:grpSp>
      <p:sp>
        <p:nvSpPr>
          <p:cNvPr id="1025" name="TextBox 68">
            <a:extLst>
              <a:ext uri="{FF2B5EF4-FFF2-40B4-BE49-F238E27FC236}">
                <a16:creationId xmlns:a16="http://schemas.microsoft.com/office/drawing/2014/main" id="{47A67406-546A-E01C-EF35-03F8E08819F8}"/>
              </a:ext>
            </a:extLst>
          </p:cNvPr>
          <p:cNvSpPr txBox="1"/>
          <p:nvPr/>
        </p:nvSpPr>
        <p:spPr>
          <a:xfrm>
            <a:off x="5904461" y="4464940"/>
            <a:ext cx="1663324" cy="613819"/>
          </a:xfrm>
          <a:prstGeom prst="rect">
            <a:avLst/>
          </a:prstGeom>
        </p:spPr>
        <p:txBody>
          <a:bodyPr lIns="50800" tIns="50800" rIns="50800" bIns="50800" rtlCol="0" anchor="ctr"/>
          <a:lstStyle/>
          <a:p>
            <a:pPr algn="ctr">
              <a:lnSpc>
                <a:spcPts val="1650"/>
              </a:lnSpc>
            </a:pPr>
            <a:r>
              <a:rPr lang="en-US" sz="1100" b="1">
                <a:solidFill>
                  <a:srgbClr val="000000"/>
                </a:solidFill>
                <a:latin typeface="Tomorrow Bold"/>
                <a:ea typeface="Tomorrow Bold"/>
                <a:cs typeface="Tomorrow Bold"/>
                <a:sym typeface="Tomorrow Bold"/>
              </a:rPr>
              <a:t>Marketplace</a:t>
            </a:r>
          </a:p>
          <a:p>
            <a:pPr algn="ctr">
              <a:lnSpc>
                <a:spcPts val="1500"/>
              </a:lnSpc>
            </a:pPr>
            <a:r>
              <a:rPr lang="en-US" sz="1000">
                <a:solidFill>
                  <a:srgbClr val="000000"/>
                </a:solidFill>
                <a:latin typeface="Tomorrow"/>
                <a:ea typeface="Tomorrow"/>
                <a:cs typeface="Tomorrow"/>
                <a:sym typeface="Tomorrow"/>
              </a:rPr>
              <a:t>SaaS + AI + Storage</a:t>
            </a:r>
          </a:p>
        </p:txBody>
      </p:sp>
      <p:grpSp>
        <p:nvGrpSpPr>
          <p:cNvPr id="1027" name="Group 76">
            <a:extLst>
              <a:ext uri="{FF2B5EF4-FFF2-40B4-BE49-F238E27FC236}">
                <a16:creationId xmlns:a16="http://schemas.microsoft.com/office/drawing/2014/main" id="{B73F93B9-3F48-AFAA-6E85-3EF9EB40384E}"/>
              </a:ext>
            </a:extLst>
          </p:cNvPr>
          <p:cNvGrpSpPr/>
          <p:nvPr/>
        </p:nvGrpSpPr>
        <p:grpSpPr>
          <a:xfrm>
            <a:off x="5967683" y="3634019"/>
            <a:ext cx="1415197" cy="901935"/>
            <a:chOff x="109261" y="0"/>
            <a:chExt cx="1886930" cy="1202580"/>
          </a:xfrm>
        </p:grpSpPr>
        <p:sp>
          <p:nvSpPr>
            <p:cNvPr id="1029" name="Freeform 77">
              <a:extLst>
                <a:ext uri="{FF2B5EF4-FFF2-40B4-BE49-F238E27FC236}">
                  <a16:creationId xmlns:a16="http://schemas.microsoft.com/office/drawing/2014/main" id="{DEEC8989-D9C3-93FF-E26C-5977B2AA1BA2}"/>
                </a:ext>
              </a:extLst>
            </p:cNvPr>
            <p:cNvSpPr/>
            <p:nvPr/>
          </p:nvSpPr>
          <p:spPr>
            <a:xfrm>
              <a:off x="646917" y="0"/>
              <a:ext cx="1023469"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4"/>
              <a:stretch>
                <a:fillRect/>
              </a:stretch>
            </a:blipFill>
          </p:spPr>
          <p:txBody>
            <a:bodyPr/>
            <a:lstStyle/>
            <a:p>
              <a:endParaRPr lang="en-US"/>
            </a:p>
          </p:txBody>
        </p:sp>
        <p:sp>
          <p:nvSpPr>
            <p:cNvPr id="1031" name="Freeform 78">
              <a:extLst>
                <a:ext uri="{FF2B5EF4-FFF2-40B4-BE49-F238E27FC236}">
                  <a16:creationId xmlns:a16="http://schemas.microsoft.com/office/drawing/2014/main" id="{4404DCAD-5842-E564-99B8-78CE95D876B6}"/>
                </a:ext>
              </a:extLst>
            </p:cNvPr>
            <p:cNvSpPr/>
            <p:nvPr/>
          </p:nvSpPr>
          <p:spPr>
            <a:xfrm>
              <a:off x="109261" y="459329"/>
              <a:ext cx="1023470" cy="637652"/>
            </a:xfrm>
            <a:custGeom>
              <a:avLst/>
              <a:gdLst/>
              <a:ahLst/>
              <a:cxnLst/>
              <a:rect l="l" t="t" r="r" b="b"/>
              <a:pathLst>
                <a:path w="1023469" h="637652">
                  <a:moveTo>
                    <a:pt x="0" y="0"/>
                  </a:moveTo>
                  <a:lnTo>
                    <a:pt x="1023469" y="0"/>
                  </a:lnTo>
                  <a:lnTo>
                    <a:pt x="1023469" y="637652"/>
                  </a:lnTo>
                  <a:lnTo>
                    <a:pt x="0" y="637652"/>
                  </a:lnTo>
                  <a:lnTo>
                    <a:pt x="0" y="0"/>
                  </a:lnTo>
                  <a:close/>
                </a:path>
              </a:pathLst>
            </a:custGeom>
            <a:blipFill>
              <a:blip r:embed="rId5"/>
              <a:stretch>
                <a:fillRect/>
              </a:stretch>
            </a:blipFill>
          </p:spPr>
          <p:txBody>
            <a:bodyPr/>
            <a:lstStyle/>
            <a:p>
              <a:endParaRPr lang="en-US"/>
            </a:p>
          </p:txBody>
        </p:sp>
        <p:sp>
          <p:nvSpPr>
            <p:cNvPr id="1032" name="Freeform 79">
              <a:extLst>
                <a:ext uri="{FF2B5EF4-FFF2-40B4-BE49-F238E27FC236}">
                  <a16:creationId xmlns:a16="http://schemas.microsoft.com/office/drawing/2014/main" id="{B647A7BF-7F5F-B995-8A61-C3595975B4DB}"/>
                </a:ext>
              </a:extLst>
            </p:cNvPr>
            <p:cNvSpPr/>
            <p:nvPr/>
          </p:nvSpPr>
          <p:spPr>
            <a:xfrm>
              <a:off x="886729" y="511352"/>
              <a:ext cx="1109462" cy="691228"/>
            </a:xfrm>
            <a:custGeom>
              <a:avLst/>
              <a:gdLst/>
              <a:ahLst/>
              <a:cxnLst/>
              <a:rect l="l" t="t" r="r" b="b"/>
              <a:pathLst>
                <a:path w="1109462" h="691228">
                  <a:moveTo>
                    <a:pt x="0" y="0"/>
                  </a:moveTo>
                  <a:lnTo>
                    <a:pt x="1109462" y="0"/>
                  </a:lnTo>
                  <a:lnTo>
                    <a:pt x="1109462" y="691228"/>
                  </a:lnTo>
                  <a:lnTo>
                    <a:pt x="0" y="691228"/>
                  </a:lnTo>
                  <a:lnTo>
                    <a:pt x="0" y="0"/>
                  </a:lnTo>
                  <a:close/>
                </a:path>
              </a:pathLst>
            </a:custGeom>
            <a:blipFill>
              <a:blip r:embed="rId4"/>
              <a:stretch>
                <a:fillRect/>
              </a:stretch>
            </a:blipFill>
          </p:spPr>
          <p:txBody>
            <a:bodyPr/>
            <a:lstStyle/>
            <a:p>
              <a:endParaRPr lang="en-US"/>
            </a:p>
          </p:txBody>
        </p:sp>
        <p:sp>
          <p:nvSpPr>
            <p:cNvPr id="1033" name="Freeform 80">
              <a:extLst>
                <a:ext uri="{FF2B5EF4-FFF2-40B4-BE49-F238E27FC236}">
                  <a16:creationId xmlns:a16="http://schemas.microsoft.com/office/drawing/2014/main" id="{513FD647-0265-E0B4-F74C-A1E549D3368B}"/>
                </a:ext>
              </a:extLst>
            </p:cNvPr>
            <p:cNvSpPr/>
            <p:nvPr/>
          </p:nvSpPr>
          <p:spPr>
            <a:xfrm>
              <a:off x="1247583" y="729053"/>
              <a:ext cx="387754" cy="381130"/>
            </a:xfrm>
            <a:custGeom>
              <a:avLst/>
              <a:gdLst/>
              <a:ahLst/>
              <a:cxnLst/>
              <a:rect l="l" t="t" r="r" b="b"/>
              <a:pathLst>
                <a:path w="387754" h="381130">
                  <a:moveTo>
                    <a:pt x="0" y="0"/>
                  </a:moveTo>
                  <a:lnTo>
                    <a:pt x="387754" y="0"/>
                  </a:lnTo>
                  <a:lnTo>
                    <a:pt x="387754" y="381130"/>
                  </a:lnTo>
                  <a:lnTo>
                    <a:pt x="0" y="381130"/>
                  </a:lnTo>
                  <a:lnTo>
                    <a:pt x="0" y="0"/>
                  </a:lnTo>
                  <a:close/>
                </a:path>
              </a:pathLst>
            </a:custGeom>
            <a:blipFill>
              <a:blip r:embed="rId9"/>
              <a:stretch>
                <a:fillRect l="-89563" r="-93613" b="-65656"/>
              </a:stretch>
            </a:blipFill>
          </p:spPr>
          <p:txBody>
            <a:bodyPr/>
            <a:lstStyle/>
            <a:p>
              <a:endParaRPr lang="en-US"/>
            </a:p>
          </p:txBody>
        </p:sp>
      </p:grpSp>
      <p:sp>
        <p:nvSpPr>
          <p:cNvPr id="1035" name="Freeform 1034">
            <a:extLst>
              <a:ext uri="{FF2B5EF4-FFF2-40B4-BE49-F238E27FC236}">
                <a16:creationId xmlns:a16="http://schemas.microsoft.com/office/drawing/2014/main" id="{61229227-9C49-D8DD-F2E5-A47C80D5A6DA}"/>
              </a:ext>
            </a:extLst>
          </p:cNvPr>
          <p:cNvSpPr>
            <a:spLocks noChangeAspect="1"/>
          </p:cNvSpPr>
          <p:nvPr/>
        </p:nvSpPr>
        <p:spPr>
          <a:xfrm>
            <a:off x="6549097" y="3761418"/>
            <a:ext cx="405480" cy="277325"/>
          </a:xfrm>
          <a:custGeom>
            <a:avLst/>
            <a:gdLst/>
            <a:ahLst/>
            <a:cxnLst/>
            <a:rect l="l" t="t" r="r" b="b"/>
            <a:pathLst>
              <a:path w="384505" h="263338">
                <a:moveTo>
                  <a:pt x="0" y="0"/>
                </a:moveTo>
                <a:lnTo>
                  <a:pt x="384505" y="0"/>
                </a:lnTo>
                <a:lnTo>
                  <a:pt x="384505" y="263338"/>
                </a:lnTo>
                <a:lnTo>
                  <a:pt x="0" y="263338"/>
                </a:lnTo>
                <a:lnTo>
                  <a:pt x="0" y="0"/>
                </a:lnTo>
                <a:close/>
              </a:path>
            </a:pathLst>
          </a:custGeom>
          <a:blipFill>
            <a:blip r:embed="rId10"/>
            <a:stretch>
              <a:fillRect b="-49948"/>
            </a:stretch>
          </a:blipFill>
        </p:spPr>
        <p:txBody>
          <a:bodyPr/>
          <a:lstStyle/>
          <a:p>
            <a:endParaRPr lang="en-US" sz="1200"/>
          </a:p>
        </p:txBody>
      </p:sp>
      <p:sp>
        <p:nvSpPr>
          <p:cNvPr id="1036" name="Freeform 1035">
            <a:extLst>
              <a:ext uri="{FF2B5EF4-FFF2-40B4-BE49-F238E27FC236}">
                <a16:creationId xmlns:a16="http://schemas.microsoft.com/office/drawing/2014/main" id="{E2F612C7-E3DF-5711-C58D-87F5998C13A8}"/>
              </a:ext>
            </a:extLst>
          </p:cNvPr>
          <p:cNvSpPr>
            <a:spLocks noChangeAspect="1"/>
          </p:cNvSpPr>
          <p:nvPr/>
        </p:nvSpPr>
        <p:spPr>
          <a:xfrm>
            <a:off x="6242953" y="4122476"/>
            <a:ext cx="249192" cy="269524"/>
          </a:xfrm>
          <a:custGeom>
            <a:avLst/>
            <a:gdLst/>
            <a:ahLst/>
            <a:cxnLst/>
            <a:rect l="l" t="t" r="r" b="b"/>
            <a:pathLst>
              <a:path w="236303" h="255931">
                <a:moveTo>
                  <a:pt x="0" y="0"/>
                </a:moveTo>
                <a:lnTo>
                  <a:pt x="236303" y="0"/>
                </a:lnTo>
                <a:lnTo>
                  <a:pt x="236303" y="255932"/>
                </a:lnTo>
                <a:lnTo>
                  <a:pt x="0" y="255932"/>
                </a:lnTo>
                <a:lnTo>
                  <a:pt x="0" y="0"/>
                </a:lnTo>
                <a:close/>
              </a:path>
            </a:pathLst>
          </a:custGeom>
          <a:blipFill>
            <a:blip r:embed="rId11"/>
            <a:stretch>
              <a:fillRect l="-23965" t="-19572" r="-24013" b="-17057"/>
            </a:stretch>
          </a:blipFill>
        </p:spPr>
        <p:txBody>
          <a:bodyPr/>
          <a:lstStyle/>
          <a:p>
            <a:endParaRPr lang="en-US" sz="1200"/>
          </a:p>
        </p:txBody>
      </p:sp>
      <p:sp>
        <p:nvSpPr>
          <p:cNvPr id="1037" name="TextBox 65">
            <a:extLst>
              <a:ext uri="{FF2B5EF4-FFF2-40B4-BE49-F238E27FC236}">
                <a16:creationId xmlns:a16="http://schemas.microsoft.com/office/drawing/2014/main" id="{22316EBA-35BA-CD4D-04DA-6AFDBEA234F3}"/>
              </a:ext>
            </a:extLst>
          </p:cNvPr>
          <p:cNvSpPr txBox="1"/>
          <p:nvPr/>
        </p:nvSpPr>
        <p:spPr>
          <a:xfrm>
            <a:off x="2468744" y="5888382"/>
            <a:ext cx="1663324" cy="341612"/>
          </a:xfrm>
          <a:prstGeom prst="rect">
            <a:avLst/>
          </a:prstGeom>
        </p:spPr>
        <p:txBody>
          <a:bodyPr lIns="50800" tIns="50800" rIns="50800" bIns="50800" rtlCol="0" anchor="ctr"/>
          <a:lstStyle/>
          <a:p>
            <a:pPr algn="ctr">
              <a:lnSpc>
                <a:spcPts val="1320"/>
              </a:lnSpc>
            </a:pPr>
            <a:r>
              <a:rPr lang="en-US" sz="1100" b="1" dirty="0">
                <a:solidFill>
                  <a:srgbClr val="000000"/>
                </a:solidFill>
                <a:latin typeface="Tomorrow Bold"/>
                <a:ea typeface="Tomorrow Bold"/>
                <a:cs typeface="Tomorrow Bold"/>
                <a:sym typeface="Tomorrow Bold"/>
              </a:rPr>
              <a:t>Partner DCs</a:t>
            </a:r>
          </a:p>
        </p:txBody>
      </p:sp>
      <p:sp>
        <p:nvSpPr>
          <p:cNvPr id="1038" name="Freeform 74">
            <a:extLst>
              <a:ext uri="{FF2B5EF4-FFF2-40B4-BE49-F238E27FC236}">
                <a16:creationId xmlns:a16="http://schemas.microsoft.com/office/drawing/2014/main" id="{7842D21D-AAA5-8AE0-67A9-BD311E0CE54D}"/>
              </a:ext>
            </a:extLst>
          </p:cNvPr>
          <p:cNvSpPr/>
          <p:nvPr/>
        </p:nvSpPr>
        <p:spPr>
          <a:xfrm>
            <a:off x="2460653" y="5071640"/>
            <a:ext cx="990672" cy="990662"/>
          </a:xfrm>
          <a:custGeom>
            <a:avLst/>
            <a:gdLst/>
            <a:ahLst/>
            <a:cxnLst/>
            <a:rect l="l" t="t" r="r" b="b"/>
            <a:pathLst>
              <a:path w="990672" h="990662">
                <a:moveTo>
                  <a:pt x="0" y="0"/>
                </a:moveTo>
                <a:lnTo>
                  <a:pt x="990672" y="0"/>
                </a:lnTo>
                <a:lnTo>
                  <a:pt x="990672" y="990662"/>
                </a:lnTo>
                <a:lnTo>
                  <a:pt x="0" y="990662"/>
                </a:lnTo>
                <a:lnTo>
                  <a:pt x="0" y="0"/>
                </a:lnTo>
                <a:close/>
              </a:path>
            </a:pathLst>
          </a:custGeom>
          <a:blipFill>
            <a:blip r:embed="rId12"/>
            <a:stretch>
              <a:fillRect/>
            </a:stretch>
          </a:blipFill>
        </p:spPr>
        <p:txBody>
          <a:bodyPr/>
          <a:lstStyle/>
          <a:p>
            <a:endParaRPr lang="en-US"/>
          </a:p>
        </p:txBody>
      </p:sp>
      <p:sp>
        <p:nvSpPr>
          <p:cNvPr id="1039" name="Freeform 75">
            <a:extLst>
              <a:ext uri="{FF2B5EF4-FFF2-40B4-BE49-F238E27FC236}">
                <a16:creationId xmlns:a16="http://schemas.microsoft.com/office/drawing/2014/main" id="{472B2F7E-F7B0-5FD5-FE76-AD617B687351}"/>
              </a:ext>
            </a:extLst>
          </p:cNvPr>
          <p:cNvSpPr/>
          <p:nvPr/>
        </p:nvSpPr>
        <p:spPr>
          <a:xfrm>
            <a:off x="3163433" y="5050702"/>
            <a:ext cx="660401" cy="660395"/>
          </a:xfrm>
          <a:custGeom>
            <a:avLst/>
            <a:gdLst/>
            <a:ahLst/>
            <a:cxnLst/>
            <a:rect l="l" t="t" r="r" b="b"/>
            <a:pathLst>
              <a:path w="660401" h="660395">
                <a:moveTo>
                  <a:pt x="0" y="0"/>
                </a:moveTo>
                <a:lnTo>
                  <a:pt x="660401" y="0"/>
                </a:lnTo>
                <a:lnTo>
                  <a:pt x="660401" y="660395"/>
                </a:lnTo>
                <a:lnTo>
                  <a:pt x="0" y="660395"/>
                </a:lnTo>
                <a:lnTo>
                  <a:pt x="0" y="0"/>
                </a:lnTo>
                <a:close/>
              </a:path>
            </a:pathLst>
          </a:custGeom>
          <a:blipFill>
            <a:blip r:embed="rId12"/>
            <a:stretch>
              <a:fillRect/>
            </a:stretch>
          </a:blipFill>
        </p:spPr>
        <p:txBody>
          <a:bodyPr/>
          <a:lstStyle/>
          <a:p>
            <a:endParaRPr lang="en-US"/>
          </a:p>
        </p:txBody>
      </p:sp>
      <p:cxnSp>
        <p:nvCxnSpPr>
          <p:cNvPr id="1040" name="Straight Connector 1039">
            <a:extLst>
              <a:ext uri="{FF2B5EF4-FFF2-40B4-BE49-F238E27FC236}">
                <a16:creationId xmlns:a16="http://schemas.microsoft.com/office/drawing/2014/main" id="{DA2FCC06-585E-C2DD-1342-E4C5A869D108}"/>
              </a:ext>
            </a:extLst>
          </p:cNvPr>
          <p:cNvCxnSpPr>
            <a:cxnSpLocks/>
          </p:cNvCxnSpPr>
          <p:nvPr/>
        </p:nvCxnSpPr>
        <p:spPr bwMode="auto">
          <a:xfrm flipV="1">
            <a:off x="3891180" y="2687421"/>
            <a:ext cx="0" cy="466808"/>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41" name="Straight Connector 1040">
            <a:extLst>
              <a:ext uri="{FF2B5EF4-FFF2-40B4-BE49-F238E27FC236}">
                <a16:creationId xmlns:a16="http://schemas.microsoft.com/office/drawing/2014/main" id="{4BA5E875-46B9-7265-275E-92E813B5E084}"/>
              </a:ext>
            </a:extLst>
          </p:cNvPr>
          <p:cNvCxnSpPr>
            <a:cxnSpLocks/>
          </p:cNvCxnSpPr>
          <p:nvPr/>
        </p:nvCxnSpPr>
        <p:spPr bwMode="auto">
          <a:xfrm flipV="1">
            <a:off x="4841683" y="2669265"/>
            <a:ext cx="325337" cy="500840"/>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42" name="Straight Connector 1041">
            <a:extLst>
              <a:ext uri="{FF2B5EF4-FFF2-40B4-BE49-F238E27FC236}">
                <a16:creationId xmlns:a16="http://schemas.microsoft.com/office/drawing/2014/main" id="{21728E53-92B6-2F1F-9C3F-93126799306A}"/>
              </a:ext>
            </a:extLst>
          </p:cNvPr>
          <p:cNvCxnSpPr>
            <a:cxnSpLocks/>
          </p:cNvCxnSpPr>
          <p:nvPr/>
        </p:nvCxnSpPr>
        <p:spPr bwMode="auto">
          <a:xfrm flipV="1">
            <a:off x="5753996" y="3243892"/>
            <a:ext cx="236220" cy="123659"/>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grpSp>
        <p:nvGrpSpPr>
          <p:cNvPr id="1043" name="PBC 1">
            <a:extLst>
              <a:ext uri="{FF2B5EF4-FFF2-40B4-BE49-F238E27FC236}">
                <a16:creationId xmlns:a16="http://schemas.microsoft.com/office/drawing/2014/main" id="{01B90178-0778-C92A-389D-8009625997D7}"/>
              </a:ext>
            </a:extLst>
          </p:cNvPr>
          <p:cNvGrpSpPr>
            <a:grpSpLocks noChangeAspect="1"/>
          </p:cNvGrpSpPr>
          <p:nvPr/>
        </p:nvGrpSpPr>
        <p:grpSpPr>
          <a:xfrm>
            <a:off x="3758656" y="3907531"/>
            <a:ext cx="1180032" cy="228600"/>
            <a:chOff x="2364562" y="2976326"/>
            <a:chExt cx="7053344" cy="1366399"/>
          </a:xfrm>
        </p:grpSpPr>
        <p:sp>
          <p:nvSpPr>
            <p:cNvPr id="1044" name="Freeform 1043">
              <a:extLst>
                <a:ext uri="{FF2B5EF4-FFF2-40B4-BE49-F238E27FC236}">
                  <a16:creationId xmlns:a16="http://schemas.microsoft.com/office/drawing/2014/main" id="{9BF9E9ED-9646-1F00-BEF3-D0B6E7BBB158}"/>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45" name="Freeform 1044">
              <a:extLst>
                <a:ext uri="{FF2B5EF4-FFF2-40B4-BE49-F238E27FC236}">
                  <a16:creationId xmlns:a16="http://schemas.microsoft.com/office/drawing/2014/main" id="{03CFE5BF-9E76-DC72-DA13-222BE84C5CD7}"/>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46" name="Graphic 38">
              <a:extLst>
                <a:ext uri="{FF2B5EF4-FFF2-40B4-BE49-F238E27FC236}">
                  <a16:creationId xmlns:a16="http://schemas.microsoft.com/office/drawing/2014/main" id="{DD66397A-8A65-F458-88B6-369732AB35ED}"/>
                </a:ext>
              </a:extLst>
            </p:cNvPr>
            <p:cNvGrpSpPr/>
            <p:nvPr/>
          </p:nvGrpSpPr>
          <p:grpSpPr>
            <a:xfrm>
              <a:off x="5658852" y="3694387"/>
              <a:ext cx="466200" cy="483019"/>
              <a:chOff x="5042020" y="5214715"/>
              <a:chExt cx="466200" cy="483019"/>
            </a:xfrm>
          </p:grpSpPr>
          <p:sp>
            <p:nvSpPr>
              <p:cNvPr id="1063" name="Freeform 1062">
                <a:extLst>
                  <a:ext uri="{FF2B5EF4-FFF2-40B4-BE49-F238E27FC236}">
                    <a16:creationId xmlns:a16="http://schemas.microsoft.com/office/drawing/2014/main" id="{FE233A25-6B08-E572-2D37-36D623D51ED8}"/>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4" name="Freeform 1063">
                <a:extLst>
                  <a:ext uri="{FF2B5EF4-FFF2-40B4-BE49-F238E27FC236}">
                    <a16:creationId xmlns:a16="http://schemas.microsoft.com/office/drawing/2014/main" id="{D305E9DC-D317-1249-5D4D-3030B75A037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7" name="Group 1046">
              <a:extLst>
                <a:ext uri="{FF2B5EF4-FFF2-40B4-BE49-F238E27FC236}">
                  <a16:creationId xmlns:a16="http://schemas.microsoft.com/office/drawing/2014/main" id="{8AF9D857-8A6D-049E-A982-9D151F92C046}"/>
                </a:ext>
              </a:extLst>
            </p:cNvPr>
            <p:cNvGrpSpPr/>
            <p:nvPr/>
          </p:nvGrpSpPr>
          <p:grpSpPr>
            <a:xfrm>
              <a:off x="6411669" y="3594476"/>
              <a:ext cx="2479697" cy="681402"/>
              <a:chOff x="6154005" y="2371943"/>
              <a:chExt cx="2479697" cy="681402"/>
            </a:xfrm>
          </p:grpSpPr>
          <p:sp>
            <p:nvSpPr>
              <p:cNvPr id="1061" name="Freeform 1060">
                <a:extLst>
                  <a:ext uri="{FF2B5EF4-FFF2-40B4-BE49-F238E27FC236}">
                    <a16:creationId xmlns:a16="http://schemas.microsoft.com/office/drawing/2014/main" id="{E8206A60-B135-C399-C46C-23CC33F5C77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2" name="Freeform 1061">
                <a:extLst>
                  <a:ext uri="{FF2B5EF4-FFF2-40B4-BE49-F238E27FC236}">
                    <a16:creationId xmlns:a16="http://schemas.microsoft.com/office/drawing/2014/main" id="{38F173DF-2DEC-82EB-C2C6-F58BD2727C4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8" name="Group 1047">
              <a:extLst>
                <a:ext uri="{FF2B5EF4-FFF2-40B4-BE49-F238E27FC236}">
                  <a16:creationId xmlns:a16="http://schemas.microsoft.com/office/drawing/2014/main" id="{3D06A2C7-7443-2276-9699-4236B33EF207}"/>
                </a:ext>
              </a:extLst>
            </p:cNvPr>
            <p:cNvGrpSpPr/>
            <p:nvPr/>
          </p:nvGrpSpPr>
          <p:grpSpPr>
            <a:xfrm>
              <a:off x="2892539" y="3594476"/>
              <a:ext cx="2479697" cy="681402"/>
              <a:chOff x="6154005" y="2371943"/>
              <a:chExt cx="2479697" cy="681402"/>
            </a:xfrm>
          </p:grpSpPr>
          <p:sp>
            <p:nvSpPr>
              <p:cNvPr id="1059" name="Freeform 1058">
                <a:extLst>
                  <a:ext uri="{FF2B5EF4-FFF2-40B4-BE49-F238E27FC236}">
                    <a16:creationId xmlns:a16="http://schemas.microsoft.com/office/drawing/2014/main" id="{BF8BB269-7CC1-A8D4-66F3-8B4792C3685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0" name="Freeform 1059">
                <a:extLst>
                  <a:ext uri="{FF2B5EF4-FFF2-40B4-BE49-F238E27FC236}">
                    <a16:creationId xmlns:a16="http://schemas.microsoft.com/office/drawing/2014/main" id="{BFE6D89C-02D1-B70B-E464-DCFC378D848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49" name="Group 1048">
              <a:extLst>
                <a:ext uri="{FF2B5EF4-FFF2-40B4-BE49-F238E27FC236}">
                  <a16:creationId xmlns:a16="http://schemas.microsoft.com/office/drawing/2014/main" id="{FDCA9352-FB9F-4BD9-A700-5D99C2C4C9C5}"/>
                </a:ext>
              </a:extLst>
            </p:cNvPr>
            <p:cNvGrpSpPr/>
            <p:nvPr/>
          </p:nvGrpSpPr>
          <p:grpSpPr>
            <a:xfrm>
              <a:off x="9070232" y="3528349"/>
              <a:ext cx="347674" cy="800719"/>
              <a:chOff x="8812568" y="2305815"/>
              <a:chExt cx="347674" cy="800719"/>
            </a:xfrm>
          </p:grpSpPr>
          <p:sp>
            <p:nvSpPr>
              <p:cNvPr id="1055" name="Freeform 1054">
                <a:extLst>
                  <a:ext uri="{FF2B5EF4-FFF2-40B4-BE49-F238E27FC236}">
                    <a16:creationId xmlns:a16="http://schemas.microsoft.com/office/drawing/2014/main" id="{A86A5780-3103-BDA0-53DC-D5AFF12C85A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56" name="Group 1055">
                <a:extLst>
                  <a:ext uri="{FF2B5EF4-FFF2-40B4-BE49-F238E27FC236}">
                    <a16:creationId xmlns:a16="http://schemas.microsoft.com/office/drawing/2014/main" id="{A8E74694-FB75-0F36-9D54-3BC8D0A16617}"/>
                  </a:ext>
                </a:extLst>
              </p:cNvPr>
              <p:cNvGrpSpPr/>
              <p:nvPr/>
            </p:nvGrpSpPr>
            <p:grpSpPr>
              <a:xfrm flipH="1">
                <a:off x="8852795" y="2372662"/>
                <a:ext cx="262193" cy="679246"/>
                <a:chOff x="1433816" y="2372662"/>
                <a:chExt cx="262193" cy="679246"/>
              </a:xfrm>
              <a:solidFill>
                <a:schemeClr val="bg1"/>
              </a:solidFill>
            </p:grpSpPr>
            <p:sp>
              <p:nvSpPr>
                <p:cNvPr id="1057" name="Rounded Rectangle 1056">
                  <a:extLst>
                    <a:ext uri="{FF2B5EF4-FFF2-40B4-BE49-F238E27FC236}">
                      <a16:creationId xmlns:a16="http://schemas.microsoft.com/office/drawing/2014/main" id="{9602C7FE-14FD-6150-7B8C-321BECD5D466}"/>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58" name="Rounded Rectangle 1057">
                  <a:extLst>
                    <a:ext uri="{FF2B5EF4-FFF2-40B4-BE49-F238E27FC236}">
                      <a16:creationId xmlns:a16="http://schemas.microsoft.com/office/drawing/2014/main" id="{4ACC24BA-ABD0-F05D-1E89-C170183722C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050" name="Group 1049">
              <a:extLst>
                <a:ext uri="{FF2B5EF4-FFF2-40B4-BE49-F238E27FC236}">
                  <a16:creationId xmlns:a16="http://schemas.microsoft.com/office/drawing/2014/main" id="{44C5B131-605C-666F-E846-8CE3B2BEEB63}"/>
                </a:ext>
              </a:extLst>
            </p:cNvPr>
            <p:cNvGrpSpPr/>
            <p:nvPr/>
          </p:nvGrpSpPr>
          <p:grpSpPr>
            <a:xfrm flipV="1">
              <a:off x="2364562" y="3528349"/>
              <a:ext cx="347674" cy="800719"/>
              <a:chOff x="8812568" y="2305815"/>
              <a:chExt cx="347674" cy="800719"/>
            </a:xfrm>
          </p:grpSpPr>
          <p:sp>
            <p:nvSpPr>
              <p:cNvPr id="1051" name="Freeform 1050">
                <a:extLst>
                  <a:ext uri="{FF2B5EF4-FFF2-40B4-BE49-F238E27FC236}">
                    <a16:creationId xmlns:a16="http://schemas.microsoft.com/office/drawing/2014/main" id="{DEEBC6F2-972C-43D6-B421-876822BAF8B8}"/>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52" name="Group 1051">
                <a:extLst>
                  <a:ext uri="{FF2B5EF4-FFF2-40B4-BE49-F238E27FC236}">
                    <a16:creationId xmlns:a16="http://schemas.microsoft.com/office/drawing/2014/main" id="{31DC6A48-B29B-75C8-5829-57348FAD16EC}"/>
                  </a:ext>
                </a:extLst>
              </p:cNvPr>
              <p:cNvGrpSpPr/>
              <p:nvPr/>
            </p:nvGrpSpPr>
            <p:grpSpPr>
              <a:xfrm flipH="1">
                <a:off x="8852795" y="2372662"/>
                <a:ext cx="262193" cy="679246"/>
                <a:chOff x="1433816" y="2372662"/>
                <a:chExt cx="262193" cy="679246"/>
              </a:xfrm>
              <a:solidFill>
                <a:schemeClr val="bg1"/>
              </a:solidFill>
            </p:grpSpPr>
            <p:sp>
              <p:nvSpPr>
                <p:cNvPr id="1053" name="Rounded Rectangle 1052">
                  <a:extLst>
                    <a:ext uri="{FF2B5EF4-FFF2-40B4-BE49-F238E27FC236}">
                      <a16:creationId xmlns:a16="http://schemas.microsoft.com/office/drawing/2014/main" id="{639DFEAB-2506-C2D9-F43E-F740E269F0F8}"/>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54" name="Rounded Rectangle 1053">
                  <a:extLst>
                    <a:ext uri="{FF2B5EF4-FFF2-40B4-BE49-F238E27FC236}">
                      <a16:creationId xmlns:a16="http://schemas.microsoft.com/office/drawing/2014/main" id="{C6D95503-836F-33D1-12E1-4D795EB9BDD9}"/>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grpSp>
        <p:nvGrpSpPr>
          <p:cNvPr id="1065" name="PBC 1">
            <a:extLst>
              <a:ext uri="{FF2B5EF4-FFF2-40B4-BE49-F238E27FC236}">
                <a16:creationId xmlns:a16="http://schemas.microsoft.com/office/drawing/2014/main" id="{9C7FD0DE-68F0-454F-2C96-B52C4B257E8C}"/>
              </a:ext>
            </a:extLst>
          </p:cNvPr>
          <p:cNvGrpSpPr>
            <a:grpSpLocks noChangeAspect="1"/>
          </p:cNvGrpSpPr>
          <p:nvPr/>
        </p:nvGrpSpPr>
        <p:grpSpPr>
          <a:xfrm>
            <a:off x="3751926" y="3411404"/>
            <a:ext cx="1180032" cy="228600"/>
            <a:chOff x="2364562" y="2976326"/>
            <a:chExt cx="7053344" cy="1366399"/>
          </a:xfrm>
        </p:grpSpPr>
        <p:sp>
          <p:nvSpPr>
            <p:cNvPr id="1066" name="Freeform 1065">
              <a:extLst>
                <a:ext uri="{FF2B5EF4-FFF2-40B4-BE49-F238E27FC236}">
                  <a16:creationId xmlns:a16="http://schemas.microsoft.com/office/drawing/2014/main" id="{0CAE6779-FC6F-502B-3F7D-42285396566A}"/>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7" name="Freeform 1066">
              <a:extLst>
                <a:ext uri="{FF2B5EF4-FFF2-40B4-BE49-F238E27FC236}">
                  <a16:creationId xmlns:a16="http://schemas.microsoft.com/office/drawing/2014/main" id="{F6A4CCFC-D0D4-8A77-06C4-DB6023CB837E}"/>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68" name="Graphic 38">
              <a:extLst>
                <a:ext uri="{FF2B5EF4-FFF2-40B4-BE49-F238E27FC236}">
                  <a16:creationId xmlns:a16="http://schemas.microsoft.com/office/drawing/2014/main" id="{E4A001DF-575D-EDA6-32E6-1C218A428B89}"/>
                </a:ext>
              </a:extLst>
            </p:cNvPr>
            <p:cNvGrpSpPr/>
            <p:nvPr/>
          </p:nvGrpSpPr>
          <p:grpSpPr>
            <a:xfrm>
              <a:off x="5658852" y="3694387"/>
              <a:ext cx="466200" cy="483019"/>
              <a:chOff x="5042020" y="5214715"/>
              <a:chExt cx="466200" cy="483019"/>
            </a:xfrm>
          </p:grpSpPr>
          <p:sp>
            <p:nvSpPr>
              <p:cNvPr id="1085" name="Freeform 1084">
                <a:extLst>
                  <a:ext uri="{FF2B5EF4-FFF2-40B4-BE49-F238E27FC236}">
                    <a16:creationId xmlns:a16="http://schemas.microsoft.com/office/drawing/2014/main" id="{E18FFD48-58AF-BF1B-26AB-0EDF432B323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6" name="Freeform 1085">
                <a:extLst>
                  <a:ext uri="{FF2B5EF4-FFF2-40B4-BE49-F238E27FC236}">
                    <a16:creationId xmlns:a16="http://schemas.microsoft.com/office/drawing/2014/main" id="{A4CF774D-E2CF-46BD-A4C6-9FC729E5209A}"/>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69" name="Group 1068">
              <a:extLst>
                <a:ext uri="{FF2B5EF4-FFF2-40B4-BE49-F238E27FC236}">
                  <a16:creationId xmlns:a16="http://schemas.microsoft.com/office/drawing/2014/main" id="{18C099E7-7BD4-F89A-373C-2F38D0369CDC}"/>
                </a:ext>
              </a:extLst>
            </p:cNvPr>
            <p:cNvGrpSpPr/>
            <p:nvPr/>
          </p:nvGrpSpPr>
          <p:grpSpPr>
            <a:xfrm>
              <a:off x="6411669" y="3594476"/>
              <a:ext cx="2479697" cy="681402"/>
              <a:chOff x="6154005" y="2371943"/>
              <a:chExt cx="2479697" cy="681402"/>
            </a:xfrm>
          </p:grpSpPr>
          <p:sp>
            <p:nvSpPr>
              <p:cNvPr id="1083" name="Freeform 1082">
                <a:extLst>
                  <a:ext uri="{FF2B5EF4-FFF2-40B4-BE49-F238E27FC236}">
                    <a16:creationId xmlns:a16="http://schemas.microsoft.com/office/drawing/2014/main" id="{9EA05352-A7E6-8B0B-0496-DC2F00EBE49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4" name="Freeform 1083">
                <a:extLst>
                  <a:ext uri="{FF2B5EF4-FFF2-40B4-BE49-F238E27FC236}">
                    <a16:creationId xmlns:a16="http://schemas.microsoft.com/office/drawing/2014/main" id="{F9CFE7EE-6929-63E2-6257-8D1535B22BC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70" name="Group 1069">
              <a:extLst>
                <a:ext uri="{FF2B5EF4-FFF2-40B4-BE49-F238E27FC236}">
                  <a16:creationId xmlns:a16="http://schemas.microsoft.com/office/drawing/2014/main" id="{BC5EB795-D7AC-1B44-C44D-723F8E904EBD}"/>
                </a:ext>
              </a:extLst>
            </p:cNvPr>
            <p:cNvGrpSpPr/>
            <p:nvPr/>
          </p:nvGrpSpPr>
          <p:grpSpPr>
            <a:xfrm>
              <a:off x="2892539" y="3594476"/>
              <a:ext cx="2479697" cy="681402"/>
              <a:chOff x="6154005" y="2371943"/>
              <a:chExt cx="2479697" cy="681402"/>
            </a:xfrm>
          </p:grpSpPr>
          <p:sp>
            <p:nvSpPr>
              <p:cNvPr id="1081" name="Freeform 1080">
                <a:extLst>
                  <a:ext uri="{FF2B5EF4-FFF2-40B4-BE49-F238E27FC236}">
                    <a16:creationId xmlns:a16="http://schemas.microsoft.com/office/drawing/2014/main" id="{160D23CC-697D-AB54-1594-765F4C327B3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82" name="Freeform 1081">
                <a:extLst>
                  <a:ext uri="{FF2B5EF4-FFF2-40B4-BE49-F238E27FC236}">
                    <a16:creationId xmlns:a16="http://schemas.microsoft.com/office/drawing/2014/main" id="{738F129F-FD49-5AC3-D95B-7FEC17B16D8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071" name="Group 1070">
              <a:extLst>
                <a:ext uri="{FF2B5EF4-FFF2-40B4-BE49-F238E27FC236}">
                  <a16:creationId xmlns:a16="http://schemas.microsoft.com/office/drawing/2014/main" id="{F9AEA3E8-EE7D-FB92-DA96-18C1C90CCA5F}"/>
                </a:ext>
              </a:extLst>
            </p:cNvPr>
            <p:cNvGrpSpPr/>
            <p:nvPr/>
          </p:nvGrpSpPr>
          <p:grpSpPr>
            <a:xfrm>
              <a:off x="9070232" y="3528349"/>
              <a:ext cx="347674" cy="800719"/>
              <a:chOff x="8812568" y="2305815"/>
              <a:chExt cx="347674" cy="800719"/>
            </a:xfrm>
          </p:grpSpPr>
          <p:sp>
            <p:nvSpPr>
              <p:cNvPr id="1077" name="Freeform 1076">
                <a:extLst>
                  <a:ext uri="{FF2B5EF4-FFF2-40B4-BE49-F238E27FC236}">
                    <a16:creationId xmlns:a16="http://schemas.microsoft.com/office/drawing/2014/main" id="{F906754E-A7C6-098B-986E-628F5C5F784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78" name="Group 1077">
                <a:extLst>
                  <a:ext uri="{FF2B5EF4-FFF2-40B4-BE49-F238E27FC236}">
                    <a16:creationId xmlns:a16="http://schemas.microsoft.com/office/drawing/2014/main" id="{E5D93891-7013-F17F-B000-EBED79C9FEEB}"/>
                  </a:ext>
                </a:extLst>
              </p:cNvPr>
              <p:cNvGrpSpPr/>
              <p:nvPr/>
            </p:nvGrpSpPr>
            <p:grpSpPr>
              <a:xfrm flipH="1">
                <a:off x="8852795" y="2372662"/>
                <a:ext cx="262193" cy="679246"/>
                <a:chOff x="1433816" y="2372662"/>
                <a:chExt cx="262193" cy="679246"/>
              </a:xfrm>
              <a:solidFill>
                <a:schemeClr val="bg1"/>
              </a:solidFill>
            </p:grpSpPr>
            <p:sp>
              <p:nvSpPr>
                <p:cNvPr id="1079" name="Rounded Rectangle 1078">
                  <a:extLst>
                    <a:ext uri="{FF2B5EF4-FFF2-40B4-BE49-F238E27FC236}">
                      <a16:creationId xmlns:a16="http://schemas.microsoft.com/office/drawing/2014/main" id="{B76050E9-2C12-71BD-F309-A6F8C052B19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80" name="Rounded Rectangle 1079">
                  <a:extLst>
                    <a:ext uri="{FF2B5EF4-FFF2-40B4-BE49-F238E27FC236}">
                      <a16:creationId xmlns:a16="http://schemas.microsoft.com/office/drawing/2014/main" id="{3897C6A7-32B3-73DB-1C4F-856EBD64B02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072" name="Group 1071">
              <a:extLst>
                <a:ext uri="{FF2B5EF4-FFF2-40B4-BE49-F238E27FC236}">
                  <a16:creationId xmlns:a16="http://schemas.microsoft.com/office/drawing/2014/main" id="{9974A961-4476-510D-89B9-69C71D820253}"/>
                </a:ext>
              </a:extLst>
            </p:cNvPr>
            <p:cNvGrpSpPr/>
            <p:nvPr/>
          </p:nvGrpSpPr>
          <p:grpSpPr>
            <a:xfrm flipV="1">
              <a:off x="2364562" y="3528349"/>
              <a:ext cx="347674" cy="800719"/>
              <a:chOff x="8812568" y="2305815"/>
              <a:chExt cx="347674" cy="800719"/>
            </a:xfrm>
          </p:grpSpPr>
          <p:sp>
            <p:nvSpPr>
              <p:cNvPr id="1073" name="Freeform 1072">
                <a:extLst>
                  <a:ext uri="{FF2B5EF4-FFF2-40B4-BE49-F238E27FC236}">
                    <a16:creationId xmlns:a16="http://schemas.microsoft.com/office/drawing/2014/main" id="{439B0B83-EC01-86FD-307C-D6C625C9ACE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1074" name="Group 1073">
                <a:extLst>
                  <a:ext uri="{FF2B5EF4-FFF2-40B4-BE49-F238E27FC236}">
                    <a16:creationId xmlns:a16="http://schemas.microsoft.com/office/drawing/2014/main" id="{1BBDC594-302E-4A85-B890-692C351C9FF4}"/>
                  </a:ext>
                </a:extLst>
              </p:cNvPr>
              <p:cNvGrpSpPr/>
              <p:nvPr/>
            </p:nvGrpSpPr>
            <p:grpSpPr>
              <a:xfrm flipH="1">
                <a:off x="8852795" y="2372662"/>
                <a:ext cx="262193" cy="679246"/>
                <a:chOff x="1433816" y="2372662"/>
                <a:chExt cx="262193" cy="679246"/>
              </a:xfrm>
              <a:solidFill>
                <a:schemeClr val="bg1"/>
              </a:solidFill>
            </p:grpSpPr>
            <p:sp>
              <p:nvSpPr>
                <p:cNvPr id="1075" name="Rounded Rectangle 1074">
                  <a:extLst>
                    <a:ext uri="{FF2B5EF4-FFF2-40B4-BE49-F238E27FC236}">
                      <a16:creationId xmlns:a16="http://schemas.microsoft.com/office/drawing/2014/main" id="{D78A6B2C-A474-E6EA-B876-94917F6A447B}"/>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1076" name="Rounded Rectangle 1075">
                  <a:extLst>
                    <a:ext uri="{FF2B5EF4-FFF2-40B4-BE49-F238E27FC236}">
                      <a16:creationId xmlns:a16="http://schemas.microsoft.com/office/drawing/2014/main" id="{0D486249-F46B-8642-35C0-CD24D688440A}"/>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grpSp>
      </p:grpSp>
      <p:cxnSp>
        <p:nvCxnSpPr>
          <p:cNvPr id="1087" name="Straight Connector 1086">
            <a:extLst>
              <a:ext uri="{FF2B5EF4-FFF2-40B4-BE49-F238E27FC236}">
                <a16:creationId xmlns:a16="http://schemas.microsoft.com/office/drawing/2014/main" id="{6DE17448-3556-0412-D236-8097C4253075}"/>
              </a:ext>
            </a:extLst>
          </p:cNvPr>
          <p:cNvCxnSpPr>
            <a:cxnSpLocks/>
            <a:endCxn id="175" idx="2"/>
          </p:cNvCxnSpPr>
          <p:nvPr/>
        </p:nvCxnSpPr>
        <p:spPr bwMode="auto">
          <a:xfrm flipV="1">
            <a:off x="3559018" y="4464940"/>
            <a:ext cx="92544" cy="525471"/>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88" name="Straight Connector 1087">
            <a:extLst>
              <a:ext uri="{FF2B5EF4-FFF2-40B4-BE49-F238E27FC236}">
                <a16:creationId xmlns:a16="http://schemas.microsoft.com/office/drawing/2014/main" id="{A2DABC04-B147-64CE-ADCE-AE27CBE6D3AD}"/>
              </a:ext>
            </a:extLst>
          </p:cNvPr>
          <p:cNvCxnSpPr>
            <a:cxnSpLocks/>
          </p:cNvCxnSpPr>
          <p:nvPr/>
        </p:nvCxnSpPr>
        <p:spPr bwMode="auto">
          <a:xfrm flipH="1" flipV="1">
            <a:off x="4904256" y="4471607"/>
            <a:ext cx="263679" cy="473040"/>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cxnSp>
        <p:nvCxnSpPr>
          <p:cNvPr id="1089" name="Straight Connector 1088">
            <a:extLst>
              <a:ext uri="{FF2B5EF4-FFF2-40B4-BE49-F238E27FC236}">
                <a16:creationId xmlns:a16="http://schemas.microsoft.com/office/drawing/2014/main" id="{5D38A84A-5986-CC61-A601-DC188D9E7071}"/>
              </a:ext>
            </a:extLst>
          </p:cNvPr>
          <p:cNvCxnSpPr>
            <a:cxnSpLocks/>
          </p:cNvCxnSpPr>
          <p:nvPr/>
        </p:nvCxnSpPr>
        <p:spPr bwMode="auto">
          <a:xfrm flipH="1" flipV="1">
            <a:off x="5753919" y="3878868"/>
            <a:ext cx="397714" cy="107994"/>
          </a:xfrm>
          <a:prstGeom prst="line">
            <a:avLst/>
          </a:prstGeom>
          <a:solidFill>
            <a:schemeClr val="accent2"/>
          </a:solidFill>
          <a:ln w="2857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506860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6"/>
                                        </p:tgtEl>
                                        <p:attrNameLst>
                                          <p:attrName>style.visibility</p:attrName>
                                        </p:attrNameLst>
                                      </p:cBhvr>
                                      <p:to>
                                        <p:strVal val="visible"/>
                                      </p:to>
                                    </p:set>
                                    <p:animEffect transition="in" filter="fade">
                                      <p:cBhvr>
                                        <p:cTn id="10" dur="500"/>
                                        <p:tgtEl>
                                          <p:spTgt spid="116"/>
                                        </p:tgtEl>
                                      </p:cBhvr>
                                    </p:animEffect>
                                    <p:anim calcmode="lin" valueType="num">
                                      <p:cBhvr>
                                        <p:cTn id="11" dur="500" fill="hold"/>
                                        <p:tgtEl>
                                          <p:spTgt spid="116"/>
                                        </p:tgtEl>
                                        <p:attrNameLst>
                                          <p:attrName>ppt_x</p:attrName>
                                        </p:attrNameLst>
                                      </p:cBhvr>
                                      <p:tavLst>
                                        <p:tav tm="0">
                                          <p:val>
                                            <p:strVal val="#ppt_x"/>
                                          </p:val>
                                        </p:tav>
                                        <p:tav tm="100000">
                                          <p:val>
                                            <p:strVal val="#ppt_x"/>
                                          </p:val>
                                        </p:tav>
                                      </p:tavLst>
                                    </p:anim>
                                    <p:anim calcmode="lin" valueType="num">
                                      <p:cBhvr>
                                        <p:cTn id="12" dur="500" fill="hold"/>
                                        <p:tgtEl>
                                          <p:spTgt spid="1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1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A6E3B-BFEE-5A80-5DB8-5BF65227825D}"/>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0CED0E9E-489F-BAE5-9869-7F9AAA6753C8}"/>
              </a:ext>
            </a:extLst>
          </p:cNvPr>
          <p:cNvSpPr/>
          <p:nvPr/>
        </p:nvSpPr>
        <p:spPr bwMode="auto">
          <a:xfrm>
            <a:off x="1138096" y="1974715"/>
            <a:ext cx="4229383"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40" name="Rectangle 139">
            <a:extLst>
              <a:ext uri="{FF2B5EF4-FFF2-40B4-BE49-F238E27FC236}">
                <a16:creationId xmlns:a16="http://schemas.microsoft.com/office/drawing/2014/main" id="{B44D6064-A3D5-7726-1808-D9037D8ABF08}"/>
              </a:ext>
            </a:extLst>
          </p:cNvPr>
          <p:cNvSpPr/>
          <p:nvPr/>
        </p:nvSpPr>
        <p:spPr bwMode="auto">
          <a:xfrm>
            <a:off x="6812015" y="1974715"/>
            <a:ext cx="4229382" cy="2752370"/>
          </a:xfrm>
          <a:prstGeom prst="rect">
            <a:avLst/>
          </a:prstGeom>
          <a:gradFill>
            <a:gsLst>
              <a:gs pos="0">
                <a:schemeClr val="bg1">
                  <a:lumMod val="95000"/>
                </a:schemeClr>
              </a:gs>
              <a:gs pos="100000">
                <a:schemeClr val="bg1">
                  <a:lumMod val="95000"/>
                  <a:alpha val="0"/>
                </a:schemeClr>
              </a:gs>
            </a:gsLst>
            <a:lin ang="5400000" scaled="0"/>
          </a:gradFill>
          <a:ln w="12700" cap="sq" algn="ctr">
            <a:noFill/>
            <a:prstDash val="dash"/>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nvGrpSpPr>
          <p:cNvPr id="148" name="Group 147">
            <a:extLst>
              <a:ext uri="{FF2B5EF4-FFF2-40B4-BE49-F238E27FC236}">
                <a16:creationId xmlns:a16="http://schemas.microsoft.com/office/drawing/2014/main" id="{D7108FF0-30B4-3FE0-8513-B5F6E26C65BA}"/>
              </a:ext>
            </a:extLst>
          </p:cNvPr>
          <p:cNvGrpSpPr/>
          <p:nvPr/>
        </p:nvGrpSpPr>
        <p:grpSpPr>
          <a:xfrm>
            <a:off x="9754293" y="2055410"/>
            <a:ext cx="1196776" cy="2540386"/>
            <a:chOff x="9541715" y="1811099"/>
            <a:chExt cx="1196776" cy="2540386"/>
          </a:xfrm>
        </p:grpSpPr>
        <p:sp>
          <p:nvSpPr>
            <p:cNvPr id="133" name="Rectangle 132">
              <a:extLst>
                <a:ext uri="{FF2B5EF4-FFF2-40B4-BE49-F238E27FC236}">
                  <a16:creationId xmlns:a16="http://schemas.microsoft.com/office/drawing/2014/main" id="{51C8AE39-D7BC-DCE5-4AAA-06435D7B40E0}"/>
                </a:ext>
              </a:extLst>
            </p:cNvPr>
            <p:cNvSpPr/>
            <p:nvPr/>
          </p:nvSpPr>
          <p:spPr bwMode="auto">
            <a:xfrm>
              <a:off x="9541715" y="1811099"/>
              <a:ext cx="1196776" cy="2279076"/>
            </a:xfrm>
            <a:prstGeom prst="rect">
              <a:avLst/>
            </a:prstGeom>
            <a:solidFill>
              <a:schemeClr val="bg1">
                <a:lumMod val="85000"/>
                <a:alpha val="49732"/>
              </a:schemeClr>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solidFill>
                  <a:schemeClr val="bg1">
                    <a:lumMod val="85000"/>
                  </a:schemeClr>
                </a:solidFill>
              </a:endParaRPr>
            </a:p>
          </p:txBody>
        </p:sp>
        <p:sp>
          <p:nvSpPr>
            <p:cNvPr id="76" name="TextBox 75">
              <a:extLst>
                <a:ext uri="{FF2B5EF4-FFF2-40B4-BE49-F238E27FC236}">
                  <a16:creationId xmlns:a16="http://schemas.microsoft.com/office/drawing/2014/main" id="{D0736BB5-C7F7-25C2-4DD1-CED084B90169}"/>
                </a:ext>
              </a:extLst>
            </p:cNvPr>
            <p:cNvSpPr txBox="1"/>
            <p:nvPr/>
          </p:nvSpPr>
          <p:spPr>
            <a:xfrm>
              <a:off x="9654616" y="4074486"/>
              <a:ext cx="1017194" cy="276999"/>
            </a:xfrm>
            <a:prstGeom prst="rect">
              <a:avLst/>
            </a:prstGeom>
            <a:noFill/>
          </p:spPr>
          <p:txBody>
            <a:bodyPr wrap="square" rtlCol="0">
              <a:spAutoFit/>
            </a:bodyPr>
            <a:lstStyle/>
            <a:p>
              <a:pPr algn="ctr"/>
              <a:r>
                <a:rPr lang="en-US" sz="1200">
                  <a:latin typeface="+mj-lt"/>
                </a:rPr>
                <a:t>Fabric</a:t>
              </a:r>
            </a:p>
          </p:txBody>
        </p:sp>
        <p:grpSp>
          <p:nvGrpSpPr>
            <p:cNvPr id="14" name="!!Data Center Icon">
              <a:extLst>
                <a:ext uri="{FF2B5EF4-FFF2-40B4-BE49-F238E27FC236}">
                  <a16:creationId xmlns:a16="http://schemas.microsoft.com/office/drawing/2014/main" id="{D5C9717B-DAA9-3FD8-BEEF-176F24426841}"/>
                </a:ext>
              </a:extLst>
            </p:cNvPr>
            <p:cNvGrpSpPr/>
            <p:nvPr/>
          </p:nvGrpSpPr>
          <p:grpSpPr>
            <a:xfrm>
              <a:off x="9779721" y="2647225"/>
              <a:ext cx="766984" cy="561682"/>
              <a:chOff x="3915783" y="5046954"/>
              <a:chExt cx="1011845" cy="741000"/>
            </a:xfrm>
            <a:noFill/>
          </p:grpSpPr>
          <p:sp>
            <p:nvSpPr>
              <p:cNvPr id="15" name="White fill">
                <a:extLst>
                  <a:ext uri="{FF2B5EF4-FFF2-40B4-BE49-F238E27FC236}">
                    <a16:creationId xmlns:a16="http://schemas.microsoft.com/office/drawing/2014/main" id="{82E0F21A-0449-A297-1755-1974E54A5E02}"/>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7" name="Freeform: Shape 2142">
                <a:extLst>
                  <a:ext uri="{FF2B5EF4-FFF2-40B4-BE49-F238E27FC236}">
                    <a16:creationId xmlns:a16="http://schemas.microsoft.com/office/drawing/2014/main" id="{15785AF7-5CFE-4545-3DE9-E7C397ABD172}"/>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8" name="Freeform: Shape 2143">
                <a:extLst>
                  <a:ext uri="{FF2B5EF4-FFF2-40B4-BE49-F238E27FC236}">
                    <a16:creationId xmlns:a16="http://schemas.microsoft.com/office/drawing/2014/main" id="{A7068F36-BC91-FC4C-2133-CEEEB66341AD}"/>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9" name="Freeform: Shape 2144">
                <a:extLst>
                  <a:ext uri="{FF2B5EF4-FFF2-40B4-BE49-F238E27FC236}">
                    <a16:creationId xmlns:a16="http://schemas.microsoft.com/office/drawing/2014/main" id="{BA7A495C-7E78-3643-18E6-767DD629B806}"/>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20" name="Freeform: Shape 2145">
                <a:extLst>
                  <a:ext uri="{FF2B5EF4-FFF2-40B4-BE49-F238E27FC236}">
                    <a16:creationId xmlns:a16="http://schemas.microsoft.com/office/drawing/2014/main" id="{CE681FB5-93BA-A459-C647-A1A574F86067}"/>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83" name="!!Data Center Icon">
              <a:extLst>
                <a:ext uri="{FF2B5EF4-FFF2-40B4-BE49-F238E27FC236}">
                  <a16:creationId xmlns:a16="http://schemas.microsoft.com/office/drawing/2014/main" id="{AAA451DA-6DE6-8039-0A95-EE44E18A7E5A}"/>
                </a:ext>
              </a:extLst>
            </p:cNvPr>
            <p:cNvGrpSpPr/>
            <p:nvPr/>
          </p:nvGrpSpPr>
          <p:grpSpPr>
            <a:xfrm>
              <a:off x="9779721" y="3313141"/>
              <a:ext cx="766984" cy="561682"/>
              <a:chOff x="3915783" y="5046954"/>
              <a:chExt cx="1011845" cy="741000"/>
            </a:xfrm>
            <a:noFill/>
          </p:grpSpPr>
          <p:sp>
            <p:nvSpPr>
              <p:cNvPr id="84" name="White fill">
                <a:extLst>
                  <a:ext uri="{FF2B5EF4-FFF2-40B4-BE49-F238E27FC236}">
                    <a16:creationId xmlns:a16="http://schemas.microsoft.com/office/drawing/2014/main" id="{20BC4147-B04F-2CE9-7CE5-45E14A55BABC}"/>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87" name="Freeform: Shape 2142">
                <a:extLst>
                  <a:ext uri="{FF2B5EF4-FFF2-40B4-BE49-F238E27FC236}">
                    <a16:creationId xmlns:a16="http://schemas.microsoft.com/office/drawing/2014/main" id="{3708E259-4150-5C0A-04E6-3C7494A83398}"/>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90" name="Freeform: Shape 2143">
                <a:extLst>
                  <a:ext uri="{FF2B5EF4-FFF2-40B4-BE49-F238E27FC236}">
                    <a16:creationId xmlns:a16="http://schemas.microsoft.com/office/drawing/2014/main" id="{8133855D-23BD-B0A3-1672-11F50CF12B5A}"/>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91" name="Freeform: Shape 2144">
                <a:extLst>
                  <a:ext uri="{FF2B5EF4-FFF2-40B4-BE49-F238E27FC236}">
                    <a16:creationId xmlns:a16="http://schemas.microsoft.com/office/drawing/2014/main" id="{184C7C1B-1466-44AF-8707-7F1F069D56D5}"/>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93" name="Freeform: Shape 2145">
                <a:extLst>
                  <a:ext uri="{FF2B5EF4-FFF2-40B4-BE49-F238E27FC236}">
                    <a16:creationId xmlns:a16="http://schemas.microsoft.com/office/drawing/2014/main" id="{28C314C3-4539-6B2A-2FA8-834E1C8BEFBB}"/>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nvGrpSpPr>
            <p:cNvPr id="141" name="!!Data Center Icon">
              <a:extLst>
                <a:ext uri="{FF2B5EF4-FFF2-40B4-BE49-F238E27FC236}">
                  <a16:creationId xmlns:a16="http://schemas.microsoft.com/office/drawing/2014/main" id="{0BA0581A-78C1-1E2B-F088-873844C421E0}"/>
                </a:ext>
              </a:extLst>
            </p:cNvPr>
            <p:cNvGrpSpPr/>
            <p:nvPr/>
          </p:nvGrpSpPr>
          <p:grpSpPr>
            <a:xfrm>
              <a:off x="9779721" y="2008596"/>
              <a:ext cx="766984" cy="561682"/>
              <a:chOff x="3915783" y="5046954"/>
              <a:chExt cx="1011845" cy="741000"/>
            </a:xfrm>
            <a:noFill/>
          </p:grpSpPr>
          <p:sp>
            <p:nvSpPr>
              <p:cNvPr id="142" name="White fill">
                <a:extLst>
                  <a:ext uri="{FF2B5EF4-FFF2-40B4-BE49-F238E27FC236}">
                    <a16:creationId xmlns:a16="http://schemas.microsoft.com/office/drawing/2014/main" id="{8EA350C3-1FB5-4EEB-C65D-28A88CA6A0A8}"/>
                  </a:ext>
                </a:extLst>
              </p:cNvPr>
              <p:cNvSpPr/>
              <p:nvPr/>
            </p:nvSpPr>
            <p:spPr bwMode="auto">
              <a:xfrm>
                <a:off x="3981406" y="5046954"/>
                <a:ext cx="880598" cy="732400"/>
              </a:xfrm>
              <a:custGeom>
                <a:avLst/>
                <a:gdLst>
                  <a:gd name="csX0" fmla="*/ 248804 w 880598"/>
                  <a:gd name="csY0" fmla="*/ 0 h 732400"/>
                  <a:gd name="csX1" fmla="*/ 631794 w 880598"/>
                  <a:gd name="csY1" fmla="*/ 0 h 732400"/>
                  <a:gd name="csX2" fmla="*/ 631794 w 880598"/>
                  <a:gd name="csY2" fmla="*/ 275117 h 732400"/>
                  <a:gd name="csX3" fmla="*/ 880598 w 880598"/>
                  <a:gd name="csY3" fmla="*/ 275117 h 732400"/>
                  <a:gd name="csX4" fmla="*/ 880598 w 880598"/>
                  <a:gd name="csY4" fmla="*/ 732400 h 732400"/>
                  <a:gd name="csX5" fmla="*/ 0 w 880598"/>
                  <a:gd name="csY5" fmla="*/ 732400 h 732400"/>
                  <a:gd name="csX6" fmla="*/ 0 w 880598"/>
                  <a:gd name="csY6" fmla="*/ 275117 h 732400"/>
                  <a:gd name="csX7" fmla="*/ 248804 w 880598"/>
                  <a:gd name="csY7" fmla="*/ 275117 h 73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80598" h="732400">
                    <a:moveTo>
                      <a:pt x="248804" y="0"/>
                    </a:moveTo>
                    <a:lnTo>
                      <a:pt x="631794" y="0"/>
                    </a:lnTo>
                    <a:lnTo>
                      <a:pt x="631794" y="275117"/>
                    </a:lnTo>
                    <a:lnTo>
                      <a:pt x="880598" y="275117"/>
                    </a:lnTo>
                    <a:lnTo>
                      <a:pt x="880598" y="732400"/>
                    </a:lnTo>
                    <a:lnTo>
                      <a:pt x="0" y="732400"/>
                    </a:lnTo>
                    <a:lnTo>
                      <a:pt x="0" y="275117"/>
                    </a:lnTo>
                    <a:lnTo>
                      <a:pt x="248804" y="275117"/>
                    </a:lnTo>
                    <a:close/>
                  </a:path>
                </a:pathLst>
              </a:custGeom>
              <a:grpFill/>
              <a:ln w="12700" cap="sq" algn="ctr">
                <a:noFill/>
                <a:miter lim="800000"/>
                <a:headEnd/>
                <a:tailEnd/>
              </a:ln>
              <a:effectLst/>
            </p:spPr>
            <p:txBody>
              <a:bodyPr wrap="square" lIns="182880" rIns="182880" rtlCol="0" anchor="ctr" anchorCtr="1">
                <a:noAutofit/>
              </a:bodyPr>
              <a:lstStyle/>
              <a:p>
                <a:pPr algn="l">
                  <a:lnSpc>
                    <a:spcPct val="95000"/>
                  </a:lnSpc>
                  <a:spcBef>
                    <a:spcPts val="1080"/>
                  </a:spcBef>
                </a:pPr>
                <a:endParaRPr lang="en-US" sz="1600" b="1"/>
              </a:p>
            </p:txBody>
          </p:sp>
          <p:sp>
            <p:nvSpPr>
              <p:cNvPr id="143" name="Freeform: Shape 2142">
                <a:extLst>
                  <a:ext uri="{FF2B5EF4-FFF2-40B4-BE49-F238E27FC236}">
                    <a16:creationId xmlns:a16="http://schemas.microsoft.com/office/drawing/2014/main" id="{5F666D92-C0B0-30BB-DD12-EB116CFC1BCD}"/>
                  </a:ext>
                </a:extLst>
              </p:cNvPr>
              <p:cNvSpPr/>
              <p:nvPr/>
            </p:nvSpPr>
            <p:spPr>
              <a:xfrm>
                <a:off x="3980262"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1 w 554545"/>
                  <a:gd name="csY8" fmla="*/ 190691 h 1022794"/>
                  <a:gd name="csX9" fmla="*/ 462915 w 554545"/>
                  <a:gd name="csY9" fmla="*/ 190691 h 1022794"/>
                  <a:gd name="csX10" fmla="*/ 462915 w 554545"/>
                  <a:gd name="csY10" fmla="*/ 404527 h 1022794"/>
                  <a:gd name="csX11" fmla="*/ 91631 w 554545"/>
                  <a:gd name="csY11" fmla="*/ 404527 h 1022794"/>
                  <a:gd name="csX12" fmla="*/ 91631 w 554545"/>
                  <a:gd name="csY12" fmla="*/ 190691 h 1022794"/>
                  <a:gd name="csX13" fmla="*/ 91631 w 554545"/>
                  <a:gd name="csY13" fmla="*/ 190691 h 1022794"/>
                  <a:gd name="csX14" fmla="*/ 178879 w 554545"/>
                  <a:gd name="csY14" fmla="*/ 511493 h 1022794"/>
                  <a:gd name="csX15" fmla="*/ 375475 w 554545"/>
                  <a:gd name="csY15" fmla="*/ 511493 h 1022794"/>
                  <a:gd name="csX16" fmla="*/ 91631 w 554545"/>
                  <a:gd name="csY16" fmla="*/ 404527 h 1022794"/>
                  <a:gd name="csX17" fmla="*/ 462915 w 554545"/>
                  <a:gd name="csY17" fmla="*/ 404527 h 1022794"/>
                  <a:gd name="csX18" fmla="*/ 462915 w 554545"/>
                  <a:gd name="csY18" fmla="*/ 618363 h 1022794"/>
                  <a:gd name="csX19" fmla="*/ 91631 w 554545"/>
                  <a:gd name="csY19" fmla="*/ 618363 h 1022794"/>
                  <a:gd name="csX20" fmla="*/ 91631 w 554545"/>
                  <a:gd name="csY20" fmla="*/ 404527 h 1022794"/>
                  <a:gd name="csX21" fmla="*/ 91631 w 554545"/>
                  <a:gd name="csY21" fmla="*/ 404527 h 1022794"/>
                  <a:gd name="csX22" fmla="*/ 178879 w 554545"/>
                  <a:gd name="csY22" fmla="*/ 725329 h 1022794"/>
                  <a:gd name="csX23" fmla="*/ 375475 w 554545"/>
                  <a:gd name="csY23" fmla="*/ 725329 h 1022794"/>
                  <a:gd name="csX24" fmla="*/ 91631 w 554545"/>
                  <a:gd name="csY24" fmla="*/ 618363 h 1022794"/>
                  <a:gd name="csX25" fmla="*/ 462915 w 554545"/>
                  <a:gd name="csY25" fmla="*/ 618363 h 1022794"/>
                  <a:gd name="csX26" fmla="*/ 462915 w 554545"/>
                  <a:gd name="csY26" fmla="*/ 832199 h 1022794"/>
                  <a:gd name="csX27" fmla="*/ 91631 w 554545"/>
                  <a:gd name="csY27" fmla="*/ 832199 h 1022794"/>
                  <a:gd name="csX28" fmla="*/ 91631 w 554545"/>
                  <a:gd name="csY28" fmla="*/ 618363 h 1022794"/>
                  <a:gd name="csX29" fmla="*/ 91631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1" y="190691"/>
                    </a:moveTo>
                    <a:lnTo>
                      <a:pt x="462915" y="190691"/>
                    </a:lnTo>
                    <a:lnTo>
                      <a:pt x="462915" y="404527"/>
                    </a:lnTo>
                    <a:lnTo>
                      <a:pt x="91631" y="404527"/>
                    </a:lnTo>
                    <a:lnTo>
                      <a:pt x="91631" y="190691"/>
                    </a:lnTo>
                    <a:lnTo>
                      <a:pt x="91631" y="190691"/>
                    </a:lnTo>
                    <a:close/>
                    <a:moveTo>
                      <a:pt x="178879" y="511493"/>
                    </a:moveTo>
                    <a:lnTo>
                      <a:pt x="375475" y="511493"/>
                    </a:lnTo>
                    <a:moveTo>
                      <a:pt x="91631" y="404527"/>
                    </a:moveTo>
                    <a:lnTo>
                      <a:pt x="462915" y="404527"/>
                    </a:lnTo>
                    <a:lnTo>
                      <a:pt x="462915" y="618363"/>
                    </a:lnTo>
                    <a:lnTo>
                      <a:pt x="91631" y="618363"/>
                    </a:lnTo>
                    <a:lnTo>
                      <a:pt x="91631" y="404527"/>
                    </a:lnTo>
                    <a:lnTo>
                      <a:pt x="91631" y="404527"/>
                    </a:lnTo>
                    <a:close/>
                    <a:moveTo>
                      <a:pt x="178879" y="725329"/>
                    </a:moveTo>
                    <a:lnTo>
                      <a:pt x="375475" y="725329"/>
                    </a:lnTo>
                    <a:moveTo>
                      <a:pt x="91631" y="618363"/>
                    </a:moveTo>
                    <a:lnTo>
                      <a:pt x="462915" y="618363"/>
                    </a:lnTo>
                    <a:lnTo>
                      <a:pt x="462915" y="832199"/>
                    </a:lnTo>
                    <a:lnTo>
                      <a:pt x="91631" y="832199"/>
                    </a:lnTo>
                    <a:lnTo>
                      <a:pt x="91631" y="618363"/>
                    </a:lnTo>
                    <a:lnTo>
                      <a:pt x="91631" y="618363"/>
                    </a:lnTo>
                    <a:close/>
                  </a:path>
                </a:pathLst>
              </a:custGeom>
              <a:grpFill/>
              <a:ln w="19050" cap="flat">
                <a:solidFill>
                  <a:srgbClr val="000000"/>
                </a:solidFill>
                <a:prstDash val="solid"/>
                <a:miter/>
              </a:ln>
            </p:spPr>
            <p:txBody>
              <a:bodyPr/>
              <a:lstStyle/>
              <a:p>
                <a:endParaRPr lang="en-US"/>
              </a:p>
            </p:txBody>
          </p:sp>
          <p:sp>
            <p:nvSpPr>
              <p:cNvPr id="144" name="Freeform: Shape 2143">
                <a:extLst>
                  <a:ext uri="{FF2B5EF4-FFF2-40B4-BE49-F238E27FC236}">
                    <a16:creationId xmlns:a16="http://schemas.microsoft.com/office/drawing/2014/main" id="{46F6150E-2668-3E15-C1A6-68CDCF2B3D21}"/>
                  </a:ext>
                </a:extLst>
              </p:cNvPr>
              <p:cNvSpPr/>
              <p:nvPr/>
            </p:nvSpPr>
            <p:spPr>
              <a:xfrm>
                <a:off x="4612885" y="5322072"/>
                <a:ext cx="250264" cy="461582"/>
              </a:xfrm>
              <a:custGeom>
                <a:avLst/>
                <a:gdLst>
                  <a:gd name="csX0" fmla="*/ 0 w 554545"/>
                  <a:gd name="csY0" fmla="*/ 0 h 1022794"/>
                  <a:gd name="csX1" fmla="*/ 554546 w 554545"/>
                  <a:gd name="csY1" fmla="*/ 0 h 1022794"/>
                  <a:gd name="csX2" fmla="*/ 554546 w 554545"/>
                  <a:gd name="csY2" fmla="*/ 1022795 h 1022794"/>
                  <a:gd name="csX3" fmla="*/ 0 w 554545"/>
                  <a:gd name="csY3" fmla="*/ 1022795 h 1022794"/>
                  <a:gd name="csX4" fmla="*/ 0 w 554545"/>
                  <a:gd name="csY4" fmla="*/ 0 h 1022794"/>
                  <a:gd name="csX5" fmla="*/ 0 w 554545"/>
                  <a:gd name="csY5" fmla="*/ 0 h 1022794"/>
                  <a:gd name="csX6" fmla="*/ 178879 w 554545"/>
                  <a:gd name="csY6" fmla="*/ 297561 h 1022794"/>
                  <a:gd name="csX7" fmla="*/ 375475 w 554545"/>
                  <a:gd name="csY7" fmla="*/ 297561 h 1022794"/>
                  <a:gd name="csX8" fmla="*/ 91630 w 554545"/>
                  <a:gd name="csY8" fmla="*/ 190691 h 1022794"/>
                  <a:gd name="csX9" fmla="*/ 462915 w 554545"/>
                  <a:gd name="csY9" fmla="*/ 190691 h 1022794"/>
                  <a:gd name="csX10" fmla="*/ 462915 w 554545"/>
                  <a:gd name="csY10" fmla="*/ 404527 h 1022794"/>
                  <a:gd name="csX11" fmla="*/ 91630 w 554545"/>
                  <a:gd name="csY11" fmla="*/ 404527 h 1022794"/>
                  <a:gd name="csX12" fmla="*/ 91630 w 554545"/>
                  <a:gd name="csY12" fmla="*/ 190691 h 1022794"/>
                  <a:gd name="csX13" fmla="*/ 91630 w 554545"/>
                  <a:gd name="csY13" fmla="*/ 190691 h 1022794"/>
                  <a:gd name="csX14" fmla="*/ 178879 w 554545"/>
                  <a:gd name="csY14" fmla="*/ 511493 h 1022794"/>
                  <a:gd name="csX15" fmla="*/ 375475 w 554545"/>
                  <a:gd name="csY15" fmla="*/ 511493 h 1022794"/>
                  <a:gd name="csX16" fmla="*/ 91630 w 554545"/>
                  <a:gd name="csY16" fmla="*/ 404527 h 1022794"/>
                  <a:gd name="csX17" fmla="*/ 462915 w 554545"/>
                  <a:gd name="csY17" fmla="*/ 404527 h 1022794"/>
                  <a:gd name="csX18" fmla="*/ 462915 w 554545"/>
                  <a:gd name="csY18" fmla="*/ 618363 h 1022794"/>
                  <a:gd name="csX19" fmla="*/ 91630 w 554545"/>
                  <a:gd name="csY19" fmla="*/ 618363 h 1022794"/>
                  <a:gd name="csX20" fmla="*/ 91630 w 554545"/>
                  <a:gd name="csY20" fmla="*/ 404527 h 1022794"/>
                  <a:gd name="csX21" fmla="*/ 91630 w 554545"/>
                  <a:gd name="csY21" fmla="*/ 404527 h 1022794"/>
                  <a:gd name="csX22" fmla="*/ 178879 w 554545"/>
                  <a:gd name="csY22" fmla="*/ 725329 h 1022794"/>
                  <a:gd name="csX23" fmla="*/ 375475 w 554545"/>
                  <a:gd name="csY23" fmla="*/ 725329 h 1022794"/>
                  <a:gd name="csX24" fmla="*/ 91630 w 554545"/>
                  <a:gd name="csY24" fmla="*/ 618363 h 1022794"/>
                  <a:gd name="csX25" fmla="*/ 462915 w 554545"/>
                  <a:gd name="csY25" fmla="*/ 618363 h 1022794"/>
                  <a:gd name="csX26" fmla="*/ 462915 w 554545"/>
                  <a:gd name="csY26" fmla="*/ 832199 h 1022794"/>
                  <a:gd name="csX27" fmla="*/ 91630 w 554545"/>
                  <a:gd name="csY27" fmla="*/ 832199 h 1022794"/>
                  <a:gd name="csX28" fmla="*/ 91630 w 554545"/>
                  <a:gd name="csY28" fmla="*/ 618363 h 1022794"/>
                  <a:gd name="csX29" fmla="*/ 91630 w 554545"/>
                  <a:gd name="csY29" fmla="*/ 618363 h 1022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54545" h="1022794">
                    <a:moveTo>
                      <a:pt x="0" y="0"/>
                    </a:moveTo>
                    <a:lnTo>
                      <a:pt x="554546" y="0"/>
                    </a:lnTo>
                    <a:lnTo>
                      <a:pt x="554546" y="1022795"/>
                    </a:lnTo>
                    <a:lnTo>
                      <a:pt x="0" y="1022795"/>
                    </a:lnTo>
                    <a:lnTo>
                      <a:pt x="0" y="0"/>
                    </a:lnTo>
                    <a:lnTo>
                      <a:pt x="0" y="0"/>
                    </a:lnTo>
                    <a:close/>
                    <a:moveTo>
                      <a:pt x="178879" y="297561"/>
                    </a:moveTo>
                    <a:lnTo>
                      <a:pt x="375475" y="297561"/>
                    </a:lnTo>
                    <a:moveTo>
                      <a:pt x="91630" y="190691"/>
                    </a:moveTo>
                    <a:lnTo>
                      <a:pt x="462915" y="190691"/>
                    </a:lnTo>
                    <a:lnTo>
                      <a:pt x="462915" y="404527"/>
                    </a:lnTo>
                    <a:lnTo>
                      <a:pt x="91630" y="404527"/>
                    </a:lnTo>
                    <a:lnTo>
                      <a:pt x="91630" y="190691"/>
                    </a:lnTo>
                    <a:lnTo>
                      <a:pt x="91630" y="190691"/>
                    </a:lnTo>
                    <a:close/>
                    <a:moveTo>
                      <a:pt x="178879" y="511493"/>
                    </a:moveTo>
                    <a:lnTo>
                      <a:pt x="375475" y="511493"/>
                    </a:lnTo>
                    <a:moveTo>
                      <a:pt x="91630" y="404527"/>
                    </a:moveTo>
                    <a:lnTo>
                      <a:pt x="462915" y="404527"/>
                    </a:lnTo>
                    <a:lnTo>
                      <a:pt x="462915" y="618363"/>
                    </a:lnTo>
                    <a:lnTo>
                      <a:pt x="91630" y="618363"/>
                    </a:lnTo>
                    <a:lnTo>
                      <a:pt x="91630" y="404527"/>
                    </a:lnTo>
                    <a:lnTo>
                      <a:pt x="91630" y="404527"/>
                    </a:lnTo>
                    <a:close/>
                    <a:moveTo>
                      <a:pt x="178879" y="725329"/>
                    </a:moveTo>
                    <a:lnTo>
                      <a:pt x="375475" y="725329"/>
                    </a:lnTo>
                    <a:moveTo>
                      <a:pt x="91630" y="618363"/>
                    </a:moveTo>
                    <a:lnTo>
                      <a:pt x="462915" y="618363"/>
                    </a:lnTo>
                    <a:lnTo>
                      <a:pt x="462915" y="832199"/>
                    </a:lnTo>
                    <a:lnTo>
                      <a:pt x="91630" y="832199"/>
                    </a:lnTo>
                    <a:lnTo>
                      <a:pt x="91630" y="618363"/>
                    </a:lnTo>
                    <a:lnTo>
                      <a:pt x="91630" y="618363"/>
                    </a:lnTo>
                    <a:close/>
                  </a:path>
                </a:pathLst>
              </a:custGeom>
              <a:grpFill/>
              <a:ln w="19050" cap="flat">
                <a:solidFill>
                  <a:srgbClr val="000000"/>
                </a:solidFill>
                <a:prstDash val="solid"/>
                <a:miter/>
              </a:ln>
            </p:spPr>
            <p:txBody>
              <a:bodyPr/>
              <a:lstStyle/>
              <a:p>
                <a:endParaRPr lang="en-US"/>
              </a:p>
            </p:txBody>
          </p:sp>
          <p:sp>
            <p:nvSpPr>
              <p:cNvPr id="145" name="Freeform: Shape 2144">
                <a:extLst>
                  <a:ext uri="{FF2B5EF4-FFF2-40B4-BE49-F238E27FC236}">
                    <a16:creationId xmlns:a16="http://schemas.microsoft.com/office/drawing/2014/main" id="{C186427E-21AF-43CB-13A2-439061BEC733}"/>
                  </a:ext>
                </a:extLst>
              </p:cNvPr>
              <p:cNvSpPr/>
              <p:nvPr/>
            </p:nvSpPr>
            <p:spPr>
              <a:xfrm>
                <a:off x="4230526" y="5047178"/>
                <a:ext cx="382359" cy="736477"/>
              </a:xfrm>
              <a:custGeom>
                <a:avLst/>
                <a:gdLst>
                  <a:gd name="csX0" fmla="*/ 0 w 847248"/>
                  <a:gd name="csY0" fmla="*/ 1631918 h 1631918"/>
                  <a:gd name="csX1" fmla="*/ 0 w 847248"/>
                  <a:gd name="csY1" fmla="*/ 0 h 1631918"/>
                  <a:gd name="csX2" fmla="*/ 847249 w 847248"/>
                  <a:gd name="csY2" fmla="*/ 0 h 1631918"/>
                  <a:gd name="csX3" fmla="*/ 847249 w 847248"/>
                  <a:gd name="csY3" fmla="*/ 1631918 h 1631918"/>
                  <a:gd name="csX4" fmla="*/ 0 w 847248"/>
                  <a:gd name="csY4" fmla="*/ 1631918 h 1631918"/>
                  <a:gd name="csX5" fmla="*/ 101155 w 847248"/>
                  <a:gd name="csY5" fmla="*/ 169831 h 1631918"/>
                  <a:gd name="csX6" fmla="*/ 746093 w 847248"/>
                  <a:gd name="csY6" fmla="*/ 169831 h 1631918"/>
                  <a:gd name="csX7" fmla="*/ 101155 w 847248"/>
                  <a:gd name="csY7" fmla="*/ 319373 h 1631918"/>
                  <a:gd name="csX8" fmla="*/ 746093 w 847248"/>
                  <a:gd name="csY8" fmla="*/ 319373 h 1631918"/>
                  <a:gd name="csX9" fmla="*/ 173069 w 847248"/>
                  <a:gd name="csY9" fmla="*/ 588931 h 1631918"/>
                  <a:gd name="csX10" fmla="*/ 369665 w 847248"/>
                  <a:gd name="csY10" fmla="*/ 588931 h 1631918"/>
                  <a:gd name="csX11" fmla="*/ 92964 w 847248"/>
                  <a:gd name="csY11" fmla="*/ 481965 h 1631918"/>
                  <a:gd name="csX12" fmla="*/ 754380 w 847248"/>
                  <a:gd name="csY12" fmla="*/ 481965 h 1631918"/>
                  <a:gd name="csX13" fmla="*/ 754380 w 847248"/>
                  <a:gd name="csY13" fmla="*/ 695801 h 1631918"/>
                  <a:gd name="csX14" fmla="*/ 92964 w 847248"/>
                  <a:gd name="csY14" fmla="*/ 695801 h 1631918"/>
                  <a:gd name="csX15" fmla="*/ 92964 w 847248"/>
                  <a:gd name="csY15" fmla="*/ 481965 h 1631918"/>
                  <a:gd name="csX16" fmla="*/ 92964 w 847248"/>
                  <a:gd name="csY16" fmla="*/ 481965 h 1631918"/>
                  <a:gd name="csX17" fmla="*/ 173069 w 847248"/>
                  <a:gd name="csY17" fmla="*/ 802577 h 1631918"/>
                  <a:gd name="csX18" fmla="*/ 369665 w 847248"/>
                  <a:gd name="csY18" fmla="*/ 802577 h 1631918"/>
                  <a:gd name="csX19" fmla="*/ 92964 w 847248"/>
                  <a:gd name="csY19" fmla="*/ 695801 h 1631918"/>
                  <a:gd name="csX20" fmla="*/ 754380 w 847248"/>
                  <a:gd name="csY20" fmla="*/ 695801 h 1631918"/>
                  <a:gd name="csX21" fmla="*/ 754380 w 847248"/>
                  <a:gd name="csY21" fmla="*/ 909638 h 1631918"/>
                  <a:gd name="csX22" fmla="*/ 92964 w 847248"/>
                  <a:gd name="csY22" fmla="*/ 909638 h 1631918"/>
                  <a:gd name="csX23" fmla="*/ 92964 w 847248"/>
                  <a:gd name="csY23" fmla="*/ 695801 h 1631918"/>
                  <a:gd name="csX24" fmla="*/ 92964 w 847248"/>
                  <a:gd name="csY24" fmla="*/ 695801 h 1631918"/>
                  <a:gd name="csX25" fmla="*/ 173069 w 847248"/>
                  <a:gd name="csY25" fmla="*/ 1016413 h 1631918"/>
                  <a:gd name="csX26" fmla="*/ 369665 w 847248"/>
                  <a:gd name="csY26" fmla="*/ 1016413 h 1631918"/>
                  <a:gd name="csX27" fmla="*/ 92964 w 847248"/>
                  <a:gd name="csY27" fmla="*/ 909638 h 1631918"/>
                  <a:gd name="csX28" fmla="*/ 754380 w 847248"/>
                  <a:gd name="csY28" fmla="*/ 909638 h 1631918"/>
                  <a:gd name="csX29" fmla="*/ 754380 w 847248"/>
                  <a:gd name="csY29" fmla="*/ 1123474 h 1631918"/>
                  <a:gd name="csX30" fmla="*/ 92964 w 847248"/>
                  <a:gd name="csY30" fmla="*/ 1123474 h 1631918"/>
                  <a:gd name="csX31" fmla="*/ 92964 w 847248"/>
                  <a:gd name="csY31" fmla="*/ 909638 h 1631918"/>
                  <a:gd name="csX32" fmla="*/ 92964 w 847248"/>
                  <a:gd name="csY32" fmla="*/ 909638 h 1631918"/>
                  <a:gd name="csX33" fmla="*/ 462439 w 847248"/>
                  <a:gd name="csY33" fmla="*/ 588836 h 1631918"/>
                  <a:gd name="csX34" fmla="*/ 453866 w 847248"/>
                  <a:gd name="csY34" fmla="*/ 597408 h 1631918"/>
                  <a:gd name="csX35" fmla="*/ 445294 w 847248"/>
                  <a:gd name="csY35" fmla="*/ 588836 h 1631918"/>
                  <a:gd name="csX36" fmla="*/ 453866 w 847248"/>
                  <a:gd name="csY36" fmla="*/ 580263 h 1631918"/>
                  <a:gd name="csX37" fmla="*/ 462439 w 847248"/>
                  <a:gd name="csY37" fmla="*/ 588836 h 1631918"/>
                  <a:gd name="csX38" fmla="*/ 536353 w 847248"/>
                  <a:gd name="csY38" fmla="*/ 580263 h 1631918"/>
                  <a:gd name="csX39" fmla="*/ 527780 w 847248"/>
                  <a:gd name="csY39" fmla="*/ 588836 h 1631918"/>
                  <a:gd name="csX40" fmla="*/ 536353 w 847248"/>
                  <a:gd name="csY40" fmla="*/ 597408 h 1631918"/>
                  <a:gd name="csX41" fmla="*/ 544925 w 847248"/>
                  <a:gd name="csY41" fmla="*/ 588836 h 1631918"/>
                  <a:gd name="csX42" fmla="*/ 536353 w 847248"/>
                  <a:gd name="csY42" fmla="*/ 580263 h 1631918"/>
                  <a:gd name="csX43" fmla="*/ 618934 w 847248"/>
                  <a:gd name="csY43" fmla="*/ 580263 h 1631918"/>
                  <a:gd name="csX44" fmla="*/ 610362 w 847248"/>
                  <a:gd name="csY44" fmla="*/ 588836 h 1631918"/>
                  <a:gd name="csX45" fmla="*/ 618934 w 847248"/>
                  <a:gd name="csY45" fmla="*/ 597408 h 1631918"/>
                  <a:gd name="csX46" fmla="*/ 627507 w 847248"/>
                  <a:gd name="csY46" fmla="*/ 588836 h 1631918"/>
                  <a:gd name="csX47" fmla="*/ 618934 w 847248"/>
                  <a:gd name="csY47" fmla="*/ 580263 h 1631918"/>
                  <a:gd name="csX48" fmla="*/ 462439 w 847248"/>
                  <a:gd name="csY48" fmla="*/ 802672 h 1631918"/>
                  <a:gd name="csX49" fmla="*/ 453866 w 847248"/>
                  <a:gd name="csY49" fmla="*/ 811244 h 1631918"/>
                  <a:gd name="csX50" fmla="*/ 445294 w 847248"/>
                  <a:gd name="csY50" fmla="*/ 802672 h 1631918"/>
                  <a:gd name="csX51" fmla="*/ 453866 w 847248"/>
                  <a:gd name="csY51" fmla="*/ 794099 h 1631918"/>
                  <a:gd name="csX52" fmla="*/ 462439 w 847248"/>
                  <a:gd name="csY52" fmla="*/ 802672 h 1631918"/>
                  <a:gd name="csX53" fmla="*/ 536353 w 847248"/>
                  <a:gd name="csY53" fmla="*/ 794099 h 1631918"/>
                  <a:gd name="csX54" fmla="*/ 527780 w 847248"/>
                  <a:gd name="csY54" fmla="*/ 802672 h 1631918"/>
                  <a:gd name="csX55" fmla="*/ 536353 w 847248"/>
                  <a:gd name="csY55" fmla="*/ 811244 h 1631918"/>
                  <a:gd name="csX56" fmla="*/ 544925 w 847248"/>
                  <a:gd name="csY56" fmla="*/ 802672 h 1631918"/>
                  <a:gd name="csX57" fmla="*/ 536353 w 847248"/>
                  <a:gd name="csY57" fmla="*/ 794099 h 1631918"/>
                  <a:gd name="csX58" fmla="*/ 618934 w 847248"/>
                  <a:gd name="csY58" fmla="*/ 794099 h 1631918"/>
                  <a:gd name="csX59" fmla="*/ 610362 w 847248"/>
                  <a:gd name="csY59" fmla="*/ 802672 h 1631918"/>
                  <a:gd name="csX60" fmla="*/ 618934 w 847248"/>
                  <a:gd name="csY60" fmla="*/ 811244 h 1631918"/>
                  <a:gd name="csX61" fmla="*/ 627507 w 847248"/>
                  <a:gd name="csY61" fmla="*/ 802672 h 1631918"/>
                  <a:gd name="csX62" fmla="*/ 618934 w 847248"/>
                  <a:gd name="csY62" fmla="*/ 794099 h 1631918"/>
                  <a:gd name="csX63" fmla="*/ 462439 w 847248"/>
                  <a:gd name="csY63" fmla="*/ 1016413 h 1631918"/>
                  <a:gd name="csX64" fmla="*/ 453866 w 847248"/>
                  <a:gd name="csY64" fmla="*/ 1024985 h 1631918"/>
                  <a:gd name="csX65" fmla="*/ 445294 w 847248"/>
                  <a:gd name="csY65" fmla="*/ 1016413 h 1631918"/>
                  <a:gd name="csX66" fmla="*/ 453866 w 847248"/>
                  <a:gd name="csY66" fmla="*/ 1007840 h 1631918"/>
                  <a:gd name="csX67" fmla="*/ 462439 w 847248"/>
                  <a:gd name="csY67" fmla="*/ 1016413 h 1631918"/>
                  <a:gd name="csX68" fmla="*/ 536353 w 847248"/>
                  <a:gd name="csY68" fmla="*/ 1007840 h 1631918"/>
                  <a:gd name="csX69" fmla="*/ 527780 w 847248"/>
                  <a:gd name="csY69" fmla="*/ 1016413 h 1631918"/>
                  <a:gd name="csX70" fmla="*/ 536353 w 847248"/>
                  <a:gd name="csY70" fmla="*/ 1024985 h 1631918"/>
                  <a:gd name="csX71" fmla="*/ 544925 w 847248"/>
                  <a:gd name="csY71" fmla="*/ 1016413 h 1631918"/>
                  <a:gd name="csX72" fmla="*/ 536353 w 847248"/>
                  <a:gd name="csY72" fmla="*/ 1007840 h 1631918"/>
                  <a:gd name="csX73" fmla="*/ 618934 w 847248"/>
                  <a:gd name="csY73" fmla="*/ 1007840 h 1631918"/>
                  <a:gd name="csX74" fmla="*/ 610362 w 847248"/>
                  <a:gd name="csY74" fmla="*/ 1016413 h 1631918"/>
                  <a:gd name="csX75" fmla="*/ 618934 w 847248"/>
                  <a:gd name="csY75" fmla="*/ 1024985 h 1631918"/>
                  <a:gd name="csX76" fmla="*/ 627507 w 847248"/>
                  <a:gd name="csY76" fmla="*/ 1016413 h 1631918"/>
                  <a:gd name="csX77" fmla="*/ 618934 w 847248"/>
                  <a:gd name="csY77" fmla="*/ 1007840 h 163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847248" h="1631918">
                    <a:moveTo>
                      <a:pt x="0" y="1631918"/>
                    </a:moveTo>
                    <a:lnTo>
                      <a:pt x="0" y="0"/>
                    </a:lnTo>
                    <a:lnTo>
                      <a:pt x="847249" y="0"/>
                    </a:lnTo>
                    <a:lnTo>
                      <a:pt x="847249" y="1631918"/>
                    </a:lnTo>
                    <a:lnTo>
                      <a:pt x="0" y="1631918"/>
                    </a:lnTo>
                    <a:close/>
                    <a:moveTo>
                      <a:pt x="101155" y="169831"/>
                    </a:moveTo>
                    <a:lnTo>
                      <a:pt x="746093" y="169831"/>
                    </a:lnTo>
                    <a:moveTo>
                      <a:pt x="101155" y="319373"/>
                    </a:moveTo>
                    <a:lnTo>
                      <a:pt x="746093" y="319373"/>
                    </a:lnTo>
                    <a:moveTo>
                      <a:pt x="173069" y="588931"/>
                    </a:moveTo>
                    <a:lnTo>
                      <a:pt x="369665" y="588931"/>
                    </a:lnTo>
                    <a:moveTo>
                      <a:pt x="92964" y="481965"/>
                    </a:moveTo>
                    <a:lnTo>
                      <a:pt x="754380" y="481965"/>
                    </a:lnTo>
                    <a:lnTo>
                      <a:pt x="754380" y="695801"/>
                    </a:lnTo>
                    <a:lnTo>
                      <a:pt x="92964" y="695801"/>
                    </a:lnTo>
                    <a:lnTo>
                      <a:pt x="92964" y="481965"/>
                    </a:lnTo>
                    <a:lnTo>
                      <a:pt x="92964" y="481965"/>
                    </a:lnTo>
                    <a:close/>
                    <a:moveTo>
                      <a:pt x="173069" y="802577"/>
                    </a:moveTo>
                    <a:lnTo>
                      <a:pt x="369665" y="802577"/>
                    </a:lnTo>
                    <a:moveTo>
                      <a:pt x="92964" y="695801"/>
                    </a:moveTo>
                    <a:lnTo>
                      <a:pt x="754380" y="695801"/>
                    </a:lnTo>
                    <a:lnTo>
                      <a:pt x="754380" y="909638"/>
                    </a:lnTo>
                    <a:lnTo>
                      <a:pt x="92964" y="909638"/>
                    </a:lnTo>
                    <a:lnTo>
                      <a:pt x="92964" y="695801"/>
                    </a:lnTo>
                    <a:lnTo>
                      <a:pt x="92964" y="695801"/>
                    </a:lnTo>
                    <a:close/>
                    <a:moveTo>
                      <a:pt x="173069" y="1016413"/>
                    </a:moveTo>
                    <a:lnTo>
                      <a:pt x="369665" y="1016413"/>
                    </a:lnTo>
                    <a:moveTo>
                      <a:pt x="92964" y="909638"/>
                    </a:moveTo>
                    <a:lnTo>
                      <a:pt x="754380" y="909638"/>
                    </a:lnTo>
                    <a:lnTo>
                      <a:pt x="754380" y="1123474"/>
                    </a:lnTo>
                    <a:lnTo>
                      <a:pt x="92964" y="1123474"/>
                    </a:lnTo>
                    <a:lnTo>
                      <a:pt x="92964" y="909638"/>
                    </a:lnTo>
                    <a:lnTo>
                      <a:pt x="92964" y="909638"/>
                    </a:lnTo>
                    <a:close/>
                    <a:moveTo>
                      <a:pt x="462439" y="588836"/>
                    </a:moveTo>
                    <a:cubicBezTo>
                      <a:pt x="462439" y="593598"/>
                      <a:pt x="458629" y="597408"/>
                      <a:pt x="453866" y="597408"/>
                    </a:cubicBezTo>
                    <a:cubicBezTo>
                      <a:pt x="449104" y="597408"/>
                      <a:pt x="445294" y="593598"/>
                      <a:pt x="445294" y="588836"/>
                    </a:cubicBezTo>
                    <a:cubicBezTo>
                      <a:pt x="445294" y="584073"/>
                      <a:pt x="449104" y="580263"/>
                      <a:pt x="453866" y="580263"/>
                    </a:cubicBezTo>
                    <a:cubicBezTo>
                      <a:pt x="458629" y="580263"/>
                      <a:pt x="462439" y="584073"/>
                      <a:pt x="462439" y="588836"/>
                    </a:cubicBezTo>
                    <a:close/>
                    <a:moveTo>
                      <a:pt x="536353" y="580263"/>
                    </a:moveTo>
                    <a:cubicBezTo>
                      <a:pt x="531590" y="580263"/>
                      <a:pt x="527780" y="584073"/>
                      <a:pt x="527780" y="588836"/>
                    </a:cubicBezTo>
                    <a:cubicBezTo>
                      <a:pt x="527780" y="593598"/>
                      <a:pt x="531590" y="597408"/>
                      <a:pt x="536353" y="597408"/>
                    </a:cubicBezTo>
                    <a:cubicBezTo>
                      <a:pt x="541115" y="597408"/>
                      <a:pt x="544925" y="593598"/>
                      <a:pt x="544925" y="588836"/>
                    </a:cubicBezTo>
                    <a:cubicBezTo>
                      <a:pt x="544925" y="584073"/>
                      <a:pt x="541115" y="580263"/>
                      <a:pt x="536353" y="580263"/>
                    </a:cubicBezTo>
                    <a:close/>
                    <a:moveTo>
                      <a:pt x="618934" y="580263"/>
                    </a:moveTo>
                    <a:cubicBezTo>
                      <a:pt x="614172" y="580263"/>
                      <a:pt x="610362" y="584073"/>
                      <a:pt x="610362" y="588836"/>
                    </a:cubicBezTo>
                    <a:cubicBezTo>
                      <a:pt x="610362" y="593598"/>
                      <a:pt x="614172" y="597408"/>
                      <a:pt x="618934" y="597408"/>
                    </a:cubicBezTo>
                    <a:cubicBezTo>
                      <a:pt x="623697" y="597408"/>
                      <a:pt x="627507" y="593598"/>
                      <a:pt x="627507" y="588836"/>
                    </a:cubicBezTo>
                    <a:cubicBezTo>
                      <a:pt x="627507" y="584073"/>
                      <a:pt x="623697" y="580263"/>
                      <a:pt x="618934" y="580263"/>
                    </a:cubicBezTo>
                    <a:close/>
                    <a:moveTo>
                      <a:pt x="462439" y="802672"/>
                    </a:moveTo>
                    <a:cubicBezTo>
                      <a:pt x="462439" y="807434"/>
                      <a:pt x="458629" y="811244"/>
                      <a:pt x="453866" y="811244"/>
                    </a:cubicBezTo>
                    <a:cubicBezTo>
                      <a:pt x="449104" y="811244"/>
                      <a:pt x="445294" y="807434"/>
                      <a:pt x="445294" y="802672"/>
                    </a:cubicBezTo>
                    <a:cubicBezTo>
                      <a:pt x="445294" y="797909"/>
                      <a:pt x="449104" y="794099"/>
                      <a:pt x="453866" y="794099"/>
                    </a:cubicBezTo>
                    <a:cubicBezTo>
                      <a:pt x="458629" y="794099"/>
                      <a:pt x="462439" y="797909"/>
                      <a:pt x="462439" y="802672"/>
                    </a:cubicBezTo>
                    <a:close/>
                    <a:moveTo>
                      <a:pt x="536353" y="794099"/>
                    </a:moveTo>
                    <a:cubicBezTo>
                      <a:pt x="531590" y="794099"/>
                      <a:pt x="527780" y="797909"/>
                      <a:pt x="527780" y="802672"/>
                    </a:cubicBezTo>
                    <a:cubicBezTo>
                      <a:pt x="527780" y="807434"/>
                      <a:pt x="531590" y="811244"/>
                      <a:pt x="536353" y="811244"/>
                    </a:cubicBezTo>
                    <a:cubicBezTo>
                      <a:pt x="541115" y="811244"/>
                      <a:pt x="544925" y="807434"/>
                      <a:pt x="544925" y="802672"/>
                    </a:cubicBezTo>
                    <a:cubicBezTo>
                      <a:pt x="544925" y="797909"/>
                      <a:pt x="541115" y="794099"/>
                      <a:pt x="536353" y="794099"/>
                    </a:cubicBezTo>
                    <a:close/>
                    <a:moveTo>
                      <a:pt x="618934" y="794099"/>
                    </a:moveTo>
                    <a:cubicBezTo>
                      <a:pt x="614172" y="794099"/>
                      <a:pt x="610362" y="797909"/>
                      <a:pt x="610362" y="802672"/>
                    </a:cubicBezTo>
                    <a:cubicBezTo>
                      <a:pt x="610362" y="807434"/>
                      <a:pt x="614172" y="811244"/>
                      <a:pt x="618934" y="811244"/>
                    </a:cubicBezTo>
                    <a:cubicBezTo>
                      <a:pt x="623697" y="811244"/>
                      <a:pt x="627507" y="807434"/>
                      <a:pt x="627507" y="802672"/>
                    </a:cubicBezTo>
                    <a:cubicBezTo>
                      <a:pt x="627507" y="797909"/>
                      <a:pt x="623697" y="794099"/>
                      <a:pt x="618934" y="794099"/>
                    </a:cubicBezTo>
                    <a:close/>
                    <a:moveTo>
                      <a:pt x="462439" y="1016413"/>
                    </a:moveTo>
                    <a:cubicBezTo>
                      <a:pt x="462439" y="1021175"/>
                      <a:pt x="458629" y="1024985"/>
                      <a:pt x="453866" y="1024985"/>
                    </a:cubicBezTo>
                    <a:cubicBezTo>
                      <a:pt x="449104" y="1024985"/>
                      <a:pt x="445294" y="1021175"/>
                      <a:pt x="445294" y="1016413"/>
                    </a:cubicBezTo>
                    <a:cubicBezTo>
                      <a:pt x="445294" y="1011650"/>
                      <a:pt x="449104" y="1007840"/>
                      <a:pt x="453866" y="1007840"/>
                    </a:cubicBezTo>
                    <a:cubicBezTo>
                      <a:pt x="458629" y="1007840"/>
                      <a:pt x="462439" y="1011650"/>
                      <a:pt x="462439" y="1016413"/>
                    </a:cubicBezTo>
                    <a:close/>
                    <a:moveTo>
                      <a:pt x="536353" y="1007840"/>
                    </a:moveTo>
                    <a:cubicBezTo>
                      <a:pt x="531590" y="1007840"/>
                      <a:pt x="527780" y="1011650"/>
                      <a:pt x="527780" y="1016413"/>
                    </a:cubicBezTo>
                    <a:cubicBezTo>
                      <a:pt x="527780" y="1021175"/>
                      <a:pt x="531590" y="1024985"/>
                      <a:pt x="536353" y="1024985"/>
                    </a:cubicBezTo>
                    <a:cubicBezTo>
                      <a:pt x="541115" y="1024985"/>
                      <a:pt x="544925" y="1021175"/>
                      <a:pt x="544925" y="1016413"/>
                    </a:cubicBezTo>
                    <a:cubicBezTo>
                      <a:pt x="544925" y="1011650"/>
                      <a:pt x="541115" y="1007840"/>
                      <a:pt x="536353" y="1007840"/>
                    </a:cubicBezTo>
                    <a:close/>
                    <a:moveTo>
                      <a:pt x="618934" y="1007840"/>
                    </a:moveTo>
                    <a:cubicBezTo>
                      <a:pt x="614172" y="1007840"/>
                      <a:pt x="610362" y="1011650"/>
                      <a:pt x="610362" y="1016413"/>
                    </a:cubicBezTo>
                    <a:cubicBezTo>
                      <a:pt x="610362" y="1021175"/>
                      <a:pt x="614172" y="1024985"/>
                      <a:pt x="618934" y="1024985"/>
                    </a:cubicBezTo>
                    <a:cubicBezTo>
                      <a:pt x="623697" y="1024985"/>
                      <a:pt x="627507" y="1021175"/>
                      <a:pt x="627507" y="1016413"/>
                    </a:cubicBezTo>
                    <a:cubicBezTo>
                      <a:pt x="627507" y="1011650"/>
                      <a:pt x="623697" y="1007840"/>
                      <a:pt x="618934" y="1007840"/>
                    </a:cubicBezTo>
                    <a:close/>
                  </a:path>
                </a:pathLst>
              </a:custGeom>
              <a:grpFill/>
              <a:ln w="19050" cap="flat">
                <a:solidFill>
                  <a:srgbClr val="000000"/>
                </a:solidFill>
                <a:prstDash val="solid"/>
                <a:miter/>
              </a:ln>
            </p:spPr>
            <p:txBody>
              <a:bodyPr/>
              <a:lstStyle/>
              <a:p>
                <a:endParaRPr lang="en-US"/>
              </a:p>
            </p:txBody>
          </p:sp>
          <p:sp>
            <p:nvSpPr>
              <p:cNvPr id="146" name="Freeform: Shape 2145">
                <a:extLst>
                  <a:ext uri="{FF2B5EF4-FFF2-40B4-BE49-F238E27FC236}">
                    <a16:creationId xmlns:a16="http://schemas.microsoft.com/office/drawing/2014/main" id="{B479264A-6E7D-3B99-C298-FDB1D0933ED2}"/>
                  </a:ext>
                </a:extLst>
              </p:cNvPr>
              <p:cNvSpPr/>
              <p:nvPr/>
            </p:nvSpPr>
            <p:spPr>
              <a:xfrm>
                <a:off x="3915783" y="5783655"/>
                <a:ext cx="1011845" cy="4299"/>
              </a:xfrm>
              <a:custGeom>
                <a:avLst/>
                <a:gdLst>
                  <a:gd name="csX0" fmla="*/ 0 w 2242089"/>
                  <a:gd name="csY0" fmla="*/ 0 h 9525"/>
                  <a:gd name="csX1" fmla="*/ 2242090 w 2242089"/>
                  <a:gd name="csY1" fmla="*/ 0 h 9525"/>
                </a:gdLst>
                <a:ahLst/>
                <a:cxnLst>
                  <a:cxn ang="0">
                    <a:pos x="csX0" y="csY0"/>
                  </a:cxn>
                  <a:cxn ang="0">
                    <a:pos x="csX1" y="csY1"/>
                  </a:cxn>
                </a:cxnLst>
                <a:rect l="l" t="t" r="r" b="b"/>
                <a:pathLst>
                  <a:path w="2242089" h="9525">
                    <a:moveTo>
                      <a:pt x="0" y="0"/>
                    </a:moveTo>
                    <a:lnTo>
                      <a:pt x="2242090" y="0"/>
                    </a:lnTo>
                  </a:path>
                </a:pathLst>
              </a:custGeom>
              <a:grpFill/>
              <a:ln w="31750" cap="flat">
                <a:solidFill>
                  <a:srgbClr val="000000"/>
                </a:solidFill>
                <a:prstDash val="solid"/>
                <a:miter/>
              </a:ln>
            </p:spPr>
            <p:txBody>
              <a:bodyPr/>
              <a:lstStyle/>
              <a:p>
                <a:endParaRPr lang="en-US"/>
              </a:p>
            </p:txBody>
          </p:sp>
        </p:grpSp>
      </p:grpSp>
      <p:sp>
        <p:nvSpPr>
          <p:cNvPr id="2" name="Title 1">
            <a:extLst>
              <a:ext uri="{FF2B5EF4-FFF2-40B4-BE49-F238E27FC236}">
                <a16:creationId xmlns:a16="http://schemas.microsoft.com/office/drawing/2014/main" id="{53218BD4-0509-EF00-037C-9A660E7D07ED}"/>
              </a:ext>
            </a:extLst>
          </p:cNvPr>
          <p:cNvSpPr>
            <a:spLocks noGrp="1"/>
          </p:cNvSpPr>
          <p:nvPr>
            <p:ph type="title"/>
          </p:nvPr>
        </p:nvSpPr>
        <p:spPr/>
        <p:txBody>
          <a:bodyPr/>
          <a:lstStyle/>
          <a:p>
            <a:r>
              <a:rPr lang="en-US" dirty="0"/>
              <a:t>Extend Your Datacenter Instantly </a:t>
            </a:r>
          </a:p>
        </p:txBody>
      </p:sp>
      <p:cxnSp>
        <p:nvCxnSpPr>
          <p:cNvPr id="69" name="Straight Connector 68">
            <a:extLst>
              <a:ext uri="{FF2B5EF4-FFF2-40B4-BE49-F238E27FC236}">
                <a16:creationId xmlns:a16="http://schemas.microsoft.com/office/drawing/2014/main" id="{930D0F1C-48E0-DA41-5C20-EBEE49CBB428}"/>
              </a:ext>
            </a:extLst>
          </p:cNvPr>
          <p:cNvCxnSpPr>
            <a:cxnSpLocks/>
          </p:cNvCxnSpPr>
          <p:nvPr/>
        </p:nvCxnSpPr>
        <p:spPr>
          <a:xfrm>
            <a:off x="8473077" y="3408768"/>
            <a:ext cx="1253557"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22914153-597E-7932-974E-FC358B4C0DB4}"/>
              </a:ext>
            </a:extLst>
          </p:cNvPr>
          <p:cNvSpPr txBox="1"/>
          <p:nvPr/>
        </p:nvSpPr>
        <p:spPr>
          <a:xfrm>
            <a:off x="5524173" y="3408768"/>
            <a:ext cx="1180472" cy="276999"/>
          </a:xfrm>
          <a:prstGeom prst="rect">
            <a:avLst/>
          </a:prstGeom>
          <a:noFill/>
        </p:spPr>
        <p:txBody>
          <a:bodyPr wrap="square" rtlCol="0">
            <a:spAutoFit/>
          </a:bodyPr>
          <a:lstStyle/>
          <a:p>
            <a:pPr algn="ctr"/>
            <a:r>
              <a:rPr lang="en-US" sz="1200">
                <a:solidFill>
                  <a:schemeClr val="accent1"/>
                </a:solidFill>
                <a:latin typeface="+mj-lt"/>
              </a:rPr>
              <a:t>Fiber</a:t>
            </a:r>
          </a:p>
        </p:txBody>
      </p:sp>
      <p:sp>
        <p:nvSpPr>
          <p:cNvPr id="117" name="TextBox 116">
            <a:extLst>
              <a:ext uri="{FF2B5EF4-FFF2-40B4-BE49-F238E27FC236}">
                <a16:creationId xmlns:a16="http://schemas.microsoft.com/office/drawing/2014/main" id="{39A14E62-FE11-96C9-F861-9D1458973320}"/>
              </a:ext>
            </a:extLst>
          </p:cNvPr>
          <p:cNvSpPr txBox="1"/>
          <p:nvPr/>
        </p:nvSpPr>
        <p:spPr>
          <a:xfrm>
            <a:off x="5519774" y="2316632"/>
            <a:ext cx="1180472" cy="276999"/>
          </a:xfrm>
          <a:prstGeom prst="rect">
            <a:avLst/>
          </a:prstGeom>
          <a:noFill/>
        </p:spPr>
        <p:txBody>
          <a:bodyPr wrap="square" rtlCol="0">
            <a:spAutoFit/>
          </a:bodyPr>
          <a:lstStyle/>
          <a:p>
            <a:pPr algn="ctr"/>
            <a:r>
              <a:rPr lang="en-US" sz="1200">
                <a:latin typeface="+mj-lt"/>
              </a:rPr>
              <a:t>DIA</a:t>
            </a:r>
          </a:p>
        </p:txBody>
      </p:sp>
      <p:grpSp>
        <p:nvGrpSpPr>
          <p:cNvPr id="114" name="Group 113">
            <a:extLst>
              <a:ext uri="{FF2B5EF4-FFF2-40B4-BE49-F238E27FC236}">
                <a16:creationId xmlns:a16="http://schemas.microsoft.com/office/drawing/2014/main" id="{C178997D-D411-80DF-8C50-939065B4D0D7}"/>
              </a:ext>
            </a:extLst>
          </p:cNvPr>
          <p:cNvGrpSpPr/>
          <p:nvPr/>
        </p:nvGrpSpPr>
        <p:grpSpPr>
          <a:xfrm>
            <a:off x="4825324" y="2986613"/>
            <a:ext cx="2489680" cy="439318"/>
            <a:chOff x="4806915" y="2159543"/>
            <a:chExt cx="2489680" cy="439318"/>
          </a:xfrm>
        </p:grpSpPr>
        <p:cxnSp>
          <p:nvCxnSpPr>
            <p:cNvPr id="72" name="Straight Connector 71">
              <a:extLst>
                <a:ext uri="{FF2B5EF4-FFF2-40B4-BE49-F238E27FC236}">
                  <a16:creationId xmlns:a16="http://schemas.microsoft.com/office/drawing/2014/main" id="{18C4A044-89F9-F800-130B-9ED6AE0CA04F}"/>
                </a:ext>
              </a:extLst>
            </p:cNvPr>
            <p:cNvCxnSpPr>
              <a:cxnSpLocks/>
            </p:cNvCxnSpPr>
            <p:nvPr/>
          </p:nvCxnSpPr>
          <p:spPr>
            <a:xfrm>
              <a:off x="4806915" y="2598861"/>
              <a:ext cx="2489680"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91B5D27-8F26-C7DB-2B6E-4B4158B26B7C}"/>
                </a:ext>
              </a:extLst>
            </p:cNvPr>
            <p:cNvCxnSpPr>
              <a:cxnSpLocks/>
            </p:cNvCxnSpPr>
            <p:nvPr/>
          </p:nvCxnSpPr>
          <p:spPr>
            <a:xfrm flipV="1">
              <a:off x="4816989" y="2168719"/>
              <a:ext cx="943821" cy="39843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9982352-A466-1A0B-0EDD-64138AC93CA1}"/>
                </a:ext>
              </a:extLst>
            </p:cNvPr>
            <p:cNvCxnSpPr>
              <a:cxnSpLocks/>
            </p:cNvCxnSpPr>
            <p:nvPr/>
          </p:nvCxnSpPr>
          <p:spPr>
            <a:xfrm flipH="1" flipV="1">
              <a:off x="6442666" y="2159543"/>
              <a:ext cx="843624" cy="40761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105" name="Graphic 104" descr="Syncing cloud outline">
            <a:extLst>
              <a:ext uri="{FF2B5EF4-FFF2-40B4-BE49-F238E27FC236}">
                <a16:creationId xmlns:a16="http://schemas.microsoft.com/office/drawing/2014/main" id="{9EAE1563-CF1E-6417-6D81-F20FB27010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8625" y="2392046"/>
            <a:ext cx="800272" cy="800272"/>
          </a:xfrm>
          <a:prstGeom prst="rect">
            <a:avLst/>
          </a:prstGeom>
        </p:spPr>
      </p:pic>
      <p:grpSp>
        <p:nvGrpSpPr>
          <p:cNvPr id="137" name="Group 136">
            <a:extLst>
              <a:ext uri="{FF2B5EF4-FFF2-40B4-BE49-F238E27FC236}">
                <a16:creationId xmlns:a16="http://schemas.microsoft.com/office/drawing/2014/main" id="{94BF9779-BAE2-04E7-0E89-F6373F9C1E60}"/>
              </a:ext>
            </a:extLst>
          </p:cNvPr>
          <p:cNvGrpSpPr/>
          <p:nvPr/>
        </p:nvGrpSpPr>
        <p:grpSpPr>
          <a:xfrm>
            <a:off x="2110153" y="2999137"/>
            <a:ext cx="1592837" cy="883569"/>
            <a:chOff x="2230497" y="2540859"/>
            <a:chExt cx="1440435" cy="1052521"/>
          </a:xfrm>
        </p:grpSpPr>
        <p:cxnSp>
          <p:nvCxnSpPr>
            <p:cNvPr id="126" name="Straight Connector 125">
              <a:extLst>
                <a:ext uri="{FF2B5EF4-FFF2-40B4-BE49-F238E27FC236}">
                  <a16:creationId xmlns:a16="http://schemas.microsoft.com/office/drawing/2014/main" id="{567B4B39-5EB1-F16A-38B8-038714FC87D8}"/>
                </a:ext>
              </a:extLst>
            </p:cNvPr>
            <p:cNvCxnSpPr>
              <a:cxnSpLocks/>
            </p:cNvCxnSpPr>
            <p:nvPr/>
          </p:nvCxnSpPr>
          <p:spPr>
            <a:xfrm flipV="1">
              <a:off x="2230497" y="3093921"/>
              <a:ext cx="1426683" cy="499459"/>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A97E239-E5E9-8C2D-0464-C59BF2E6419F}"/>
                </a:ext>
              </a:extLst>
            </p:cNvPr>
            <p:cNvCxnSpPr>
              <a:cxnSpLocks/>
            </p:cNvCxnSpPr>
            <p:nvPr/>
          </p:nvCxnSpPr>
          <p:spPr>
            <a:xfrm>
              <a:off x="2230497" y="2540859"/>
              <a:ext cx="1440435" cy="553062"/>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80" name="Group 79">
            <a:extLst>
              <a:ext uri="{FF2B5EF4-FFF2-40B4-BE49-F238E27FC236}">
                <a16:creationId xmlns:a16="http://schemas.microsoft.com/office/drawing/2014/main" id="{D91186C2-49A2-6788-3989-0CC1FD6DCE35}"/>
              </a:ext>
            </a:extLst>
          </p:cNvPr>
          <p:cNvGrpSpPr/>
          <p:nvPr/>
        </p:nvGrpSpPr>
        <p:grpSpPr>
          <a:xfrm>
            <a:off x="1200499" y="2365293"/>
            <a:ext cx="1353746" cy="837955"/>
            <a:chOff x="759667" y="1993211"/>
            <a:chExt cx="1353746" cy="837955"/>
          </a:xfrm>
        </p:grpSpPr>
        <p:sp>
          <p:nvSpPr>
            <p:cNvPr id="86" name="TextBox 85">
              <a:extLst>
                <a:ext uri="{FF2B5EF4-FFF2-40B4-BE49-F238E27FC236}">
                  <a16:creationId xmlns:a16="http://schemas.microsoft.com/office/drawing/2014/main" id="{A237D1AB-45A7-7719-21E0-67A4189FA0B4}"/>
                </a:ext>
              </a:extLst>
            </p:cNvPr>
            <p:cNvSpPr txBox="1"/>
            <p:nvPr/>
          </p:nvSpPr>
          <p:spPr>
            <a:xfrm>
              <a:off x="759667" y="1993211"/>
              <a:ext cx="1353746" cy="276999"/>
            </a:xfrm>
            <a:prstGeom prst="rect">
              <a:avLst/>
            </a:prstGeom>
            <a:noFill/>
          </p:spPr>
          <p:txBody>
            <a:bodyPr wrap="square" rtlCol="0">
              <a:spAutoFit/>
            </a:bodyPr>
            <a:lstStyle/>
            <a:p>
              <a:pPr algn="ctr"/>
              <a:r>
                <a:rPr lang="en-US" sz="1200" dirty="0">
                  <a:latin typeface="+mj-lt"/>
                </a:rPr>
                <a:t>Tenant 1</a:t>
              </a:r>
            </a:p>
          </p:txBody>
        </p:sp>
        <p:grpSp>
          <p:nvGrpSpPr>
            <p:cNvPr id="3" name="Building Icon">
              <a:extLst>
                <a:ext uri="{FF2B5EF4-FFF2-40B4-BE49-F238E27FC236}">
                  <a16:creationId xmlns:a16="http://schemas.microsoft.com/office/drawing/2014/main" id="{A31EF2A3-A34E-5BCA-26DC-1046282C7168}"/>
                </a:ext>
              </a:extLst>
            </p:cNvPr>
            <p:cNvGrpSpPr/>
            <p:nvPr/>
          </p:nvGrpSpPr>
          <p:grpSpPr>
            <a:xfrm>
              <a:off x="1182709" y="2282573"/>
              <a:ext cx="512610" cy="548593"/>
              <a:chOff x="6614921" y="2562225"/>
              <a:chExt cx="1614677" cy="1728025"/>
            </a:xfrm>
            <a:noFill/>
          </p:grpSpPr>
          <p:sp>
            <p:nvSpPr>
              <p:cNvPr id="7" name="Freeform: Shape 2129">
                <a:extLst>
                  <a:ext uri="{FF2B5EF4-FFF2-40B4-BE49-F238E27FC236}">
                    <a16:creationId xmlns:a16="http://schemas.microsoft.com/office/drawing/2014/main" id="{484AB663-8C99-ABAE-83F4-E9B037774C42}"/>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8" name="Freeform: Shape 2130">
                <a:extLst>
                  <a:ext uri="{FF2B5EF4-FFF2-40B4-BE49-F238E27FC236}">
                    <a16:creationId xmlns:a16="http://schemas.microsoft.com/office/drawing/2014/main" id="{F81B6F18-B17D-78D8-F1F7-7C9596209CAD}"/>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grpSp>
        <p:nvGrpSpPr>
          <p:cNvPr id="81" name="Group 80">
            <a:extLst>
              <a:ext uri="{FF2B5EF4-FFF2-40B4-BE49-F238E27FC236}">
                <a16:creationId xmlns:a16="http://schemas.microsoft.com/office/drawing/2014/main" id="{B87C95C7-5F32-2D3F-FAFE-8D5E908CA3E0}"/>
              </a:ext>
            </a:extLst>
          </p:cNvPr>
          <p:cNvGrpSpPr/>
          <p:nvPr/>
        </p:nvGrpSpPr>
        <p:grpSpPr>
          <a:xfrm>
            <a:off x="1146359" y="3479289"/>
            <a:ext cx="1462027" cy="803810"/>
            <a:chOff x="705527" y="3500831"/>
            <a:chExt cx="1462027" cy="803810"/>
          </a:xfrm>
        </p:grpSpPr>
        <p:sp>
          <p:nvSpPr>
            <p:cNvPr id="85" name="TextBox 84">
              <a:extLst>
                <a:ext uri="{FF2B5EF4-FFF2-40B4-BE49-F238E27FC236}">
                  <a16:creationId xmlns:a16="http://schemas.microsoft.com/office/drawing/2014/main" id="{083D4A60-66AB-4A91-B715-01E84E7B00BB}"/>
                </a:ext>
              </a:extLst>
            </p:cNvPr>
            <p:cNvSpPr txBox="1"/>
            <p:nvPr/>
          </p:nvSpPr>
          <p:spPr>
            <a:xfrm>
              <a:off x="705527" y="4027642"/>
              <a:ext cx="1462027" cy="276999"/>
            </a:xfrm>
            <a:prstGeom prst="rect">
              <a:avLst/>
            </a:prstGeom>
            <a:noFill/>
          </p:spPr>
          <p:txBody>
            <a:bodyPr wrap="square" rtlCol="0">
              <a:spAutoFit/>
            </a:bodyPr>
            <a:lstStyle/>
            <a:p>
              <a:pPr algn="ctr"/>
              <a:r>
                <a:rPr lang="en-US" sz="1200" dirty="0">
                  <a:latin typeface="+mj-lt"/>
                </a:rPr>
                <a:t>Tenant 2</a:t>
              </a:r>
            </a:p>
          </p:txBody>
        </p:sp>
        <p:grpSp>
          <p:nvGrpSpPr>
            <p:cNvPr id="21" name="Building Icon">
              <a:extLst>
                <a:ext uri="{FF2B5EF4-FFF2-40B4-BE49-F238E27FC236}">
                  <a16:creationId xmlns:a16="http://schemas.microsoft.com/office/drawing/2014/main" id="{2BE90F9A-C8DA-AAD7-855F-2F0124D05D84}"/>
                </a:ext>
              </a:extLst>
            </p:cNvPr>
            <p:cNvGrpSpPr/>
            <p:nvPr/>
          </p:nvGrpSpPr>
          <p:grpSpPr>
            <a:xfrm>
              <a:off x="1182709" y="3500831"/>
              <a:ext cx="512610" cy="548593"/>
              <a:chOff x="6614921" y="2562225"/>
              <a:chExt cx="1614677" cy="1728025"/>
            </a:xfrm>
            <a:noFill/>
          </p:grpSpPr>
          <p:sp>
            <p:nvSpPr>
              <p:cNvPr id="22" name="Freeform: Shape 2129">
                <a:extLst>
                  <a:ext uri="{FF2B5EF4-FFF2-40B4-BE49-F238E27FC236}">
                    <a16:creationId xmlns:a16="http://schemas.microsoft.com/office/drawing/2014/main" id="{41EBC884-5846-7054-61A5-8F20E51DCED7}"/>
                  </a:ext>
                </a:extLst>
              </p:cNvPr>
              <p:cNvSpPr/>
              <p:nvPr/>
            </p:nvSpPr>
            <p:spPr>
              <a:xfrm>
                <a:off x="6757796" y="2562225"/>
                <a:ext cx="1328927" cy="1728025"/>
              </a:xfrm>
              <a:custGeom>
                <a:avLst/>
                <a:gdLst>
                  <a:gd name="csX0" fmla="*/ 136684 w 1328927"/>
                  <a:gd name="csY0" fmla="*/ 425958 h 1728025"/>
                  <a:gd name="csX1" fmla="*/ 136684 w 1328927"/>
                  <a:gd name="csY1" fmla="*/ 266224 h 1728025"/>
                  <a:gd name="csX2" fmla="*/ 214408 w 1328927"/>
                  <a:gd name="csY2" fmla="*/ 266224 h 1728025"/>
                  <a:gd name="csX3" fmla="*/ 368046 w 1328927"/>
                  <a:gd name="csY3" fmla="*/ 266224 h 1728025"/>
                  <a:gd name="csX4" fmla="*/ 290322 w 1328927"/>
                  <a:gd name="csY4" fmla="*/ 266224 h 1728025"/>
                  <a:gd name="csX5" fmla="*/ 290322 w 1328927"/>
                  <a:gd name="csY5" fmla="*/ 425958 h 1728025"/>
                  <a:gd name="csX6" fmla="*/ 1051465 w 1328927"/>
                  <a:gd name="csY6" fmla="*/ 266224 h 1728025"/>
                  <a:gd name="csX7" fmla="*/ 973741 w 1328927"/>
                  <a:gd name="csY7" fmla="*/ 266224 h 1728025"/>
                  <a:gd name="csX8" fmla="*/ 973741 w 1328927"/>
                  <a:gd name="csY8" fmla="*/ 425958 h 1728025"/>
                  <a:gd name="csX9" fmla="*/ 1199007 w 1328927"/>
                  <a:gd name="csY9" fmla="*/ 266224 h 1728025"/>
                  <a:gd name="csX10" fmla="*/ 1121283 w 1328927"/>
                  <a:gd name="csY10" fmla="*/ 266224 h 1728025"/>
                  <a:gd name="csX11" fmla="*/ 1121283 w 1328927"/>
                  <a:gd name="csY11" fmla="*/ 425958 h 1728025"/>
                  <a:gd name="csX12" fmla="*/ 707517 w 1328927"/>
                  <a:gd name="csY12" fmla="*/ 266224 h 1728025"/>
                  <a:gd name="csX13" fmla="*/ 629793 w 1328927"/>
                  <a:gd name="csY13" fmla="*/ 266224 h 1728025"/>
                  <a:gd name="csX14" fmla="*/ 629793 w 1328927"/>
                  <a:gd name="csY14" fmla="*/ 425958 h 1728025"/>
                  <a:gd name="csX15" fmla="*/ 559975 w 1328927"/>
                  <a:gd name="csY15" fmla="*/ 266224 h 1728025"/>
                  <a:gd name="csX16" fmla="*/ 482251 w 1328927"/>
                  <a:gd name="csY16" fmla="*/ 266224 h 1728025"/>
                  <a:gd name="csX17" fmla="*/ 482251 w 1328927"/>
                  <a:gd name="csY17" fmla="*/ 425958 h 1728025"/>
                  <a:gd name="csX18" fmla="*/ 859536 w 1328927"/>
                  <a:gd name="csY18" fmla="*/ 266224 h 1728025"/>
                  <a:gd name="csX19" fmla="*/ 781812 w 1328927"/>
                  <a:gd name="csY19" fmla="*/ 266224 h 1728025"/>
                  <a:gd name="csX20" fmla="*/ 781812 w 1328927"/>
                  <a:gd name="csY20" fmla="*/ 425958 h 1728025"/>
                  <a:gd name="csX21" fmla="*/ 136684 w 1328927"/>
                  <a:gd name="csY21" fmla="*/ 664845 h 1728025"/>
                  <a:gd name="csX22" fmla="*/ 136684 w 1328927"/>
                  <a:gd name="csY22" fmla="*/ 505111 h 1728025"/>
                  <a:gd name="csX23" fmla="*/ 214408 w 1328927"/>
                  <a:gd name="csY23" fmla="*/ 505111 h 1728025"/>
                  <a:gd name="csX24" fmla="*/ 368046 w 1328927"/>
                  <a:gd name="csY24" fmla="*/ 505016 h 1728025"/>
                  <a:gd name="csX25" fmla="*/ 290322 w 1328927"/>
                  <a:gd name="csY25" fmla="*/ 505016 h 1728025"/>
                  <a:gd name="csX26" fmla="*/ 290322 w 1328927"/>
                  <a:gd name="csY26" fmla="*/ 664750 h 1728025"/>
                  <a:gd name="csX27" fmla="*/ 1051465 w 1328927"/>
                  <a:gd name="csY27" fmla="*/ 505016 h 1728025"/>
                  <a:gd name="csX28" fmla="*/ 973741 w 1328927"/>
                  <a:gd name="csY28" fmla="*/ 505016 h 1728025"/>
                  <a:gd name="csX29" fmla="*/ 973741 w 1328927"/>
                  <a:gd name="csY29" fmla="*/ 664750 h 1728025"/>
                  <a:gd name="csX30" fmla="*/ 1199007 w 1328927"/>
                  <a:gd name="csY30" fmla="*/ 505016 h 1728025"/>
                  <a:gd name="csX31" fmla="*/ 1121283 w 1328927"/>
                  <a:gd name="csY31" fmla="*/ 505016 h 1728025"/>
                  <a:gd name="csX32" fmla="*/ 1121283 w 1328927"/>
                  <a:gd name="csY32" fmla="*/ 664750 h 1728025"/>
                  <a:gd name="csX33" fmla="*/ 707517 w 1328927"/>
                  <a:gd name="csY33" fmla="*/ 505016 h 1728025"/>
                  <a:gd name="csX34" fmla="*/ 629793 w 1328927"/>
                  <a:gd name="csY34" fmla="*/ 505016 h 1728025"/>
                  <a:gd name="csX35" fmla="*/ 629793 w 1328927"/>
                  <a:gd name="csY35" fmla="*/ 664750 h 1728025"/>
                  <a:gd name="csX36" fmla="*/ 559975 w 1328927"/>
                  <a:gd name="csY36" fmla="*/ 505016 h 1728025"/>
                  <a:gd name="csX37" fmla="*/ 482251 w 1328927"/>
                  <a:gd name="csY37" fmla="*/ 505016 h 1728025"/>
                  <a:gd name="csX38" fmla="*/ 482251 w 1328927"/>
                  <a:gd name="csY38" fmla="*/ 664750 h 1728025"/>
                  <a:gd name="csX39" fmla="*/ 859536 w 1328927"/>
                  <a:gd name="csY39" fmla="*/ 505016 h 1728025"/>
                  <a:gd name="csX40" fmla="*/ 781812 w 1328927"/>
                  <a:gd name="csY40" fmla="*/ 505016 h 1728025"/>
                  <a:gd name="csX41" fmla="*/ 781812 w 1328927"/>
                  <a:gd name="csY41" fmla="*/ 664750 h 1728025"/>
                  <a:gd name="csX42" fmla="*/ 136684 w 1328927"/>
                  <a:gd name="csY42" fmla="*/ 903637 h 1728025"/>
                  <a:gd name="csX43" fmla="*/ 136684 w 1328927"/>
                  <a:gd name="csY43" fmla="*/ 743903 h 1728025"/>
                  <a:gd name="csX44" fmla="*/ 214408 w 1328927"/>
                  <a:gd name="csY44" fmla="*/ 743903 h 1728025"/>
                  <a:gd name="csX45" fmla="*/ 368046 w 1328927"/>
                  <a:gd name="csY45" fmla="*/ 743903 h 1728025"/>
                  <a:gd name="csX46" fmla="*/ 290322 w 1328927"/>
                  <a:gd name="csY46" fmla="*/ 743903 h 1728025"/>
                  <a:gd name="csX47" fmla="*/ 290322 w 1328927"/>
                  <a:gd name="csY47" fmla="*/ 903637 h 1728025"/>
                  <a:gd name="csX48" fmla="*/ 1051465 w 1328927"/>
                  <a:gd name="csY48" fmla="*/ 743903 h 1728025"/>
                  <a:gd name="csX49" fmla="*/ 973741 w 1328927"/>
                  <a:gd name="csY49" fmla="*/ 743903 h 1728025"/>
                  <a:gd name="csX50" fmla="*/ 973741 w 1328927"/>
                  <a:gd name="csY50" fmla="*/ 903637 h 1728025"/>
                  <a:gd name="csX51" fmla="*/ 1199007 w 1328927"/>
                  <a:gd name="csY51" fmla="*/ 743903 h 1728025"/>
                  <a:gd name="csX52" fmla="*/ 1121283 w 1328927"/>
                  <a:gd name="csY52" fmla="*/ 743903 h 1728025"/>
                  <a:gd name="csX53" fmla="*/ 1121283 w 1328927"/>
                  <a:gd name="csY53" fmla="*/ 903637 h 1728025"/>
                  <a:gd name="csX54" fmla="*/ 707517 w 1328927"/>
                  <a:gd name="csY54" fmla="*/ 743903 h 1728025"/>
                  <a:gd name="csX55" fmla="*/ 629793 w 1328927"/>
                  <a:gd name="csY55" fmla="*/ 743903 h 1728025"/>
                  <a:gd name="csX56" fmla="*/ 629793 w 1328927"/>
                  <a:gd name="csY56" fmla="*/ 903637 h 1728025"/>
                  <a:gd name="csX57" fmla="*/ 559975 w 1328927"/>
                  <a:gd name="csY57" fmla="*/ 743903 h 1728025"/>
                  <a:gd name="csX58" fmla="*/ 482251 w 1328927"/>
                  <a:gd name="csY58" fmla="*/ 743903 h 1728025"/>
                  <a:gd name="csX59" fmla="*/ 482251 w 1328927"/>
                  <a:gd name="csY59" fmla="*/ 903637 h 1728025"/>
                  <a:gd name="csX60" fmla="*/ 859536 w 1328927"/>
                  <a:gd name="csY60" fmla="*/ 743903 h 1728025"/>
                  <a:gd name="csX61" fmla="*/ 781812 w 1328927"/>
                  <a:gd name="csY61" fmla="*/ 743903 h 1728025"/>
                  <a:gd name="csX62" fmla="*/ 781812 w 1328927"/>
                  <a:gd name="csY62" fmla="*/ 903637 h 1728025"/>
                  <a:gd name="csX63" fmla="*/ 136684 w 1328927"/>
                  <a:gd name="csY63" fmla="*/ 1142524 h 1728025"/>
                  <a:gd name="csX64" fmla="*/ 136684 w 1328927"/>
                  <a:gd name="csY64" fmla="*/ 982790 h 1728025"/>
                  <a:gd name="csX65" fmla="*/ 214408 w 1328927"/>
                  <a:gd name="csY65" fmla="*/ 982790 h 1728025"/>
                  <a:gd name="csX66" fmla="*/ 368046 w 1328927"/>
                  <a:gd name="csY66" fmla="*/ 982790 h 1728025"/>
                  <a:gd name="csX67" fmla="*/ 290322 w 1328927"/>
                  <a:gd name="csY67" fmla="*/ 982790 h 1728025"/>
                  <a:gd name="csX68" fmla="*/ 290322 w 1328927"/>
                  <a:gd name="csY68" fmla="*/ 1142524 h 1728025"/>
                  <a:gd name="csX69" fmla="*/ 1051465 w 1328927"/>
                  <a:gd name="csY69" fmla="*/ 982790 h 1728025"/>
                  <a:gd name="csX70" fmla="*/ 973741 w 1328927"/>
                  <a:gd name="csY70" fmla="*/ 982790 h 1728025"/>
                  <a:gd name="csX71" fmla="*/ 973741 w 1328927"/>
                  <a:gd name="csY71" fmla="*/ 1142524 h 1728025"/>
                  <a:gd name="csX72" fmla="*/ 1199007 w 1328927"/>
                  <a:gd name="csY72" fmla="*/ 982790 h 1728025"/>
                  <a:gd name="csX73" fmla="*/ 1121283 w 1328927"/>
                  <a:gd name="csY73" fmla="*/ 982790 h 1728025"/>
                  <a:gd name="csX74" fmla="*/ 1121283 w 1328927"/>
                  <a:gd name="csY74" fmla="*/ 1142524 h 1728025"/>
                  <a:gd name="csX75" fmla="*/ 707517 w 1328927"/>
                  <a:gd name="csY75" fmla="*/ 982790 h 1728025"/>
                  <a:gd name="csX76" fmla="*/ 629793 w 1328927"/>
                  <a:gd name="csY76" fmla="*/ 982790 h 1728025"/>
                  <a:gd name="csX77" fmla="*/ 629793 w 1328927"/>
                  <a:gd name="csY77" fmla="*/ 1142524 h 1728025"/>
                  <a:gd name="csX78" fmla="*/ 559975 w 1328927"/>
                  <a:gd name="csY78" fmla="*/ 982790 h 1728025"/>
                  <a:gd name="csX79" fmla="*/ 482251 w 1328927"/>
                  <a:gd name="csY79" fmla="*/ 982790 h 1728025"/>
                  <a:gd name="csX80" fmla="*/ 482251 w 1328927"/>
                  <a:gd name="csY80" fmla="*/ 1142524 h 1728025"/>
                  <a:gd name="csX81" fmla="*/ 859536 w 1328927"/>
                  <a:gd name="csY81" fmla="*/ 982790 h 1728025"/>
                  <a:gd name="csX82" fmla="*/ 781812 w 1328927"/>
                  <a:gd name="csY82" fmla="*/ 982790 h 1728025"/>
                  <a:gd name="csX83" fmla="*/ 781812 w 1328927"/>
                  <a:gd name="csY83" fmla="*/ 1142524 h 1728025"/>
                  <a:gd name="csX84" fmla="*/ 136684 w 1328927"/>
                  <a:gd name="csY84" fmla="*/ 1381316 h 1728025"/>
                  <a:gd name="csX85" fmla="*/ 136684 w 1328927"/>
                  <a:gd name="csY85" fmla="*/ 1221581 h 1728025"/>
                  <a:gd name="csX86" fmla="*/ 214408 w 1328927"/>
                  <a:gd name="csY86" fmla="*/ 1221581 h 1728025"/>
                  <a:gd name="csX87" fmla="*/ 368046 w 1328927"/>
                  <a:gd name="csY87" fmla="*/ 1221581 h 1728025"/>
                  <a:gd name="csX88" fmla="*/ 290322 w 1328927"/>
                  <a:gd name="csY88" fmla="*/ 1221581 h 1728025"/>
                  <a:gd name="csX89" fmla="*/ 290322 w 1328927"/>
                  <a:gd name="csY89" fmla="*/ 1381316 h 1728025"/>
                  <a:gd name="csX90" fmla="*/ 1051465 w 1328927"/>
                  <a:gd name="csY90" fmla="*/ 1221581 h 1728025"/>
                  <a:gd name="csX91" fmla="*/ 973741 w 1328927"/>
                  <a:gd name="csY91" fmla="*/ 1221581 h 1728025"/>
                  <a:gd name="csX92" fmla="*/ 973741 w 1328927"/>
                  <a:gd name="csY92" fmla="*/ 1381316 h 1728025"/>
                  <a:gd name="csX93" fmla="*/ 1199007 w 1328927"/>
                  <a:gd name="csY93" fmla="*/ 1221581 h 1728025"/>
                  <a:gd name="csX94" fmla="*/ 1121283 w 1328927"/>
                  <a:gd name="csY94" fmla="*/ 1221581 h 1728025"/>
                  <a:gd name="csX95" fmla="*/ 1121283 w 1328927"/>
                  <a:gd name="csY95" fmla="*/ 1381316 h 1728025"/>
                  <a:gd name="csX96" fmla="*/ 707517 w 1328927"/>
                  <a:gd name="csY96" fmla="*/ 1221581 h 1728025"/>
                  <a:gd name="csX97" fmla="*/ 629793 w 1328927"/>
                  <a:gd name="csY97" fmla="*/ 1221581 h 1728025"/>
                  <a:gd name="csX98" fmla="*/ 629793 w 1328927"/>
                  <a:gd name="csY98" fmla="*/ 1381316 h 1728025"/>
                  <a:gd name="csX99" fmla="*/ 559975 w 1328927"/>
                  <a:gd name="csY99" fmla="*/ 1221581 h 1728025"/>
                  <a:gd name="csX100" fmla="*/ 482251 w 1328927"/>
                  <a:gd name="csY100" fmla="*/ 1221581 h 1728025"/>
                  <a:gd name="csX101" fmla="*/ 482251 w 1328927"/>
                  <a:gd name="csY101" fmla="*/ 1381316 h 1728025"/>
                  <a:gd name="csX102" fmla="*/ 859536 w 1328927"/>
                  <a:gd name="csY102" fmla="*/ 1221581 h 1728025"/>
                  <a:gd name="csX103" fmla="*/ 781812 w 1328927"/>
                  <a:gd name="csY103" fmla="*/ 1221581 h 1728025"/>
                  <a:gd name="csX104" fmla="*/ 781812 w 1328927"/>
                  <a:gd name="csY104" fmla="*/ 1381316 h 1728025"/>
                  <a:gd name="csX105" fmla="*/ 136684 w 1328927"/>
                  <a:gd name="csY105" fmla="*/ 1620203 h 1728025"/>
                  <a:gd name="csX106" fmla="*/ 136684 w 1328927"/>
                  <a:gd name="csY106" fmla="*/ 1460468 h 1728025"/>
                  <a:gd name="csX107" fmla="*/ 214408 w 1328927"/>
                  <a:gd name="csY107" fmla="*/ 1460468 h 1728025"/>
                  <a:gd name="csX108" fmla="*/ 368046 w 1328927"/>
                  <a:gd name="csY108" fmla="*/ 1460468 h 1728025"/>
                  <a:gd name="csX109" fmla="*/ 290322 w 1328927"/>
                  <a:gd name="csY109" fmla="*/ 1460468 h 1728025"/>
                  <a:gd name="csX110" fmla="*/ 290322 w 1328927"/>
                  <a:gd name="csY110" fmla="*/ 1620203 h 1728025"/>
                  <a:gd name="csX111" fmla="*/ 1051465 w 1328927"/>
                  <a:gd name="csY111" fmla="*/ 1460468 h 1728025"/>
                  <a:gd name="csX112" fmla="*/ 973741 w 1328927"/>
                  <a:gd name="csY112" fmla="*/ 1460468 h 1728025"/>
                  <a:gd name="csX113" fmla="*/ 973741 w 1328927"/>
                  <a:gd name="csY113" fmla="*/ 1620203 h 1728025"/>
                  <a:gd name="csX114" fmla="*/ 1199007 w 1328927"/>
                  <a:gd name="csY114" fmla="*/ 1460468 h 1728025"/>
                  <a:gd name="csX115" fmla="*/ 1121283 w 1328927"/>
                  <a:gd name="csY115" fmla="*/ 1460468 h 1728025"/>
                  <a:gd name="csX116" fmla="*/ 1121283 w 1328927"/>
                  <a:gd name="csY116" fmla="*/ 1620203 h 1728025"/>
                  <a:gd name="csX117" fmla="*/ 0 w 1328927"/>
                  <a:gd name="csY117" fmla="*/ 96107 h 1728025"/>
                  <a:gd name="csX118" fmla="*/ 0 w 1328927"/>
                  <a:gd name="csY118" fmla="*/ 1728026 h 1728025"/>
                  <a:gd name="csX119" fmla="*/ 482251 w 1328927"/>
                  <a:gd name="csY119" fmla="*/ 1728026 h 1728025"/>
                  <a:gd name="csX120" fmla="*/ 482251 w 1328927"/>
                  <a:gd name="csY120" fmla="*/ 1460373 h 1728025"/>
                  <a:gd name="csX121" fmla="*/ 859536 w 1328927"/>
                  <a:gd name="csY121" fmla="*/ 1460373 h 1728025"/>
                  <a:gd name="csX122" fmla="*/ 859536 w 1328927"/>
                  <a:gd name="csY122" fmla="*/ 1728026 h 1728025"/>
                  <a:gd name="csX123" fmla="*/ 1328928 w 1328927"/>
                  <a:gd name="csY123" fmla="*/ 1728026 h 1728025"/>
                  <a:gd name="csX124" fmla="*/ 1328928 w 1328927"/>
                  <a:gd name="csY124" fmla="*/ 96107 h 1728025"/>
                  <a:gd name="csX125" fmla="*/ 0 w 1328927"/>
                  <a:gd name="csY125" fmla="*/ 96107 h 1728025"/>
                  <a:gd name="csX126" fmla="*/ 254603 w 1328927"/>
                  <a:gd name="csY126" fmla="*/ 0 h 1728025"/>
                  <a:gd name="csX127" fmla="*/ 254603 w 1328927"/>
                  <a:gd name="csY127" fmla="*/ 96107 h 1728025"/>
                  <a:gd name="csX128" fmla="*/ 1100328 w 1328927"/>
                  <a:gd name="csY128" fmla="*/ 96107 h 1728025"/>
                  <a:gd name="csX129" fmla="*/ 1100328 w 1328927"/>
                  <a:gd name="csY129" fmla="*/ 0 h 1728025"/>
                  <a:gd name="csX130" fmla="*/ 254603 w 1328927"/>
                  <a:gd name="csY130" fmla="*/ 0 h 1728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Lst>
                <a:rect l="l" t="t" r="r" b="b"/>
                <a:pathLst>
                  <a:path w="1328927" h="1728025">
                    <a:moveTo>
                      <a:pt x="136684" y="425958"/>
                    </a:moveTo>
                    <a:lnTo>
                      <a:pt x="136684" y="266224"/>
                    </a:lnTo>
                    <a:lnTo>
                      <a:pt x="214408" y="266224"/>
                    </a:lnTo>
                    <a:moveTo>
                      <a:pt x="368046" y="266224"/>
                    </a:moveTo>
                    <a:lnTo>
                      <a:pt x="290322" y="266224"/>
                    </a:lnTo>
                    <a:lnTo>
                      <a:pt x="290322" y="425958"/>
                    </a:lnTo>
                    <a:moveTo>
                      <a:pt x="1051465" y="266224"/>
                    </a:moveTo>
                    <a:lnTo>
                      <a:pt x="973741" y="266224"/>
                    </a:lnTo>
                    <a:lnTo>
                      <a:pt x="973741" y="425958"/>
                    </a:lnTo>
                    <a:moveTo>
                      <a:pt x="1199007" y="266224"/>
                    </a:moveTo>
                    <a:lnTo>
                      <a:pt x="1121283" y="266224"/>
                    </a:lnTo>
                    <a:lnTo>
                      <a:pt x="1121283" y="425958"/>
                    </a:lnTo>
                    <a:moveTo>
                      <a:pt x="707517" y="266224"/>
                    </a:moveTo>
                    <a:lnTo>
                      <a:pt x="629793" y="266224"/>
                    </a:lnTo>
                    <a:lnTo>
                      <a:pt x="629793" y="425958"/>
                    </a:lnTo>
                    <a:moveTo>
                      <a:pt x="559975" y="266224"/>
                    </a:moveTo>
                    <a:lnTo>
                      <a:pt x="482251" y="266224"/>
                    </a:lnTo>
                    <a:lnTo>
                      <a:pt x="482251" y="425958"/>
                    </a:lnTo>
                    <a:moveTo>
                      <a:pt x="859536" y="266224"/>
                    </a:moveTo>
                    <a:lnTo>
                      <a:pt x="781812" y="266224"/>
                    </a:lnTo>
                    <a:lnTo>
                      <a:pt x="781812" y="425958"/>
                    </a:lnTo>
                    <a:moveTo>
                      <a:pt x="136684" y="664845"/>
                    </a:moveTo>
                    <a:lnTo>
                      <a:pt x="136684" y="505111"/>
                    </a:lnTo>
                    <a:lnTo>
                      <a:pt x="214408" y="505111"/>
                    </a:lnTo>
                    <a:moveTo>
                      <a:pt x="368046" y="505016"/>
                    </a:moveTo>
                    <a:lnTo>
                      <a:pt x="290322" y="505016"/>
                    </a:lnTo>
                    <a:lnTo>
                      <a:pt x="290322" y="664750"/>
                    </a:lnTo>
                    <a:moveTo>
                      <a:pt x="1051465" y="505016"/>
                    </a:moveTo>
                    <a:lnTo>
                      <a:pt x="973741" y="505016"/>
                    </a:lnTo>
                    <a:lnTo>
                      <a:pt x="973741" y="664750"/>
                    </a:lnTo>
                    <a:moveTo>
                      <a:pt x="1199007" y="505016"/>
                    </a:moveTo>
                    <a:lnTo>
                      <a:pt x="1121283" y="505016"/>
                    </a:lnTo>
                    <a:lnTo>
                      <a:pt x="1121283" y="664750"/>
                    </a:lnTo>
                    <a:moveTo>
                      <a:pt x="707517" y="505016"/>
                    </a:moveTo>
                    <a:lnTo>
                      <a:pt x="629793" y="505016"/>
                    </a:lnTo>
                    <a:lnTo>
                      <a:pt x="629793" y="664750"/>
                    </a:lnTo>
                    <a:moveTo>
                      <a:pt x="559975" y="505016"/>
                    </a:moveTo>
                    <a:lnTo>
                      <a:pt x="482251" y="505016"/>
                    </a:lnTo>
                    <a:lnTo>
                      <a:pt x="482251" y="664750"/>
                    </a:lnTo>
                    <a:moveTo>
                      <a:pt x="859536" y="505016"/>
                    </a:moveTo>
                    <a:lnTo>
                      <a:pt x="781812" y="505016"/>
                    </a:lnTo>
                    <a:lnTo>
                      <a:pt x="781812" y="664750"/>
                    </a:lnTo>
                    <a:moveTo>
                      <a:pt x="136684" y="903637"/>
                    </a:moveTo>
                    <a:lnTo>
                      <a:pt x="136684" y="743903"/>
                    </a:lnTo>
                    <a:lnTo>
                      <a:pt x="214408" y="743903"/>
                    </a:lnTo>
                    <a:moveTo>
                      <a:pt x="368046" y="743903"/>
                    </a:moveTo>
                    <a:lnTo>
                      <a:pt x="290322" y="743903"/>
                    </a:lnTo>
                    <a:lnTo>
                      <a:pt x="290322" y="903637"/>
                    </a:lnTo>
                    <a:moveTo>
                      <a:pt x="1051465" y="743903"/>
                    </a:moveTo>
                    <a:lnTo>
                      <a:pt x="973741" y="743903"/>
                    </a:lnTo>
                    <a:lnTo>
                      <a:pt x="973741" y="903637"/>
                    </a:lnTo>
                    <a:moveTo>
                      <a:pt x="1199007" y="743903"/>
                    </a:moveTo>
                    <a:lnTo>
                      <a:pt x="1121283" y="743903"/>
                    </a:lnTo>
                    <a:lnTo>
                      <a:pt x="1121283" y="903637"/>
                    </a:lnTo>
                    <a:moveTo>
                      <a:pt x="707517" y="743903"/>
                    </a:moveTo>
                    <a:lnTo>
                      <a:pt x="629793" y="743903"/>
                    </a:lnTo>
                    <a:lnTo>
                      <a:pt x="629793" y="903637"/>
                    </a:lnTo>
                    <a:moveTo>
                      <a:pt x="559975" y="743903"/>
                    </a:moveTo>
                    <a:lnTo>
                      <a:pt x="482251" y="743903"/>
                    </a:lnTo>
                    <a:lnTo>
                      <a:pt x="482251" y="903637"/>
                    </a:lnTo>
                    <a:moveTo>
                      <a:pt x="859536" y="743903"/>
                    </a:moveTo>
                    <a:lnTo>
                      <a:pt x="781812" y="743903"/>
                    </a:lnTo>
                    <a:lnTo>
                      <a:pt x="781812" y="903637"/>
                    </a:lnTo>
                    <a:moveTo>
                      <a:pt x="136684" y="1142524"/>
                    </a:moveTo>
                    <a:lnTo>
                      <a:pt x="136684" y="982790"/>
                    </a:lnTo>
                    <a:lnTo>
                      <a:pt x="214408" y="982790"/>
                    </a:lnTo>
                    <a:moveTo>
                      <a:pt x="368046" y="982790"/>
                    </a:moveTo>
                    <a:lnTo>
                      <a:pt x="290322" y="982790"/>
                    </a:lnTo>
                    <a:lnTo>
                      <a:pt x="290322" y="1142524"/>
                    </a:lnTo>
                    <a:moveTo>
                      <a:pt x="1051465" y="982790"/>
                    </a:moveTo>
                    <a:lnTo>
                      <a:pt x="973741" y="982790"/>
                    </a:lnTo>
                    <a:lnTo>
                      <a:pt x="973741" y="1142524"/>
                    </a:lnTo>
                    <a:moveTo>
                      <a:pt x="1199007" y="982790"/>
                    </a:moveTo>
                    <a:lnTo>
                      <a:pt x="1121283" y="982790"/>
                    </a:lnTo>
                    <a:lnTo>
                      <a:pt x="1121283" y="1142524"/>
                    </a:lnTo>
                    <a:moveTo>
                      <a:pt x="707517" y="982790"/>
                    </a:moveTo>
                    <a:lnTo>
                      <a:pt x="629793" y="982790"/>
                    </a:lnTo>
                    <a:lnTo>
                      <a:pt x="629793" y="1142524"/>
                    </a:lnTo>
                    <a:moveTo>
                      <a:pt x="559975" y="982790"/>
                    </a:moveTo>
                    <a:lnTo>
                      <a:pt x="482251" y="982790"/>
                    </a:lnTo>
                    <a:lnTo>
                      <a:pt x="482251" y="1142524"/>
                    </a:lnTo>
                    <a:moveTo>
                      <a:pt x="859536" y="982790"/>
                    </a:moveTo>
                    <a:lnTo>
                      <a:pt x="781812" y="982790"/>
                    </a:lnTo>
                    <a:lnTo>
                      <a:pt x="781812" y="1142524"/>
                    </a:lnTo>
                    <a:moveTo>
                      <a:pt x="136684" y="1381316"/>
                    </a:moveTo>
                    <a:lnTo>
                      <a:pt x="136684" y="1221581"/>
                    </a:lnTo>
                    <a:lnTo>
                      <a:pt x="214408" y="1221581"/>
                    </a:lnTo>
                    <a:moveTo>
                      <a:pt x="368046" y="1221581"/>
                    </a:moveTo>
                    <a:lnTo>
                      <a:pt x="290322" y="1221581"/>
                    </a:lnTo>
                    <a:lnTo>
                      <a:pt x="290322" y="1381316"/>
                    </a:lnTo>
                    <a:moveTo>
                      <a:pt x="1051465" y="1221581"/>
                    </a:moveTo>
                    <a:lnTo>
                      <a:pt x="973741" y="1221581"/>
                    </a:lnTo>
                    <a:lnTo>
                      <a:pt x="973741" y="1381316"/>
                    </a:lnTo>
                    <a:moveTo>
                      <a:pt x="1199007" y="1221581"/>
                    </a:moveTo>
                    <a:lnTo>
                      <a:pt x="1121283" y="1221581"/>
                    </a:lnTo>
                    <a:lnTo>
                      <a:pt x="1121283" y="1381316"/>
                    </a:lnTo>
                    <a:moveTo>
                      <a:pt x="707517" y="1221581"/>
                    </a:moveTo>
                    <a:lnTo>
                      <a:pt x="629793" y="1221581"/>
                    </a:lnTo>
                    <a:lnTo>
                      <a:pt x="629793" y="1381316"/>
                    </a:lnTo>
                    <a:moveTo>
                      <a:pt x="559975" y="1221581"/>
                    </a:moveTo>
                    <a:lnTo>
                      <a:pt x="482251" y="1221581"/>
                    </a:lnTo>
                    <a:lnTo>
                      <a:pt x="482251" y="1381316"/>
                    </a:lnTo>
                    <a:moveTo>
                      <a:pt x="859536" y="1221581"/>
                    </a:moveTo>
                    <a:lnTo>
                      <a:pt x="781812" y="1221581"/>
                    </a:lnTo>
                    <a:lnTo>
                      <a:pt x="781812" y="1381316"/>
                    </a:lnTo>
                    <a:moveTo>
                      <a:pt x="136684" y="1620203"/>
                    </a:moveTo>
                    <a:lnTo>
                      <a:pt x="136684" y="1460468"/>
                    </a:lnTo>
                    <a:lnTo>
                      <a:pt x="214408" y="1460468"/>
                    </a:lnTo>
                    <a:moveTo>
                      <a:pt x="368046" y="1460468"/>
                    </a:moveTo>
                    <a:lnTo>
                      <a:pt x="290322" y="1460468"/>
                    </a:lnTo>
                    <a:lnTo>
                      <a:pt x="290322" y="1620203"/>
                    </a:lnTo>
                    <a:moveTo>
                      <a:pt x="1051465" y="1460468"/>
                    </a:moveTo>
                    <a:lnTo>
                      <a:pt x="973741" y="1460468"/>
                    </a:lnTo>
                    <a:lnTo>
                      <a:pt x="973741" y="1620203"/>
                    </a:lnTo>
                    <a:moveTo>
                      <a:pt x="1199007" y="1460468"/>
                    </a:moveTo>
                    <a:lnTo>
                      <a:pt x="1121283" y="1460468"/>
                    </a:lnTo>
                    <a:lnTo>
                      <a:pt x="1121283" y="1620203"/>
                    </a:lnTo>
                    <a:moveTo>
                      <a:pt x="0" y="96107"/>
                    </a:moveTo>
                    <a:lnTo>
                      <a:pt x="0" y="1728026"/>
                    </a:lnTo>
                    <a:lnTo>
                      <a:pt x="482251" y="1728026"/>
                    </a:lnTo>
                    <a:lnTo>
                      <a:pt x="482251" y="1460373"/>
                    </a:lnTo>
                    <a:lnTo>
                      <a:pt x="859536" y="1460373"/>
                    </a:lnTo>
                    <a:lnTo>
                      <a:pt x="859536" y="1728026"/>
                    </a:lnTo>
                    <a:lnTo>
                      <a:pt x="1328928" y="1728026"/>
                    </a:lnTo>
                    <a:lnTo>
                      <a:pt x="1328928" y="96107"/>
                    </a:lnTo>
                    <a:lnTo>
                      <a:pt x="0" y="96107"/>
                    </a:lnTo>
                    <a:close/>
                    <a:moveTo>
                      <a:pt x="254603" y="0"/>
                    </a:moveTo>
                    <a:lnTo>
                      <a:pt x="254603" y="96107"/>
                    </a:lnTo>
                    <a:cubicBezTo>
                      <a:pt x="254603" y="96107"/>
                      <a:pt x="1100328" y="96107"/>
                      <a:pt x="1100328" y="96107"/>
                    </a:cubicBezTo>
                    <a:lnTo>
                      <a:pt x="1100328" y="0"/>
                    </a:lnTo>
                    <a:lnTo>
                      <a:pt x="254603" y="0"/>
                    </a:lnTo>
                    <a:close/>
                  </a:path>
                </a:pathLst>
              </a:custGeom>
              <a:noFill/>
              <a:ln w="19050" cap="flat">
                <a:solidFill>
                  <a:srgbClr val="000000"/>
                </a:solidFill>
                <a:prstDash val="solid"/>
                <a:miter/>
              </a:ln>
            </p:spPr>
            <p:txBody>
              <a:bodyPr/>
              <a:lstStyle/>
              <a:p>
                <a:endParaRPr lang="en-US"/>
              </a:p>
            </p:txBody>
          </p:sp>
          <p:sp>
            <p:nvSpPr>
              <p:cNvPr id="23" name="Freeform: Shape 2130">
                <a:extLst>
                  <a:ext uri="{FF2B5EF4-FFF2-40B4-BE49-F238E27FC236}">
                    <a16:creationId xmlns:a16="http://schemas.microsoft.com/office/drawing/2014/main" id="{D7EE4AD5-6A59-1402-E93D-FF0CEB1499C9}"/>
                  </a:ext>
                </a:extLst>
              </p:cNvPr>
              <p:cNvSpPr/>
              <p:nvPr/>
            </p:nvSpPr>
            <p:spPr>
              <a:xfrm>
                <a:off x="6614921" y="4290250"/>
                <a:ext cx="1614677" cy="9525"/>
              </a:xfrm>
              <a:custGeom>
                <a:avLst/>
                <a:gdLst>
                  <a:gd name="csX0" fmla="*/ 0 w 1614677"/>
                  <a:gd name="csY0" fmla="*/ 0 h 9525"/>
                  <a:gd name="csX1" fmla="*/ 1614678 w 1614677"/>
                  <a:gd name="csY1" fmla="*/ 0 h 9525"/>
                </a:gdLst>
                <a:ahLst/>
                <a:cxnLst>
                  <a:cxn ang="0">
                    <a:pos x="csX0" y="csY0"/>
                  </a:cxn>
                  <a:cxn ang="0">
                    <a:pos x="csX1" y="csY1"/>
                  </a:cxn>
                </a:cxnLst>
                <a:rect l="l" t="t" r="r" b="b"/>
                <a:pathLst>
                  <a:path w="1614677" h="9525">
                    <a:moveTo>
                      <a:pt x="0" y="0"/>
                    </a:moveTo>
                    <a:lnTo>
                      <a:pt x="1614678" y="0"/>
                    </a:lnTo>
                  </a:path>
                </a:pathLst>
              </a:custGeom>
              <a:ln w="31750" cap="flat">
                <a:solidFill>
                  <a:srgbClr val="000000"/>
                </a:solidFill>
                <a:prstDash val="solid"/>
                <a:miter/>
              </a:ln>
            </p:spPr>
            <p:txBody>
              <a:bodyPr/>
              <a:lstStyle/>
              <a:p>
                <a:endParaRPr lang="en-US"/>
              </a:p>
            </p:txBody>
          </p:sp>
        </p:grpSp>
      </p:grpSp>
      <p:sp>
        <p:nvSpPr>
          <p:cNvPr id="50" name="TextBox 49">
            <a:extLst>
              <a:ext uri="{FF2B5EF4-FFF2-40B4-BE49-F238E27FC236}">
                <a16:creationId xmlns:a16="http://schemas.microsoft.com/office/drawing/2014/main" id="{24CE94AD-BD55-A56B-7271-1CFFA0FA15F2}"/>
              </a:ext>
            </a:extLst>
          </p:cNvPr>
          <p:cNvSpPr txBox="1"/>
          <p:nvPr/>
        </p:nvSpPr>
        <p:spPr>
          <a:xfrm>
            <a:off x="7553101" y="2063334"/>
            <a:ext cx="2480796" cy="276999"/>
          </a:xfrm>
          <a:prstGeom prst="rect">
            <a:avLst/>
          </a:prstGeom>
          <a:noFill/>
        </p:spPr>
        <p:txBody>
          <a:bodyPr wrap="square" rtlCol="0">
            <a:spAutoFit/>
          </a:bodyPr>
          <a:lstStyle/>
          <a:p>
            <a:pPr algn="ctr"/>
            <a:r>
              <a:rPr lang="en-US" sz="1200" dirty="0">
                <a:solidFill>
                  <a:srgbClr val="FF9400"/>
                </a:solidFill>
                <a:latin typeface="+mj-lt"/>
              </a:rPr>
              <a:t>DATACENTER</a:t>
            </a:r>
            <a:r>
              <a:rPr lang="en-US" sz="1200" dirty="0">
                <a:solidFill>
                  <a:schemeClr val="accent2"/>
                </a:solidFill>
                <a:latin typeface="+mj-lt"/>
              </a:rPr>
              <a:t> B</a:t>
            </a:r>
          </a:p>
        </p:txBody>
      </p:sp>
      <p:sp>
        <p:nvSpPr>
          <p:cNvPr id="67" name="TextBox 66">
            <a:extLst>
              <a:ext uri="{FF2B5EF4-FFF2-40B4-BE49-F238E27FC236}">
                <a16:creationId xmlns:a16="http://schemas.microsoft.com/office/drawing/2014/main" id="{0153031C-6F50-C7BF-D37B-EC59D1F135F6}"/>
              </a:ext>
            </a:extLst>
          </p:cNvPr>
          <p:cNvSpPr txBox="1"/>
          <p:nvPr/>
        </p:nvSpPr>
        <p:spPr>
          <a:xfrm>
            <a:off x="1462091" y="2063334"/>
            <a:ext cx="3734149" cy="276999"/>
          </a:xfrm>
          <a:prstGeom prst="rect">
            <a:avLst/>
          </a:prstGeom>
          <a:noFill/>
        </p:spPr>
        <p:txBody>
          <a:bodyPr wrap="square" rtlCol="0">
            <a:spAutoFit/>
          </a:bodyPr>
          <a:lstStyle/>
          <a:p>
            <a:pPr algn="ctr"/>
            <a:r>
              <a:rPr lang="en-US" sz="1200" dirty="0">
                <a:solidFill>
                  <a:schemeClr val="accent2"/>
                </a:solidFill>
                <a:latin typeface="+mj-lt"/>
              </a:rPr>
              <a:t>DATACENTER A</a:t>
            </a:r>
          </a:p>
        </p:txBody>
      </p:sp>
      <p:grpSp>
        <p:nvGrpSpPr>
          <p:cNvPr id="58" name="Group 57">
            <a:extLst>
              <a:ext uri="{FF2B5EF4-FFF2-40B4-BE49-F238E27FC236}">
                <a16:creationId xmlns:a16="http://schemas.microsoft.com/office/drawing/2014/main" id="{E0FF82FA-DFC6-EB75-C46D-94A37C377AE6}"/>
              </a:ext>
            </a:extLst>
          </p:cNvPr>
          <p:cNvGrpSpPr/>
          <p:nvPr/>
        </p:nvGrpSpPr>
        <p:grpSpPr>
          <a:xfrm>
            <a:off x="3354750" y="2982949"/>
            <a:ext cx="1711815" cy="591759"/>
            <a:chOff x="3338294" y="2358666"/>
            <a:chExt cx="1711815" cy="591759"/>
          </a:xfrm>
        </p:grpSpPr>
        <p:grpSp>
          <p:nvGrpSpPr>
            <p:cNvPr id="55" name="Group 54">
              <a:extLst>
                <a:ext uri="{FF2B5EF4-FFF2-40B4-BE49-F238E27FC236}">
                  <a16:creationId xmlns:a16="http://schemas.microsoft.com/office/drawing/2014/main" id="{DFB62B12-CF3A-55EC-18E9-E35D49CBD8AF}"/>
                </a:ext>
              </a:extLst>
            </p:cNvPr>
            <p:cNvGrpSpPr/>
            <p:nvPr/>
          </p:nvGrpSpPr>
          <p:grpSpPr>
            <a:xfrm>
              <a:off x="3338294" y="2358666"/>
              <a:ext cx="1711815" cy="591759"/>
              <a:chOff x="3338294" y="2358666"/>
              <a:chExt cx="1711815" cy="591759"/>
            </a:xfrm>
          </p:grpSpPr>
          <p:grpSp>
            <p:nvGrpSpPr>
              <p:cNvPr id="54" name="Group 53">
                <a:extLst>
                  <a:ext uri="{FF2B5EF4-FFF2-40B4-BE49-F238E27FC236}">
                    <a16:creationId xmlns:a16="http://schemas.microsoft.com/office/drawing/2014/main" id="{7A02D8B8-5BAF-7CBB-A29C-56337CFE3D4B}"/>
                  </a:ext>
                </a:extLst>
              </p:cNvPr>
              <p:cNvGrpSpPr/>
              <p:nvPr/>
            </p:nvGrpSpPr>
            <p:grpSpPr>
              <a:xfrm>
                <a:off x="3652736" y="2696321"/>
                <a:ext cx="1163386" cy="233436"/>
                <a:chOff x="3652736" y="2696321"/>
                <a:chExt cx="1163386" cy="233436"/>
              </a:xfrm>
            </p:grpSpPr>
            <p:sp>
              <p:nvSpPr>
                <p:cNvPr id="11" name="Bkg Fill">
                  <a:extLst>
                    <a:ext uri="{FF2B5EF4-FFF2-40B4-BE49-F238E27FC236}">
                      <a16:creationId xmlns:a16="http://schemas.microsoft.com/office/drawing/2014/main" id="{7ACD1D13-49A2-0BB7-69EC-AD8F3BA233DF}"/>
                    </a:ext>
                  </a:extLst>
                </p:cNvPr>
                <p:cNvSpPr/>
                <p:nvPr/>
              </p:nvSpPr>
              <p:spPr>
                <a:xfrm>
                  <a:off x="3655014" y="2696321"/>
                  <a:ext cx="1151901" cy="233436"/>
                </a:xfrm>
                <a:custGeom>
                  <a:avLst/>
                  <a:gdLst>
                    <a:gd name="csX0" fmla="*/ 904232 w 965012"/>
                    <a:gd name="csY0" fmla="*/ 52808 h 195558"/>
                    <a:gd name="csX1" fmla="*/ 904232 w 965012"/>
                    <a:gd name="csY1" fmla="*/ 52753 h 195558"/>
                    <a:gd name="csX2" fmla="*/ 833239 w 965012"/>
                    <a:gd name="csY2" fmla="*/ 0 h 195558"/>
                    <a:gd name="csX3" fmla="*/ 131774 w 965012"/>
                    <a:gd name="csY3" fmla="*/ 0 h 195558"/>
                    <a:gd name="csX4" fmla="*/ 60781 w 965012"/>
                    <a:gd name="csY4" fmla="*/ 52753 h 195558"/>
                    <a:gd name="csX5" fmla="*/ 60781 w 965012"/>
                    <a:gd name="csY5" fmla="*/ 52808 h 195558"/>
                    <a:gd name="csX6" fmla="*/ 0 w 965012"/>
                    <a:gd name="csY6" fmla="*/ 52808 h 195558"/>
                    <a:gd name="csX7" fmla="*/ 0 w 965012"/>
                    <a:gd name="csY7" fmla="*/ 195558 h 195558"/>
                    <a:gd name="csX8" fmla="*/ 60781 w 965012"/>
                    <a:gd name="csY8" fmla="*/ 195558 h 195558"/>
                    <a:gd name="csX9" fmla="*/ 60781 w 965012"/>
                    <a:gd name="csY9" fmla="*/ 195504 h 195558"/>
                    <a:gd name="csX10" fmla="*/ 904232 w 965012"/>
                    <a:gd name="csY10" fmla="*/ 195504 h 195558"/>
                    <a:gd name="csX11" fmla="*/ 904232 w 965012"/>
                    <a:gd name="csY11" fmla="*/ 195558 h 195558"/>
                    <a:gd name="csX12" fmla="*/ 965012 w 965012"/>
                    <a:gd name="csY12" fmla="*/ 195558 h 195558"/>
                    <a:gd name="csX13" fmla="*/ 965012 w 965012"/>
                    <a:gd name="csY13" fmla="*/ 52808 h 195558"/>
                    <a:gd name="csX14" fmla="*/ 904232 w 965012"/>
                    <a:gd name="csY14" fmla="*/ 52808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65012" h="195558">
                      <a:moveTo>
                        <a:pt x="904232" y="52808"/>
                      </a:moveTo>
                      <a:lnTo>
                        <a:pt x="904232" y="52753"/>
                      </a:lnTo>
                      <a:lnTo>
                        <a:pt x="833239" y="0"/>
                      </a:lnTo>
                      <a:lnTo>
                        <a:pt x="131774" y="0"/>
                      </a:lnTo>
                      <a:lnTo>
                        <a:pt x="60781" y="52753"/>
                      </a:lnTo>
                      <a:lnTo>
                        <a:pt x="60781" y="52808"/>
                      </a:lnTo>
                      <a:lnTo>
                        <a:pt x="0" y="52808"/>
                      </a:lnTo>
                      <a:lnTo>
                        <a:pt x="0" y="195558"/>
                      </a:lnTo>
                      <a:lnTo>
                        <a:pt x="60781" y="195558"/>
                      </a:lnTo>
                      <a:lnTo>
                        <a:pt x="60781" y="195504"/>
                      </a:lnTo>
                      <a:lnTo>
                        <a:pt x="904232" y="195504"/>
                      </a:lnTo>
                      <a:lnTo>
                        <a:pt x="904232" y="195558"/>
                      </a:lnTo>
                      <a:lnTo>
                        <a:pt x="965012" y="195558"/>
                      </a:lnTo>
                      <a:lnTo>
                        <a:pt x="965012" y="52808"/>
                      </a:lnTo>
                      <a:lnTo>
                        <a:pt x="904232" y="52808"/>
                      </a:ln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2" name="Side fill">
                  <a:extLst>
                    <a:ext uri="{FF2B5EF4-FFF2-40B4-BE49-F238E27FC236}">
                      <a16:creationId xmlns:a16="http://schemas.microsoft.com/office/drawing/2014/main" id="{D8DCAAA7-6D99-D78F-023F-09862251B5DB}"/>
                    </a:ext>
                  </a:extLst>
                </p:cNvPr>
                <p:cNvSpPr/>
                <p:nvPr/>
              </p:nvSpPr>
              <p:spPr>
                <a:xfrm>
                  <a:off x="3655014" y="2759356"/>
                  <a:ext cx="1151901" cy="17040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3" name="Switch outline">
                  <a:extLst>
                    <a:ext uri="{FF2B5EF4-FFF2-40B4-BE49-F238E27FC236}">
                      <a16:creationId xmlns:a16="http://schemas.microsoft.com/office/drawing/2014/main" id="{2ECB61A1-69E1-68A0-5A43-5F3983F61A1A}"/>
                    </a:ext>
                  </a:extLst>
                </p:cNvPr>
                <p:cNvSpPr/>
                <p:nvPr/>
              </p:nvSpPr>
              <p:spPr>
                <a:xfrm>
                  <a:off x="3655014" y="2696321"/>
                  <a:ext cx="1151901" cy="233436"/>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tx1">
                    <a:lumMod val="95000"/>
                    <a:lumOff val="5000"/>
                  </a:schemeClr>
                </a:solidFill>
                <a:ln w="9525" cap="flat">
                  <a:solidFill>
                    <a:schemeClr val="bg1"/>
                  </a:solidFill>
                  <a:prstDash val="solid"/>
                  <a:miter/>
                </a:ln>
              </p:spPr>
              <p:txBody>
                <a:bodyPr/>
                <a:lstStyle/>
                <a:p>
                  <a:endParaRPr lang="en-US"/>
                </a:p>
              </p:txBody>
            </p:sp>
            <p:sp>
              <p:nvSpPr>
                <p:cNvPr id="42" name="Rectangle 41">
                  <a:extLst>
                    <a:ext uri="{FF2B5EF4-FFF2-40B4-BE49-F238E27FC236}">
                      <a16:creationId xmlns:a16="http://schemas.microsoft.com/office/drawing/2014/main" id="{AC7AEA10-29B3-66DC-374B-D7C0160F6DB3}"/>
                    </a:ext>
                  </a:extLst>
                </p:cNvPr>
                <p:cNvSpPr/>
                <p:nvPr/>
              </p:nvSpPr>
              <p:spPr bwMode="auto">
                <a:xfrm>
                  <a:off x="3728936" y="2759357"/>
                  <a:ext cx="1003292" cy="170396"/>
                </a:xfrm>
                <a:prstGeom prst="rect">
                  <a:avLst/>
                </a:prstGeom>
                <a:no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2" name="Rectangle 51">
                  <a:extLst>
                    <a:ext uri="{FF2B5EF4-FFF2-40B4-BE49-F238E27FC236}">
                      <a16:creationId xmlns:a16="http://schemas.microsoft.com/office/drawing/2014/main" id="{D73631A2-2C16-E478-5D28-AC225D480F0E}"/>
                    </a:ext>
                  </a:extLst>
                </p:cNvPr>
                <p:cNvSpPr/>
                <p:nvPr/>
              </p:nvSpPr>
              <p:spPr bwMode="auto">
                <a:xfrm>
                  <a:off x="473858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3" name="Rectangle 52">
                  <a:extLst>
                    <a:ext uri="{FF2B5EF4-FFF2-40B4-BE49-F238E27FC236}">
                      <a16:creationId xmlns:a16="http://schemas.microsoft.com/office/drawing/2014/main" id="{26F69C59-2167-C60F-B845-571525362C00}"/>
                    </a:ext>
                  </a:extLst>
                </p:cNvPr>
                <p:cNvSpPr/>
                <p:nvPr/>
              </p:nvSpPr>
              <p:spPr bwMode="auto">
                <a:xfrm>
                  <a:off x="365273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pic>
            <p:nvPicPr>
              <p:cNvPr id="24" name="Picture 23" descr="A yellow rectangles on a black background&#10;&#10;AI-generated content may be incorrect.">
                <a:extLst>
                  <a:ext uri="{FF2B5EF4-FFF2-40B4-BE49-F238E27FC236}">
                    <a16:creationId xmlns:a16="http://schemas.microsoft.com/office/drawing/2014/main" id="{717D8741-8B0D-2A1B-E80F-119C7DAE8EE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38294" y="2358666"/>
                <a:ext cx="1711815" cy="591759"/>
              </a:xfrm>
              <a:prstGeom prst="rect">
                <a:avLst/>
              </a:prstGeom>
              <a:noFill/>
            </p:spPr>
          </p:pic>
        </p:grpSp>
        <p:cxnSp>
          <p:nvCxnSpPr>
            <p:cNvPr id="57" name="Straight Connector 56">
              <a:extLst>
                <a:ext uri="{FF2B5EF4-FFF2-40B4-BE49-F238E27FC236}">
                  <a16:creationId xmlns:a16="http://schemas.microsoft.com/office/drawing/2014/main" id="{C12F64FB-8A6E-6C6F-C38C-D70BB26799BE}"/>
                </a:ext>
              </a:extLst>
            </p:cNvPr>
            <p:cNvCxnSpPr>
              <a:cxnSpLocks/>
            </p:cNvCxnSpPr>
            <p:nvPr/>
          </p:nvCxnSpPr>
          <p:spPr bwMode="auto">
            <a:xfrm>
              <a:off x="3643850" y="2759356"/>
              <a:ext cx="1182532" cy="0"/>
            </a:xfrm>
            <a:prstGeom prst="line">
              <a:avLst/>
            </a:prstGeom>
            <a:solidFill>
              <a:schemeClr val="accent2"/>
            </a:solidFill>
            <a:ln w="6350" cap="flat" cmpd="sng" algn="ctr">
              <a:solidFill>
                <a:schemeClr val="tx1">
                  <a:lumMod val="75000"/>
                  <a:lumOff val="25000"/>
                </a:schemeClr>
              </a:solidFill>
              <a:prstDash val="solid"/>
              <a:round/>
              <a:headEnd type="none" w="med" len="med"/>
              <a:tailEnd type="none" w="med" len="med"/>
            </a:ln>
            <a:effectLst/>
          </p:spPr>
        </p:cxnSp>
      </p:grpSp>
      <p:grpSp>
        <p:nvGrpSpPr>
          <p:cNvPr id="159" name="Group 158">
            <a:extLst>
              <a:ext uri="{FF2B5EF4-FFF2-40B4-BE49-F238E27FC236}">
                <a16:creationId xmlns:a16="http://schemas.microsoft.com/office/drawing/2014/main" id="{E5B5D61D-6560-7675-B2CA-F01C19E14254}"/>
              </a:ext>
            </a:extLst>
          </p:cNvPr>
          <p:cNvGrpSpPr/>
          <p:nvPr/>
        </p:nvGrpSpPr>
        <p:grpSpPr>
          <a:xfrm>
            <a:off x="6971732" y="2955608"/>
            <a:ext cx="1711815" cy="591759"/>
            <a:chOff x="3338294" y="2358666"/>
            <a:chExt cx="1711815" cy="591759"/>
          </a:xfrm>
        </p:grpSpPr>
        <p:grpSp>
          <p:nvGrpSpPr>
            <p:cNvPr id="160" name="Group 159">
              <a:extLst>
                <a:ext uri="{FF2B5EF4-FFF2-40B4-BE49-F238E27FC236}">
                  <a16:creationId xmlns:a16="http://schemas.microsoft.com/office/drawing/2014/main" id="{34E1AEA1-4C9B-575D-6416-C945C9077DAB}"/>
                </a:ext>
              </a:extLst>
            </p:cNvPr>
            <p:cNvGrpSpPr/>
            <p:nvPr/>
          </p:nvGrpSpPr>
          <p:grpSpPr>
            <a:xfrm>
              <a:off x="3338294" y="2358666"/>
              <a:ext cx="1711815" cy="591759"/>
              <a:chOff x="3338294" y="2358666"/>
              <a:chExt cx="1711815" cy="591759"/>
            </a:xfrm>
          </p:grpSpPr>
          <p:grpSp>
            <p:nvGrpSpPr>
              <p:cNvPr id="162" name="Group 161">
                <a:extLst>
                  <a:ext uri="{FF2B5EF4-FFF2-40B4-BE49-F238E27FC236}">
                    <a16:creationId xmlns:a16="http://schemas.microsoft.com/office/drawing/2014/main" id="{20E997D1-2100-B4E2-0302-BB4258E88DD3}"/>
                  </a:ext>
                </a:extLst>
              </p:cNvPr>
              <p:cNvGrpSpPr/>
              <p:nvPr/>
            </p:nvGrpSpPr>
            <p:grpSpPr>
              <a:xfrm>
                <a:off x="3652736" y="2696321"/>
                <a:ext cx="1163386" cy="233436"/>
                <a:chOff x="3652736" y="2696321"/>
                <a:chExt cx="1163386" cy="233436"/>
              </a:xfrm>
            </p:grpSpPr>
            <p:sp>
              <p:nvSpPr>
                <p:cNvPr id="164" name="Bkg Fill">
                  <a:extLst>
                    <a:ext uri="{FF2B5EF4-FFF2-40B4-BE49-F238E27FC236}">
                      <a16:creationId xmlns:a16="http://schemas.microsoft.com/office/drawing/2014/main" id="{62FFD7DA-75CC-9F00-DB2B-9924CC1637E3}"/>
                    </a:ext>
                  </a:extLst>
                </p:cNvPr>
                <p:cNvSpPr/>
                <p:nvPr/>
              </p:nvSpPr>
              <p:spPr>
                <a:xfrm>
                  <a:off x="3655014" y="2696321"/>
                  <a:ext cx="1151901" cy="233436"/>
                </a:xfrm>
                <a:custGeom>
                  <a:avLst/>
                  <a:gdLst>
                    <a:gd name="csX0" fmla="*/ 904232 w 965012"/>
                    <a:gd name="csY0" fmla="*/ 52808 h 195558"/>
                    <a:gd name="csX1" fmla="*/ 904232 w 965012"/>
                    <a:gd name="csY1" fmla="*/ 52753 h 195558"/>
                    <a:gd name="csX2" fmla="*/ 833239 w 965012"/>
                    <a:gd name="csY2" fmla="*/ 0 h 195558"/>
                    <a:gd name="csX3" fmla="*/ 131774 w 965012"/>
                    <a:gd name="csY3" fmla="*/ 0 h 195558"/>
                    <a:gd name="csX4" fmla="*/ 60781 w 965012"/>
                    <a:gd name="csY4" fmla="*/ 52753 h 195558"/>
                    <a:gd name="csX5" fmla="*/ 60781 w 965012"/>
                    <a:gd name="csY5" fmla="*/ 52808 h 195558"/>
                    <a:gd name="csX6" fmla="*/ 0 w 965012"/>
                    <a:gd name="csY6" fmla="*/ 52808 h 195558"/>
                    <a:gd name="csX7" fmla="*/ 0 w 965012"/>
                    <a:gd name="csY7" fmla="*/ 195558 h 195558"/>
                    <a:gd name="csX8" fmla="*/ 60781 w 965012"/>
                    <a:gd name="csY8" fmla="*/ 195558 h 195558"/>
                    <a:gd name="csX9" fmla="*/ 60781 w 965012"/>
                    <a:gd name="csY9" fmla="*/ 195504 h 195558"/>
                    <a:gd name="csX10" fmla="*/ 904232 w 965012"/>
                    <a:gd name="csY10" fmla="*/ 195504 h 195558"/>
                    <a:gd name="csX11" fmla="*/ 904232 w 965012"/>
                    <a:gd name="csY11" fmla="*/ 195558 h 195558"/>
                    <a:gd name="csX12" fmla="*/ 965012 w 965012"/>
                    <a:gd name="csY12" fmla="*/ 195558 h 195558"/>
                    <a:gd name="csX13" fmla="*/ 965012 w 965012"/>
                    <a:gd name="csY13" fmla="*/ 52808 h 195558"/>
                    <a:gd name="csX14" fmla="*/ 904232 w 965012"/>
                    <a:gd name="csY14" fmla="*/ 52808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65012" h="195558">
                      <a:moveTo>
                        <a:pt x="904232" y="52808"/>
                      </a:moveTo>
                      <a:lnTo>
                        <a:pt x="904232" y="52753"/>
                      </a:lnTo>
                      <a:lnTo>
                        <a:pt x="833239" y="0"/>
                      </a:lnTo>
                      <a:lnTo>
                        <a:pt x="131774" y="0"/>
                      </a:lnTo>
                      <a:lnTo>
                        <a:pt x="60781" y="52753"/>
                      </a:lnTo>
                      <a:lnTo>
                        <a:pt x="60781" y="52808"/>
                      </a:lnTo>
                      <a:lnTo>
                        <a:pt x="0" y="52808"/>
                      </a:lnTo>
                      <a:lnTo>
                        <a:pt x="0" y="195558"/>
                      </a:lnTo>
                      <a:lnTo>
                        <a:pt x="60781" y="195558"/>
                      </a:lnTo>
                      <a:lnTo>
                        <a:pt x="60781" y="195504"/>
                      </a:lnTo>
                      <a:lnTo>
                        <a:pt x="904232" y="195504"/>
                      </a:lnTo>
                      <a:lnTo>
                        <a:pt x="904232" y="195558"/>
                      </a:lnTo>
                      <a:lnTo>
                        <a:pt x="965012" y="195558"/>
                      </a:lnTo>
                      <a:lnTo>
                        <a:pt x="965012" y="52808"/>
                      </a:lnTo>
                      <a:lnTo>
                        <a:pt x="904232" y="52808"/>
                      </a:ln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65" name="Side fill">
                  <a:extLst>
                    <a:ext uri="{FF2B5EF4-FFF2-40B4-BE49-F238E27FC236}">
                      <a16:creationId xmlns:a16="http://schemas.microsoft.com/office/drawing/2014/main" id="{474F7ED6-0C56-7227-FEC1-B987FCC64EA1}"/>
                    </a:ext>
                  </a:extLst>
                </p:cNvPr>
                <p:cNvSpPr/>
                <p:nvPr/>
              </p:nvSpPr>
              <p:spPr>
                <a:xfrm>
                  <a:off x="3655014" y="2759356"/>
                  <a:ext cx="1151901" cy="170400"/>
                </a:xfrm>
                <a:custGeom>
                  <a:avLst/>
                  <a:gdLst>
                    <a:gd name="csX0" fmla="*/ 0 w 965012"/>
                    <a:gd name="csY0" fmla="*/ 0 h 142750"/>
                    <a:gd name="csX1" fmla="*/ 0 w 965012"/>
                    <a:gd name="csY1" fmla="*/ 142751 h 142750"/>
                    <a:gd name="csX2" fmla="*/ 60781 w 965012"/>
                    <a:gd name="csY2" fmla="*/ 142751 h 142750"/>
                    <a:gd name="csX3" fmla="*/ 60781 w 965012"/>
                    <a:gd name="csY3" fmla="*/ 0 h 142750"/>
                    <a:gd name="csX4" fmla="*/ 0 w 965012"/>
                    <a:gd name="csY4" fmla="*/ 0 h 142750"/>
                    <a:gd name="csX5" fmla="*/ 29981 w 965012"/>
                    <a:gd name="csY5" fmla="*/ 108510 h 142750"/>
                    <a:gd name="csX6" fmla="*/ 19059 w 965012"/>
                    <a:gd name="csY6" fmla="*/ 97588 h 142750"/>
                    <a:gd name="csX7" fmla="*/ 29981 w 965012"/>
                    <a:gd name="csY7" fmla="*/ 86666 h 142750"/>
                    <a:gd name="csX8" fmla="*/ 40903 w 965012"/>
                    <a:gd name="csY8" fmla="*/ 97588 h 142750"/>
                    <a:gd name="csX9" fmla="*/ 29981 w 965012"/>
                    <a:gd name="csY9" fmla="*/ 108510 h 142750"/>
                    <a:gd name="csX10" fmla="*/ 29981 w 965012"/>
                    <a:gd name="csY10" fmla="*/ 51497 h 142750"/>
                    <a:gd name="csX11" fmla="*/ 19059 w 965012"/>
                    <a:gd name="csY11" fmla="*/ 40575 h 142750"/>
                    <a:gd name="csX12" fmla="*/ 29981 w 965012"/>
                    <a:gd name="csY12" fmla="*/ 29653 h 142750"/>
                    <a:gd name="csX13" fmla="*/ 40903 w 965012"/>
                    <a:gd name="csY13" fmla="*/ 40575 h 142750"/>
                    <a:gd name="csX14" fmla="*/ 29981 w 965012"/>
                    <a:gd name="csY14" fmla="*/ 51497 h 142750"/>
                    <a:gd name="csX15" fmla="*/ 904232 w 965012"/>
                    <a:gd name="csY15" fmla="*/ 0 h 142750"/>
                    <a:gd name="csX16" fmla="*/ 904232 w 965012"/>
                    <a:gd name="csY16" fmla="*/ 142751 h 142750"/>
                    <a:gd name="csX17" fmla="*/ 965012 w 965012"/>
                    <a:gd name="csY17" fmla="*/ 142751 h 142750"/>
                    <a:gd name="csX18" fmla="*/ 965012 w 965012"/>
                    <a:gd name="csY18" fmla="*/ 0 h 142750"/>
                    <a:gd name="csX19" fmla="*/ 904232 w 965012"/>
                    <a:gd name="csY19" fmla="*/ 0 h 142750"/>
                    <a:gd name="csX20" fmla="*/ 934212 w 965012"/>
                    <a:gd name="csY20" fmla="*/ 108510 h 142750"/>
                    <a:gd name="csX21" fmla="*/ 923290 w 965012"/>
                    <a:gd name="csY21" fmla="*/ 97588 h 142750"/>
                    <a:gd name="csX22" fmla="*/ 934212 w 965012"/>
                    <a:gd name="csY22" fmla="*/ 86666 h 142750"/>
                    <a:gd name="csX23" fmla="*/ 945134 w 965012"/>
                    <a:gd name="csY23" fmla="*/ 97588 h 142750"/>
                    <a:gd name="csX24" fmla="*/ 934212 w 965012"/>
                    <a:gd name="csY24" fmla="*/ 108510 h 142750"/>
                    <a:gd name="csX25" fmla="*/ 934212 w 965012"/>
                    <a:gd name="csY25" fmla="*/ 51497 h 142750"/>
                    <a:gd name="csX26" fmla="*/ 923290 w 965012"/>
                    <a:gd name="csY26" fmla="*/ 40575 h 142750"/>
                    <a:gd name="csX27" fmla="*/ 934212 w 965012"/>
                    <a:gd name="csY27" fmla="*/ 29653 h 142750"/>
                    <a:gd name="csX28" fmla="*/ 945134 w 965012"/>
                    <a:gd name="csY28" fmla="*/ 40575 h 142750"/>
                    <a:gd name="csX29" fmla="*/ 934212 w 965012"/>
                    <a:gd name="csY29" fmla="*/ 51497 h 142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965012" h="142750">
                      <a:moveTo>
                        <a:pt x="0" y="0"/>
                      </a:moveTo>
                      <a:lnTo>
                        <a:pt x="0" y="142751"/>
                      </a:lnTo>
                      <a:lnTo>
                        <a:pt x="60781" y="142751"/>
                      </a:lnTo>
                      <a:lnTo>
                        <a:pt x="60781" y="0"/>
                      </a:lnTo>
                      <a:lnTo>
                        <a:pt x="0" y="0"/>
                      </a:lnTo>
                      <a:close/>
                      <a:moveTo>
                        <a:pt x="29981" y="108510"/>
                      </a:moveTo>
                      <a:cubicBezTo>
                        <a:pt x="23974" y="108510"/>
                        <a:pt x="19059" y="103595"/>
                        <a:pt x="19059" y="97588"/>
                      </a:cubicBezTo>
                      <a:cubicBezTo>
                        <a:pt x="19059" y="91581"/>
                        <a:pt x="23974" y="86666"/>
                        <a:pt x="29981" y="86666"/>
                      </a:cubicBezTo>
                      <a:cubicBezTo>
                        <a:pt x="35988" y="86666"/>
                        <a:pt x="40903" y="91526"/>
                        <a:pt x="40903" y="97588"/>
                      </a:cubicBezTo>
                      <a:cubicBezTo>
                        <a:pt x="40903" y="103650"/>
                        <a:pt x="35988" y="108510"/>
                        <a:pt x="29981" y="108510"/>
                      </a:cubicBezTo>
                      <a:close/>
                      <a:moveTo>
                        <a:pt x="29981" y="51497"/>
                      </a:moveTo>
                      <a:cubicBezTo>
                        <a:pt x="23974" y="51497"/>
                        <a:pt x="19059" y="46582"/>
                        <a:pt x="19059" y="40575"/>
                      </a:cubicBezTo>
                      <a:cubicBezTo>
                        <a:pt x="19059" y="34568"/>
                        <a:pt x="23974" y="29653"/>
                        <a:pt x="29981" y="29653"/>
                      </a:cubicBezTo>
                      <a:cubicBezTo>
                        <a:pt x="35988" y="29653"/>
                        <a:pt x="40903" y="34568"/>
                        <a:pt x="40903" y="40575"/>
                      </a:cubicBezTo>
                      <a:cubicBezTo>
                        <a:pt x="40903" y="46582"/>
                        <a:pt x="35988" y="51497"/>
                        <a:pt x="29981" y="51497"/>
                      </a:cubicBezTo>
                      <a:close/>
                      <a:moveTo>
                        <a:pt x="904232" y="0"/>
                      </a:moveTo>
                      <a:lnTo>
                        <a:pt x="904232" y="142751"/>
                      </a:lnTo>
                      <a:lnTo>
                        <a:pt x="965012" y="142751"/>
                      </a:lnTo>
                      <a:lnTo>
                        <a:pt x="965012" y="0"/>
                      </a:lnTo>
                      <a:lnTo>
                        <a:pt x="904232" y="0"/>
                      </a:lnTo>
                      <a:close/>
                      <a:moveTo>
                        <a:pt x="934212" y="108510"/>
                      </a:moveTo>
                      <a:cubicBezTo>
                        <a:pt x="928205" y="108510"/>
                        <a:pt x="923290" y="103595"/>
                        <a:pt x="923290" y="97588"/>
                      </a:cubicBezTo>
                      <a:cubicBezTo>
                        <a:pt x="923290" y="91581"/>
                        <a:pt x="928205" y="86666"/>
                        <a:pt x="934212" y="86666"/>
                      </a:cubicBezTo>
                      <a:cubicBezTo>
                        <a:pt x="940219" y="86666"/>
                        <a:pt x="945134" y="91526"/>
                        <a:pt x="945134" y="97588"/>
                      </a:cubicBezTo>
                      <a:cubicBezTo>
                        <a:pt x="945134" y="103650"/>
                        <a:pt x="940219" y="108510"/>
                        <a:pt x="934212" y="108510"/>
                      </a:cubicBezTo>
                      <a:close/>
                      <a:moveTo>
                        <a:pt x="934212" y="51497"/>
                      </a:moveTo>
                      <a:cubicBezTo>
                        <a:pt x="928205" y="51497"/>
                        <a:pt x="923290" y="46582"/>
                        <a:pt x="923290" y="40575"/>
                      </a:cubicBezTo>
                      <a:cubicBezTo>
                        <a:pt x="923290" y="34568"/>
                        <a:pt x="928205" y="29653"/>
                        <a:pt x="934212" y="29653"/>
                      </a:cubicBezTo>
                      <a:cubicBezTo>
                        <a:pt x="940219" y="29653"/>
                        <a:pt x="945134" y="34568"/>
                        <a:pt x="945134" y="40575"/>
                      </a:cubicBezTo>
                      <a:cubicBezTo>
                        <a:pt x="945134" y="46582"/>
                        <a:pt x="940219" y="51497"/>
                        <a:pt x="934212" y="51497"/>
                      </a:cubicBezTo>
                      <a:close/>
                    </a:path>
                  </a:pathLst>
                </a:custGeom>
                <a:solidFill>
                  <a:schemeClr val="tx1">
                    <a:lumMod val="95000"/>
                    <a:lumOff val="5000"/>
                  </a:schemeClr>
                </a:solidFill>
                <a:ln w="5420" cap="flat">
                  <a:solidFill>
                    <a:schemeClr val="bg1"/>
                  </a:solidFill>
                  <a:prstDash val="solid"/>
                  <a:miter/>
                </a:ln>
              </p:spPr>
              <p:txBody>
                <a:bodyPr/>
                <a:lstStyle/>
                <a:p>
                  <a:endParaRPr lang="en-US"/>
                </a:p>
              </p:txBody>
            </p:sp>
            <p:sp>
              <p:nvSpPr>
                <p:cNvPr id="166" name="Switch outline">
                  <a:extLst>
                    <a:ext uri="{FF2B5EF4-FFF2-40B4-BE49-F238E27FC236}">
                      <a16:creationId xmlns:a16="http://schemas.microsoft.com/office/drawing/2014/main" id="{C14F9D1B-6047-7802-A1B0-9AD530236BE4}"/>
                    </a:ext>
                  </a:extLst>
                </p:cNvPr>
                <p:cNvSpPr/>
                <p:nvPr/>
              </p:nvSpPr>
              <p:spPr>
                <a:xfrm>
                  <a:off x="3655014" y="2696321"/>
                  <a:ext cx="1151901" cy="233436"/>
                </a:xfrm>
                <a:custGeom>
                  <a:avLst/>
                  <a:gdLst>
                    <a:gd name="csX0" fmla="*/ 254482 w 965012"/>
                    <a:gd name="csY0" fmla="*/ 162847 h 195558"/>
                    <a:gd name="csX1" fmla="*/ 254482 w 965012"/>
                    <a:gd name="csY1" fmla="*/ 124183 h 195558"/>
                    <a:gd name="csX2" fmla="*/ 294566 w 965012"/>
                    <a:gd name="csY2" fmla="*/ 124183 h 195558"/>
                    <a:gd name="csX3" fmla="*/ 274524 w 965012"/>
                    <a:gd name="csY3" fmla="*/ 88741 h 195558"/>
                    <a:gd name="csX4" fmla="*/ 269882 w 965012"/>
                    <a:gd name="csY4" fmla="*/ 93383 h 195558"/>
                    <a:gd name="csX5" fmla="*/ 274524 w 965012"/>
                    <a:gd name="csY5" fmla="*/ 98025 h 195558"/>
                    <a:gd name="csX6" fmla="*/ 279166 w 965012"/>
                    <a:gd name="csY6" fmla="*/ 93383 h 195558"/>
                    <a:gd name="csX7" fmla="*/ 274524 w 965012"/>
                    <a:gd name="csY7" fmla="*/ 88741 h 195558"/>
                    <a:gd name="csX8" fmla="*/ 325148 w 965012"/>
                    <a:gd name="csY8" fmla="*/ 162847 h 195558"/>
                    <a:gd name="csX9" fmla="*/ 325148 w 965012"/>
                    <a:gd name="csY9" fmla="*/ 124183 h 195558"/>
                    <a:gd name="csX10" fmla="*/ 365231 w 965012"/>
                    <a:gd name="csY10" fmla="*/ 124183 h 195558"/>
                    <a:gd name="csX11" fmla="*/ 345189 w 965012"/>
                    <a:gd name="csY11" fmla="*/ 88741 h 195558"/>
                    <a:gd name="csX12" fmla="*/ 340548 w 965012"/>
                    <a:gd name="csY12" fmla="*/ 93383 h 195558"/>
                    <a:gd name="csX13" fmla="*/ 345189 w 965012"/>
                    <a:gd name="csY13" fmla="*/ 98025 h 195558"/>
                    <a:gd name="csX14" fmla="*/ 349831 w 965012"/>
                    <a:gd name="csY14" fmla="*/ 93383 h 195558"/>
                    <a:gd name="csX15" fmla="*/ 345189 w 965012"/>
                    <a:gd name="csY15" fmla="*/ 88741 h 195558"/>
                    <a:gd name="csX16" fmla="*/ 395758 w 965012"/>
                    <a:gd name="csY16" fmla="*/ 162847 h 195558"/>
                    <a:gd name="csX17" fmla="*/ 395758 w 965012"/>
                    <a:gd name="csY17" fmla="*/ 124183 h 195558"/>
                    <a:gd name="csX18" fmla="*/ 435842 w 965012"/>
                    <a:gd name="csY18" fmla="*/ 124183 h 195558"/>
                    <a:gd name="csX19" fmla="*/ 415855 w 965012"/>
                    <a:gd name="csY19" fmla="*/ 88741 h 195558"/>
                    <a:gd name="csX20" fmla="*/ 411213 w 965012"/>
                    <a:gd name="csY20" fmla="*/ 93383 h 195558"/>
                    <a:gd name="csX21" fmla="*/ 415855 w 965012"/>
                    <a:gd name="csY21" fmla="*/ 98025 h 195558"/>
                    <a:gd name="csX22" fmla="*/ 420497 w 965012"/>
                    <a:gd name="csY22" fmla="*/ 93383 h 195558"/>
                    <a:gd name="csX23" fmla="*/ 415855 w 965012"/>
                    <a:gd name="csY23" fmla="*/ 88741 h 195558"/>
                    <a:gd name="csX24" fmla="*/ 466424 w 965012"/>
                    <a:gd name="csY24" fmla="*/ 162847 h 195558"/>
                    <a:gd name="csX25" fmla="*/ 466424 w 965012"/>
                    <a:gd name="csY25" fmla="*/ 124183 h 195558"/>
                    <a:gd name="csX26" fmla="*/ 506507 w 965012"/>
                    <a:gd name="csY26" fmla="*/ 124183 h 195558"/>
                    <a:gd name="csX27" fmla="*/ 486465 w 965012"/>
                    <a:gd name="csY27" fmla="*/ 88741 h 195558"/>
                    <a:gd name="csX28" fmla="*/ 481824 w 965012"/>
                    <a:gd name="csY28" fmla="*/ 93383 h 195558"/>
                    <a:gd name="csX29" fmla="*/ 486465 w 965012"/>
                    <a:gd name="csY29" fmla="*/ 98025 h 195558"/>
                    <a:gd name="csX30" fmla="*/ 491107 w 965012"/>
                    <a:gd name="csY30" fmla="*/ 93383 h 195558"/>
                    <a:gd name="csX31" fmla="*/ 486465 w 965012"/>
                    <a:gd name="csY31" fmla="*/ 88741 h 195558"/>
                    <a:gd name="csX32" fmla="*/ 537089 w 965012"/>
                    <a:gd name="csY32" fmla="*/ 162847 h 195558"/>
                    <a:gd name="csX33" fmla="*/ 537089 w 965012"/>
                    <a:gd name="csY33" fmla="*/ 124183 h 195558"/>
                    <a:gd name="csX34" fmla="*/ 577173 w 965012"/>
                    <a:gd name="csY34" fmla="*/ 124183 h 195558"/>
                    <a:gd name="csX35" fmla="*/ 557131 w 965012"/>
                    <a:gd name="csY35" fmla="*/ 88741 h 195558"/>
                    <a:gd name="csX36" fmla="*/ 552489 w 965012"/>
                    <a:gd name="csY36" fmla="*/ 93383 h 195558"/>
                    <a:gd name="csX37" fmla="*/ 557131 w 965012"/>
                    <a:gd name="csY37" fmla="*/ 98025 h 195558"/>
                    <a:gd name="csX38" fmla="*/ 561773 w 965012"/>
                    <a:gd name="csY38" fmla="*/ 93383 h 195558"/>
                    <a:gd name="csX39" fmla="*/ 557131 w 965012"/>
                    <a:gd name="csY39" fmla="*/ 88741 h 195558"/>
                    <a:gd name="csX40" fmla="*/ 607754 w 965012"/>
                    <a:gd name="csY40" fmla="*/ 162847 h 195558"/>
                    <a:gd name="csX41" fmla="*/ 607754 w 965012"/>
                    <a:gd name="csY41" fmla="*/ 124183 h 195558"/>
                    <a:gd name="csX42" fmla="*/ 647838 w 965012"/>
                    <a:gd name="csY42" fmla="*/ 124183 h 195558"/>
                    <a:gd name="csX43" fmla="*/ 627796 w 965012"/>
                    <a:gd name="csY43" fmla="*/ 88741 h 195558"/>
                    <a:gd name="csX44" fmla="*/ 623154 w 965012"/>
                    <a:gd name="csY44" fmla="*/ 93383 h 195558"/>
                    <a:gd name="csX45" fmla="*/ 627796 w 965012"/>
                    <a:gd name="csY45" fmla="*/ 98025 h 195558"/>
                    <a:gd name="csX46" fmla="*/ 632438 w 965012"/>
                    <a:gd name="csY46" fmla="*/ 93383 h 195558"/>
                    <a:gd name="csX47" fmla="*/ 627796 w 965012"/>
                    <a:gd name="csY47" fmla="*/ 88741 h 195558"/>
                    <a:gd name="csX48" fmla="*/ 678419 w 965012"/>
                    <a:gd name="csY48" fmla="*/ 162847 h 195558"/>
                    <a:gd name="csX49" fmla="*/ 678419 w 965012"/>
                    <a:gd name="csY49" fmla="*/ 124183 h 195558"/>
                    <a:gd name="csX50" fmla="*/ 718503 w 965012"/>
                    <a:gd name="csY50" fmla="*/ 124183 h 195558"/>
                    <a:gd name="csX51" fmla="*/ 698461 w 965012"/>
                    <a:gd name="csY51" fmla="*/ 88741 h 195558"/>
                    <a:gd name="csX52" fmla="*/ 693819 w 965012"/>
                    <a:gd name="csY52" fmla="*/ 93383 h 195558"/>
                    <a:gd name="csX53" fmla="*/ 698461 w 965012"/>
                    <a:gd name="csY53" fmla="*/ 98025 h 195558"/>
                    <a:gd name="csX54" fmla="*/ 703103 w 965012"/>
                    <a:gd name="csY54" fmla="*/ 93383 h 195558"/>
                    <a:gd name="csX55" fmla="*/ 698461 w 965012"/>
                    <a:gd name="csY55" fmla="*/ 88741 h 195558"/>
                    <a:gd name="csX56" fmla="*/ 749030 w 965012"/>
                    <a:gd name="csY56" fmla="*/ 162847 h 195558"/>
                    <a:gd name="csX57" fmla="*/ 749030 w 965012"/>
                    <a:gd name="csY57" fmla="*/ 124183 h 195558"/>
                    <a:gd name="csX58" fmla="*/ 789114 w 965012"/>
                    <a:gd name="csY58" fmla="*/ 124183 h 195558"/>
                    <a:gd name="csX59" fmla="*/ 769126 w 965012"/>
                    <a:gd name="csY59" fmla="*/ 88741 h 195558"/>
                    <a:gd name="csX60" fmla="*/ 764485 w 965012"/>
                    <a:gd name="csY60" fmla="*/ 93383 h 195558"/>
                    <a:gd name="csX61" fmla="*/ 769126 w 965012"/>
                    <a:gd name="csY61" fmla="*/ 98025 h 195558"/>
                    <a:gd name="csX62" fmla="*/ 773768 w 965012"/>
                    <a:gd name="csY62" fmla="*/ 93383 h 195558"/>
                    <a:gd name="csX63" fmla="*/ 769126 w 965012"/>
                    <a:gd name="csY63" fmla="*/ 88741 h 195558"/>
                    <a:gd name="csX64" fmla="*/ 819695 w 965012"/>
                    <a:gd name="csY64" fmla="*/ 162847 h 195558"/>
                    <a:gd name="csX65" fmla="*/ 819695 w 965012"/>
                    <a:gd name="csY65" fmla="*/ 124183 h 195558"/>
                    <a:gd name="csX66" fmla="*/ 859779 w 965012"/>
                    <a:gd name="csY66" fmla="*/ 124183 h 195558"/>
                    <a:gd name="csX67" fmla="*/ 839737 w 965012"/>
                    <a:gd name="csY67" fmla="*/ 88741 h 195558"/>
                    <a:gd name="csX68" fmla="*/ 835095 w 965012"/>
                    <a:gd name="csY68" fmla="*/ 93383 h 195558"/>
                    <a:gd name="csX69" fmla="*/ 839737 w 965012"/>
                    <a:gd name="csY69" fmla="*/ 98025 h 195558"/>
                    <a:gd name="csX70" fmla="*/ 844379 w 965012"/>
                    <a:gd name="csY70" fmla="*/ 93383 h 195558"/>
                    <a:gd name="csX71" fmla="*/ 839737 w 965012"/>
                    <a:gd name="csY71" fmla="*/ 88741 h 195558"/>
                    <a:gd name="csX72" fmla="*/ 175462 w 965012"/>
                    <a:gd name="csY72" fmla="*/ 124183 h 195558"/>
                    <a:gd name="csX73" fmla="*/ 175462 w 965012"/>
                    <a:gd name="csY73" fmla="*/ 162847 h 195558"/>
                    <a:gd name="csX74" fmla="*/ 223573 w 965012"/>
                    <a:gd name="csY74" fmla="*/ 162847 h 195558"/>
                    <a:gd name="csX75" fmla="*/ 223573 w 965012"/>
                    <a:gd name="csY75" fmla="*/ 124183 h 195558"/>
                    <a:gd name="csX76" fmla="*/ 175462 w 965012"/>
                    <a:gd name="csY76" fmla="*/ 124183 h 195558"/>
                    <a:gd name="csX77" fmla="*/ 127187 w 965012"/>
                    <a:gd name="csY77" fmla="*/ 150396 h 195558"/>
                    <a:gd name="csX78" fmla="*/ 112169 w 965012"/>
                    <a:gd name="csY78" fmla="*/ 135378 h 195558"/>
                    <a:gd name="csX79" fmla="*/ 97151 w 965012"/>
                    <a:gd name="csY79" fmla="*/ 150396 h 195558"/>
                    <a:gd name="csX80" fmla="*/ 112169 w 965012"/>
                    <a:gd name="csY80" fmla="*/ 165414 h 195558"/>
                    <a:gd name="csX81" fmla="*/ 127187 w 965012"/>
                    <a:gd name="csY81" fmla="*/ 150396 h 195558"/>
                    <a:gd name="csX82" fmla="*/ 127187 w 965012"/>
                    <a:gd name="csY82" fmla="*/ 150396 h 195558"/>
                    <a:gd name="csX83" fmla="*/ 112169 w 965012"/>
                    <a:gd name="csY83" fmla="*/ 88741 h 195558"/>
                    <a:gd name="csX84" fmla="*/ 107527 w 965012"/>
                    <a:gd name="csY84" fmla="*/ 93383 h 195558"/>
                    <a:gd name="csX85" fmla="*/ 112169 w 965012"/>
                    <a:gd name="csY85" fmla="*/ 98025 h 195558"/>
                    <a:gd name="csX86" fmla="*/ 116811 w 965012"/>
                    <a:gd name="csY86" fmla="*/ 93383 h 195558"/>
                    <a:gd name="csX87" fmla="*/ 112169 w 965012"/>
                    <a:gd name="csY87" fmla="*/ 88741 h 195558"/>
                    <a:gd name="csX88" fmla="*/ 904232 w 965012"/>
                    <a:gd name="csY88" fmla="*/ 195558 h 195558"/>
                    <a:gd name="csX89" fmla="*/ 965012 w 965012"/>
                    <a:gd name="csY89" fmla="*/ 195558 h 195558"/>
                    <a:gd name="csX90" fmla="*/ 965012 w 965012"/>
                    <a:gd name="csY90" fmla="*/ 52808 h 195558"/>
                    <a:gd name="csX91" fmla="*/ 904232 w 965012"/>
                    <a:gd name="csY91" fmla="*/ 52808 h 195558"/>
                    <a:gd name="csX92" fmla="*/ 904232 w 965012"/>
                    <a:gd name="csY92" fmla="*/ 195558 h 195558"/>
                    <a:gd name="csX93" fmla="*/ 0 w 965012"/>
                    <a:gd name="csY93" fmla="*/ 195558 h 195558"/>
                    <a:gd name="csX94" fmla="*/ 60781 w 965012"/>
                    <a:gd name="csY94" fmla="*/ 195558 h 195558"/>
                    <a:gd name="csX95" fmla="*/ 60781 w 965012"/>
                    <a:gd name="csY95" fmla="*/ 52808 h 195558"/>
                    <a:gd name="csX96" fmla="*/ 0 w 965012"/>
                    <a:gd name="csY96" fmla="*/ 52808 h 195558"/>
                    <a:gd name="csX97" fmla="*/ 0 w 965012"/>
                    <a:gd name="csY97" fmla="*/ 195558 h 195558"/>
                    <a:gd name="csX98" fmla="*/ 833239 w 965012"/>
                    <a:gd name="csY98" fmla="*/ 0 h 195558"/>
                    <a:gd name="csX99" fmla="*/ 131774 w 965012"/>
                    <a:gd name="csY99" fmla="*/ 0 h 195558"/>
                    <a:gd name="csX100" fmla="*/ 60781 w 965012"/>
                    <a:gd name="csY100" fmla="*/ 52753 h 195558"/>
                    <a:gd name="csX101" fmla="*/ 60781 w 965012"/>
                    <a:gd name="csY101" fmla="*/ 195504 h 195558"/>
                    <a:gd name="csX102" fmla="*/ 904232 w 965012"/>
                    <a:gd name="csY102" fmla="*/ 195504 h 195558"/>
                    <a:gd name="csX103" fmla="*/ 904232 w 965012"/>
                    <a:gd name="csY103" fmla="*/ 52753 h 195558"/>
                    <a:gd name="csX104" fmla="*/ 833239 w 965012"/>
                    <a:gd name="csY104" fmla="*/ 0 h 195558"/>
                    <a:gd name="csX105" fmla="*/ 64331 w 965012"/>
                    <a:gd name="csY105" fmla="*/ 52753 h 195558"/>
                    <a:gd name="csX106" fmla="*/ 907781 w 965012"/>
                    <a:gd name="csY106" fmla="*/ 52753 h 1955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Lst>
                  <a:rect l="l" t="t" r="r" b="b"/>
                  <a:pathLst>
                    <a:path w="965012" h="195558">
                      <a:moveTo>
                        <a:pt x="254482" y="162847"/>
                      </a:moveTo>
                      <a:lnTo>
                        <a:pt x="254482" y="124183"/>
                      </a:lnTo>
                      <a:lnTo>
                        <a:pt x="294566" y="124183"/>
                      </a:lnTo>
                      <a:moveTo>
                        <a:pt x="274524" y="88741"/>
                      </a:moveTo>
                      <a:cubicBezTo>
                        <a:pt x="271958" y="88741"/>
                        <a:pt x="269882" y="90816"/>
                        <a:pt x="269882" y="93383"/>
                      </a:cubicBezTo>
                      <a:cubicBezTo>
                        <a:pt x="269882" y="95950"/>
                        <a:pt x="271958" y="98025"/>
                        <a:pt x="274524" y="98025"/>
                      </a:cubicBezTo>
                      <a:cubicBezTo>
                        <a:pt x="277091" y="98025"/>
                        <a:pt x="279166" y="95950"/>
                        <a:pt x="279166" y="93383"/>
                      </a:cubicBezTo>
                      <a:cubicBezTo>
                        <a:pt x="279166" y="90816"/>
                        <a:pt x="277091" y="88741"/>
                        <a:pt x="274524" y="88741"/>
                      </a:cubicBezTo>
                      <a:close/>
                      <a:moveTo>
                        <a:pt x="325148" y="162847"/>
                      </a:moveTo>
                      <a:lnTo>
                        <a:pt x="325148" y="124183"/>
                      </a:lnTo>
                      <a:lnTo>
                        <a:pt x="365231" y="124183"/>
                      </a:lnTo>
                      <a:moveTo>
                        <a:pt x="345189" y="88741"/>
                      </a:moveTo>
                      <a:cubicBezTo>
                        <a:pt x="342623" y="88741"/>
                        <a:pt x="340548" y="90816"/>
                        <a:pt x="340548" y="93383"/>
                      </a:cubicBezTo>
                      <a:cubicBezTo>
                        <a:pt x="340548" y="95950"/>
                        <a:pt x="342623" y="98025"/>
                        <a:pt x="345189" y="98025"/>
                      </a:cubicBezTo>
                      <a:cubicBezTo>
                        <a:pt x="347756" y="98025"/>
                        <a:pt x="349831" y="95950"/>
                        <a:pt x="349831" y="93383"/>
                      </a:cubicBezTo>
                      <a:cubicBezTo>
                        <a:pt x="349831" y="90816"/>
                        <a:pt x="347756" y="88741"/>
                        <a:pt x="345189" y="88741"/>
                      </a:cubicBezTo>
                      <a:close/>
                      <a:moveTo>
                        <a:pt x="395758" y="162847"/>
                      </a:moveTo>
                      <a:lnTo>
                        <a:pt x="395758" y="124183"/>
                      </a:lnTo>
                      <a:lnTo>
                        <a:pt x="435842" y="124183"/>
                      </a:lnTo>
                      <a:moveTo>
                        <a:pt x="415855" y="88741"/>
                      </a:moveTo>
                      <a:cubicBezTo>
                        <a:pt x="413288" y="88741"/>
                        <a:pt x="411213" y="90816"/>
                        <a:pt x="411213" y="93383"/>
                      </a:cubicBezTo>
                      <a:cubicBezTo>
                        <a:pt x="411213" y="95950"/>
                        <a:pt x="413288" y="98025"/>
                        <a:pt x="415855" y="98025"/>
                      </a:cubicBezTo>
                      <a:cubicBezTo>
                        <a:pt x="418421" y="98025"/>
                        <a:pt x="420497" y="95950"/>
                        <a:pt x="420497" y="93383"/>
                      </a:cubicBezTo>
                      <a:cubicBezTo>
                        <a:pt x="420497" y="90816"/>
                        <a:pt x="418421" y="88741"/>
                        <a:pt x="415855" y="88741"/>
                      </a:cubicBezTo>
                      <a:close/>
                      <a:moveTo>
                        <a:pt x="466424" y="162847"/>
                      </a:moveTo>
                      <a:lnTo>
                        <a:pt x="466424" y="124183"/>
                      </a:lnTo>
                      <a:lnTo>
                        <a:pt x="506507" y="124183"/>
                      </a:lnTo>
                      <a:moveTo>
                        <a:pt x="486465" y="88741"/>
                      </a:moveTo>
                      <a:cubicBezTo>
                        <a:pt x="483899" y="88741"/>
                        <a:pt x="481824" y="90816"/>
                        <a:pt x="481824" y="93383"/>
                      </a:cubicBezTo>
                      <a:cubicBezTo>
                        <a:pt x="481824" y="95950"/>
                        <a:pt x="483899" y="98025"/>
                        <a:pt x="486465" y="98025"/>
                      </a:cubicBezTo>
                      <a:cubicBezTo>
                        <a:pt x="489032" y="98025"/>
                        <a:pt x="491107" y="95950"/>
                        <a:pt x="491107" y="93383"/>
                      </a:cubicBezTo>
                      <a:cubicBezTo>
                        <a:pt x="491107" y="90816"/>
                        <a:pt x="489032" y="88741"/>
                        <a:pt x="486465" y="88741"/>
                      </a:cubicBezTo>
                      <a:close/>
                      <a:moveTo>
                        <a:pt x="537089" y="162847"/>
                      </a:moveTo>
                      <a:lnTo>
                        <a:pt x="537089" y="124183"/>
                      </a:lnTo>
                      <a:lnTo>
                        <a:pt x="577173" y="124183"/>
                      </a:lnTo>
                      <a:moveTo>
                        <a:pt x="557131" y="88741"/>
                      </a:moveTo>
                      <a:cubicBezTo>
                        <a:pt x="554564" y="88741"/>
                        <a:pt x="552489" y="90816"/>
                        <a:pt x="552489" y="93383"/>
                      </a:cubicBezTo>
                      <a:cubicBezTo>
                        <a:pt x="552489" y="95950"/>
                        <a:pt x="554564" y="98025"/>
                        <a:pt x="557131" y="98025"/>
                      </a:cubicBezTo>
                      <a:cubicBezTo>
                        <a:pt x="559697" y="98025"/>
                        <a:pt x="561773" y="95950"/>
                        <a:pt x="561773" y="93383"/>
                      </a:cubicBezTo>
                      <a:cubicBezTo>
                        <a:pt x="561773" y="90816"/>
                        <a:pt x="559697" y="88741"/>
                        <a:pt x="557131" y="88741"/>
                      </a:cubicBezTo>
                      <a:close/>
                      <a:moveTo>
                        <a:pt x="607754" y="162847"/>
                      </a:moveTo>
                      <a:lnTo>
                        <a:pt x="607754" y="124183"/>
                      </a:lnTo>
                      <a:lnTo>
                        <a:pt x="647838" y="124183"/>
                      </a:lnTo>
                      <a:moveTo>
                        <a:pt x="627796" y="88741"/>
                      </a:moveTo>
                      <a:cubicBezTo>
                        <a:pt x="625229" y="88741"/>
                        <a:pt x="623154" y="90816"/>
                        <a:pt x="623154" y="93383"/>
                      </a:cubicBezTo>
                      <a:cubicBezTo>
                        <a:pt x="623154" y="95950"/>
                        <a:pt x="625229" y="98025"/>
                        <a:pt x="627796" y="98025"/>
                      </a:cubicBezTo>
                      <a:cubicBezTo>
                        <a:pt x="630363" y="98025"/>
                        <a:pt x="632438" y="95950"/>
                        <a:pt x="632438" y="93383"/>
                      </a:cubicBezTo>
                      <a:cubicBezTo>
                        <a:pt x="632438" y="90816"/>
                        <a:pt x="630363" y="88741"/>
                        <a:pt x="627796" y="88741"/>
                      </a:cubicBezTo>
                      <a:close/>
                      <a:moveTo>
                        <a:pt x="678419" y="162847"/>
                      </a:moveTo>
                      <a:lnTo>
                        <a:pt x="678419" y="124183"/>
                      </a:lnTo>
                      <a:lnTo>
                        <a:pt x="718503" y="124183"/>
                      </a:lnTo>
                      <a:moveTo>
                        <a:pt x="698461" y="88741"/>
                      </a:moveTo>
                      <a:cubicBezTo>
                        <a:pt x="695895" y="88741"/>
                        <a:pt x="693819" y="90816"/>
                        <a:pt x="693819" y="93383"/>
                      </a:cubicBezTo>
                      <a:cubicBezTo>
                        <a:pt x="693819" y="95950"/>
                        <a:pt x="695895" y="98025"/>
                        <a:pt x="698461" y="98025"/>
                      </a:cubicBezTo>
                      <a:cubicBezTo>
                        <a:pt x="701028" y="98025"/>
                        <a:pt x="703103" y="95950"/>
                        <a:pt x="703103" y="93383"/>
                      </a:cubicBezTo>
                      <a:cubicBezTo>
                        <a:pt x="703103" y="90816"/>
                        <a:pt x="701028" y="88741"/>
                        <a:pt x="698461" y="88741"/>
                      </a:cubicBezTo>
                      <a:close/>
                      <a:moveTo>
                        <a:pt x="749030" y="162847"/>
                      </a:moveTo>
                      <a:lnTo>
                        <a:pt x="749030" y="124183"/>
                      </a:lnTo>
                      <a:lnTo>
                        <a:pt x="789114" y="124183"/>
                      </a:lnTo>
                      <a:moveTo>
                        <a:pt x="769126" y="88741"/>
                      </a:moveTo>
                      <a:cubicBezTo>
                        <a:pt x="766560" y="88741"/>
                        <a:pt x="764485" y="90816"/>
                        <a:pt x="764485" y="93383"/>
                      </a:cubicBezTo>
                      <a:cubicBezTo>
                        <a:pt x="764485" y="95950"/>
                        <a:pt x="766560" y="98025"/>
                        <a:pt x="769126" y="98025"/>
                      </a:cubicBezTo>
                      <a:cubicBezTo>
                        <a:pt x="771693" y="98025"/>
                        <a:pt x="773768" y="95950"/>
                        <a:pt x="773768" y="93383"/>
                      </a:cubicBezTo>
                      <a:cubicBezTo>
                        <a:pt x="773768" y="90816"/>
                        <a:pt x="771693" y="88741"/>
                        <a:pt x="769126" y="88741"/>
                      </a:cubicBezTo>
                      <a:close/>
                      <a:moveTo>
                        <a:pt x="819695" y="162847"/>
                      </a:moveTo>
                      <a:lnTo>
                        <a:pt x="819695" y="124183"/>
                      </a:lnTo>
                      <a:lnTo>
                        <a:pt x="859779" y="124183"/>
                      </a:lnTo>
                      <a:moveTo>
                        <a:pt x="839737" y="88741"/>
                      </a:moveTo>
                      <a:cubicBezTo>
                        <a:pt x="837171" y="88741"/>
                        <a:pt x="835095" y="90816"/>
                        <a:pt x="835095" y="93383"/>
                      </a:cubicBezTo>
                      <a:cubicBezTo>
                        <a:pt x="835095" y="95950"/>
                        <a:pt x="837171" y="98025"/>
                        <a:pt x="839737" y="98025"/>
                      </a:cubicBezTo>
                      <a:cubicBezTo>
                        <a:pt x="842304" y="98025"/>
                        <a:pt x="844379" y="95950"/>
                        <a:pt x="844379" y="93383"/>
                      </a:cubicBezTo>
                      <a:cubicBezTo>
                        <a:pt x="844379" y="90816"/>
                        <a:pt x="842304" y="88741"/>
                        <a:pt x="839737" y="88741"/>
                      </a:cubicBezTo>
                      <a:close/>
                      <a:moveTo>
                        <a:pt x="175462" y="124183"/>
                      </a:moveTo>
                      <a:lnTo>
                        <a:pt x="175462" y="162847"/>
                      </a:lnTo>
                      <a:lnTo>
                        <a:pt x="223573" y="162847"/>
                      </a:lnTo>
                      <a:lnTo>
                        <a:pt x="223573" y="124183"/>
                      </a:lnTo>
                      <a:lnTo>
                        <a:pt x="175462" y="124183"/>
                      </a:lnTo>
                      <a:close/>
                      <a:moveTo>
                        <a:pt x="127187" y="150396"/>
                      </a:moveTo>
                      <a:cubicBezTo>
                        <a:pt x="127187" y="142095"/>
                        <a:pt x="120470" y="135378"/>
                        <a:pt x="112169" y="135378"/>
                      </a:cubicBezTo>
                      <a:cubicBezTo>
                        <a:pt x="103868" y="135378"/>
                        <a:pt x="97151" y="142095"/>
                        <a:pt x="97151" y="150396"/>
                      </a:cubicBezTo>
                      <a:cubicBezTo>
                        <a:pt x="97151" y="158697"/>
                        <a:pt x="103868" y="165414"/>
                        <a:pt x="112169" y="165414"/>
                      </a:cubicBezTo>
                      <a:cubicBezTo>
                        <a:pt x="120470" y="165414"/>
                        <a:pt x="127187" y="158697"/>
                        <a:pt x="127187" y="150396"/>
                      </a:cubicBezTo>
                      <a:lnTo>
                        <a:pt x="127187" y="150396"/>
                      </a:lnTo>
                      <a:close/>
                      <a:moveTo>
                        <a:pt x="112169" y="88741"/>
                      </a:moveTo>
                      <a:cubicBezTo>
                        <a:pt x="109602" y="88741"/>
                        <a:pt x="107527" y="90816"/>
                        <a:pt x="107527" y="93383"/>
                      </a:cubicBezTo>
                      <a:cubicBezTo>
                        <a:pt x="107527" y="95950"/>
                        <a:pt x="109602" y="98025"/>
                        <a:pt x="112169" y="98025"/>
                      </a:cubicBezTo>
                      <a:cubicBezTo>
                        <a:pt x="114735" y="98025"/>
                        <a:pt x="116811" y="95950"/>
                        <a:pt x="116811" y="93383"/>
                      </a:cubicBezTo>
                      <a:cubicBezTo>
                        <a:pt x="116811" y="90816"/>
                        <a:pt x="114735" y="88741"/>
                        <a:pt x="112169" y="88741"/>
                      </a:cubicBezTo>
                      <a:close/>
                      <a:moveTo>
                        <a:pt x="904232" y="195558"/>
                      </a:moveTo>
                      <a:lnTo>
                        <a:pt x="965012" y="195558"/>
                      </a:lnTo>
                      <a:lnTo>
                        <a:pt x="965012" y="52808"/>
                      </a:lnTo>
                      <a:lnTo>
                        <a:pt x="904232" y="52808"/>
                      </a:lnTo>
                      <a:lnTo>
                        <a:pt x="904232" y="195558"/>
                      </a:lnTo>
                      <a:close/>
                      <a:moveTo>
                        <a:pt x="0" y="195558"/>
                      </a:moveTo>
                      <a:lnTo>
                        <a:pt x="60781" y="195558"/>
                      </a:lnTo>
                      <a:lnTo>
                        <a:pt x="60781" y="52808"/>
                      </a:lnTo>
                      <a:lnTo>
                        <a:pt x="0" y="52808"/>
                      </a:lnTo>
                      <a:lnTo>
                        <a:pt x="0" y="195558"/>
                      </a:lnTo>
                      <a:close/>
                      <a:moveTo>
                        <a:pt x="833239" y="0"/>
                      </a:moveTo>
                      <a:lnTo>
                        <a:pt x="131774" y="0"/>
                      </a:lnTo>
                      <a:lnTo>
                        <a:pt x="60781" y="52753"/>
                      </a:lnTo>
                      <a:lnTo>
                        <a:pt x="60781" y="195504"/>
                      </a:lnTo>
                      <a:lnTo>
                        <a:pt x="904232" y="195504"/>
                      </a:lnTo>
                      <a:lnTo>
                        <a:pt x="904232" y="52753"/>
                      </a:lnTo>
                      <a:lnTo>
                        <a:pt x="833239" y="0"/>
                      </a:lnTo>
                      <a:close/>
                      <a:moveTo>
                        <a:pt x="64331" y="52753"/>
                      </a:moveTo>
                      <a:lnTo>
                        <a:pt x="907781" y="52753"/>
                      </a:lnTo>
                    </a:path>
                  </a:pathLst>
                </a:custGeom>
                <a:solidFill>
                  <a:schemeClr val="tx1">
                    <a:lumMod val="95000"/>
                    <a:lumOff val="5000"/>
                  </a:schemeClr>
                </a:solidFill>
                <a:ln w="9525" cap="flat">
                  <a:solidFill>
                    <a:schemeClr val="bg1"/>
                  </a:solidFill>
                  <a:prstDash val="solid"/>
                  <a:miter/>
                </a:ln>
              </p:spPr>
              <p:txBody>
                <a:bodyPr/>
                <a:lstStyle/>
                <a:p>
                  <a:endParaRPr lang="en-US"/>
                </a:p>
              </p:txBody>
            </p:sp>
            <p:sp>
              <p:nvSpPr>
                <p:cNvPr id="167" name="Rectangle 166">
                  <a:extLst>
                    <a:ext uri="{FF2B5EF4-FFF2-40B4-BE49-F238E27FC236}">
                      <a16:creationId xmlns:a16="http://schemas.microsoft.com/office/drawing/2014/main" id="{2BE1C3AD-5FCA-2AF1-FA55-DF9E9CA4DC21}"/>
                    </a:ext>
                  </a:extLst>
                </p:cNvPr>
                <p:cNvSpPr/>
                <p:nvPr/>
              </p:nvSpPr>
              <p:spPr bwMode="auto">
                <a:xfrm>
                  <a:off x="3728936" y="2759357"/>
                  <a:ext cx="1003292" cy="170396"/>
                </a:xfrm>
                <a:prstGeom prst="rect">
                  <a:avLst/>
                </a:prstGeom>
                <a:no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68" name="Rectangle 167">
                  <a:extLst>
                    <a:ext uri="{FF2B5EF4-FFF2-40B4-BE49-F238E27FC236}">
                      <a16:creationId xmlns:a16="http://schemas.microsoft.com/office/drawing/2014/main" id="{2CAB78FA-6CC7-90E4-8369-36BCBCD77B53}"/>
                    </a:ext>
                  </a:extLst>
                </p:cNvPr>
                <p:cNvSpPr/>
                <p:nvPr/>
              </p:nvSpPr>
              <p:spPr bwMode="auto">
                <a:xfrm>
                  <a:off x="473858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69" name="Rectangle 168">
                  <a:extLst>
                    <a:ext uri="{FF2B5EF4-FFF2-40B4-BE49-F238E27FC236}">
                      <a16:creationId xmlns:a16="http://schemas.microsoft.com/office/drawing/2014/main" id="{9A847400-FCD9-34B7-CED1-4039125E7E92}"/>
                    </a:ext>
                  </a:extLst>
                </p:cNvPr>
                <p:cNvSpPr/>
                <p:nvPr/>
              </p:nvSpPr>
              <p:spPr bwMode="auto">
                <a:xfrm>
                  <a:off x="3652736" y="2759357"/>
                  <a:ext cx="77536" cy="170396"/>
                </a:xfrm>
                <a:prstGeom prst="rect">
                  <a:avLst/>
                </a:prstGeom>
                <a:solidFill>
                  <a:schemeClr val="bg1">
                    <a:lumMod val="95000"/>
                  </a:schemeClr>
                </a:solidFill>
                <a:ln w="19050" cap="sq" algn="ctr">
                  <a:solidFill>
                    <a:schemeClr val="tx1"/>
                  </a:solid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pic>
            <p:nvPicPr>
              <p:cNvPr id="163" name="Picture 162" descr="A yellow rectangles on a black background&#10;&#10;AI-generated content may be incorrect.">
                <a:extLst>
                  <a:ext uri="{FF2B5EF4-FFF2-40B4-BE49-F238E27FC236}">
                    <a16:creationId xmlns:a16="http://schemas.microsoft.com/office/drawing/2014/main" id="{B3AA288E-BBAF-AB2F-1C9F-9D88C17A623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38294" y="2358666"/>
                <a:ext cx="1711815" cy="591759"/>
              </a:xfrm>
              <a:prstGeom prst="rect">
                <a:avLst/>
              </a:prstGeom>
              <a:noFill/>
            </p:spPr>
          </p:pic>
        </p:grpSp>
        <p:cxnSp>
          <p:nvCxnSpPr>
            <p:cNvPr id="161" name="Straight Connector 160">
              <a:extLst>
                <a:ext uri="{FF2B5EF4-FFF2-40B4-BE49-F238E27FC236}">
                  <a16:creationId xmlns:a16="http://schemas.microsoft.com/office/drawing/2014/main" id="{5E79934F-5C2A-4793-2341-2D0C68BF5180}"/>
                </a:ext>
              </a:extLst>
            </p:cNvPr>
            <p:cNvCxnSpPr>
              <a:cxnSpLocks/>
            </p:cNvCxnSpPr>
            <p:nvPr/>
          </p:nvCxnSpPr>
          <p:spPr bwMode="auto">
            <a:xfrm>
              <a:off x="3643850" y="2759356"/>
              <a:ext cx="1182532" cy="0"/>
            </a:xfrm>
            <a:prstGeom prst="line">
              <a:avLst/>
            </a:prstGeom>
            <a:solidFill>
              <a:schemeClr val="accent2"/>
            </a:solidFill>
            <a:ln w="6350" cap="flat" cmpd="sng" algn="ctr">
              <a:solidFill>
                <a:schemeClr val="tx1">
                  <a:lumMod val="75000"/>
                  <a:lumOff val="25000"/>
                </a:schemeClr>
              </a:solidFill>
              <a:prstDash val="solid"/>
              <a:round/>
              <a:headEnd type="none" w="med" len="med"/>
              <a:tailEnd type="none" w="med" len="med"/>
            </a:ln>
            <a:effectLst/>
          </p:spPr>
        </p:cxnSp>
      </p:grpSp>
      <p:sp>
        <p:nvSpPr>
          <p:cNvPr id="4" name="Rectangle 3">
            <a:extLst>
              <a:ext uri="{FF2B5EF4-FFF2-40B4-BE49-F238E27FC236}">
                <a16:creationId xmlns:a16="http://schemas.microsoft.com/office/drawing/2014/main" id="{9DA683AB-5FF9-0DAF-B475-B2BEB1905700}"/>
              </a:ext>
            </a:extLst>
          </p:cNvPr>
          <p:cNvSpPr/>
          <p:nvPr/>
        </p:nvSpPr>
        <p:spPr bwMode="auto">
          <a:xfrm>
            <a:off x="-10198" y="5018164"/>
            <a:ext cx="12202198" cy="1839835"/>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6" name="Maia Logo">
            <a:extLst>
              <a:ext uri="{FF2B5EF4-FFF2-40B4-BE49-F238E27FC236}">
                <a16:creationId xmlns:a16="http://schemas.microsoft.com/office/drawing/2014/main" id="{978CD000-6262-D076-3EDA-50B9DFD78925}"/>
              </a:ext>
            </a:extLst>
          </p:cNvPr>
          <p:cNvGrpSpPr/>
          <p:nvPr/>
        </p:nvGrpSpPr>
        <p:grpSpPr>
          <a:xfrm>
            <a:off x="9982492" y="6181218"/>
            <a:ext cx="1700948" cy="415640"/>
            <a:chOff x="1447800" y="2292350"/>
            <a:chExt cx="7774788" cy="1899831"/>
          </a:xfrm>
        </p:grpSpPr>
        <p:sp>
          <p:nvSpPr>
            <p:cNvPr id="9" name="Freeform 20">
              <a:extLst>
                <a:ext uri="{FF2B5EF4-FFF2-40B4-BE49-F238E27FC236}">
                  <a16:creationId xmlns:a16="http://schemas.microsoft.com/office/drawing/2014/main" id="{BC7227D8-CB4F-42DF-53D1-840AD093C1DF}"/>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10" name="Freeform 21">
              <a:extLst>
                <a:ext uri="{FF2B5EF4-FFF2-40B4-BE49-F238E27FC236}">
                  <a16:creationId xmlns:a16="http://schemas.microsoft.com/office/drawing/2014/main" id="{DA7D2756-72E8-35DD-EDF1-117DACC9DDC1}"/>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5" name="Freeform 22">
              <a:extLst>
                <a:ext uri="{FF2B5EF4-FFF2-40B4-BE49-F238E27FC236}">
                  <a16:creationId xmlns:a16="http://schemas.microsoft.com/office/drawing/2014/main" id="{6BED38BA-26DA-5765-DBDF-CD3CBFB6DB6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6" name="Slide Number Placeholder 21">
            <a:extLst>
              <a:ext uri="{FF2B5EF4-FFF2-40B4-BE49-F238E27FC236}">
                <a16:creationId xmlns:a16="http://schemas.microsoft.com/office/drawing/2014/main" id="{B9F23FFE-CF67-EB24-828E-C1D8E34FAB99}"/>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35  © 2026 MaiaEdge</a:t>
            </a:r>
          </a:p>
        </p:txBody>
      </p:sp>
      <p:sp>
        <p:nvSpPr>
          <p:cNvPr id="27" name="TextBox 26">
            <a:extLst>
              <a:ext uri="{FF2B5EF4-FFF2-40B4-BE49-F238E27FC236}">
                <a16:creationId xmlns:a16="http://schemas.microsoft.com/office/drawing/2014/main" id="{0826CBCC-ABA4-0B57-223F-AC203848FF6F}"/>
              </a:ext>
            </a:extLst>
          </p:cNvPr>
          <p:cNvSpPr txBox="1"/>
          <p:nvPr/>
        </p:nvSpPr>
        <p:spPr bwMode="auto">
          <a:xfrm>
            <a:off x="1146359" y="5674082"/>
            <a:ext cx="3187427"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DCI </a:t>
            </a:r>
          </a:p>
          <a:p>
            <a:pPr algn="ctr">
              <a:spcBef>
                <a:spcPts val="0"/>
              </a:spcBef>
            </a:pPr>
            <a:r>
              <a:rPr lang="en-US" sz="1800" b="0" dirty="0">
                <a:solidFill>
                  <a:schemeClr val="accent2"/>
                </a:solidFill>
                <a:latin typeface="+mj-lt"/>
              </a:rPr>
              <a:t>Deterministic performance across DCs</a:t>
            </a:r>
          </a:p>
          <a:p>
            <a:pPr algn="ctr">
              <a:spcBef>
                <a:spcPts val="0"/>
              </a:spcBef>
            </a:pPr>
            <a:endParaRPr lang="en-US" sz="1800" b="0" dirty="0">
              <a:solidFill>
                <a:schemeClr val="accent2"/>
              </a:solidFill>
              <a:latin typeface="+mj-lt"/>
            </a:endParaRPr>
          </a:p>
        </p:txBody>
      </p:sp>
      <p:sp>
        <p:nvSpPr>
          <p:cNvPr id="28" name="TextBox 27">
            <a:extLst>
              <a:ext uri="{FF2B5EF4-FFF2-40B4-BE49-F238E27FC236}">
                <a16:creationId xmlns:a16="http://schemas.microsoft.com/office/drawing/2014/main" id="{EC47085B-9823-547A-CFD3-A8B6E2B6521D}"/>
              </a:ext>
            </a:extLst>
          </p:cNvPr>
          <p:cNvSpPr txBox="1"/>
          <p:nvPr/>
        </p:nvSpPr>
        <p:spPr bwMode="auto">
          <a:xfrm>
            <a:off x="7941411" y="5600323"/>
            <a:ext cx="2704103" cy="500046"/>
          </a:xfrm>
          <a:prstGeom prst="rect">
            <a:avLst/>
          </a:prstGeom>
          <a:noFill/>
          <a:ln w="12700" cap="sq" algn="ctr">
            <a:noFill/>
            <a:miter lim="800000"/>
            <a:headEnd/>
            <a:tailEnd/>
          </a:ln>
          <a:effectLst/>
        </p:spPr>
        <p:txBody>
          <a:bodyPr wrap="square" lIns="0" rIns="18288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Visibility </a:t>
            </a:r>
          </a:p>
          <a:p>
            <a:pPr algn="ctr">
              <a:spcBef>
                <a:spcPts val="0"/>
              </a:spcBef>
              <a:spcAft>
                <a:spcPts val="600"/>
              </a:spcAft>
            </a:pPr>
            <a:r>
              <a:rPr lang="en-US" sz="1800" b="0" dirty="0">
                <a:solidFill>
                  <a:schemeClr val="accent2"/>
                </a:solidFill>
                <a:latin typeface="+mj-lt"/>
              </a:rPr>
              <a:t>See every network hop </a:t>
            </a:r>
          </a:p>
        </p:txBody>
      </p:sp>
      <p:grpSp>
        <p:nvGrpSpPr>
          <p:cNvPr id="29" name="Group 28">
            <a:extLst>
              <a:ext uri="{FF2B5EF4-FFF2-40B4-BE49-F238E27FC236}">
                <a16:creationId xmlns:a16="http://schemas.microsoft.com/office/drawing/2014/main" id="{6FA2100F-13B0-C485-944F-7112324F45EF}"/>
              </a:ext>
            </a:extLst>
          </p:cNvPr>
          <p:cNvGrpSpPr/>
          <p:nvPr/>
        </p:nvGrpSpPr>
        <p:grpSpPr>
          <a:xfrm>
            <a:off x="4504071" y="5569073"/>
            <a:ext cx="3183857" cy="366820"/>
            <a:chOff x="4863165" y="5274541"/>
            <a:chExt cx="3183857" cy="366820"/>
          </a:xfrm>
        </p:grpSpPr>
        <p:cxnSp>
          <p:nvCxnSpPr>
            <p:cNvPr id="30" name="Straight Connector 29">
              <a:extLst>
                <a:ext uri="{FF2B5EF4-FFF2-40B4-BE49-F238E27FC236}">
                  <a16:creationId xmlns:a16="http://schemas.microsoft.com/office/drawing/2014/main" id="{DA5BF2AE-374E-9759-B4F9-ED83C4173943}"/>
                </a:ext>
              </a:extLst>
            </p:cNvPr>
            <p:cNvCxnSpPr>
              <a:cxnSpLocks/>
            </p:cNvCxnSpPr>
            <p:nvPr/>
          </p:nvCxnSpPr>
          <p:spPr bwMode="auto">
            <a:xfrm>
              <a:off x="4863165"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A7873878-EFCB-5804-EF86-5875BE82ACD6}"/>
                </a:ext>
              </a:extLst>
            </p:cNvPr>
            <p:cNvCxnSpPr>
              <a:cxnSpLocks/>
            </p:cNvCxnSpPr>
            <p:nvPr/>
          </p:nvCxnSpPr>
          <p:spPr bwMode="auto">
            <a:xfrm>
              <a:off x="8047022" y="5274541"/>
              <a:ext cx="0" cy="366820"/>
            </a:xfrm>
            <a:prstGeom prst="line">
              <a:avLst/>
            </a:prstGeom>
            <a:solidFill>
              <a:schemeClr val="accent2"/>
            </a:solidFill>
            <a:ln w="19050" cap="flat" cmpd="sng" algn="ctr">
              <a:solidFill>
                <a:schemeClr val="accent1"/>
              </a:solidFill>
              <a:prstDash val="solid"/>
              <a:round/>
              <a:headEnd type="none" w="med" len="med"/>
              <a:tailEnd type="none" w="med" len="med"/>
            </a:ln>
            <a:effectLst/>
          </p:spPr>
        </p:cxnSp>
      </p:grpSp>
      <p:sp>
        <p:nvSpPr>
          <p:cNvPr id="34" name="TextBox 33">
            <a:extLst>
              <a:ext uri="{FF2B5EF4-FFF2-40B4-BE49-F238E27FC236}">
                <a16:creationId xmlns:a16="http://schemas.microsoft.com/office/drawing/2014/main" id="{CDF29350-123A-D96B-5E15-3809DB3C7C86}"/>
              </a:ext>
            </a:extLst>
          </p:cNvPr>
          <p:cNvSpPr txBox="1"/>
          <p:nvPr/>
        </p:nvSpPr>
        <p:spPr bwMode="auto">
          <a:xfrm>
            <a:off x="4680833" y="5685870"/>
            <a:ext cx="2978045" cy="500046"/>
          </a:xfrm>
          <a:prstGeom prst="rect">
            <a:avLst/>
          </a:prstGeom>
          <a:noFill/>
          <a:ln w="12700" cap="sq" algn="ctr">
            <a:noFill/>
            <a:miter lim="800000"/>
            <a:headEnd/>
            <a:tailEnd/>
          </a:ln>
          <a:effectLst/>
        </p:spPr>
        <p:txBody>
          <a:bodyPr wrap="square" lIns="0" tIns="45720" rIns="182880" bIns="45720" rtlCol="0" anchor="ctr" anchorCtr="1"/>
          <a:lstStyle>
            <a:defPPr>
              <a:defRPr lang="en-US"/>
            </a:defPPr>
            <a:lvl1pPr>
              <a:lnSpc>
                <a:spcPct val="95000"/>
              </a:lnSpc>
              <a:spcBef>
                <a:spcPts val="1080"/>
              </a:spcBef>
              <a:defRPr sz="1600" b="1"/>
            </a:lvl1pPr>
          </a:lstStyle>
          <a:p>
            <a:pPr algn="ctr">
              <a:spcBef>
                <a:spcPts val="0"/>
              </a:spcBef>
              <a:spcAft>
                <a:spcPts val="600"/>
              </a:spcAft>
            </a:pPr>
            <a:r>
              <a:rPr lang="en-US" sz="1800" b="0" dirty="0">
                <a:solidFill>
                  <a:schemeClr val="accent1"/>
                </a:solidFill>
                <a:latin typeface="+mj-lt"/>
              </a:rPr>
              <a:t>Extend Reach </a:t>
            </a:r>
          </a:p>
          <a:p>
            <a:pPr algn="ctr">
              <a:spcBef>
                <a:spcPts val="0"/>
              </a:spcBef>
            </a:pPr>
            <a:r>
              <a:rPr lang="en-US" sz="1800" b="0" dirty="0">
                <a:solidFill>
                  <a:schemeClr val="accent2"/>
                </a:solidFill>
                <a:latin typeface="+mj-lt"/>
              </a:rPr>
              <a:t>One PBC anywhere, instant fabric extension</a:t>
            </a:r>
          </a:p>
          <a:p>
            <a:pPr algn="ctr">
              <a:spcBef>
                <a:spcPts val="0"/>
              </a:spcBef>
            </a:pPr>
            <a:endParaRPr lang="en-US" sz="1800" b="0" dirty="0">
              <a:solidFill>
                <a:schemeClr val="accent2"/>
              </a:solidFill>
              <a:latin typeface="+mj-lt"/>
            </a:endParaRPr>
          </a:p>
        </p:txBody>
      </p:sp>
    </p:spTree>
    <p:custDataLst>
      <p:tags r:id="rId1"/>
    </p:custDataLst>
    <p:extLst>
      <p:ext uri="{BB962C8B-B14F-4D97-AF65-F5344CB8AC3E}">
        <p14:creationId xmlns:p14="http://schemas.microsoft.com/office/powerpoint/2010/main" val="404817623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93C92E86-B89F-B105-794F-8208856B161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E69F1F7-3ED5-B650-5B71-FE566CA5FE0C}"/>
              </a:ext>
            </a:extLst>
          </p:cNvPr>
          <p:cNvPicPr>
            <a:picLocks noChangeAspect="1"/>
          </p:cNvPicPr>
          <p:nvPr/>
        </p:nvPicPr>
        <p:blipFill>
          <a:blip r:embed="rId3" cstate="screen">
            <a:extLst>
              <a:ext uri="{28A0092B-C50C-407E-A947-70E740481C1C}">
                <a14:useLocalDpi xmlns:a14="http://schemas.microsoft.com/office/drawing/2010/main"/>
              </a:ext>
            </a:extLst>
          </a:blip>
          <a:srcRect l="30465"/>
          <a:stretch>
            <a:fillRect/>
          </a:stretch>
        </p:blipFill>
        <p:spPr>
          <a:xfrm>
            <a:off x="-2" y="793169"/>
            <a:ext cx="6844977" cy="3756915"/>
          </a:xfrm>
          <a:prstGeom prst="rect">
            <a:avLst/>
          </a:prstGeom>
        </p:spPr>
      </p:pic>
      <p:sp>
        <p:nvSpPr>
          <p:cNvPr id="2" name="Slide Number Placeholder 1">
            <a:extLst>
              <a:ext uri="{FF2B5EF4-FFF2-40B4-BE49-F238E27FC236}">
                <a16:creationId xmlns:a16="http://schemas.microsoft.com/office/drawing/2014/main" id="{7D90EC9A-4DA6-AFFE-CAE4-37E9043ADB4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37</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926DAC73-9F80-69F4-5A8C-2C508659BAE7}"/>
              </a:ext>
            </a:extLst>
          </p:cNvPr>
          <p:cNvSpPr>
            <a:spLocks noGrp="1"/>
          </p:cNvSpPr>
          <p:nvPr>
            <p:ph type="title"/>
          </p:nvPr>
        </p:nvSpPr>
        <p:spPr>
          <a:xfrm>
            <a:off x="510363" y="287635"/>
            <a:ext cx="11171274" cy="1107996"/>
          </a:xfrm>
        </p:spPr>
        <p:txBody>
          <a:bodyPr/>
          <a:lstStyle/>
          <a:p>
            <a:pPr algn="ctr"/>
            <a:r>
              <a:rPr lang="en-US">
                <a:solidFill>
                  <a:schemeClr val="bg1"/>
                </a:solidFill>
              </a:rPr>
              <a:t>The Infrastructure</a:t>
            </a:r>
          </a:p>
        </p:txBody>
      </p:sp>
      <p:sp>
        <p:nvSpPr>
          <p:cNvPr id="5" name="TextBox 4">
            <a:extLst>
              <a:ext uri="{FF2B5EF4-FFF2-40B4-BE49-F238E27FC236}">
                <a16:creationId xmlns:a16="http://schemas.microsoft.com/office/drawing/2014/main" id="{8C482BB9-57A9-C146-D0D4-C8B028621E38}"/>
              </a:ext>
            </a:extLst>
          </p:cNvPr>
          <p:cNvSpPr txBox="1"/>
          <p:nvPr/>
        </p:nvSpPr>
        <p:spPr bwMode="auto">
          <a:xfrm>
            <a:off x="3045913" y="1488549"/>
            <a:ext cx="6100174" cy="307777"/>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Push-button easy and hardwire simple</a:t>
            </a:r>
          </a:p>
        </p:txBody>
      </p:sp>
      <p:grpSp>
        <p:nvGrpSpPr>
          <p:cNvPr id="76" name="Group 75">
            <a:extLst>
              <a:ext uri="{FF2B5EF4-FFF2-40B4-BE49-F238E27FC236}">
                <a16:creationId xmlns:a16="http://schemas.microsoft.com/office/drawing/2014/main" id="{C559CAEE-9E2F-ECC8-FD7A-EB18A10B2723}"/>
              </a:ext>
            </a:extLst>
          </p:cNvPr>
          <p:cNvGrpSpPr/>
          <p:nvPr/>
        </p:nvGrpSpPr>
        <p:grpSpPr>
          <a:xfrm>
            <a:off x="8268868" y="2210979"/>
            <a:ext cx="1934850" cy="1376916"/>
            <a:chOff x="7343010" y="620941"/>
            <a:chExt cx="1193368" cy="849248"/>
          </a:xfrm>
        </p:grpSpPr>
        <p:sp>
          <p:nvSpPr>
            <p:cNvPr id="77" name="Freeform 76">
              <a:extLst>
                <a:ext uri="{FF2B5EF4-FFF2-40B4-BE49-F238E27FC236}">
                  <a16:creationId xmlns:a16="http://schemas.microsoft.com/office/drawing/2014/main" id="{92F0CC1C-B119-8CF8-D151-12FA20522BC8}"/>
                </a:ext>
              </a:extLst>
            </p:cNvPr>
            <p:cNvSpPr/>
            <p:nvPr/>
          </p:nvSpPr>
          <p:spPr>
            <a:xfrm>
              <a:off x="7343010" y="620941"/>
              <a:ext cx="1193368" cy="740273"/>
            </a:xfrm>
            <a:custGeom>
              <a:avLst/>
              <a:gdLst>
                <a:gd name="csX0" fmla="*/ 169776 w 1193368"/>
                <a:gd name="csY0" fmla="*/ 739326 h 740273"/>
                <a:gd name="csX1" fmla="*/ 153 w 1193368"/>
                <a:gd name="csY1" fmla="*/ 582022 h 740273"/>
                <a:gd name="csX2" fmla="*/ 153666 w 1193368"/>
                <a:gd name="csY2" fmla="*/ 409556 h 740273"/>
                <a:gd name="csX3" fmla="*/ 151771 w 1193368"/>
                <a:gd name="csY3" fmla="*/ 380180 h 740273"/>
                <a:gd name="csX4" fmla="*/ 338451 w 1193368"/>
                <a:gd name="csY4" fmla="*/ 193499 h 740273"/>
                <a:gd name="csX5" fmla="*/ 437003 w 1193368"/>
                <a:gd name="csY5" fmla="*/ 221928 h 740273"/>
                <a:gd name="csX6" fmla="*/ 756350 w 1193368"/>
                <a:gd name="csY6" fmla="*/ 4924 h 740273"/>
                <a:gd name="csX7" fmla="*/ 978092 w 1193368"/>
                <a:gd name="csY7" fmla="*/ 280680 h 740273"/>
                <a:gd name="csX8" fmla="*/ 1193200 w 1193368"/>
                <a:gd name="csY8" fmla="*/ 518532 h 740273"/>
                <a:gd name="csX9" fmla="*/ 958192 w 1193368"/>
                <a:gd name="csY9" fmla="*/ 740274 h 7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93368" h="740273">
                  <a:moveTo>
                    <a:pt x="169776" y="739326"/>
                  </a:moveTo>
                  <a:cubicBezTo>
                    <a:pt x="80700" y="740274"/>
                    <a:pt x="5838" y="671098"/>
                    <a:pt x="153" y="582022"/>
                  </a:cubicBezTo>
                  <a:cubicBezTo>
                    <a:pt x="-3638" y="492946"/>
                    <a:pt x="63643" y="416189"/>
                    <a:pt x="153666" y="409556"/>
                  </a:cubicBezTo>
                  <a:cubicBezTo>
                    <a:pt x="151771" y="400080"/>
                    <a:pt x="151771" y="389656"/>
                    <a:pt x="151771" y="380180"/>
                  </a:cubicBezTo>
                  <a:cubicBezTo>
                    <a:pt x="151771" y="276890"/>
                    <a:pt x="235161" y="193499"/>
                    <a:pt x="338451" y="193499"/>
                  </a:cubicBezTo>
                  <a:cubicBezTo>
                    <a:pt x="373513" y="193499"/>
                    <a:pt x="407627" y="202976"/>
                    <a:pt x="437003" y="221928"/>
                  </a:cubicBezTo>
                  <a:cubicBezTo>
                    <a:pt x="465432" y="74100"/>
                    <a:pt x="607574" y="-23504"/>
                    <a:pt x="756350" y="4924"/>
                  </a:cubicBezTo>
                  <a:cubicBezTo>
                    <a:pt x="888068" y="29562"/>
                    <a:pt x="981882" y="147066"/>
                    <a:pt x="978092" y="280680"/>
                  </a:cubicBezTo>
                  <a:cubicBezTo>
                    <a:pt x="1102229" y="288261"/>
                    <a:pt x="1197939" y="394394"/>
                    <a:pt x="1193200" y="518532"/>
                  </a:cubicBezTo>
                  <a:cubicBezTo>
                    <a:pt x="1188462" y="640774"/>
                    <a:pt x="1083277" y="740274"/>
                    <a:pt x="958192" y="740274"/>
                  </a:cubicBezTo>
                </a:path>
              </a:pathLst>
            </a:custGeom>
            <a:noFill/>
            <a:ln w="25400" cap="flat">
              <a:solidFill>
                <a:schemeClr val="bg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77">
              <a:extLst>
                <a:ext uri="{FF2B5EF4-FFF2-40B4-BE49-F238E27FC236}">
                  <a16:creationId xmlns:a16="http://schemas.microsoft.com/office/drawing/2014/main" id="{78052F67-A574-15F6-AE20-3A64CFD40D60}"/>
                </a:ext>
              </a:extLst>
            </p:cNvPr>
            <p:cNvSpPr/>
            <p:nvPr/>
          </p:nvSpPr>
          <p:spPr>
            <a:xfrm>
              <a:off x="7619867" y="957530"/>
              <a:ext cx="578993" cy="512659"/>
            </a:xfrm>
            <a:custGeom>
              <a:avLst/>
              <a:gdLst>
                <a:gd name="csX0" fmla="*/ 550565 w 578993"/>
                <a:gd name="csY0" fmla="*/ 512660 h 512659"/>
                <a:gd name="csX1" fmla="*/ 550565 w 578993"/>
                <a:gd name="csY1" fmla="*/ 228375 h 512659"/>
                <a:gd name="csX2" fmla="*/ 578993 w 578993"/>
                <a:gd name="csY2" fmla="*/ 228375 h 512659"/>
                <a:gd name="csX3" fmla="*/ 578993 w 578993"/>
                <a:gd name="csY3" fmla="*/ 512660 h 512659"/>
                <a:gd name="csX4" fmla="*/ 550565 w 578993"/>
                <a:gd name="csY4" fmla="*/ 512660 h 512659"/>
                <a:gd name="csX5" fmla="*/ 413160 w 578993"/>
                <a:gd name="csY5" fmla="*/ 512660 h 512659"/>
                <a:gd name="csX6" fmla="*/ 413160 w 578993"/>
                <a:gd name="csY6" fmla="*/ 302289 h 512659"/>
                <a:gd name="csX7" fmla="*/ 441589 w 578993"/>
                <a:gd name="csY7" fmla="*/ 302289 h 512659"/>
                <a:gd name="csX8" fmla="*/ 441589 w 578993"/>
                <a:gd name="csY8" fmla="*/ 512660 h 512659"/>
                <a:gd name="csX9" fmla="*/ 413160 w 578993"/>
                <a:gd name="csY9" fmla="*/ 512660 h 512659"/>
                <a:gd name="csX10" fmla="*/ 274808 w 578993"/>
                <a:gd name="csY10" fmla="*/ 512660 h 512659"/>
                <a:gd name="csX11" fmla="*/ 274808 w 578993"/>
                <a:gd name="csY11" fmla="*/ 263437 h 512659"/>
                <a:gd name="csX12" fmla="*/ 303237 w 578993"/>
                <a:gd name="csY12" fmla="*/ 263437 h 512659"/>
                <a:gd name="csX13" fmla="*/ 303237 w 578993"/>
                <a:gd name="csY13" fmla="*/ 512660 h 512659"/>
                <a:gd name="csX14" fmla="*/ 274808 w 578993"/>
                <a:gd name="csY14" fmla="*/ 512660 h 512659"/>
                <a:gd name="csX15" fmla="*/ 137404 w 578993"/>
                <a:gd name="csY15" fmla="*/ 512660 h 512659"/>
                <a:gd name="csX16" fmla="*/ 137404 w 578993"/>
                <a:gd name="csY16" fmla="*/ 336403 h 512659"/>
                <a:gd name="csX17" fmla="*/ 165833 w 578993"/>
                <a:gd name="csY17" fmla="*/ 336403 h 512659"/>
                <a:gd name="csX18" fmla="*/ 165833 w 578993"/>
                <a:gd name="csY18" fmla="*/ 512660 h 512659"/>
                <a:gd name="csX19" fmla="*/ 137404 w 578993"/>
                <a:gd name="csY19" fmla="*/ 512660 h 512659"/>
                <a:gd name="csX20" fmla="*/ 0 w 578993"/>
                <a:gd name="csY20" fmla="*/ 512660 h 512659"/>
                <a:gd name="csX21" fmla="*/ 0 w 578993"/>
                <a:gd name="csY21" fmla="*/ 375256 h 512659"/>
                <a:gd name="csX22" fmla="*/ 28428 w 578993"/>
                <a:gd name="csY22" fmla="*/ 375256 h 512659"/>
                <a:gd name="csX23" fmla="*/ 28428 w 578993"/>
                <a:gd name="csY23" fmla="*/ 512660 h 512659"/>
                <a:gd name="csX24" fmla="*/ 0 w 578993"/>
                <a:gd name="csY24" fmla="*/ 512660 h 512659"/>
                <a:gd name="csX25" fmla="*/ 424532 w 578993"/>
                <a:gd name="csY25" fmla="*/ 191418 h 512659"/>
                <a:gd name="csX26" fmla="*/ 424532 w 578993"/>
                <a:gd name="csY26" fmla="*/ 0 h 512659"/>
                <a:gd name="csX27" fmla="*/ 550565 w 578993"/>
                <a:gd name="csY27" fmla="*/ 0 h 512659"/>
                <a:gd name="csX28" fmla="*/ 550565 w 578993"/>
                <a:gd name="csY28" fmla="*/ 21795 h 512659"/>
                <a:gd name="csX29" fmla="*/ 448222 w 578993"/>
                <a:gd name="csY29" fmla="*/ 21795 h 512659"/>
                <a:gd name="csX30" fmla="*/ 448222 w 578993"/>
                <a:gd name="csY30" fmla="*/ 79600 h 512659"/>
                <a:gd name="csX31" fmla="*/ 540141 w 578993"/>
                <a:gd name="csY31" fmla="*/ 79600 h 512659"/>
                <a:gd name="csX32" fmla="*/ 540141 w 578993"/>
                <a:gd name="csY32" fmla="*/ 101395 h 512659"/>
                <a:gd name="csX33" fmla="*/ 448222 w 578993"/>
                <a:gd name="csY33" fmla="*/ 101395 h 512659"/>
                <a:gd name="csX34" fmla="*/ 448222 w 578993"/>
                <a:gd name="csY34" fmla="*/ 169623 h 512659"/>
                <a:gd name="csX35" fmla="*/ 550565 w 578993"/>
                <a:gd name="csY35" fmla="*/ 169623 h 512659"/>
                <a:gd name="csX36" fmla="*/ 550565 w 578993"/>
                <a:gd name="csY36" fmla="*/ 191418 h 512659"/>
                <a:gd name="csX37" fmla="*/ 424532 w 578993"/>
                <a:gd name="csY37" fmla="*/ 191418 h 512659"/>
                <a:gd name="csX38" fmla="*/ 279547 w 578993"/>
                <a:gd name="csY38" fmla="*/ 191418 h 512659"/>
                <a:gd name="csX39" fmla="*/ 252066 w 578993"/>
                <a:gd name="csY39" fmla="*/ 163937 h 512659"/>
                <a:gd name="csX40" fmla="*/ 252066 w 578993"/>
                <a:gd name="csY40" fmla="*/ 27481 h 512659"/>
                <a:gd name="csX41" fmla="*/ 279547 w 578993"/>
                <a:gd name="csY41" fmla="*/ 0 h 512659"/>
                <a:gd name="csX42" fmla="*/ 365780 w 578993"/>
                <a:gd name="csY42" fmla="*/ 0 h 512659"/>
                <a:gd name="csX43" fmla="*/ 392313 w 578993"/>
                <a:gd name="csY43" fmla="*/ 26533 h 512659"/>
                <a:gd name="csX44" fmla="*/ 377151 w 578993"/>
                <a:gd name="csY44" fmla="*/ 41695 h 512659"/>
                <a:gd name="csX45" fmla="*/ 356303 w 578993"/>
                <a:gd name="csY45" fmla="*/ 20848 h 512659"/>
                <a:gd name="csX46" fmla="*/ 289970 w 578993"/>
                <a:gd name="csY46" fmla="*/ 20848 h 512659"/>
                <a:gd name="csX47" fmla="*/ 275756 w 578993"/>
                <a:gd name="csY47" fmla="*/ 35062 h 512659"/>
                <a:gd name="csX48" fmla="*/ 275756 w 578993"/>
                <a:gd name="csY48" fmla="*/ 155409 h 512659"/>
                <a:gd name="csX49" fmla="*/ 289970 w 578993"/>
                <a:gd name="csY49" fmla="*/ 169623 h 512659"/>
                <a:gd name="csX50" fmla="*/ 358199 w 578993"/>
                <a:gd name="csY50" fmla="*/ 169623 h 512659"/>
                <a:gd name="csX51" fmla="*/ 379046 w 578993"/>
                <a:gd name="csY51" fmla="*/ 148776 h 512659"/>
                <a:gd name="csX52" fmla="*/ 394208 w 578993"/>
                <a:gd name="csY52" fmla="*/ 163937 h 512659"/>
                <a:gd name="csX53" fmla="*/ 367675 w 578993"/>
                <a:gd name="csY53" fmla="*/ 190471 h 512659"/>
                <a:gd name="csX54" fmla="*/ 279547 w 578993"/>
                <a:gd name="csY54" fmla="*/ 190471 h 512659"/>
                <a:gd name="csX55" fmla="*/ 99500 w 578993"/>
                <a:gd name="csY55" fmla="*/ 191418 h 512659"/>
                <a:gd name="csX56" fmla="*/ 99500 w 578993"/>
                <a:gd name="csY56" fmla="*/ 0 h 512659"/>
                <a:gd name="csX57" fmla="*/ 199947 w 578993"/>
                <a:gd name="csY57" fmla="*/ 0 h 512659"/>
                <a:gd name="csX58" fmla="*/ 226480 w 578993"/>
                <a:gd name="csY58" fmla="*/ 27481 h 512659"/>
                <a:gd name="csX59" fmla="*/ 226480 w 578993"/>
                <a:gd name="csY59" fmla="*/ 92866 h 512659"/>
                <a:gd name="csX60" fmla="*/ 199947 w 578993"/>
                <a:gd name="csY60" fmla="*/ 120347 h 512659"/>
                <a:gd name="csX61" fmla="*/ 123190 w 578993"/>
                <a:gd name="csY61" fmla="*/ 120347 h 512659"/>
                <a:gd name="csX62" fmla="*/ 123190 w 578993"/>
                <a:gd name="csY62" fmla="*/ 191418 h 512659"/>
                <a:gd name="csX63" fmla="*/ 99500 w 578993"/>
                <a:gd name="csY63" fmla="*/ 191418 h 512659"/>
                <a:gd name="csX64" fmla="*/ 122242 w 578993"/>
                <a:gd name="csY64" fmla="*/ 21795 h 512659"/>
                <a:gd name="csX65" fmla="*/ 122242 w 578993"/>
                <a:gd name="csY65" fmla="*/ 99500 h 512659"/>
                <a:gd name="csX66" fmla="*/ 188575 w 578993"/>
                <a:gd name="csY66" fmla="*/ 99500 h 512659"/>
                <a:gd name="csX67" fmla="*/ 202790 w 578993"/>
                <a:gd name="csY67" fmla="*/ 85285 h 512659"/>
                <a:gd name="csX68" fmla="*/ 202790 w 578993"/>
                <a:gd name="csY68" fmla="*/ 36009 h 512659"/>
                <a:gd name="csX69" fmla="*/ 188575 w 578993"/>
                <a:gd name="csY69" fmla="*/ 21795 h 512659"/>
                <a:gd name="csX70" fmla="*/ 122242 w 578993"/>
                <a:gd name="csY70" fmla="*/ 21795 h 5126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578993" h="512659">
                  <a:moveTo>
                    <a:pt x="550565" y="512660"/>
                  </a:moveTo>
                  <a:lnTo>
                    <a:pt x="550565" y="228375"/>
                  </a:lnTo>
                  <a:lnTo>
                    <a:pt x="578993" y="228375"/>
                  </a:lnTo>
                  <a:lnTo>
                    <a:pt x="578993" y="512660"/>
                  </a:lnTo>
                  <a:lnTo>
                    <a:pt x="550565" y="512660"/>
                  </a:lnTo>
                  <a:close/>
                  <a:moveTo>
                    <a:pt x="413160" y="512660"/>
                  </a:moveTo>
                  <a:lnTo>
                    <a:pt x="413160" y="302289"/>
                  </a:lnTo>
                  <a:lnTo>
                    <a:pt x="441589" y="302289"/>
                  </a:lnTo>
                  <a:lnTo>
                    <a:pt x="441589" y="512660"/>
                  </a:lnTo>
                  <a:lnTo>
                    <a:pt x="413160" y="512660"/>
                  </a:lnTo>
                  <a:close/>
                  <a:moveTo>
                    <a:pt x="274808" y="512660"/>
                  </a:moveTo>
                  <a:lnTo>
                    <a:pt x="274808" y="263437"/>
                  </a:lnTo>
                  <a:lnTo>
                    <a:pt x="303237" y="263437"/>
                  </a:lnTo>
                  <a:lnTo>
                    <a:pt x="303237" y="512660"/>
                  </a:lnTo>
                  <a:lnTo>
                    <a:pt x="274808" y="512660"/>
                  </a:lnTo>
                  <a:close/>
                  <a:moveTo>
                    <a:pt x="137404" y="512660"/>
                  </a:moveTo>
                  <a:lnTo>
                    <a:pt x="137404" y="336403"/>
                  </a:lnTo>
                  <a:lnTo>
                    <a:pt x="165833" y="336403"/>
                  </a:lnTo>
                  <a:lnTo>
                    <a:pt x="165833" y="512660"/>
                  </a:lnTo>
                  <a:lnTo>
                    <a:pt x="137404" y="512660"/>
                  </a:lnTo>
                  <a:close/>
                  <a:moveTo>
                    <a:pt x="0" y="512660"/>
                  </a:moveTo>
                  <a:lnTo>
                    <a:pt x="0" y="375256"/>
                  </a:lnTo>
                  <a:lnTo>
                    <a:pt x="28428" y="375256"/>
                  </a:lnTo>
                  <a:lnTo>
                    <a:pt x="28428" y="512660"/>
                  </a:lnTo>
                  <a:lnTo>
                    <a:pt x="0" y="512660"/>
                  </a:lnTo>
                  <a:close/>
                  <a:moveTo>
                    <a:pt x="424532" y="191418"/>
                  </a:moveTo>
                  <a:lnTo>
                    <a:pt x="424532" y="0"/>
                  </a:lnTo>
                  <a:lnTo>
                    <a:pt x="550565" y="0"/>
                  </a:lnTo>
                  <a:lnTo>
                    <a:pt x="550565" y="21795"/>
                  </a:lnTo>
                  <a:lnTo>
                    <a:pt x="448222" y="21795"/>
                  </a:lnTo>
                  <a:lnTo>
                    <a:pt x="448222" y="79600"/>
                  </a:lnTo>
                  <a:lnTo>
                    <a:pt x="540141" y="79600"/>
                  </a:lnTo>
                  <a:lnTo>
                    <a:pt x="540141" y="101395"/>
                  </a:lnTo>
                  <a:lnTo>
                    <a:pt x="448222" y="101395"/>
                  </a:lnTo>
                  <a:lnTo>
                    <a:pt x="448222" y="169623"/>
                  </a:lnTo>
                  <a:lnTo>
                    <a:pt x="550565" y="169623"/>
                  </a:lnTo>
                  <a:lnTo>
                    <a:pt x="550565" y="191418"/>
                  </a:lnTo>
                  <a:lnTo>
                    <a:pt x="424532" y="191418"/>
                  </a:lnTo>
                  <a:close/>
                  <a:moveTo>
                    <a:pt x="279547" y="191418"/>
                  </a:moveTo>
                  <a:lnTo>
                    <a:pt x="252066" y="163937"/>
                  </a:lnTo>
                  <a:lnTo>
                    <a:pt x="252066" y="27481"/>
                  </a:lnTo>
                  <a:lnTo>
                    <a:pt x="279547" y="0"/>
                  </a:lnTo>
                  <a:lnTo>
                    <a:pt x="365780" y="0"/>
                  </a:lnTo>
                  <a:lnTo>
                    <a:pt x="392313" y="26533"/>
                  </a:lnTo>
                  <a:lnTo>
                    <a:pt x="377151" y="41695"/>
                  </a:lnTo>
                  <a:lnTo>
                    <a:pt x="356303" y="20848"/>
                  </a:lnTo>
                  <a:lnTo>
                    <a:pt x="289970" y="20848"/>
                  </a:lnTo>
                  <a:lnTo>
                    <a:pt x="275756" y="35062"/>
                  </a:lnTo>
                  <a:lnTo>
                    <a:pt x="275756" y="155409"/>
                  </a:lnTo>
                  <a:lnTo>
                    <a:pt x="289970" y="169623"/>
                  </a:lnTo>
                  <a:lnTo>
                    <a:pt x="358199" y="169623"/>
                  </a:lnTo>
                  <a:lnTo>
                    <a:pt x="379046" y="148776"/>
                  </a:lnTo>
                  <a:lnTo>
                    <a:pt x="394208" y="163937"/>
                  </a:lnTo>
                  <a:lnTo>
                    <a:pt x="367675" y="190471"/>
                  </a:lnTo>
                  <a:lnTo>
                    <a:pt x="279547" y="190471"/>
                  </a:lnTo>
                  <a:close/>
                  <a:moveTo>
                    <a:pt x="99500" y="191418"/>
                  </a:moveTo>
                  <a:lnTo>
                    <a:pt x="99500" y="0"/>
                  </a:lnTo>
                  <a:lnTo>
                    <a:pt x="199947" y="0"/>
                  </a:lnTo>
                  <a:lnTo>
                    <a:pt x="226480" y="27481"/>
                  </a:lnTo>
                  <a:lnTo>
                    <a:pt x="226480" y="92866"/>
                  </a:lnTo>
                  <a:lnTo>
                    <a:pt x="199947" y="120347"/>
                  </a:lnTo>
                  <a:lnTo>
                    <a:pt x="123190" y="120347"/>
                  </a:lnTo>
                  <a:lnTo>
                    <a:pt x="123190" y="191418"/>
                  </a:lnTo>
                  <a:lnTo>
                    <a:pt x="99500" y="191418"/>
                  </a:lnTo>
                  <a:close/>
                  <a:moveTo>
                    <a:pt x="122242" y="21795"/>
                  </a:moveTo>
                  <a:lnTo>
                    <a:pt x="122242" y="99500"/>
                  </a:lnTo>
                  <a:lnTo>
                    <a:pt x="188575" y="99500"/>
                  </a:lnTo>
                  <a:lnTo>
                    <a:pt x="202790" y="85285"/>
                  </a:lnTo>
                  <a:lnTo>
                    <a:pt x="202790" y="36009"/>
                  </a:lnTo>
                  <a:lnTo>
                    <a:pt x="188575" y="21795"/>
                  </a:lnTo>
                  <a:lnTo>
                    <a:pt x="122242" y="21795"/>
                  </a:lnTo>
                  <a:close/>
                </a:path>
              </a:pathLst>
            </a:custGeom>
            <a:solidFill>
              <a:schemeClr val="accent1"/>
            </a:solidFill>
            <a:ln w="945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9" name="Maia Logo">
            <a:extLst>
              <a:ext uri="{FF2B5EF4-FFF2-40B4-BE49-F238E27FC236}">
                <a16:creationId xmlns:a16="http://schemas.microsoft.com/office/drawing/2014/main" id="{462EBE1D-E5F9-4655-588A-5638094EAB96}"/>
              </a:ext>
            </a:extLst>
          </p:cNvPr>
          <p:cNvGrpSpPr/>
          <p:nvPr/>
        </p:nvGrpSpPr>
        <p:grpSpPr>
          <a:xfrm>
            <a:off x="9984505" y="6181344"/>
            <a:ext cx="1697132" cy="414708"/>
            <a:chOff x="1447800" y="2292350"/>
            <a:chExt cx="7774788" cy="1899831"/>
          </a:xfrm>
        </p:grpSpPr>
        <p:sp>
          <p:nvSpPr>
            <p:cNvPr id="10" name="Freeform 20">
              <a:extLst>
                <a:ext uri="{FF2B5EF4-FFF2-40B4-BE49-F238E27FC236}">
                  <a16:creationId xmlns:a16="http://schemas.microsoft.com/office/drawing/2014/main" id="{86A4C736-F515-F0CF-8CD5-B7EBDFE890B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Freeform 21">
              <a:extLst>
                <a:ext uri="{FF2B5EF4-FFF2-40B4-BE49-F238E27FC236}">
                  <a16:creationId xmlns:a16="http://schemas.microsoft.com/office/drawing/2014/main" id="{A305EFC5-AB7D-13EF-534A-7A33EC1B69C2}"/>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2" name="Freeform 22">
              <a:extLst>
                <a:ext uri="{FF2B5EF4-FFF2-40B4-BE49-F238E27FC236}">
                  <a16:creationId xmlns:a16="http://schemas.microsoft.com/office/drawing/2014/main" id="{1591A910-CD20-A96A-A045-6AABA5D7AA6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 name="Rectangle 18">
            <a:extLst>
              <a:ext uri="{FF2B5EF4-FFF2-40B4-BE49-F238E27FC236}">
                <a16:creationId xmlns:a16="http://schemas.microsoft.com/office/drawing/2014/main" id="{05EF4695-27C2-A67F-695A-12E5BF26EA22}"/>
              </a:ext>
            </a:extLst>
          </p:cNvPr>
          <p:cNvSpPr/>
          <p:nvPr/>
        </p:nvSpPr>
        <p:spPr bwMode="auto">
          <a:xfrm rot="10800000" flipV="1">
            <a:off x="6092952" y="3830978"/>
            <a:ext cx="6099048" cy="2200326"/>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4A1CED56-7B89-777A-EFBC-AA7A595686E2}"/>
              </a:ext>
            </a:extLst>
          </p:cNvPr>
          <p:cNvSpPr/>
          <p:nvPr/>
        </p:nvSpPr>
        <p:spPr bwMode="auto">
          <a:xfrm rot="10800000" flipV="1">
            <a:off x="0" y="3830980"/>
            <a:ext cx="6096000" cy="2200325"/>
          </a:xfrm>
          <a:prstGeom prst="rect">
            <a:avLst/>
          </a:prstGeom>
          <a:solidFill>
            <a:schemeClr val="bg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1" name="TextBox 20">
            <a:extLst>
              <a:ext uri="{FF2B5EF4-FFF2-40B4-BE49-F238E27FC236}">
                <a16:creationId xmlns:a16="http://schemas.microsoft.com/office/drawing/2014/main" id="{553EBA1A-F5ED-1543-BB8E-B136552CDD16}"/>
              </a:ext>
            </a:extLst>
          </p:cNvPr>
          <p:cNvSpPr txBox="1"/>
          <p:nvPr/>
        </p:nvSpPr>
        <p:spPr bwMode="auto">
          <a:xfrm>
            <a:off x="526515" y="4045358"/>
            <a:ext cx="3537828"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Border Controller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(PBC)</a:t>
            </a:r>
          </a:p>
        </p:txBody>
      </p:sp>
      <p:sp>
        <p:nvSpPr>
          <p:cNvPr id="22" name="Content Placeholder 2">
            <a:extLst>
              <a:ext uri="{FF2B5EF4-FFF2-40B4-BE49-F238E27FC236}">
                <a16:creationId xmlns:a16="http://schemas.microsoft.com/office/drawing/2014/main" id="{70DCBD74-B88E-6B6F-966B-FA4D5F992776}"/>
              </a:ext>
            </a:extLst>
          </p:cNvPr>
          <p:cNvSpPr txBox="1">
            <a:spLocks/>
          </p:cNvSpPr>
          <p:nvPr/>
        </p:nvSpPr>
        <p:spPr>
          <a:xfrm>
            <a:off x="510363" y="4691448"/>
            <a:ext cx="5185222" cy="1107996"/>
          </a:xfrm>
          <a:prstGeom prst="rect">
            <a:avLst/>
          </a:prstGeom>
        </p:spPr>
        <p:txBody>
          <a:bodyPr wrap="square" lIns="0" numCol="2">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Private Ethernet paths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End-to-end encryption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Merges Layer 2 and 3 functionality</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Dual 100 Gbps Interfaces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No routing protocols</a:t>
            </a:r>
          </a:p>
        </p:txBody>
      </p:sp>
      <p:sp>
        <p:nvSpPr>
          <p:cNvPr id="23" name="TextBox 22">
            <a:extLst>
              <a:ext uri="{FF2B5EF4-FFF2-40B4-BE49-F238E27FC236}">
                <a16:creationId xmlns:a16="http://schemas.microsoft.com/office/drawing/2014/main" id="{549D6A82-14B4-39E6-2108-334EB8269928}"/>
              </a:ext>
            </a:extLst>
          </p:cNvPr>
          <p:cNvSpPr txBox="1"/>
          <p:nvPr/>
        </p:nvSpPr>
        <p:spPr bwMode="auto">
          <a:xfrm>
            <a:off x="6609762" y="4045358"/>
            <a:ext cx="3930563" cy="307777"/>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Calibri"/>
                <a:cs typeface="Calibri"/>
              </a:rPr>
              <a:t>Path Computation Engine </a:t>
            </a:r>
            <a:r>
              <a:rPr kumimoji="0" lang="en-US" sz="2000" b="0" i="0" u="none" strike="noStrike" kern="1200" cap="none" spc="0" normalizeH="0" baseline="0" noProof="0">
                <a:ln>
                  <a:noFill/>
                </a:ln>
                <a:solidFill>
                  <a:srgbClr val="000000"/>
                </a:solidFill>
                <a:effectLst/>
                <a:uLnTx/>
                <a:uFillTx/>
                <a:latin typeface="Tomorrow" pitchFamily="2" charset="0"/>
                <a:ea typeface="Calibri"/>
                <a:cs typeface="Calibri"/>
              </a:rPr>
              <a:t>(PCE)</a:t>
            </a:r>
          </a:p>
        </p:txBody>
      </p:sp>
      <p:sp>
        <p:nvSpPr>
          <p:cNvPr id="24" name="Content Placeholder 2">
            <a:extLst>
              <a:ext uri="{FF2B5EF4-FFF2-40B4-BE49-F238E27FC236}">
                <a16:creationId xmlns:a16="http://schemas.microsoft.com/office/drawing/2014/main" id="{ACCEA879-7DC0-1089-4F63-DD982694A904}"/>
              </a:ext>
            </a:extLst>
          </p:cNvPr>
          <p:cNvSpPr txBox="1">
            <a:spLocks/>
          </p:cNvSpPr>
          <p:nvPr/>
        </p:nvSpPr>
        <p:spPr>
          <a:xfrm>
            <a:off x="6609762" y="4691448"/>
            <a:ext cx="2618345" cy="1184940"/>
          </a:xfrm>
          <a:prstGeom prst="rect">
            <a:avLst/>
          </a:prstGeom>
        </p:spPr>
        <p:txBody>
          <a:bodyPr wrap="non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Carrier-Neutral NNI Engine</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Cloud-Native Orchestration</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Roboto Medium" panose="02000000000000000000" pitchFamily="2" charset="0"/>
                <a:cs typeface="Arial" panose="020B0604020202020204" pitchFamily="34" charset="0"/>
              </a:rPr>
              <a:t>Real-time Path Computation</a:t>
            </a:r>
          </a:p>
        </p:txBody>
      </p:sp>
      <p:sp>
        <p:nvSpPr>
          <p:cNvPr id="25" name="TextBox 24">
            <a:extLst>
              <a:ext uri="{FF2B5EF4-FFF2-40B4-BE49-F238E27FC236}">
                <a16:creationId xmlns:a16="http://schemas.microsoft.com/office/drawing/2014/main" id="{7BBD0624-6F0C-8958-E3B7-A8D9700852AE}"/>
              </a:ext>
            </a:extLst>
          </p:cNvPr>
          <p:cNvSpPr txBox="1"/>
          <p:nvPr/>
        </p:nvSpPr>
        <p:spPr bwMode="auto">
          <a:xfrm>
            <a:off x="9625474" y="4691448"/>
            <a:ext cx="2071226" cy="892552"/>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Multi-Tenant </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Hop-by-hop visibility </a:t>
            </a:r>
          </a:p>
        </p:txBody>
      </p:sp>
      <p:sp>
        <p:nvSpPr>
          <p:cNvPr id="4" name="TextBox 3">
            <a:extLst>
              <a:ext uri="{FF2B5EF4-FFF2-40B4-BE49-F238E27FC236}">
                <a16:creationId xmlns:a16="http://schemas.microsoft.com/office/drawing/2014/main" id="{863E592C-576D-1C68-2B71-84D5E8982846}"/>
              </a:ext>
            </a:extLst>
          </p:cNvPr>
          <p:cNvSpPr txBox="1"/>
          <p:nvPr/>
        </p:nvSpPr>
        <p:spPr bwMode="auto">
          <a:xfrm>
            <a:off x="-858982" y="5417127"/>
            <a:ext cx="0" cy="0"/>
          </a:xfrm>
          <a:prstGeom prst="rect">
            <a:avLst/>
          </a:prstGeom>
          <a:noFill/>
        </p:spPr>
        <p:txBody>
          <a:bodyPr wrap="none" rtlCol="0">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27218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C85205C7-8006-4726-EA25-D7B8A19AA9F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3D9F3306-27F7-1622-66A8-30000421ECF9}"/>
              </a:ext>
            </a:extLst>
          </p:cNvPr>
          <p:cNvSpPr/>
          <p:nvPr/>
        </p:nvSpPr>
        <p:spPr bwMode="auto">
          <a:xfrm rot="10800000" flipV="1">
            <a:off x="-3" y="4247300"/>
            <a:ext cx="8808719" cy="2610699"/>
          </a:xfrm>
          <a:prstGeom prst="rect">
            <a:avLst/>
          </a:prstGeom>
          <a:solidFill>
            <a:schemeClr val="bg1">
              <a:lumMod val="95000"/>
            </a:schemeClr>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6BFC61C8-50F5-839D-5EBC-EBF5F99D9C7A}"/>
              </a:ext>
            </a:extLst>
          </p:cNvPr>
          <p:cNvPicPr>
            <a:picLocks noChangeAspect="1"/>
          </p:cNvPicPr>
          <p:nvPr/>
        </p:nvPicPr>
        <p:blipFill>
          <a:blip r:embed="rId3"/>
          <a:srcRect t="29637" b="29637"/>
          <a:stretch>
            <a:fillRect/>
          </a:stretch>
        </p:blipFill>
        <p:spPr>
          <a:xfrm>
            <a:off x="31801" y="2924688"/>
            <a:ext cx="8850376" cy="2024998"/>
          </a:xfrm>
          <a:prstGeom prst="rect">
            <a:avLst/>
          </a:prstGeom>
        </p:spPr>
      </p:pic>
      <p:sp>
        <p:nvSpPr>
          <p:cNvPr id="39" name="Freeform 38">
            <a:extLst>
              <a:ext uri="{FF2B5EF4-FFF2-40B4-BE49-F238E27FC236}">
                <a16:creationId xmlns:a16="http://schemas.microsoft.com/office/drawing/2014/main" id="{EDA352D8-BE36-2CA0-4670-097A5DE436DE}"/>
              </a:ext>
            </a:extLst>
          </p:cNvPr>
          <p:cNvSpPr/>
          <p:nvPr/>
        </p:nvSpPr>
        <p:spPr bwMode="auto">
          <a:xfrm>
            <a:off x="8808720" y="1"/>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tx1"/>
          </a:solidFill>
          <a:ln w="12700" cap="sq" algn="ctr">
            <a:noFill/>
            <a:miter lim="800000"/>
            <a:headEnd/>
            <a:tailEnd/>
          </a:ln>
          <a:effectLst/>
        </p:spPr>
        <p:txBody>
          <a:bodyPr wrap="square" lIns="182880" rIns="182880" rtlCol="0" anchor="ctr" anchorCtr="1">
            <a:noAutofit/>
          </a:bodyPr>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57394E70-33F5-1778-2CC7-524B1587BDEC}"/>
              </a:ext>
            </a:extLst>
          </p:cNvPr>
          <p:cNvSpPr/>
          <p:nvPr/>
        </p:nvSpPr>
        <p:spPr bwMode="auto">
          <a:xfrm>
            <a:off x="8808718" y="-2"/>
            <a:ext cx="3383282" cy="6858001"/>
          </a:xfrm>
          <a:prstGeom prst="rect">
            <a:avLst/>
          </a:prstGeom>
          <a:solidFill>
            <a:schemeClr val="accent1"/>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pic>
        <p:nvPicPr>
          <p:cNvPr id="40" name="Picture 39" descr="A black and white pattern&#10;&#10;AI-generated content may be incorrect.">
            <a:extLst>
              <a:ext uri="{FF2B5EF4-FFF2-40B4-BE49-F238E27FC236}">
                <a16:creationId xmlns:a16="http://schemas.microsoft.com/office/drawing/2014/main" id="{748CFFA8-D661-EAF1-0017-2EA3C979EFBF}"/>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56133" r="382" b="6488"/>
          <a:stretch>
            <a:fillRect/>
          </a:stretch>
        </p:blipFill>
        <p:spPr>
          <a:xfrm>
            <a:off x="8808718" y="2761154"/>
            <a:ext cx="3383282" cy="4096845"/>
          </a:xfrm>
          <a:prstGeom prst="rect">
            <a:avLst/>
          </a:prstGeom>
        </p:spPr>
      </p:pic>
      <p:sp>
        <p:nvSpPr>
          <p:cNvPr id="8" name="Freeform 7">
            <a:extLst>
              <a:ext uri="{FF2B5EF4-FFF2-40B4-BE49-F238E27FC236}">
                <a16:creationId xmlns:a16="http://schemas.microsoft.com/office/drawing/2014/main" id="{296F9A37-3E69-9737-41E4-5F78149950CC}"/>
              </a:ext>
            </a:extLst>
          </p:cNvPr>
          <p:cNvSpPr/>
          <p:nvPr/>
        </p:nvSpPr>
        <p:spPr bwMode="auto">
          <a:xfrm>
            <a:off x="8808720" y="0"/>
            <a:ext cx="3383280" cy="6050981"/>
          </a:xfrm>
          <a:custGeom>
            <a:avLst/>
            <a:gdLst>
              <a:gd name="csX0" fmla="*/ 0 w 3383280"/>
              <a:gd name="csY0" fmla="*/ 0 h 6050981"/>
              <a:gd name="csX1" fmla="*/ 3383280 w 3383280"/>
              <a:gd name="csY1" fmla="*/ 0 h 6050981"/>
              <a:gd name="csX2" fmla="*/ 3383280 w 3383280"/>
              <a:gd name="csY2" fmla="*/ 4059298 h 6050981"/>
              <a:gd name="csX3" fmla="*/ 0 w 3383280"/>
              <a:gd name="csY3" fmla="*/ 6050981 h 6050981"/>
            </a:gdLst>
            <a:ahLst/>
            <a:cxnLst>
              <a:cxn ang="0">
                <a:pos x="csX0" y="csY0"/>
              </a:cxn>
              <a:cxn ang="0">
                <a:pos x="csX1" y="csY1"/>
              </a:cxn>
              <a:cxn ang="0">
                <a:pos x="csX2" y="csY2"/>
              </a:cxn>
              <a:cxn ang="0">
                <a:pos x="csX3" y="csY3"/>
              </a:cxn>
            </a:cxnLst>
            <a:rect l="l" t="t" r="r" b="b"/>
            <a:pathLst>
              <a:path w="3383280" h="6050981">
                <a:moveTo>
                  <a:pt x="0" y="0"/>
                </a:moveTo>
                <a:lnTo>
                  <a:pt x="3383280" y="0"/>
                </a:lnTo>
                <a:lnTo>
                  <a:pt x="3383280" y="4059298"/>
                </a:lnTo>
                <a:lnTo>
                  <a:pt x="0" y="6050981"/>
                </a:lnTo>
                <a:close/>
              </a:path>
            </a:pathLst>
          </a:cu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2" name="Slide Number Placeholder 1">
            <a:extLst>
              <a:ext uri="{FF2B5EF4-FFF2-40B4-BE49-F238E27FC236}">
                <a16:creationId xmlns:a16="http://schemas.microsoft.com/office/drawing/2014/main" id="{5A66FADF-86CD-24A9-2A2A-050D61D23217}"/>
              </a:ext>
            </a:extLst>
          </p:cNvPr>
          <p:cNvSpPr>
            <a:spLocks noGrp="1"/>
          </p:cNvSpPr>
          <p:nvPr>
            <p:ph type="sldNum" sz="quarter" idx="10"/>
          </p:nvPr>
        </p:nvSpPr>
        <p:spPr>
          <a:xfrm>
            <a:off x="510363" y="6445677"/>
            <a:ext cx="2743200" cy="13849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
        <p:nvSpPr>
          <p:cNvPr id="3" name="Title 2">
            <a:extLst>
              <a:ext uri="{FF2B5EF4-FFF2-40B4-BE49-F238E27FC236}">
                <a16:creationId xmlns:a16="http://schemas.microsoft.com/office/drawing/2014/main" id="{81AB7979-9B3C-7FA9-53D5-4826D2A059CA}"/>
              </a:ext>
            </a:extLst>
          </p:cNvPr>
          <p:cNvSpPr>
            <a:spLocks noGrp="1"/>
          </p:cNvSpPr>
          <p:nvPr>
            <p:ph type="title"/>
          </p:nvPr>
        </p:nvSpPr>
        <p:spPr>
          <a:xfrm>
            <a:off x="509588" y="287338"/>
            <a:ext cx="11172825" cy="1108075"/>
          </a:xfrm>
        </p:spPr>
        <p:txBody>
          <a:bodyPr/>
          <a:lstStyle/>
          <a:p>
            <a:r>
              <a:rPr lang="en-US">
                <a:solidFill>
                  <a:schemeClr val="bg1"/>
                </a:solidFill>
              </a:rPr>
              <a:t>The Infrastructure</a:t>
            </a:r>
          </a:p>
        </p:txBody>
      </p:sp>
      <p:sp>
        <p:nvSpPr>
          <p:cNvPr id="5" name="TextBox 4">
            <a:extLst>
              <a:ext uri="{FF2B5EF4-FFF2-40B4-BE49-F238E27FC236}">
                <a16:creationId xmlns:a16="http://schemas.microsoft.com/office/drawing/2014/main" id="{643B972D-1AED-E048-FAF3-2B3BD99946F0}"/>
              </a:ext>
            </a:extLst>
          </p:cNvPr>
          <p:cNvSpPr txBox="1"/>
          <p:nvPr/>
        </p:nvSpPr>
        <p:spPr bwMode="auto">
          <a:xfrm>
            <a:off x="509588" y="1488549"/>
            <a:ext cx="6100174"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Calibri"/>
                <a:cs typeface="Calibri"/>
              </a:rPr>
              <a:t>Integrated switch for additional port density</a:t>
            </a:r>
          </a:p>
        </p:txBody>
      </p:sp>
      <p:sp>
        <p:nvSpPr>
          <p:cNvPr id="41" name="Fade">
            <a:extLst>
              <a:ext uri="{FF2B5EF4-FFF2-40B4-BE49-F238E27FC236}">
                <a16:creationId xmlns:a16="http://schemas.microsoft.com/office/drawing/2014/main" id="{44BB233C-3235-CD77-A76D-E76FF1698039}"/>
              </a:ext>
            </a:extLst>
          </p:cNvPr>
          <p:cNvSpPr/>
          <p:nvPr/>
        </p:nvSpPr>
        <p:spPr bwMode="auto">
          <a:xfrm>
            <a:off x="8808720" y="2761154"/>
            <a:ext cx="3383280" cy="4106263"/>
          </a:xfrm>
          <a:prstGeom prst="rect">
            <a:avLst/>
          </a:prstGeom>
          <a:gradFill flip="none" rotWithShape="1">
            <a:gsLst>
              <a:gs pos="15000">
                <a:schemeClr val="accent2"/>
              </a:gs>
              <a:gs pos="90000">
                <a:schemeClr val="accent1">
                  <a:alpha val="92180"/>
                </a:schemeClr>
              </a:gs>
              <a:gs pos="60000">
                <a:schemeClr val="accent2">
                  <a:alpha val="10822"/>
                </a:schemeClr>
              </a:gs>
            </a:gsLst>
            <a:lin ang="48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89700937-CC41-5A57-7699-860AA26CD445}"/>
              </a:ext>
            </a:extLst>
          </p:cNvPr>
          <p:cNvSpPr txBox="1"/>
          <p:nvPr/>
        </p:nvSpPr>
        <p:spPr>
          <a:xfrm>
            <a:off x="9170727" y="1845064"/>
            <a:ext cx="3021273"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Designed exclusively for the PBC, the integrated switch delivers </a:t>
            </a:r>
            <a:r>
              <a:rPr kumimoji="0" 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high-density ports with zero operational overhead.</a:t>
            </a:r>
          </a:p>
        </p:txBody>
      </p:sp>
      <p:sp>
        <p:nvSpPr>
          <p:cNvPr id="12" name="TextBox 11">
            <a:extLst>
              <a:ext uri="{FF2B5EF4-FFF2-40B4-BE49-F238E27FC236}">
                <a16:creationId xmlns:a16="http://schemas.microsoft.com/office/drawing/2014/main" id="{DC8B2BB9-3FF1-6702-7312-AB61AA88D87E}"/>
              </a:ext>
            </a:extLst>
          </p:cNvPr>
          <p:cNvSpPr txBox="1"/>
          <p:nvPr/>
        </p:nvSpPr>
        <p:spPr bwMode="auto">
          <a:xfrm>
            <a:off x="3693538" y="2962662"/>
            <a:ext cx="1550104" cy="276999"/>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Tomorrow Medium"/>
                <a:ea typeface="Calibri"/>
                <a:cs typeface="Calibri"/>
              </a:rPr>
              <a:t>Port Extender</a:t>
            </a:r>
          </a:p>
        </p:txBody>
      </p:sp>
      <p:sp>
        <p:nvSpPr>
          <p:cNvPr id="13" name="Content Placeholder 2">
            <a:extLst>
              <a:ext uri="{FF2B5EF4-FFF2-40B4-BE49-F238E27FC236}">
                <a16:creationId xmlns:a16="http://schemas.microsoft.com/office/drawing/2014/main" id="{492345C8-0039-91AC-B0F7-5043768D8CE8}"/>
              </a:ext>
            </a:extLst>
          </p:cNvPr>
          <p:cNvSpPr txBox="1">
            <a:spLocks/>
          </p:cNvSpPr>
          <p:nvPr/>
        </p:nvSpPr>
        <p:spPr>
          <a:xfrm>
            <a:off x="1026412" y="4671458"/>
            <a:ext cx="3781593" cy="1002579"/>
          </a:xfrm>
          <a:prstGeom prst="rect">
            <a:avLst/>
          </a:prstGeom>
        </p:spPr>
        <p:txBody>
          <a:bodyPr wrap="square" lIns="0">
            <a:noAutofit/>
          </a:bodyPr>
          <a:lstStyle>
            <a:lvl1pPr marL="228600" indent="-228600" algn="l" defTabSz="914400" rtl="0" eaLnBrk="1" latinLnBrk="0" hangingPunct="1">
              <a:lnSpc>
                <a:spcPct val="100000"/>
              </a:lnSpc>
              <a:spcBef>
                <a:spcPts val="1200"/>
              </a:spcBef>
              <a:buClr>
                <a:schemeClr val="accent2"/>
              </a:buClr>
              <a:buFont typeface="Arial" panose="020B0604020202020204" pitchFamily="34" charset="0"/>
              <a:buChar char="•"/>
              <a:defRPr sz="2400" b="0" i="0" kern="1200">
                <a:solidFill>
                  <a:schemeClr val="tx2"/>
                </a:solidFill>
                <a:latin typeface="+mn-lt"/>
                <a:ea typeface="Roboto Medium" panose="02000000000000000000" pitchFamily="2" charset="0"/>
                <a:cs typeface="Arial" panose="020B0604020202020204" pitchFamily="34" charset="0"/>
              </a:defRPr>
            </a:lvl1pPr>
            <a:lvl2pPr marL="502920" indent="-228600" algn="l" defTabSz="914400" rtl="0" eaLnBrk="1" latinLnBrk="0" hangingPunct="1">
              <a:lnSpc>
                <a:spcPct val="100000"/>
              </a:lnSpc>
              <a:spcBef>
                <a:spcPts val="600"/>
              </a:spcBef>
              <a:buFont typeface="Arial" panose="020B0604020202020204" pitchFamily="34" charset="0"/>
              <a:buChar char="–"/>
              <a:defRPr sz="2000" b="0" i="0" kern="1200">
                <a:solidFill>
                  <a:schemeClr val="tx2"/>
                </a:solidFill>
                <a:latin typeface="+mn-lt"/>
                <a:ea typeface="Roboto Medium" panose="02000000000000000000" pitchFamily="2" charset="0"/>
                <a:cs typeface="Arial" panose="020B0604020202020204" pitchFamily="34" charset="0"/>
              </a:defRPr>
            </a:lvl2pPr>
            <a:lvl3pPr marL="685800" indent="-182880" algn="l" defTabSz="914400" rtl="0" eaLnBrk="1" latinLnBrk="0" hangingPunct="1">
              <a:lnSpc>
                <a:spcPct val="100000"/>
              </a:lnSpc>
              <a:spcBef>
                <a:spcPts val="600"/>
              </a:spcBef>
              <a:buClr>
                <a:schemeClr val="bg2">
                  <a:lumMod val="50000"/>
                </a:schemeClr>
              </a:buClr>
              <a:buFont typeface="Arial" panose="020B0604020202020204" pitchFamily="34" charset="0"/>
              <a:buChar char="•"/>
              <a:defRPr sz="1800" b="0" i="0" kern="1200">
                <a:solidFill>
                  <a:schemeClr val="tx2"/>
                </a:solidFill>
                <a:latin typeface="+mn-lt"/>
                <a:ea typeface="Roboto Medium" panose="02000000000000000000" pitchFamily="2"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Roboto Medium" panose="02000000000000000000" pitchFamily="2" charset="0"/>
                <a:ea typeface="Roboto Medium"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Interfaces: 48 SFP28 10GbE/25GbE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ports, 8 QSFP28</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100GbE ports, Rear CPU/BMC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shared Ethernet</a:t>
            </a:r>
          </a:p>
        </p:txBody>
      </p:sp>
      <p:sp>
        <p:nvSpPr>
          <p:cNvPr id="22" name="TextBox 21">
            <a:extLst>
              <a:ext uri="{FF2B5EF4-FFF2-40B4-BE49-F238E27FC236}">
                <a16:creationId xmlns:a16="http://schemas.microsoft.com/office/drawing/2014/main" id="{E41FA731-A45C-3F74-1A0B-3350A0B40F45}"/>
              </a:ext>
            </a:extLst>
          </p:cNvPr>
          <p:cNvSpPr txBox="1"/>
          <p:nvPr/>
        </p:nvSpPr>
        <p:spPr bwMode="auto">
          <a:xfrm>
            <a:off x="4850989" y="4671458"/>
            <a:ext cx="3785236" cy="1031051"/>
          </a:xfrm>
          <a:prstGeom prst="rect">
            <a:avLst/>
          </a:prstGeom>
          <a:noFill/>
        </p:spPr>
        <p:txBody>
          <a:bodyPr wrap="square" lIns="0">
            <a:noAutofit/>
          </a:bodyPr>
          <a:lstStyle/>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Management (RJ45) and Serial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Console (RJ45) ports,</a:t>
            </a:r>
          </a:p>
          <a:p>
            <a:pPr marL="182880" marR="0" lvl="0" indent="-182880" algn="l" defTabSz="914400" rtl="0" eaLnBrk="1" fontAlgn="auto" latinLnBrk="0" hangingPunct="1">
              <a:lnSpc>
                <a:spcPct val="100000"/>
              </a:lnSpc>
              <a:spcBef>
                <a:spcPts val="6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Latency: Less than 500ns port </a:t>
            </a:r>
            <a:b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br>
            <a:r>
              <a:rPr kumimoji="0" lang="en-US" sz="1400" b="0" i="0" u="none" strike="noStrike" kern="1200" cap="none" spc="0" normalizeH="0" baseline="0" noProof="0">
                <a:ln>
                  <a:noFill/>
                </a:ln>
                <a:solidFill>
                  <a:srgbClr val="000000"/>
                </a:solidFill>
                <a:effectLst/>
                <a:uLnTx/>
                <a:uFillTx/>
                <a:latin typeface="Arial"/>
                <a:ea typeface="Roboto Medium" panose="02000000000000000000" pitchFamily="2" charset="0"/>
                <a:cs typeface="Arial" panose="020B0604020202020204" pitchFamily="34" charset="0"/>
              </a:rPr>
              <a:t>to port</a:t>
            </a:r>
          </a:p>
        </p:txBody>
      </p:sp>
      <p:sp>
        <p:nvSpPr>
          <p:cNvPr id="38" name="TextBox 37">
            <a:extLst>
              <a:ext uri="{FF2B5EF4-FFF2-40B4-BE49-F238E27FC236}">
                <a16:creationId xmlns:a16="http://schemas.microsoft.com/office/drawing/2014/main" id="{EB001FEB-05EB-2861-CCD4-EE5DE621AF6F}"/>
              </a:ext>
            </a:extLst>
          </p:cNvPr>
          <p:cNvSpPr txBox="1"/>
          <p:nvPr/>
        </p:nvSpPr>
        <p:spPr>
          <a:xfrm>
            <a:off x="9156441" y="928974"/>
            <a:ext cx="3060454" cy="1323439"/>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Turnkey, plug-and-</a:t>
            </a:r>
            <a:b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br>
            <a:r>
              <a:rPr kumimoji="0" lang="en-US" sz="2000" b="0" i="0" u="none" strike="noStrike" kern="1200" cap="none" spc="0" normalizeH="0" baseline="0" noProof="0">
                <a:ln>
                  <a:noFill/>
                </a:ln>
                <a:solidFill>
                  <a:srgbClr val="000000"/>
                </a:solidFill>
                <a:effectLst/>
                <a:uLnTx/>
                <a:uFillTx/>
                <a:latin typeface="Tomorrow Medium"/>
                <a:ea typeface="+mn-ea"/>
                <a:cs typeface="Arial" panose="020B0604020202020204" pitchFamily="34" charset="0"/>
              </a:rPr>
              <a:t>play switching. </a:t>
            </a:r>
          </a:p>
        </p:txBody>
      </p:sp>
      <p:sp>
        <p:nvSpPr>
          <p:cNvPr id="42" name="Slide Number Placeholder 1">
            <a:extLst>
              <a:ext uri="{FF2B5EF4-FFF2-40B4-BE49-F238E27FC236}">
                <a16:creationId xmlns:a16="http://schemas.microsoft.com/office/drawing/2014/main" id="{FF0C2181-9BDF-522E-7F74-8C6CE260195A}"/>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38</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a:t>
            </a:r>
            <a:r>
              <a:rPr kumimoji="0" lang="en-US" sz="900" b="0" i="0" u="none" strike="noStrike" kern="1200" cap="none" spc="0" normalizeH="0" baseline="0" noProof="0" err="1">
                <a:ln>
                  <a:noFill/>
                </a:ln>
                <a:solidFill>
                  <a:srgbClr val="000000"/>
                </a:solidFill>
                <a:effectLst/>
                <a:uLnTx/>
                <a:uFillTx/>
                <a:latin typeface="Arial"/>
                <a:ea typeface="Roboto Light" panose="02000000000000000000" pitchFamily="2" charset="0"/>
                <a:cs typeface="Arial" panose="020B0604020202020204" pitchFamily="34" charset="0"/>
              </a:rPr>
              <a:t>MaiaEdge</a:t>
            </a:r>
            <a:endPar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endParaRPr>
          </a:p>
        </p:txBody>
      </p:sp>
      <p:sp>
        <p:nvSpPr>
          <p:cNvPr id="4" name="Rectangle 3">
            <a:extLst>
              <a:ext uri="{FF2B5EF4-FFF2-40B4-BE49-F238E27FC236}">
                <a16:creationId xmlns:a16="http://schemas.microsoft.com/office/drawing/2014/main" id="{27653437-9964-92F6-5C74-6CC7482E5DE7}"/>
              </a:ext>
            </a:extLst>
          </p:cNvPr>
          <p:cNvSpPr/>
          <p:nvPr/>
        </p:nvSpPr>
        <p:spPr bwMode="auto">
          <a:xfrm rot="5400000">
            <a:off x="4433394" y="2654004"/>
            <a:ext cx="45720" cy="365760"/>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7" name="Group 6">
            <a:extLst>
              <a:ext uri="{FF2B5EF4-FFF2-40B4-BE49-F238E27FC236}">
                <a16:creationId xmlns:a16="http://schemas.microsoft.com/office/drawing/2014/main" id="{5A20A3C2-B89C-9BF2-D01C-B7C0AA89393B}"/>
              </a:ext>
            </a:extLst>
          </p:cNvPr>
          <p:cNvGrpSpPr/>
          <p:nvPr/>
        </p:nvGrpSpPr>
        <p:grpSpPr>
          <a:xfrm>
            <a:off x="9984505" y="6182474"/>
            <a:ext cx="1676381" cy="411797"/>
            <a:chOff x="455878" y="567592"/>
            <a:chExt cx="2251696" cy="553122"/>
          </a:xfrm>
        </p:grpSpPr>
        <p:grpSp>
          <p:nvGrpSpPr>
            <p:cNvPr id="9" name="Group 8">
              <a:extLst>
                <a:ext uri="{FF2B5EF4-FFF2-40B4-BE49-F238E27FC236}">
                  <a16:creationId xmlns:a16="http://schemas.microsoft.com/office/drawing/2014/main" id="{FDCF5A09-C48E-6704-4858-20ECB84692BF}"/>
                </a:ext>
              </a:extLst>
            </p:cNvPr>
            <p:cNvGrpSpPr/>
            <p:nvPr/>
          </p:nvGrpSpPr>
          <p:grpSpPr>
            <a:xfrm>
              <a:off x="455878" y="567592"/>
              <a:ext cx="533955" cy="553122"/>
              <a:chOff x="455878" y="567592"/>
              <a:chExt cx="533955" cy="553122"/>
            </a:xfrm>
          </p:grpSpPr>
          <p:sp>
            <p:nvSpPr>
              <p:cNvPr id="11" name="Freeform 10">
                <a:extLst>
                  <a:ext uri="{FF2B5EF4-FFF2-40B4-BE49-F238E27FC236}">
                    <a16:creationId xmlns:a16="http://schemas.microsoft.com/office/drawing/2014/main" id="{A8F06935-530D-3C26-0777-D5734E95418A}"/>
                  </a:ext>
                </a:extLst>
              </p:cNvPr>
              <p:cNvSpPr/>
              <p:nvPr/>
            </p:nvSpPr>
            <p:spPr>
              <a:xfrm>
                <a:off x="455878" y="567592"/>
                <a:ext cx="533955" cy="552891"/>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tx2">
                  <a:lumMod val="85000"/>
                  <a:lumOff val="15000"/>
                </a:schemeClr>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Freeform 13">
                <a:extLst>
                  <a:ext uri="{FF2B5EF4-FFF2-40B4-BE49-F238E27FC236}">
                    <a16:creationId xmlns:a16="http://schemas.microsoft.com/office/drawing/2014/main" id="{8A00AC99-9DB5-F38C-B46E-E22776B76277}"/>
                  </a:ext>
                </a:extLst>
              </p:cNvPr>
              <p:cNvSpPr/>
              <p:nvPr/>
            </p:nvSpPr>
            <p:spPr>
              <a:xfrm>
                <a:off x="652720" y="691691"/>
                <a:ext cx="337113" cy="429023"/>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0" name="Freeform 9">
              <a:extLst>
                <a:ext uri="{FF2B5EF4-FFF2-40B4-BE49-F238E27FC236}">
                  <a16:creationId xmlns:a16="http://schemas.microsoft.com/office/drawing/2014/main" id="{2A44EFD3-C267-5F40-FAA9-B939332FBBC4}"/>
                </a:ext>
              </a:extLst>
            </p:cNvPr>
            <p:cNvSpPr/>
            <p:nvPr/>
          </p:nvSpPr>
          <p:spPr>
            <a:xfrm>
              <a:off x="1113128" y="687987"/>
              <a:ext cx="1594446" cy="307933"/>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tx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75783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363A07C-13D9-5C24-9687-D10D30FB7ECF}"/>
            </a:ext>
          </a:extLst>
        </p:cNvPr>
        <p:cNvGrpSpPr/>
        <p:nvPr/>
      </p:nvGrpSpPr>
      <p:grpSpPr>
        <a:xfrm>
          <a:off x="0" y="0"/>
          <a:ext cx="0" cy="0"/>
          <a:chOff x="0" y="0"/>
          <a:chExt cx="0" cy="0"/>
        </a:xfrm>
      </p:grpSpPr>
      <p:pic>
        <p:nvPicPr>
          <p:cNvPr id="23" name="Picture 22" descr="A black background with gold lines&#10;&#10;AI-generated content may be incorrect.">
            <a:extLst>
              <a:ext uri="{FF2B5EF4-FFF2-40B4-BE49-F238E27FC236}">
                <a16:creationId xmlns:a16="http://schemas.microsoft.com/office/drawing/2014/main" id="{062616E1-A9B8-432A-7AA1-7D7CE4BE1765}"/>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tretch>
            <a:fillRect/>
          </a:stretch>
        </p:blipFill>
        <p:spPr>
          <a:xfrm>
            <a:off x="6350" y="0"/>
            <a:ext cx="12179302" cy="6858000"/>
          </a:xfrm>
          <a:prstGeom prst="rect">
            <a:avLst/>
          </a:prstGeom>
        </p:spPr>
      </p:pic>
      <p:sp>
        <p:nvSpPr>
          <p:cNvPr id="18" name="Rectangle 17">
            <a:extLst>
              <a:ext uri="{FF2B5EF4-FFF2-40B4-BE49-F238E27FC236}">
                <a16:creationId xmlns:a16="http://schemas.microsoft.com/office/drawing/2014/main" id="{86BDB39A-B3EA-791A-721B-906A5F73BC23}"/>
              </a:ext>
            </a:extLst>
          </p:cNvPr>
          <p:cNvSpPr/>
          <p:nvPr/>
        </p:nvSpPr>
        <p:spPr bwMode="auto">
          <a:xfrm>
            <a:off x="0" y="5722018"/>
            <a:ext cx="12192000" cy="1135981"/>
          </a:xfrm>
          <a:prstGeom prst="rect">
            <a:avLst/>
          </a:prstGeom>
          <a:solidFill>
            <a:schemeClr val="accent2"/>
          </a:soli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8D3B6E72-4495-C656-8C1D-61312E033C86}"/>
              </a:ext>
            </a:extLst>
          </p:cNvPr>
          <p:cNvGrpSpPr/>
          <p:nvPr/>
        </p:nvGrpSpPr>
        <p:grpSpPr>
          <a:xfrm>
            <a:off x="9984505" y="6181905"/>
            <a:ext cx="1688256" cy="412539"/>
            <a:chOff x="1447800" y="2292350"/>
            <a:chExt cx="7774788" cy="1899831"/>
          </a:xfrm>
        </p:grpSpPr>
        <p:sp>
          <p:nvSpPr>
            <p:cNvPr id="20" name="Freeform 19">
              <a:extLst>
                <a:ext uri="{FF2B5EF4-FFF2-40B4-BE49-F238E27FC236}">
                  <a16:creationId xmlns:a16="http://schemas.microsoft.com/office/drawing/2014/main" id="{B231A118-3985-7236-776F-E0F36899D353}"/>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20">
              <a:extLst>
                <a:ext uri="{FF2B5EF4-FFF2-40B4-BE49-F238E27FC236}">
                  <a16:creationId xmlns:a16="http://schemas.microsoft.com/office/drawing/2014/main" id="{8570BE7B-AD38-04EC-2711-9034AC34CE3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chemeClr val="bg2"/>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2" name="Freeform 21">
              <a:extLst>
                <a:ext uri="{FF2B5EF4-FFF2-40B4-BE49-F238E27FC236}">
                  <a16:creationId xmlns:a16="http://schemas.microsoft.com/office/drawing/2014/main" id="{BFB5B60A-D52C-B12C-DFFC-70C1ADCAB07C}"/>
                </a:ext>
              </a:extLst>
            </p:cNvPr>
            <p:cNvSpPr/>
            <p:nvPr/>
          </p:nvSpPr>
          <p:spPr>
            <a:xfrm>
              <a:off x="3746073" y="2705875"/>
              <a:ext cx="5476515" cy="1057671"/>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rgbClr val="231F20"/>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 name="Group 16">
            <a:extLst>
              <a:ext uri="{FF2B5EF4-FFF2-40B4-BE49-F238E27FC236}">
                <a16:creationId xmlns:a16="http://schemas.microsoft.com/office/drawing/2014/main" id="{5FEE17C2-D5C9-5C7D-0E3D-6CE6C5BD437E}"/>
              </a:ext>
            </a:extLst>
          </p:cNvPr>
          <p:cNvGrpSpPr/>
          <p:nvPr/>
        </p:nvGrpSpPr>
        <p:grpSpPr>
          <a:xfrm>
            <a:off x="510363" y="273824"/>
            <a:ext cx="11297191" cy="5771451"/>
            <a:chOff x="510363" y="273824"/>
            <a:chExt cx="11297191" cy="5771451"/>
          </a:xfrm>
        </p:grpSpPr>
        <p:pic>
          <p:nvPicPr>
            <p:cNvPr id="16" name="Picture 15">
              <a:extLst>
                <a:ext uri="{FF2B5EF4-FFF2-40B4-BE49-F238E27FC236}">
                  <a16:creationId xmlns:a16="http://schemas.microsoft.com/office/drawing/2014/main" id="{E1DBD889-5107-2CE6-EBD2-D75C6B8AAE6D}"/>
                </a:ext>
              </a:extLst>
            </p:cNvPr>
            <p:cNvPicPr>
              <a:picLocks noChangeAspect="1"/>
            </p:cNvPicPr>
            <p:nvPr/>
          </p:nvPicPr>
          <p:blipFill>
            <a:blip r:embed="rId4"/>
            <a:srcRect t="82165" b="1995"/>
            <a:stretch>
              <a:fillRect/>
            </a:stretch>
          </p:blipFill>
          <p:spPr>
            <a:xfrm>
              <a:off x="510363" y="5047793"/>
              <a:ext cx="11297191" cy="997482"/>
            </a:xfrm>
            <a:prstGeom prst="rect">
              <a:avLst/>
            </a:prstGeom>
          </p:spPr>
        </p:pic>
        <p:pic>
          <p:nvPicPr>
            <p:cNvPr id="3" name="Picture 2">
              <a:extLst>
                <a:ext uri="{FF2B5EF4-FFF2-40B4-BE49-F238E27FC236}">
                  <a16:creationId xmlns:a16="http://schemas.microsoft.com/office/drawing/2014/main" id="{69235C9B-1F1E-25C3-5E82-E927593CC969}"/>
                </a:ext>
              </a:extLst>
            </p:cNvPr>
            <p:cNvPicPr>
              <a:picLocks noChangeAspect="1"/>
            </p:cNvPicPr>
            <p:nvPr/>
          </p:nvPicPr>
          <p:blipFill>
            <a:blip r:embed="rId4"/>
            <a:srcRect b="17835"/>
            <a:stretch>
              <a:fillRect/>
            </a:stretch>
          </p:blipFill>
          <p:spPr>
            <a:xfrm>
              <a:off x="510363" y="273824"/>
              <a:ext cx="11297191" cy="5174371"/>
            </a:xfrm>
            <a:prstGeom prst="rect">
              <a:avLst/>
            </a:prstGeom>
          </p:spPr>
        </p:pic>
      </p:grpSp>
      <p:pic>
        <p:nvPicPr>
          <p:cNvPr id="2" name="Picture 1">
            <a:extLst>
              <a:ext uri="{FF2B5EF4-FFF2-40B4-BE49-F238E27FC236}">
                <a16:creationId xmlns:a16="http://schemas.microsoft.com/office/drawing/2014/main" id="{3CD2258B-0304-D9C6-5999-583D468DFD1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16667" y="904770"/>
            <a:ext cx="8077200" cy="4543425"/>
          </a:xfrm>
          <a:prstGeom prst="rect">
            <a:avLst/>
          </a:prstGeom>
        </p:spPr>
      </p:pic>
      <p:sp>
        <p:nvSpPr>
          <p:cNvPr id="10" name="Slide Number Placeholder 5">
            <a:extLst>
              <a:ext uri="{FF2B5EF4-FFF2-40B4-BE49-F238E27FC236}">
                <a16:creationId xmlns:a16="http://schemas.microsoft.com/office/drawing/2014/main" id="{7CE159EF-7735-C557-A3FB-6CF7234BD42D}"/>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000000"/>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39</a:t>
            </a:fld>
            <a:r>
              <a:rPr kumimoji="0" lang="en-US" sz="900" b="0" i="0" u="none" strike="noStrike" kern="1200" cap="none" spc="0" normalizeH="0" baseline="0" noProof="0">
                <a:ln>
                  <a:noFill/>
                </a:ln>
                <a:solidFill>
                  <a:srgbClr val="000000"/>
                </a:solidFill>
                <a:effectLst/>
                <a:uLnTx/>
                <a:uFillTx/>
                <a:latin typeface="Arial"/>
                <a:ea typeface="Roboto Light" panose="02000000000000000000" pitchFamily="2" charset="0"/>
                <a:cs typeface="Arial" panose="020B0604020202020204" pitchFamily="34" charset="0"/>
              </a:rPr>
              <a:t>  © 2026 MaiaEdge</a:t>
            </a:r>
          </a:p>
        </p:txBody>
      </p:sp>
    </p:spTree>
    <p:extLst>
      <p:ext uri="{BB962C8B-B14F-4D97-AF65-F5344CB8AC3E}">
        <p14:creationId xmlns:p14="http://schemas.microsoft.com/office/powerpoint/2010/main" val="232914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75255-DFA4-9824-438A-582E17626CFD}"/>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A5E1355-A407-26CA-A2C3-2D4553D56778}"/>
              </a:ext>
            </a:extLst>
          </p:cNvPr>
          <p:cNvGrpSpPr/>
          <p:nvPr/>
        </p:nvGrpSpPr>
        <p:grpSpPr>
          <a:xfrm>
            <a:off x="0" y="4390275"/>
            <a:ext cx="12192000" cy="2467725"/>
            <a:chOff x="0" y="4390275"/>
            <a:chExt cx="12192000" cy="2467725"/>
          </a:xfrm>
        </p:grpSpPr>
        <p:sp>
          <p:nvSpPr>
            <p:cNvPr id="13" name="Rectangle 12">
              <a:extLst>
                <a:ext uri="{FF2B5EF4-FFF2-40B4-BE49-F238E27FC236}">
                  <a16:creationId xmlns:a16="http://schemas.microsoft.com/office/drawing/2014/main" id="{84E5311C-08FE-3C18-FB01-4E7FFC704B63}"/>
                </a:ext>
              </a:extLst>
            </p:cNvPr>
            <p:cNvSpPr/>
            <p:nvPr/>
          </p:nvSpPr>
          <p:spPr bwMode="auto">
            <a:xfrm flipV="1">
              <a:off x="0" y="4417823"/>
              <a:ext cx="12192000" cy="2440172"/>
            </a:xfrm>
            <a:prstGeom prst="rect">
              <a:avLst/>
            </a:prstGeom>
            <a:gradFill>
              <a:gsLst>
                <a:gs pos="0">
                  <a:schemeClr val="tx1">
                    <a:lumMod val="65000"/>
                    <a:lumOff val="35000"/>
                  </a:schemeClr>
                </a:gs>
                <a:gs pos="86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pic>
          <p:nvPicPr>
            <p:cNvPr id="14" name="Picture 13" descr="A black and white pattern&#10;&#10;AI-generated content may be incorrect.">
              <a:extLst>
                <a:ext uri="{FF2B5EF4-FFF2-40B4-BE49-F238E27FC236}">
                  <a16:creationId xmlns:a16="http://schemas.microsoft.com/office/drawing/2014/main" id="{E658B096-9F65-50C3-809A-F46C2E73C9F4}"/>
                </a:ext>
              </a:extLst>
            </p:cNvPr>
            <p:cNvPicPr>
              <a:picLocks noChangeAspect="1"/>
            </p:cNvPicPr>
            <p:nvPr/>
          </p:nvPicPr>
          <p:blipFill>
            <a:blip r:embed="rId4"/>
            <a:srcRect l="5289" t="22420" r="230" b="43617"/>
            <a:stretch>
              <a:fillRect/>
            </a:stretch>
          </p:blipFill>
          <p:spPr>
            <a:xfrm>
              <a:off x="0" y="4390275"/>
              <a:ext cx="12192000" cy="2467724"/>
            </a:xfrm>
            <a:prstGeom prst="rect">
              <a:avLst/>
            </a:prstGeom>
          </p:spPr>
        </p:pic>
        <p:sp>
          <p:nvSpPr>
            <p:cNvPr id="17" name="Fade">
              <a:extLst>
                <a:ext uri="{FF2B5EF4-FFF2-40B4-BE49-F238E27FC236}">
                  <a16:creationId xmlns:a16="http://schemas.microsoft.com/office/drawing/2014/main" id="{AD951E52-00A8-0C72-4963-C4AA6728B631}"/>
                </a:ext>
              </a:extLst>
            </p:cNvPr>
            <p:cNvSpPr/>
            <p:nvPr/>
          </p:nvSpPr>
          <p:spPr bwMode="auto">
            <a:xfrm>
              <a:off x="0" y="4406328"/>
              <a:ext cx="12192000" cy="2451672"/>
            </a:xfrm>
            <a:prstGeom prst="rect">
              <a:avLst/>
            </a:prstGeom>
            <a:gradFill flip="none" rotWithShape="1">
              <a:gsLst>
                <a:gs pos="27000">
                  <a:schemeClr val="tx1">
                    <a:alpha val="80000"/>
                  </a:schemeClr>
                </a:gs>
                <a:gs pos="100000">
                  <a:schemeClr val="bg2">
                    <a:lumMod val="25000"/>
                    <a:alpha val="0"/>
                  </a:schemeClr>
                </a:gs>
                <a:gs pos="78000">
                  <a:schemeClr val="tx1">
                    <a:alpha val="55268"/>
                  </a:schemeClr>
                </a:gs>
              </a:gsLst>
              <a:lin ang="4200000" scaled="0"/>
              <a:tileRect/>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DA5F8701-AB5B-2955-4745-0FBB4B8C41B1}"/>
              </a:ext>
            </a:extLst>
          </p:cNvPr>
          <p:cNvSpPr txBox="1"/>
          <p:nvPr/>
        </p:nvSpPr>
        <p:spPr>
          <a:xfrm>
            <a:off x="606738"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Network operator view</a:t>
            </a:r>
          </a:p>
        </p:txBody>
      </p:sp>
      <p:sp>
        <p:nvSpPr>
          <p:cNvPr id="19" name="Slide Number Placeholder 1">
            <a:extLst>
              <a:ext uri="{FF2B5EF4-FFF2-40B4-BE49-F238E27FC236}">
                <a16:creationId xmlns:a16="http://schemas.microsoft.com/office/drawing/2014/main" id="{8296556B-307F-3BDF-8E00-43127EF4E12D}"/>
              </a:ext>
            </a:extLst>
          </p:cNvPr>
          <p:cNvSpPr txBox="1">
            <a:spLocks/>
          </p:cNvSpPr>
          <p:nvPr/>
        </p:nvSpPr>
        <p:spPr>
          <a:xfrm>
            <a:off x="510363" y="6445677"/>
            <a:ext cx="2743200" cy="138499"/>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tx1"/>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0246F002-FF83-614A-810B-169E974B53D7}" type="slidenum">
              <a:rPr kumimoji="0" lang="en-US" sz="900" b="0" i="0" u="none" strike="noStrike" kern="1200" cap="none" spc="0" normalizeH="0" baseline="0" noProof="0" smtClean="0">
                <a:ln>
                  <a:noFill/>
                </a:ln>
                <a:solidFill>
                  <a:srgbClr val="D4D0C9"/>
                </a:solidFill>
                <a:effectLst/>
                <a:uLnTx/>
                <a:uFillTx/>
                <a:latin typeface="Arial"/>
                <a:ea typeface="Roboto Light" panose="02000000000000000000" pitchFamily="2"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40</a:t>
            </a:fld>
            <a:r>
              <a:rPr kumimoji="0" lang="en-US" sz="900" b="0" i="0" u="none" strike="noStrike" kern="1200" cap="none" spc="0" normalizeH="0" baseline="0" noProof="0">
                <a:ln>
                  <a:noFill/>
                </a:ln>
                <a:solidFill>
                  <a:srgbClr val="D4D0C9"/>
                </a:solidFill>
                <a:effectLst/>
                <a:uLnTx/>
                <a:uFillTx/>
                <a:latin typeface="Arial"/>
                <a:ea typeface="Roboto Light" panose="02000000000000000000" pitchFamily="2" charset="0"/>
                <a:cs typeface="Arial" panose="020B0604020202020204" pitchFamily="34" charset="0"/>
              </a:rPr>
              <a:t>  © 2026 MaiaEdge</a:t>
            </a:r>
          </a:p>
        </p:txBody>
      </p:sp>
      <p:grpSp>
        <p:nvGrpSpPr>
          <p:cNvPr id="20" name="Maia Logo">
            <a:extLst>
              <a:ext uri="{FF2B5EF4-FFF2-40B4-BE49-F238E27FC236}">
                <a16:creationId xmlns:a16="http://schemas.microsoft.com/office/drawing/2014/main" id="{52C51779-7531-9E30-629A-1A067066F880}"/>
              </a:ext>
            </a:extLst>
          </p:cNvPr>
          <p:cNvGrpSpPr/>
          <p:nvPr/>
        </p:nvGrpSpPr>
        <p:grpSpPr>
          <a:xfrm>
            <a:off x="9984505" y="6181344"/>
            <a:ext cx="1697132" cy="414708"/>
            <a:chOff x="1447800" y="2292350"/>
            <a:chExt cx="7774788" cy="1899831"/>
          </a:xfrm>
        </p:grpSpPr>
        <p:sp>
          <p:nvSpPr>
            <p:cNvPr id="25" name="Freeform 20">
              <a:extLst>
                <a:ext uri="{FF2B5EF4-FFF2-40B4-BE49-F238E27FC236}">
                  <a16:creationId xmlns:a16="http://schemas.microsoft.com/office/drawing/2014/main" id="{86422372-1925-4A3D-A98A-7050BF1D7D7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6" name="Freeform 21">
              <a:extLst>
                <a:ext uri="{FF2B5EF4-FFF2-40B4-BE49-F238E27FC236}">
                  <a16:creationId xmlns:a16="http://schemas.microsoft.com/office/drawing/2014/main" id="{2D782020-E2BF-2526-A358-78DE3BC7151D}"/>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8" name="Freeform 22">
              <a:extLst>
                <a:ext uri="{FF2B5EF4-FFF2-40B4-BE49-F238E27FC236}">
                  <a16:creationId xmlns:a16="http://schemas.microsoft.com/office/drawing/2014/main" id="{C5136218-7215-1C11-ECA3-73209DD4E6E6}"/>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9" name="Group 38">
            <a:extLst>
              <a:ext uri="{FF2B5EF4-FFF2-40B4-BE49-F238E27FC236}">
                <a16:creationId xmlns:a16="http://schemas.microsoft.com/office/drawing/2014/main" id="{F82C219D-65A5-CE8F-97BB-7FE8547801F6}"/>
              </a:ext>
            </a:extLst>
          </p:cNvPr>
          <p:cNvGrpSpPr/>
          <p:nvPr/>
        </p:nvGrpSpPr>
        <p:grpSpPr>
          <a:xfrm>
            <a:off x="574788" y="1656284"/>
            <a:ext cx="5261754" cy="2933143"/>
            <a:chOff x="585655" y="1518248"/>
            <a:chExt cx="5261754" cy="2933143"/>
          </a:xfrm>
        </p:grpSpPr>
        <p:pic>
          <p:nvPicPr>
            <p:cNvPr id="36" name="Picture 35">
              <a:extLst>
                <a:ext uri="{FF2B5EF4-FFF2-40B4-BE49-F238E27FC236}">
                  <a16:creationId xmlns:a16="http://schemas.microsoft.com/office/drawing/2014/main" id="{588AA527-39F7-5DBF-C91E-3ED1EF1A9297}"/>
                </a:ext>
              </a:extLst>
            </p:cNvPr>
            <p:cNvPicPr>
              <a:picLocks noChangeAspect="1"/>
            </p:cNvPicPr>
            <p:nvPr/>
          </p:nvPicPr>
          <p:blipFill>
            <a:blip r:embed="rId5"/>
            <a:stretch>
              <a:fillRect/>
            </a:stretch>
          </p:blipFill>
          <p:spPr>
            <a:xfrm>
              <a:off x="585655" y="1518248"/>
              <a:ext cx="5261754" cy="2933143"/>
            </a:xfrm>
            <a:prstGeom prst="rect">
              <a:avLst/>
            </a:prstGeom>
          </p:spPr>
        </p:pic>
        <p:pic>
          <p:nvPicPr>
            <p:cNvPr id="2" name="Picture 1">
              <a:extLst>
                <a:ext uri="{FF2B5EF4-FFF2-40B4-BE49-F238E27FC236}">
                  <a16:creationId xmlns:a16="http://schemas.microsoft.com/office/drawing/2014/main" id="{0C7E5181-4D69-1AD2-494E-0E52B03F0CE9}"/>
                </a:ext>
              </a:extLst>
            </p:cNvPr>
            <p:cNvPicPr>
              <a:picLocks noChangeAspect="1"/>
            </p:cNvPicPr>
            <p:nvPr/>
          </p:nvPicPr>
          <p:blipFill>
            <a:blip r:embed="rId6"/>
            <a:stretch>
              <a:fillRect/>
            </a:stretch>
          </p:blipFill>
          <p:spPr>
            <a:xfrm>
              <a:off x="1343231" y="1822522"/>
              <a:ext cx="3746601" cy="2290922"/>
            </a:xfrm>
            <a:prstGeom prst="rect">
              <a:avLst/>
            </a:prstGeom>
          </p:spPr>
        </p:pic>
      </p:grpSp>
      <p:grpSp>
        <p:nvGrpSpPr>
          <p:cNvPr id="38" name="Group 37">
            <a:extLst>
              <a:ext uri="{FF2B5EF4-FFF2-40B4-BE49-F238E27FC236}">
                <a16:creationId xmlns:a16="http://schemas.microsoft.com/office/drawing/2014/main" id="{4FA4FC05-80BD-755D-C8D3-689B6B8F6094}"/>
              </a:ext>
            </a:extLst>
          </p:cNvPr>
          <p:cNvGrpSpPr/>
          <p:nvPr/>
        </p:nvGrpSpPr>
        <p:grpSpPr>
          <a:xfrm>
            <a:off x="6429897" y="1656284"/>
            <a:ext cx="5261754" cy="2933143"/>
            <a:chOff x="6440764" y="1518248"/>
            <a:chExt cx="5261754" cy="2933143"/>
          </a:xfrm>
        </p:grpSpPr>
        <p:pic>
          <p:nvPicPr>
            <p:cNvPr id="37" name="Picture 36">
              <a:extLst>
                <a:ext uri="{FF2B5EF4-FFF2-40B4-BE49-F238E27FC236}">
                  <a16:creationId xmlns:a16="http://schemas.microsoft.com/office/drawing/2014/main" id="{3EA0A124-9C2A-CF6C-3D7E-6C986073D417}"/>
                </a:ext>
              </a:extLst>
            </p:cNvPr>
            <p:cNvPicPr>
              <a:picLocks noChangeAspect="1"/>
            </p:cNvPicPr>
            <p:nvPr/>
          </p:nvPicPr>
          <p:blipFill>
            <a:blip r:embed="rId5"/>
            <a:stretch>
              <a:fillRect/>
            </a:stretch>
          </p:blipFill>
          <p:spPr>
            <a:xfrm>
              <a:off x="6440764" y="1518248"/>
              <a:ext cx="5261754" cy="2933143"/>
            </a:xfrm>
            <a:prstGeom prst="rect">
              <a:avLst/>
            </a:prstGeom>
          </p:spPr>
        </p:pic>
        <p:pic>
          <p:nvPicPr>
            <p:cNvPr id="7" name="Picture 6">
              <a:extLst>
                <a:ext uri="{FF2B5EF4-FFF2-40B4-BE49-F238E27FC236}">
                  <a16:creationId xmlns:a16="http://schemas.microsoft.com/office/drawing/2014/main" id="{669811A1-76C7-35FB-9D59-E2200A5665B0}"/>
                </a:ext>
              </a:extLst>
            </p:cNvPr>
            <p:cNvPicPr>
              <a:picLocks noChangeAspect="1"/>
            </p:cNvPicPr>
            <p:nvPr/>
          </p:nvPicPr>
          <p:blipFill>
            <a:blip r:embed="rId7"/>
            <a:stretch>
              <a:fillRect/>
            </a:stretch>
          </p:blipFill>
          <p:spPr>
            <a:xfrm>
              <a:off x="7212218" y="1803581"/>
              <a:ext cx="3718846" cy="2346388"/>
            </a:xfrm>
            <a:prstGeom prst="rect">
              <a:avLst/>
            </a:prstGeom>
          </p:spPr>
        </p:pic>
      </p:grpSp>
      <p:sp>
        <p:nvSpPr>
          <p:cNvPr id="4" name="Title 3">
            <a:extLst>
              <a:ext uri="{FF2B5EF4-FFF2-40B4-BE49-F238E27FC236}">
                <a16:creationId xmlns:a16="http://schemas.microsoft.com/office/drawing/2014/main" id="{FF42B98E-BBC7-79BA-6ECC-05AFB365E654}"/>
              </a:ext>
            </a:extLst>
          </p:cNvPr>
          <p:cNvSpPr>
            <a:spLocks noGrp="1"/>
          </p:cNvSpPr>
          <p:nvPr>
            <p:ph type="title"/>
          </p:nvPr>
        </p:nvSpPr>
        <p:spPr/>
        <p:txBody>
          <a:bodyPr/>
          <a:lstStyle/>
          <a:p>
            <a:r>
              <a:rPr lang="en-US"/>
              <a:t>Multi-Tenancy: MSP &amp; Customer View </a:t>
            </a:r>
          </a:p>
        </p:txBody>
      </p:sp>
      <p:sp>
        <p:nvSpPr>
          <p:cNvPr id="31" name="Text 20">
            <a:extLst>
              <a:ext uri="{FF2B5EF4-FFF2-40B4-BE49-F238E27FC236}">
                <a16:creationId xmlns:a16="http://schemas.microsoft.com/office/drawing/2014/main" id="{1B28FBA3-9EA6-4485-9A98-0E5FB86213FD}"/>
              </a:ext>
            </a:extLst>
          </p:cNvPr>
          <p:cNvSpPr/>
          <p:nvPr/>
        </p:nvSpPr>
        <p:spPr>
          <a:xfrm>
            <a:off x="606737" y="5016508"/>
            <a:ext cx="5051423" cy="1279928"/>
          </a:xfrm>
          <a:prstGeom prst="rect">
            <a:avLst/>
          </a:prstGeom>
          <a:noFill/>
          <a:ln/>
        </p:spPr>
        <p:txBody>
          <a:bodyPr wrap="square" lIns="274320" tIns="0" rtlCol="0" anchor="t">
            <a:noAutofit/>
          </a:bodyPr>
          <a:lstStyle/>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Full topology view</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Link capacity &amp; utilization</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Complete path health &amp; SLA</a:t>
            </a:r>
          </a:p>
        </p:txBody>
      </p:sp>
      <p:sp>
        <p:nvSpPr>
          <p:cNvPr id="32" name="Text 20">
            <a:extLst>
              <a:ext uri="{FF2B5EF4-FFF2-40B4-BE49-F238E27FC236}">
                <a16:creationId xmlns:a16="http://schemas.microsoft.com/office/drawing/2014/main" id="{138728DB-DDC6-B73D-0D21-2DF7DBA5A24D}"/>
              </a:ext>
            </a:extLst>
          </p:cNvPr>
          <p:cNvSpPr/>
          <p:nvPr/>
        </p:nvSpPr>
        <p:spPr>
          <a:xfrm>
            <a:off x="6495605" y="5016508"/>
            <a:ext cx="4922124" cy="1279928"/>
          </a:xfrm>
          <a:prstGeom prst="rect">
            <a:avLst/>
          </a:prstGeom>
          <a:noFill/>
          <a:ln/>
        </p:spPr>
        <p:txBody>
          <a:bodyPr wrap="square" lIns="274320" tIns="0" rtlCol="0" anchor="t">
            <a:noAutofit/>
          </a:bodyPr>
          <a:lstStyle/>
          <a:p>
            <a:pPr marL="182563" lvl="0" indent="-182563">
              <a:spcBef>
                <a:spcPts val="300"/>
              </a:spcBef>
              <a:buClr>
                <a:srgbClr val="FF9400"/>
              </a:buClr>
              <a:buFont typeface="Arial" panose="020B0604020202020204" pitchFamily="34" charset="0"/>
              <a:buChar char="•"/>
              <a:defRPr/>
            </a:pPr>
            <a:r>
              <a:rPr lang="en-US" sz="1400" dirty="0">
                <a:solidFill>
                  <a:srgbClr val="FFFFFF"/>
                </a:solidFill>
              </a:rPr>
              <a:t>Customer self-provisioning</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Monitoring and policy control</a:t>
            </a:r>
          </a:p>
          <a:p>
            <a:pPr marL="182563" marR="0" lvl="0" indent="-182563" algn="l" defTabSz="914400" rtl="0" eaLnBrk="1" fontAlgn="auto" latinLnBrk="0" hangingPunct="1">
              <a:lnSpc>
                <a:spcPct val="100000"/>
              </a:lnSpc>
              <a:spcBef>
                <a:spcPts val="300"/>
              </a:spcBef>
              <a:spcAft>
                <a:spcPts val="0"/>
              </a:spcAft>
              <a:buClr>
                <a:srgbClr val="FF9400"/>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Private path visibility </a:t>
            </a:r>
          </a:p>
        </p:txBody>
      </p:sp>
      <p:sp>
        <p:nvSpPr>
          <p:cNvPr id="29" name="TextBox 28">
            <a:extLst>
              <a:ext uri="{FF2B5EF4-FFF2-40B4-BE49-F238E27FC236}">
                <a16:creationId xmlns:a16="http://schemas.microsoft.com/office/drawing/2014/main" id="{51170F67-27CD-34AB-E908-B4FA97DDDD33}"/>
              </a:ext>
            </a:extLst>
          </p:cNvPr>
          <p:cNvSpPr txBox="1"/>
          <p:nvPr/>
        </p:nvSpPr>
        <p:spPr>
          <a:xfrm>
            <a:off x="6495605" y="4405382"/>
            <a:ext cx="5130338" cy="461665"/>
          </a:xfrm>
          <a:prstGeom prst="rect">
            <a:avLst/>
          </a:prstGeom>
          <a:solidFill>
            <a:schemeClr val="accent1"/>
          </a:solidFill>
        </p:spPr>
        <p:txBody>
          <a:bodyPr wrap="square" lIns="2743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Medium"/>
                <a:ea typeface="+mn-ea"/>
                <a:cs typeface="+mn-cs"/>
              </a:rPr>
              <a:t>Customer view (multi-tenancy)</a:t>
            </a:r>
          </a:p>
        </p:txBody>
      </p:sp>
    </p:spTree>
    <p:custDataLst>
      <p:tags r:id="rId1"/>
    </p:custDataLst>
    <p:extLst>
      <p:ext uri="{BB962C8B-B14F-4D97-AF65-F5344CB8AC3E}">
        <p14:creationId xmlns:p14="http://schemas.microsoft.com/office/powerpoint/2010/main" val="139072350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A1F18-25DD-787B-6A6E-3D995B98DB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355DA01-FD9E-63FC-731C-63EF4FD8DBA3}"/>
              </a:ext>
            </a:extLst>
          </p:cNvPr>
          <p:cNvSpPr>
            <a:spLocks noGrp="1"/>
          </p:cNvSpPr>
          <p:nvPr>
            <p:ph type="ctrTitle"/>
          </p:nvPr>
        </p:nvSpPr>
        <p:spPr>
          <a:xfrm>
            <a:off x="510362" y="2560320"/>
            <a:ext cx="7452360" cy="1682495"/>
          </a:xfrm>
        </p:spPr>
        <p:txBody>
          <a:bodyPr/>
          <a:lstStyle/>
          <a:p>
            <a:r>
              <a:rPr lang="en-US" dirty="0"/>
              <a:t>Simplified Cloud Connectivity </a:t>
            </a:r>
          </a:p>
        </p:txBody>
      </p:sp>
      <p:sp>
        <p:nvSpPr>
          <p:cNvPr id="5" name="Subtitle 4">
            <a:extLst>
              <a:ext uri="{FF2B5EF4-FFF2-40B4-BE49-F238E27FC236}">
                <a16:creationId xmlns:a16="http://schemas.microsoft.com/office/drawing/2014/main" id="{5F8AB6BF-8223-4CA8-BA6B-7C7259933626}"/>
              </a:ext>
            </a:extLst>
          </p:cNvPr>
          <p:cNvSpPr>
            <a:spLocks noGrp="1"/>
          </p:cNvSpPr>
          <p:nvPr>
            <p:ph type="subTitle" idx="1"/>
          </p:nvPr>
        </p:nvSpPr>
        <p:spPr>
          <a:xfrm>
            <a:off x="510362" y="4506932"/>
            <a:ext cx="7452360" cy="914400"/>
          </a:xfrm>
        </p:spPr>
        <p:txBody>
          <a:bodyPr/>
          <a:lstStyle/>
          <a:p>
            <a:r>
              <a:rPr lang="en-US" dirty="0"/>
              <a:t>Cloud connectivity made easy. </a:t>
            </a:r>
          </a:p>
        </p:txBody>
      </p:sp>
      <p:sp>
        <p:nvSpPr>
          <p:cNvPr id="36" name="Text Placeholder 35">
            <a:extLst>
              <a:ext uri="{FF2B5EF4-FFF2-40B4-BE49-F238E27FC236}">
                <a16:creationId xmlns:a16="http://schemas.microsoft.com/office/drawing/2014/main" id="{5B49D5B2-BB88-28E4-6F6A-9D22CC38FE39}"/>
              </a:ext>
            </a:extLst>
          </p:cNvPr>
          <p:cNvSpPr>
            <a:spLocks noGrp="1"/>
          </p:cNvSpPr>
          <p:nvPr>
            <p:ph type="body" sz="quarter" idx="11"/>
          </p:nvPr>
        </p:nvSpPr>
        <p:spPr/>
        <p:txBody>
          <a:bodyPr/>
          <a:lstStyle/>
          <a:p>
            <a:r>
              <a:rPr lang="en-US" dirty="0"/>
              <a:t>May 2026</a:t>
            </a:r>
          </a:p>
        </p:txBody>
      </p:sp>
      <p:sp>
        <p:nvSpPr>
          <p:cNvPr id="26" name="Text Placeholder 25">
            <a:extLst>
              <a:ext uri="{FF2B5EF4-FFF2-40B4-BE49-F238E27FC236}">
                <a16:creationId xmlns:a16="http://schemas.microsoft.com/office/drawing/2014/main" id="{C4F7E098-B46E-FEA2-9E7C-27F6E35260ED}"/>
              </a:ext>
            </a:extLst>
          </p:cNvPr>
          <p:cNvSpPr>
            <a:spLocks noGrp="1"/>
          </p:cNvSpPr>
          <p:nvPr>
            <p:ph type="body" sz="quarter" idx="12"/>
          </p:nvPr>
        </p:nvSpPr>
        <p:spPr>
          <a:xfrm>
            <a:off x="510362" y="2103120"/>
            <a:ext cx="7452360" cy="457200"/>
          </a:xfrm>
        </p:spPr>
        <p:txBody>
          <a:bodyPr/>
          <a:lstStyle/>
          <a:p>
            <a:r>
              <a:rPr lang="en-US" dirty="0"/>
              <a:t>Cloud On-Ramps </a:t>
            </a:r>
          </a:p>
        </p:txBody>
      </p:sp>
      <p:sp>
        <p:nvSpPr>
          <p:cNvPr id="37" name="Slide Number Placeholder 36">
            <a:extLst>
              <a:ext uri="{FF2B5EF4-FFF2-40B4-BE49-F238E27FC236}">
                <a16:creationId xmlns:a16="http://schemas.microsoft.com/office/drawing/2014/main" id="{1C7DD5E9-E13B-467E-AE27-0046DCF90421}"/>
              </a:ext>
            </a:extLst>
          </p:cNvPr>
          <p:cNvSpPr>
            <a:spLocks noGrp="1"/>
          </p:cNvSpPr>
          <p:nvPr>
            <p:ph type="sldNum" sz="quarter" idx="10"/>
          </p:nvPr>
        </p:nvSpPr>
        <p:spPr>
          <a:xfrm>
            <a:off x="510363" y="6461065"/>
            <a:ext cx="2743200" cy="123111"/>
          </a:xfrm>
        </p:spPr>
        <p:txBody>
          <a:bodyPr/>
          <a:lstStyle/>
          <a:p>
            <a:r>
              <a:rPr lang="en-US" sz="800" dirty="0"/>
              <a:t>© 2026 </a:t>
            </a:r>
            <a:r>
              <a:rPr lang="en-US" sz="800" dirty="0" err="1"/>
              <a:t>MaiaEdge</a:t>
            </a:r>
            <a:endParaRPr lang="en-US" sz="800" dirty="0"/>
          </a:p>
        </p:txBody>
      </p:sp>
    </p:spTree>
    <p:extLst>
      <p:ext uri="{BB962C8B-B14F-4D97-AF65-F5344CB8AC3E}">
        <p14:creationId xmlns:p14="http://schemas.microsoft.com/office/powerpoint/2010/main" val="236452807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D0B0-6ABB-BFC5-4585-A80CE8BB84AC}"/>
            </a:ext>
          </a:extLst>
        </p:cNvPr>
        <p:cNvGrpSpPr/>
        <p:nvPr/>
      </p:nvGrpSpPr>
      <p:grpSpPr>
        <a:xfrm>
          <a:off x="0" y="0"/>
          <a:ext cx="0" cy="0"/>
          <a:chOff x="0" y="0"/>
          <a:chExt cx="0" cy="0"/>
        </a:xfrm>
      </p:grpSpPr>
      <p:pic>
        <p:nvPicPr>
          <p:cNvPr id="6" name="Picture 5" descr="A black and white image of a black and white image of a black and white image of a black and white image of a black and white image of a black and white image of a black and&#10;&#10;AI-generated content may be incorrect.">
            <a:extLst>
              <a:ext uri="{FF2B5EF4-FFF2-40B4-BE49-F238E27FC236}">
                <a16:creationId xmlns:a16="http://schemas.microsoft.com/office/drawing/2014/main" id="{A7A0E39E-5460-D02E-EE68-EFDD9B0DC12E}"/>
              </a:ext>
            </a:extLst>
          </p:cNvPr>
          <p:cNvPicPr>
            <a:picLocks noChangeAspect="1"/>
          </p:cNvPicPr>
          <p:nvPr/>
        </p:nvPicPr>
        <p:blipFill>
          <a:blip r:embed="rId3" cstate="email">
            <a:extLst>
              <a:ext uri="{28A0092B-C50C-407E-A947-70E740481C1C}">
                <a14:useLocalDpi xmlns:a14="http://schemas.microsoft.com/office/drawing/2010/main"/>
              </a:ext>
            </a:extLst>
          </a:blip>
          <a:srcRect l="251" t="251" r="251" b="251"/>
          <a:stretch>
            <a:fillRect/>
          </a:stretch>
        </p:blipFill>
        <p:spPr>
          <a:xfrm>
            <a:off x="0" y="0"/>
            <a:ext cx="12192000" cy="6953248"/>
          </a:xfrm>
          <a:prstGeom prst="rect">
            <a:avLst/>
          </a:prstGeom>
        </p:spPr>
      </p:pic>
      <p:grpSp>
        <p:nvGrpSpPr>
          <p:cNvPr id="7" name="Maia Logo">
            <a:extLst>
              <a:ext uri="{FF2B5EF4-FFF2-40B4-BE49-F238E27FC236}">
                <a16:creationId xmlns:a16="http://schemas.microsoft.com/office/drawing/2014/main" id="{DE779BA9-E2A1-9B00-1503-9CD1D4A66611}"/>
              </a:ext>
            </a:extLst>
          </p:cNvPr>
          <p:cNvGrpSpPr/>
          <p:nvPr/>
        </p:nvGrpSpPr>
        <p:grpSpPr>
          <a:xfrm>
            <a:off x="9982492" y="6181218"/>
            <a:ext cx="1700948" cy="415640"/>
            <a:chOff x="1447800" y="2292350"/>
            <a:chExt cx="7774788" cy="1899831"/>
          </a:xfrm>
        </p:grpSpPr>
        <p:sp>
          <p:nvSpPr>
            <p:cNvPr id="8" name="Freeform 20">
              <a:extLst>
                <a:ext uri="{FF2B5EF4-FFF2-40B4-BE49-F238E27FC236}">
                  <a16:creationId xmlns:a16="http://schemas.microsoft.com/office/drawing/2014/main" id="{88B8EA80-3D9F-DF73-A06B-46A40A447F4E}"/>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 name="Freeform 21">
              <a:extLst>
                <a:ext uri="{FF2B5EF4-FFF2-40B4-BE49-F238E27FC236}">
                  <a16:creationId xmlns:a16="http://schemas.microsoft.com/office/drawing/2014/main" id="{8125D4D4-838B-1900-99D5-231DF34ED3D8}"/>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00234862-B16C-BF48-512D-1B235AA95D2B}"/>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3" name="TextBox 12">
            <a:extLst>
              <a:ext uri="{FF2B5EF4-FFF2-40B4-BE49-F238E27FC236}">
                <a16:creationId xmlns:a16="http://schemas.microsoft.com/office/drawing/2014/main" id="{C36DC8D1-6732-5AF6-2C33-E0D1CB4BA627}"/>
              </a:ext>
            </a:extLst>
          </p:cNvPr>
          <p:cNvSpPr txBox="1"/>
          <p:nvPr/>
        </p:nvSpPr>
        <p:spPr>
          <a:xfrm>
            <a:off x="1594591" y="4036832"/>
            <a:ext cx="8789137" cy="461665"/>
          </a:xfrm>
          <a:prstGeom prst="rect">
            <a:avLst/>
          </a:prstGeom>
          <a:noFill/>
        </p:spPr>
        <p:txBody>
          <a:bodyPr wrap="square" lIns="0">
            <a:spAutoFit/>
          </a:bodyPr>
          <a:lstStyle/>
          <a:p>
            <a:pPr>
              <a:spcBef>
                <a:spcPts val="1200"/>
              </a:spcBef>
              <a:buClr>
                <a:schemeClr val="accent2"/>
              </a:buClr>
            </a:pPr>
            <a:r>
              <a:rPr lang="en-US" sz="2400">
                <a:solidFill>
                  <a:schemeClr val="bg1"/>
                </a:solidFill>
                <a:ea typeface="Roboto Medium" panose="02000000000000000000" pitchFamily="2" charset="0"/>
                <a:cs typeface="Arial" panose="020B0604020202020204" pitchFamily="34" charset="0"/>
              </a:rPr>
              <a:t>Unlock new revenue streams. Eliminate complex provisioning. </a:t>
            </a:r>
            <a:endParaRPr lang="en-US" sz="2400" b="1">
              <a:solidFill>
                <a:schemeClr val="bg1"/>
              </a:solidFill>
              <a:ea typeface="Roboto Medium" panose="02000000000000000000" pitchFamily="2" charset="0"/>
              <a:cs typeface="Arial" panose="020B0604020202020204" pitchFamily="34" charset="0"/>
            </a:endParaRPr>
          </a:p>
        </p:txBody>
      </p:sp>
      <p:sp>
        <p:nvSpPr>
          <p:cNvPr id="16" name="Rectangle 15">
            <a:extLst>
              <a:ext uri="{FF2B5EF4-FFF2-40B4-BE49-F238E27FC236}">
                <a16:creationId xmlns:a16="http://schemas.microsoft.com/office/drawing/2014/main" id="{3740C8EC-6157-16D1-76DA-C0D887D18A50}"/>
              </a:ext>
            </a:extLst>
          </p:cNvPr>
          <p:cNvSpPr/>
          <p:nvPr/>
        </p:nvSpPr>
        <p:spPr bwMode="auto">
          <a:xfrm>
            <a:off x="0" y="1139107"/>
            <a:ext cx="118533" cy="4369342"/>
          </a:xfrm>
          <a:prstGeom prst="rect">
            <a:avLst/>
          </a:prstGeom>
          <a:solidFill>
            <a:schemeClr val="accent1"/>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7" name="Slide Number Placeholder 21">
            <a:extLst>
              <a:ext uri="{FF2B5EF4-FFF2-40B4-BE49-F238E27FC236}">
                <a16:creationId xmlns:a16="http://schemas.microsoft.com/office/drawing/2014/main" id="{0314691A-7282-E31A-FD21-DA0DDBB12B41}"/>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sp>
        <p:nvSpPr>
          <p:cNvPr id="2" name="Title 1">
            <a:extLst>
              <a:ext uri="{FF2B5EF4-FFF2-40B4-BE49-F238E27FC236}">
                <a16:creationId xmlns:a16="http://schemas.microsoft.com/office/drawing/2014/main" id="{35B814AE-C7D8-2694-3EFE-E4AAC77C605A}"/>
              </a:ext>
            </a:extLst>
          </p:cNvPr>
          <p:cNvSpPr>
            <a:spLocks noGrp="1"/>
          </p:cNvSpPr>
          <p:nvPr>
            <p:ph type="title"/>
          </p:nvPr>
        </p:nvSpPr>
        <p:spPr>
          <a:xfrm>
            <a:off x="1594592" y="1677701"/>
            <a:ext cx="9323186" cy="2180741"/>
          </a:xfrm>
        </p:spPr>
        <p:txBody>
          <a:bodyPr vert="horz" lIns="0" tIns="0" rIns="0" bIns="0" rtlCol="0" anchor="t" anchorCtr="0">
            <a:noAutofit/>
          </a:bodyPr>
          <a:lstStyle/>
          <a:p>
            <a:r>
              <a:rPr lang="en-US" sz="7200">
                <a:solidFill>
                  <a:schemeClr val="accent2"/>
                </a:solidFill>
              </a:rPr>
              <a:t>Simplify Cloud Access</a:t>
            </a:r>
          </a:p>
        </p:txBody>
      </p:sp>
    </p:spTree>
    <p:extLst>
      <p:ext uri="{BB962C8B-B14F-4D97-AF65-F5344CB8AC3E}">
        <p14:creationId xmlns:p14="http://schemas.microsoft.com/office/powerpoint/2010/main" val="117451060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23B31-F6F2-A9BB-CDB8-3547005DFB37}"/>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62603BA2-6EE1-962E-6525-9B077C914A03}"/>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marL="0" marR="0" lvl="0" indent="0" algn="l" defTabSz="914400" rtl="0" eaLnBrk="1" fontAlgn="auto" latinLnBrk="0" hangingPunct="1">
              <a:lnSpc>
                <a:spcPct val="95000"/>
              </a:lnSpc>
              <a:spcBef>
                <a:spcPts val="108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6" name="Rectangle 5">
            <a:extLst>
              <a:ext uri="{FF2B5EF4-FFF2-40B4-BE49-F238E27FC236}">
                <a16:creationId xmlns:a16="http://schemas.microsoft.com/office/drawing/2014/main" id="{309E0BFE-4B66-FE6D-99B1-F0BBECFA593A}"/>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marL="0" marR="0" lvl="0" indent="0" algn="ctr" defTabSz="914400" rtl="0" eaLnBrk="1" fontAlgn="auto" latinLnBrk="0" hangingPunct="1">
              <a:lnSpc>
                <a:spcPct val="95000"/>
              </a:lnSpc>
              <a:spcBef>
                <a:spcPts val="108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Path Border Controller at your edge. Wave to Equinix </a:t>
            </a:r>
            <a:r>
              <a:rPr kumimoji="0" lang="en-US" sz="1800" b="0" i="0" u="none" strike="noStrike" kern="1200" cap="none" spc="0" normalizeH="0" baseline="0" noProof="0" err="1">
                <a:ln>
                  <a:noFill/>
                </a:ln>
                <a:solidFill>
                  <a:srgbClr val="FFFFFF"/>
                </a:solidFill>
                <a:effectLst/>
                <a:uLnTx/>
                <a:uFillTx/>
                <a:latin typeface="Arial"/>
                <a:ea typeface="+mn-ea"/>
                <a:cs typeface="+mn-cs"/>
              </a:rPr>
              <a:t>PoP</a:t>
            </a:r>
            <a:r>
              <a:rPr lang="en-US">
                <a:solidFill>
                  <a:srgbClr val="FFFFFF"/>
                </a:solidFill>
                <a:latin typeface="Arial"/>
              </a:rPr>
              <a:t>.</a:t>
            </a: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 21">
            <a:extLst>
              <a:ext uri="{FF2B5EF4-FFF2-40B4-BE49-F238E27FC236}">
                <a16:creationId xmlns:a16="http://schemas.microsoft.com/office/drawing/2014/main" id="{52F2E1BB-065C-E84E-F462-E6B3748AB201}"/>
              </a:ext>
            </a:extLst>
          </p:cNvPr>
          <p:cNvSpPr/>
          <p:nvPr/>
        </p:nvSpPr>
        <p:spPr>
          <a:xfrm>
            <a:off x="2152575" y="5959489"/>
            <a:ext cx="7861000" cy="38953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C200"/>
                </a:solidFill>
                <a:effectLst/>
                <a:uLnTx/>
                <a:uFillTx/>
                <a:latin typeface="Tomorrow Medium"/>
                <a:ea typeface="+mn-ea"/>
                <a:cs typeface="Calibri" pitchFamily="34" charset="-120"/>
              </a:rPr>
              <a:t>Automate cloud provisioning.</a:t>
            </a:r>
            <a:endParaRPr kumimoji="0" lang="en-US" sz="2000" b="0" i="0" u="none" strike="noStrike" kern="1200" cap="none" spc="0" normalizeH="0" baseline="0" noProof="0">
              <a:ln>
                <a:noFill/>
              </a:ln>
              <a:solidFill>
                <a:srgbClr val="FFC200"/>
              </a:solidFill>
              <a:effectLst/>
              <a:uLnTx/>
              <a:uFillTx/>
              <a:latin typeface="Tomorrow Medium"/>
              <a:ea typeface="+mn-ea"/>
              <a:cs typeface="+mn-cs"/>
            </a:endParaRPr>
          </a:p>
        </p:txBody>
      </p:sp>
      <p:sp>
        <p:nvSpPr>
          <p:cNvPr id="3" name="Title 2">
            <a:extLst>
              <a:ext uri="{FF2B5EF4-FFF2-40B4-BE49-F238E27FC236}">
                <a16:creationId xmlns:a16="http://schemas.microsoft.com/office/drawing/2014/main" id="{B2361E16-AB37-B536-7CA5-D1DDBD52702E}"/>
              </a:ext>
            </a:extLst>
          </p:cNvPr>
          <p:cNvSpPr>
            <a:spLocks noGrp="1"/>
          </p:cNvSpPr>
          <p:nvPr>
            <p:ph type="title"/>
          </p:nvPr>
        </p:nvSpPr>
        <p:spPr/>
        <p:txBody>
          <a:bodyPr/>
          <a:lstStyle/>
          <a:p>
            <a:r>
              <a:rPr lang="en-US" sz="3600"/>
              <a:t>Cloud Access via Private Wavelength</a:t>
            </a:r>
          </a:p>
        </p:txBody>
      </p:sp>
      <p:grpSp>
        <p:nvGrpSpPr>
          <p:cNvPr id="86" name="Maia Logo">
            <a:extLst>
              <a:ext uri="{FF2B5EF4-FFF2-40B4-BE49-F238E27FC236}">
                <a16:creationId xmlns:a16="http://schemas.microsoft.com/office/drawing/2014/main" id="{F3C4BC2E-FABF-E027-2758-BE1CE6B37E6A}"/>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62872B23-3CC8-0975-EA4D-51C15BD9C1B9}"/>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21">
              <a:extLst>
                <a:ext uri="{FF2B5EF4-FFF2-40B4-BE49-F238E27FC236}">
                  <a16:creationId xmlns:a16="http://schemas.microsoft.com/office/drawing/2014/main" id="{CF4FECC1-782E-0BA4-87D2-CA821C620149}"/>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22">
              <a:extLst>
                <a:ext uri="{FF2B5EF4-FFF2-40B4-BE49-F238E27FC236}">
                  <a16:creationId xmlns:a16="http://schemas.microsoft.com/office/drawing/2014/main" id="{C0594B7F-887F-A32F-9EBC-E95468BAE33E}"/>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92" name="Slide Number Placeholder 21">
            <a:extLst>
              <a:ext uri="{FF2B5EF4-FFF2-40B4-BE49-F238E27FC236}">
                <a16:creationId xmlns:a16="http://schemas.microsoft.com/office/drawing/2014/main" id="{9202E99A-3705-409B-DC04-355179F51022}"/>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Roboto Light" panose="02000000000000000000" pitchFamily="2" charset="0"/>
                <a:cs typeface="Arial" panose="020B0604020202020204" pitchFamily="34" charset="0"/>
              </a:rPr>
              <a:t>© 2026 MaiaEdge</a:t>
            </a:r>
          </a:p>
        </p:txBody>
      </p:sp>
      <p:grpSp>
        <p:nvGrpSpPr>
          <p:cNvPr id="27" name="Group 26">
            <a:extLst>
              <a:ext uri="{FF2B5EF4-FFF2-40B4-BE49-F238E27FC236}">
                <a16:creationId xmlns:a16="http://schemas.microsoft.com/office/drawing/2014/main" id="{DC787BB6-06D7-EC47-2D0B-1A9BBE36DB1D}"/>
              </a:ext>
            </a:extLst>
          </p:cNvPr>
          <p:cNvGrpSpPr>
            <a:grpSpLocks noChangeAspect="1"/>
          </p:cNvGrpSpPr>
          <p:nvPr/>
        </p:nvGrpSpPr>
        <p:grpSpPr>
          <a:xfrm>
            <a:off x="2005960" y="1799611"/>
            <a:ext cx="8169882" cy="2834640"/>
            <a:chOff x="1831102" y="949339"/>
            <a:chExt cx="9381284" cy="3254950"/>
          </a:xfrm>
        </p:grpSpPr>
        <p:sp>
          <p:nvSpPr>
            <p:cNvPr id="4" name="AutoShape 5">
              <a:extLst>
                <a:ext uri="{FF2B5EF4-FFF2-40B4-BE49-F238E27FC236}">
                  <a16:creationId xmlns:a16="http://schemas.microsoft.com/office/drawing/2014/main" id="{0C48A79D-3B7F-B729-646D-C1115B96B7E8}"/>
                </a:ext>
              </a:extLst>
            </p:cNvPr>
            <p:cNvSpPr/>
            <p:nvPr/>
          </p:nvSpPr>
          <p:spPr>
            <a:xfrm>
              <a:off x="4300984" y="3478609"/>
              <a:ext cx="2065616" cy="0"/>
            </a:xfrm>
            <a:prstGeom prst="line">
              <a:avLst/>
            </a:prstGeom>
            <a:ln w="57150" cap="flat">
              <a:solidFill>
                <a:srgbClr val="83B1E3"/>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7" name="Freeform 7">
              <a:extLst>
                <a:ext uri="{FF2B5EF4-FFF2-40B4-BE49-F238E27FC236}">
                  <a16:creationId xmlns:a16="http://schemas.microsoft.com/office/drawing/2014/main" id="{048A929C-D1CE-FA53-56CB-39594F94E079}"/>
                </a:ext>
              </a:extLst>
            </p:cNvPr>
            <p:cNvSpPr/>
            <p:nvPr/>
          </p:nvSpPr>
          <p:spPr>
            <a:xfrm>
              <a:off x="2241537" y="1777885"/>
              <a:ext cx="1867594" cy="186759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1" name="AutoShape 10">
              <a:extLst>
                <a:ext uri="{FF2B5EF4-FFF2-40B4-BE49-F238E27FC236}">
                  <a16:creationId xmlns:a16="http://schemas.microsoft.com/office/drawing/2014/main" id="{1BFB676F-EE05-AA54-8E0C-C4F3E05558F4}"/>
                </a:ext>
              </a:extLst>
            </p:cNvPr>
            <p:cNvSpPr/>
            <p:nvPr/>
          </p:nvSpPr>
          <p:spPr>
            <a:xfrm flipV="1">
              <a:off x="7387941" y="1862423"/>
              <a:ext cx="2644189" cy="1033429"/>
            </a:xfrm>
            <a:prstGeom prst="line">
              <a:avLst/>
            </a:prstGeom>
            <a:ln w="38100" cap="flat">
              <a:solidFill>
                <a:srgbClr val="000000"/>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nvGrpSpPr>
            <p:cNvPr id="16" name="Group 11">
              <a:extLst>
                <a:ext uri="{FF2B5EF4-FFF2-40B4-BE49-F238E27FC236}">
                  <a16:creationId xmlns:a16="http://schemas.microsoft.com/office/drawing/2014/main" id="{20991E93-66B3-4ECC-D98D-644D00D8E2ED}"/>
                </a:ext>
              </a:extLst>
            </p:cNvPr>
            <p:cNvGrpSpPr/>
            <p:nvPr/>
          </p:nvGrpSpPr>
          <p:grpSpPr>
            <a:xfrm>
              <a:off x="8512754" y="949339"/>
              <a:ext cx="2699632" cy="1681950"/>
              <a:chOff x="0" y="0"/>
              <a:chExt cx="7877940" cy="4908191"/>
            </a:xfrm>
          </p:grpSpPr>
          <p:sp>
            <p:nvSpPr>
              <p:cNvPr id="18" name="Freeform 12">
                <a:extLst>
                  <a:ext uri="{FF2B5EF4-FFF2-40B4-BE49-F238E27FC236}">
                    <a16:creationId xmlns:a16="http://schemas.microsoft.com/office/drawing/2014/main" id="{C8AE14F0-A00F-76DD-3329-9777AE391ED6}"/>
                  </a:ext>
                </a:extLst>
              </p:cNvPr>
              <p:cNvSpPr/>
              <p:nvPr/>
            </p:nvSpPr>
            <p:spPr>
              <a:xfrm>
                <a:off x="0" y="0"/>
                <a:ext cx="7877940" cy="4908191"/>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9" name="Freeform 13">
                <a:extLst>
                  <a:ext uri="{FF2B5EF4-FFF2-40B4-BE49-F238E27FC236}">
                    <a16:creationId xmlns:a16="http://schemas.microsoft.com/office/drawing/2014/main" id="{B180D3CB-BB8A-AF58-C901-858F430E3A3B}"/>
                  </a:ext>
                </a:extLst>
              </p:cNvPr>
              <p:cNvSpPr/>
              <p:nvPr/>
            </p:nvSpPr>
            <p:spPr>
              <a:xfrm>
                <a:off x="3626667" y="669042"/>
                <a:ext cx="1614215" cy="1614215"/>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0" name="Freeform 14">
                <a:extLst>
                  <a:ext uri="{FF2B5EF4-FFF2-40B4-BE49-F238E27FC236}">
                    <a16:creationId xmlns:a16="http://schemas.microsoft.com/office/drawing/2014/main" id="{C364C8D1-8657-AF05-B86E-0BA49F08FCDE}"/>
                  </a:ext>
                </a:extLst>
              </p:cNvPr>
              <p:cNvSpPr/>
              <p:nvPr/>
            </p:nvSpPr>
            <p:spPr>
              <a:xfrm>
                <a:off x="1802101" y="2347811"/>
                <a:ext cx="1824566" cy="1824566"/>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1" name="Freeform 15">
                <a:extLst>
                  <a:ext uri="{FF2B5EF4-FFF2-40B4-BE49-F238E27FC236}">
                    <a16:creationId xmlns:a16="http://schemas.microsoft.com/office/drawing/2014/main" id="{62FE502A-D578-E4EC-8322-5C41D486EA50}"/>
                  </a:ext>
                </a:extLst>
              </p:cNvPr>
              <p:cNvSpPr/>
              <p:nvPr/>
            </p:nvSpPr>
            <p:spPr>
              <a:xfrm>
                <a:off x="4746378" y="2276229"/>
                <a:ext cx="1896148" cy="1896148"/>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grpSp>
        <p:sp>
          <p:nvSpPr>
            <p:cNvPr id="22" name="Freeform 16">
              <a:extLst>
                <a:ext uri="{FF2B5EF4-FFF2-40B4-BE49-F238E27FC236}">
                  <a16:creationId xmlns:a16="http://schemas.microsoft.com/office/drawing/2014/main" id="{FB386D43-3632-A504-D783-2589E63F7BA8}"/>
                </a:ext>
              </a:extLst>
            </p:cNvPr>
            <p:cNvSpPr/>
            <p:nvPr/>
          </p:nvSpPr>
          <p:spPr>
            <a:xfrm>
              <a:off x="5870261" y="2075199"/>
              <a:ext cx="1922472" cy="1573000"/>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3" name="Freeform 17">
              <a:extLst>
                <a:ext uri="{FF2B5EF4-FFF2-40B4-BE49-F238E27FC236}">
                  <a16:creationId xmlns:a16="http://schemas.microsoft.com/office/drawing/2014/main" id="{2BFB5490-AE83-55B1-A755-89BC6E700697}"/>
                </a:ext>
              </a:extLst>
            </p:cNvPr>
            <p:cNvSpPr/>
            <p:nvPr/>
          </p:nvSpPr>
          <p:spPr>
            <a:xfrm>
              <a:off x="6164045" y="3648148"/>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26" name="TextBox 25">
              <a:extLst>
                <a:ext uri="{FF2B5EF4-FFF2-40B4-BE49-F238E27FC236}">
                  <a16:creationId xmlns:a16="http://schemas.microsoft.com/office/drawing/2014/main" id="{6405556C-47D1-994C-09CC-556760686556}"/>
                </a:ext>
              </a:extLst>
            </p:cNvPr>
            <p:cNvSpPr txBox="1"/>
            <p:nvPr/>
          </p:nvSpPr>
          <p:spPr bwMode="auto">
            <a:xfrm>
              <a:off x="1831102" y="3839383"/>
              <a:ext cx="3102441" cy="27807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omorrow" pitchFamily="2" charset="0"/>
                  <a:ea typeface="+mn-ea"/>
                  <a:cs typeface="+mn-cs"/>
                </a:rPr>
                <a:t>Service Provider</a:t>
              </a:r>
            </a:p>
          </p:txBody>
        </p:sp>
      </p:grpSp>
      <p:grpSp>
        <p:nvGrpSpPr>
          <p:cNvPr id="5" name="PBC 1">
            <a:extLst>
              <a:ext uri="{FF2B5EF4-FFF2-40B4-BE49-F238E27FC236}">
                <a16:creationId xmlns:a16="http://schemas.microsoft.com/office/drawing/2014/main" id="{DE794F32-1FD3-1126-2499-DCDE582A635B}"/>
              </a:ext>
            </a:extLst>
          </p:cNvPr>
          <p:cNvGrpSpPr>
            <a:grpSpLocks noChangeAspect="1"/>
          </p:cNvGrpSpPr>
          <p:nvPr/>
        </p:nvGrpSpPr>
        <p:grpSpPr>
          <a:xfrm>
            <a:off x="3176612" y="3866317"/>
            <a:ext cx="1288473" cy="249608"/>
            <a:chOff x="2364562" y="2976326"/>
            <a:chExt cx="7053344" cy="1366399"/>
          </a:xfrm>
        </p:grpSpPr>
        <p:sp>
          <p:nvSpPr>
            <p:cNvPr id="10" name="Freeform 9">
              <a:extLst>
                <a:ext uri="{FF2B5EF4-FFF2-40B4-BE49-F238E27FC236}">
                  <a16:creationId xmlns:a16="http://schemas.microsoft.com/office/drawing/2014/main" id="{329E7715-4A34-04A5-A239-A681FFD43D66}"/>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2" name="Freeform 11">
              <a:extLst>
                <a:ext uri="{FF2B5EF4-FFF2-40B4-BE49-F238E27FC236}">
                  <a16:creationId xmlns:a16="http://schemas.microsoft.com/office/drawing/2014/main" id="{5973BF38-84FF-1F16-04A3-898CCF4BA223}"/>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3" name="Graphic 38">
              <a:extLst>
                <a:ext uri="{FF2B5EF4-FFF2-40B4-BE49-F238E27FC236}">
                  <a16:creationId xmlns:a16="http://schemas.microsoft.com/office/drawing/2014/main" id="{D2022DCF-E949-CDBC-FA71-6197A4FE3E10}"/>
                </a:ext>
              </a:extLst>
            </p:cNvPr>
            <p:cNvGrpSpPr/>
            <p:nvPr/>
          </p:nvGrpSpPr>
          <p:grpSpPr>
            <a:xfrm>
              <a:off x="5658852" y="3694387"/>
              <a:ext cx="466200" cy="483019"/>
              <a:chOff x="5042020" y="5214715"/>
              <a:chExt cx="466200" cy="483019"/>
            </a:xfrm>
          </p:grpSpPr>
          <p:sp>
            <p:nvSpPr>
              <p:cNvPr id="39" name="Freeform 38">
                <a:extLst>
                  <a:ext uri="{FF2B5EF4-FFF2-40B4-BE49-F238E27FC236}">
                    <a16:creationId xmlns:a16="http://schemas.microsoft.com/office/drawing/2014/main" id="{FD597B78-01F1-99B9-C528-AF4817EAA7EC}"/>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0" name="Freeform 39">
                <a:extLst>
                  <a:ext uri="{FF2B5EF4-FFF2-40B4-BE49-F238E27FC236}">
                    <a16:creationId xmlns:a16="http://schemas.microsoft.com/office/drawing/2014/main" id="{79A46977-61FB-949B-9C2B-6B56EB9FB821}"/>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14" name="Group 13">
              <a:extLst>
                <a:ext uri="{FF2B5EF4-FFF2-40B4-BE49-F238E27FC236}">
                  <a16:creationId xmlns:a16="http://schemas.microsoft.com/office/drawing/2014/main" id="{BBCD5A71-992F-599B-BAAB-6BF9A7687242}"/>
                </a:ext>
              </a:extLst>
            </p:cNvPr>
            <p:cNvGrpSpPr/>
            <p:nvPr/>
          </p:nvGrpSpPr>
          <p:grpSpPr>
            <a:xfrm>
              <a:off x="6411669" y="3594476"/>
              <a:ext cx="2479697" cy="681402"/>
              <a:chOff x="6154005" y="2371943"/>
              <a:chExt cx="2479697" cy="681402"/>
            </a:xfrm>
          </p:grpSpPr>
          <p:sp>
            <p:nvSpPr>
              <p:cNvPr id="37" name="Freeform 36">
                <a:extLst>
                  <a:ext uri="{FF2B5EF4-FFF2-40B4-BE49-F238E27FC236}">
                    <a16:creationId xmlns:a16="http://schemas.microsoft.com/office/drawing/2014/main" id="{506DC784-4414-7EBA-B19E-DE45B1E7244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8" name="Freeform 37">
                <a:extLst>
                  <a:ext uri="{FF2B5EF4-FFF2-40B4-BE49-F238E27FC236}">
                    <a16:creationId xmlns:a16="http://schemas.microsoft.com/office/drawing/2014/main" id="{0BA2174B-1A17-F7C2-5404-2283313A003C}"/>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5" name="Group 14">
              <a:extLst>
                <a:ext uri="{FF2B5EF4-FFF2-40B4-BE49-F238E27FC236}">
                  <a16:creationId xmlns:a16="http://schemas.microsoft.com/office/drawing/2014/main" id="{45BE705B-B739-906A-3B40-0395D7A97291}"/>
                </a:ext>
              </a:extLst>
            </p:cNvPr>
            <p:cNvGrpSpPr/>
            <p:nvPr/>
          </p:nvGrpSpPr>
          <p:grpSpPr>
            <a:xfrm>
              <a:off x="2892539" y="3594476"/>
              <a:ext cx="2479697" cy="681402"/>
              <a:chOff x="6154005" y="2371943"/>
              <a:chExt cx="2479697" cy="681402"/>
            </a:xfrm>
          </p:grpSpPr>
          <p:sp>
            <p:nvSpPr>
              <p:cNvPr id="35" name="Freeform 34">
                <a:extLst>
                  <a:ext uri="{FF2B5EF4-FFF2-40B4-BE49-F238E27FC236}">
                    <a16:creationId xmlns:a16="http://schemas.microsoft.com/office/drawing/2014/main" id="{FAC87CD9-2845-39BC-367C-FACAB887012F}"/>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6" name="Freeform 35">
                <a:extLst>
                  <a:ext uri="{FF2B5EF4-FFF2-40B4-BE49-F238E27FC236}">
                    <a16:creationId xmlns:a16="http://schemas.microsoft.com/office/drawing/2014/main" id="{E0B09CA6-6E38-BCD3-54A9-3E33A7B5BB5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7" name="Group 16">
              <a:extLst>
                <a:ext uri="{FF2B5EF4-FFF2-40B4-BE49-F238E27FC236}">
                  <a16:creationId xmlns:a16="http://schemas.microsoft.com/office/drawing/2014/main" id="{4EFC81F1-55ED-CEF5-EFD8-933BB7372FEF}"/>
                </a:ext>
              </a:extLst>
            </p:cNvPr>
            <p:cNvGrpSpPr/>
            <p:nvPr/>
          </p:nvGrpSpPr>
          <p:grpSpPr>
            <a:xfrm>
              <a:off x="9070232" y="3528349"/>
              <a:ext cx="347674" cy="800719"/>
              <a:chOff x="8812568" y="2305815"/>
              <a:chExt cx="347674" cy="800719"/>
            </a:xfrm>
          </p:grpSpPr>
          <p:sp>
            <p:nvSpPr>
              <p:cNvPr id="31" name="Freeform 30">
                <a:extLst>
                  <a:ext uri="{FF2B5EF4-FFF2-40B4-BE49-F238E27FC236}">
                    <a16:creationId xmlns:a16="http://schemas.microsoft.com/office/drawing/2014/main" id="{E824DF1B-1BE2-9254-AE5F-C55BCAA4159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2" name="Group 31">
                <a:extLst>
                  <a:ext uri="{FF2B5EF4-FFF2-40B4-BE49-F238E27FC236}">
                    <a16:creationId xmlns:a16="http://schemas.microsoft.com/office/drawing/2014/main" id="{D0F9C220-CF0D-6F74-602A-989F0593F06A}"/>
                  </a:ext>
                </a:extLst>
              </p:cNvPr>
              <p:cNvGrpSpPr/>
              <p:nvPr/>
            </p:nvGrpSpPr>
            <p:grpSpPr>
              <a:xfrm flipH="1">
                <a:off x="8852795" y="2372662"/>
                <a:ext cx="262193" cy="679246"/>
                <a:chOff x="1433816" y="2372662"/>
                <a:chExt cx="262193" cy="679246"/>
              </a:xfrm>
              <a:solidFill>
                <a:schemeClr val="bg1"/>
              </a:solidFill>
            </p:grpSpPr>
            <p:sp>
              <p:nvSpPr>
                <p:cNvPr id="33" name="Rounded Rectangle 32">
                  <a:extLst>
                    <a:ext uri="{FF2B5EF4-FFF2-40B4-BE49-F238E27FC236}">
                      <a16:creationId xmlns:a16="http://schemas.microsoft.com/office/drawing/2014/main" id="{EF6FA18C-7FFF-DBFF-B195-8EDE42E2986D}"/>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4" name="Rounded Rectangle 33">
                  <a:extLst>
                    <a:ext uri="{FF2B5EF4-FFF2-40B4-BE49-F238E27FC236}">
                      <a16:creationId xmlns:a16="http://schemas.microsoft.com/office/drawing/2014/main" id="{666335A7-91A0-B022-F138-05E28ED8F416}"/>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4" name="Group 23">
              <a:extLst>
                <a:ext uri="{FF2B5EF4-FFF2-40B4-BE49-F238E27FC236}">
                  <a16:creationId xmlns:a16="http://schemas.microsoft.com/office/drawing/2014/main" id="{6CBBA05C-2F10-9858-3FE1-F648DC249D85}"/>
                </a:ext>
              </a:extLst>
            </p:cNvPr>
            <p:cNvGrpSpPr/>
            <p:nvPr/>
          </p:nvGrpSpPr>
          <p:grpSpPr>
            <a:xfrm flipV="1">
              <a:off x="2364562" y="3528349"/>
              <a:ext cx="347674" cy="800719"/>
              <a:chOff x="8812568" y="2305815"/>
              <a:chExt cx="347674" cy="800719"/>
            </a:xfrm>
          </p:grpSpPr>
          <p:sp>
            <p:nvSpPr>
              <p:cNvPr id="25" name="Freeform 24">
                <a:extLst>
                  <a:ext uri="{FF2B5EF4-FFF2-40B4-BE49-F238E27FC236}">
                    <a16:creationId xmlns:a16="http://schemas.microsoft.com/office/drawing/2014/main" id="{D0AD0FD0-4223-11FD-4976-1FFBC38A940D}"/>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8" name="Group 27">
                <a:extLst>
                  <a:ext uri="{FF2B5EF4-FFF2-40B4-BE49-F238E27FC236}">
                    <a16:creationId xmlns:a16="http://schemas.microsoft.com/office/drawing/2014/main" id="{D0081DC9-AA73-A8CC-9BC5-1F47722739A8}"/>
                  </a:ext>
                </a:extLst>
              </p:cNvPr>
              <p:cNvGrpSpPr/>
              <p:nvPr/>
            </p:nvGrpSpPr>
            <p:grpSpPr>
              <a:xfrm flipH="1">
                <a:off x="8852795" y="2372662"/>
                <a:ext cx="262193" cy="679246"/>
                <a:chOff x="1433816" y="2372662"/>
                <a:chExt cx="262193" cy="679246"/>
              </a:xfrm>
              <a:solidFill>
                <a:schemeClr val="bg1"/>
              </a:solidFill>
            </p:grpSpPr>
            <p:sp>
              <p:nvSpPr>
                <p:cNvPr id="29" name="Rounded Rectangle 28">
                  <a:extLst>
                    <a:ext uri="{FF2B5EF4-FFF2-40B4-BE49-F238E27FC236}">
                      <a16:creationId xmlns:a16="http://schemas.microsoft.com/office/drawing/2014/main" id="{6495794F-197A-C665-9C9E-50836EB244A1}"/>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0" name="Rounded Rectangle 29">
                  <a:extLst>
                    <a:ext uri="{FF2B5EF4-FFF2-40B4-BE49-F238E27FC236}">
                      <a16:creationId xmlns:a16="http://schemas.microsoft.com/office/drawing/2014/main" id="{28D26C25-1DD2-6016-1A2F-0B01EEFC4DF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162300254"/>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1F1BF-8ECD-BDB1-D717-908B081C5250}"/>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AC28FEBC-DB31-3709-5438-44090BB732A2}"/>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008FA185-E209-B7F2-EDDE-14CCBC04AEB0}"/>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Path Border Controller at your edge and at Equinix </a:t>
            </a:r>
            <a:r>
              <a:rPr lang="en-US" err="1">
                <a:solidFill>
                  <a:schemeClr val="bg1"/>
                </a:solidFill>
              </a:rPr>
              <a:t>PoP</a:t>
            </a:r>
            <a:r>
              <a:rPr lang="en-US">
                <a:solidFill>
                  <a:schemeClr val="bg1"/>
                </a:solidFill>
              </a:rPr>
              <a:t>.</a:t>
            </a:r>
          </a:p>
        </p:txBody>
      </p:sp>
      <p:sp>
        <p:nvSpPr>
          <p:cNvPr id="2" name="Text 21">
            <a:extLst>
              <a:ext uri="{FF2B5EF4-FFF2-40B4-BE49-F238E27FC236}">
                <a16:creationId xmlns:a16="http://schemas.microsoft.com/office/drawing/2014/main" id="{399300D1-FD4F-5BDE-9EBF-8F86623073C5}"/>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Instant cloud access over DIA.</a:t>
            </a:r>
            <a:endParaRPr lang="en-US" sz="2000">
              <a:solidFill>
                <a:schemeClr val="accent1"/>
              </a:solidFill>
              <a:latin typeface="+mj-lt"/>
            </a:endParaRPr>
          </a:p>
        </p:txBody>
      </p:sp>
      <p:sp>
        <p:nvSpPr>
          <p:cNvPr id="3" name="Title 2">
            <a:extLst>
              <a:ext uri="{FF2B5EF4-FFF2-40B4-BE49-F238E27FC236}">
                <a16:creationId xmlns:a16="http://schemas.microsoft.com/office/drawing/2014/main" id="{CBE4A744-DE1D-8D3A-171D-9A66703F2398}"/>
              </a:ext>
            </a:extLst>
          </p:cNvPr>
          <p:cNvSpPr>
            <a:spLocks noGrp="1"/>
          </p:cNvSpPr>
          <p:nvPr>
            <p:ph type="title"/>
          </p:nvPr>
        </p:nvSpPr>
        <p:spPr/>
        <p:txBody>
          <a:bodyPr/>
          <a:lstStyle/>
          <a:p>
            <a:r>
              <a:rPr lang="en-US"/>
              <a:t>Cloud Access via DIA</a:t>
            </a:r>
          </a:p>
        </p:txBody>
      </p:sp>
      <p:grpSp>
        <p:nvGrpSpPr>
          <p:cNvPr id="86" name="Maia Logo">
            <a:extLst>
              <a:ext uri="{FF2B5EF4-FFF2-40B4-BE49-F238E27FC236}">
                <a16:creationId xmlns:a16="http://schemas.microsoft.com/office/drawing/2014/main" id="{B1219080-775E-E7ED-67A2-E5914952BE3A}"/>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22B371DB-17A2-F893-B0F8-DA43100D431D}"/>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AF3BF2FD-10C7-D015-9820-E724093AE670}"/>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390C512D-7E94-E5D7-BD0F-9194DAE7E7E3}"/>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C81D1C23-D759-11B6-7B9C-AE0ED000A0CB}"/>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10" name="Group 9">
            <a:extLst>
              <a:ext uri="{FF2B5EF4-FFF2-40B4-BE49-F238E27FC236}">
                <a16:creationId xmlns:a16="http://schemas.microsoft.com/office/drawing/2014/main" id="{25724BE7-F52A-F49A-2C0A-9B935C44ABB5}"/>
              </a:ext>
            </a:extLst>
          </p:cNvPr>
          <p:cNvGrpSpPr/>
          <p:nvPr/>
        </p:nvGrpSpPr>
        <p:grpSpPr>
          <a:xfrm>
            <a:off x="1657759" y="1523765"/>
            <a:ext cx="9287506" cy="3017686"/>
            <a:chOff x="945690" y="1402182"/>
            <a:chExt cx="10002361" cy="3249955"/>
          </a:xfrm>
        </p:grpSpPr>
        <p:sp>
          <p:nvSpPr>
            <p:cNvPr id="4" name="AutoShape 5">
              <a:extLst>
                <a:ext uri="{FF2B5EF4-FFF2-40B4-BE49-F238E27FC236}">
                  <a16:creationId xmlns:a16="http://schemas.microsoft.com/office/drawing/2014/main" id="{AEF797E9-22B0-DEBC-AF63-5FD34221891E}"/>
                </a:ext>
              </a:extLst>
            </p:cNvPr>
            <p:cNvSpPr/>
            <p:nvPr/>
          </p:nvSpPr>
          <p:spPr>
            <a:xfrm>
              <a:off x="3423074" y="3974362"/>
              <a:ext cx="2065616" cy="0"/>
            </a:xfrm>
            <a:prstGeom prst="line">
              <a:avLst/>
            </a:prstGeom>
            <a:ln w="57150" cap="flat">
              <a:solidFill>
                <a:schemeClr val="accent1"/>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D7DD8ED3-DF76-9537-B033-1408CC04024D}"/>
                </a:ext>
              </a:extLst>
            </p:cNvPr>
            <p:cNvSpPr/>
            <p:nvPr/>
          </p:nvSpPr>
          <p:spPr>
            <a:xfrm>
              <a:off x="1356125" y="2243803"/>
              <a:ext cx="1867594" cy="186759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287C69CD-EB3B-F702-CE0A-9244B942CDCE}"/>
                </a:ext>
              </a:extLst>
            </p:cNvPr>
            <p:cNvSpPr/>
            <p:nvPr/>
          </p:nvSpPr>
          <p:spPr>
            <a:xfrm flipV="1">
              <a:off x="7458065" y="2020010"/>
              <a:ext cx="2644189" cy="1033429"/>
            </a:xfrm>
            <a:prstGeom prst="line">
              <a:avLst/>
            </a:prstGeom>
            <a:ln w="38100" cap="flat">
              <a:solidFill>
                <a:srgbClr val="000000"/>
              </a:solidFill>
              <a:prstDash val="solid"/>
              <a:headEnd type="none" w="sm" len="sm"/>
              <a:tailEnd type="none" w="sm" len="sm"/>
            </a:ln>
          </p:spPr>
          <p:txBody>
            <a:bodyPr/>
            <a:lstStyle/>
            <a:p>
              <a:endParaRPr lang="en-US" sz="1200"/>
            </a:p>
          </p:txBody>
        </p:sp>
        <p:grpSp>
          <p:nvGrpSpPr>
            <p:cNvPr id="16" name="Group 11">
              <a:extLst>
                <a:ext uri="{FF2B5EF4-FFF2-40B4-BE49-F238E27FC236}">
                  <a16:creationId xmlns:a16="http://schemas.microsoft.com/office/drawing/2014/main" id="{5BB2C14C-2E0C-79AB-C60D-C93708C24491}"/>
                </a:ext>
              </a:extLst>
            </p:cNvPr>
            <p:cNvGrpSpPr/>
            <p:nvPr/>
          </p:nvGrpSpPr>
          <p:grpSpPr>
            <a:xfrm>
              <a:off x="8248419" y="1402182"/>
              <a:ext cx="2699632" cy="1681950"/>
              <a:chOff x="-1001605" y="14576"/>
              <a:chExt cx="7877940" cy="4908190"/>
            </a:xfrm>
          </p:grpSpPr>
          <p:sp>
            <p:nvSpPr>
              <p:cNvPr id="18" name="Freeform 12">
                <a:extLst>
                  <a:ext uri="{FF2B5EF4-FFF2-40B4-BE49-F238E27FC236}">
                    <a16:creationId xmlns:a16="http://schemas.microsoft.com/office/drawing/2014/main" id="{2ED5388B-9269-9985-1985-5BCCCED34151}"/>
                  </a:ext>
                </a:extLst>
              </p:cNvPr>
              <p:cNvSpPr/>
              <p:nvPr/>
            </p:nvSpPr>
            <p:spPr>
              <a:xfrm>
                <a:off x="-1001605" y="14576"/>
                <a:ext cx="7877940" cy="4908190"/>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endParaRPr lang="en-US" sz="1200"/>
              </a:p>
            </p:txBody>
          </p:sp>
          <p:sp>
            <p:nvSpPr>
              <p:cNvPr id="19" name="Freeform 13">
                <a:extLst>
                  <a:ext uri="{FF2B5EF4-FFF2-40B4-BE49-F238E27FC236}">
                    <a16:creationId xmlns:a16="http://schemas.microsoft.com/office/drawing/2014/main" id="{AF0B9619-377B-00B2-6B5F-EEA1AA80A881}"/>
                  </a:ext>
                </a:extLst>
              </p:cNvPr>
              <p:cNvSpPr/>
              <p:nvPr/>
            </p:nvSpPr>
            <p:spPr>
              <a:xfrm>
                <a:off x="2625061" y="683619"/>
                <a:ext cx="1614214" cy="1614214"/>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20" name="Freeform 14">
                <a:extLst>
                  <a:ext uri="{FF2B5EF4-FFF2-40B4-BE49-F238E27FC236}">
                    <a16:creationId xmlns:a16="http://schemas.microsoft.com/office/drawing/2014/main" id="{559AD382-B50D-D6D9-B629-39A02DCA9054}"/>
                  </a:ext>
                </a:extLst>
              </p:cNvPr>
              <p:cNvSpPr/>
              <p:nvPr/>
            </p:nvSpPr>
            <p:spPr>
              <a:xfrm>
                <a:off x="800496" y="2362386"/>
                <a:ext cx="1824568" cy="1824565"/>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1" name="Freeform 15">
                <a:extLst>
                  <a:ext uri="{FF2B5EF4-FFF2-40B4-BE49-F238E27FC236}">
                    <a16:creationId xmlns:a16="http://schemas.microsoft.com/office/drawing/2014/main" id="{88C63DA2-E1EF-AD87-1885-EB179695695A}"/>
                  </a:ext>
                </a:extLst>
              </p:cNvPr>
              <p:cNvSpPr/>
              <p:nvPr/>
            </p:nvSpPr>
            <p:spPr>
              <a:xfrm>
                <a:off x="3744774" y="2290803"/>
                <a:ext cx="1896148" cy="1896148"/>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grpSp>
        <p:sp>
          <p:nvSpPr>
            <p:cNvPr id="22" name="Freeform 16">
              <a:extLst>
                <a:ext uri="{FF2B5EF4-FFF2-40B4-BE49-F238E27FC236}">
                  <a16:creationId xmlns:a16="http://schemas.microsoft.com/office/drawing/2014/main" id="{04A048EB-50D7-DFB9-2AC4-45B6F9251E7A}"/>
                </a:ext>
              </a:extLst>
            </p:cNvPr>
            <p:cNvSpPr/>
            <p:nvPr/>
          </p:nvSpPr>
          <p:spPr>
            <a:xfrm>
              <a:off x="5962119" y="2243158"/>
              <a:ext cx="1922472" cy="1573000"/>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6C8B6621-54DE-02DB-32C6-EA7651F366BF}"/>
                </a:ext>
              </a:extLst>
            </p:cNvPr>
            <p:cNvSpPr/>
            <p:nvPr/>
          </p:nvSpPr>
          <p:spPr>
            <a:xfrm>
              <a:off x="6242942" y="4095996"/>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endParaRPr lang="en-US" sz="1200"/>
            </a:p>
          </p:txBody>
        </p:sp>
        <p:sp>
          <p:nvSpPr>
            <p:cNvPr id="26" name="TextBox 25">
              <a:extLst>
                <a:ext uri="{FF2B5EF4-FFF2-40B4-BE49-F238E27FC236}">
                  <a16:creationId xmlns:a16="http://schemas.microsoft.com/office/drawing/2014/main" id="{8881EE5F-7A82-7AD7-C211-68C3230AF5D6}"/>
                </a:ext>
              </a:extLst>
            </p:cNvPr>
            <p:cNvSpPr txBox="1"/>
            <p:nvPr/>
          </p:nvSpPr>
          <p:spPr bwMode="auto">
            <a:xfrm>
              <a:off x="945690" y="4305301"/>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grpSp>
      <p:sp>
        <p:nvSpPr>
          <p:cNvPr id="12" name="Cloud icon">
            <a:extLst>
              <a:ext uri="{FF2B5EF4-FFF2-40B4-BE49-F238E27FC236}">
                <a16:creationId xmlns:a16="http://schemas.microsoft.com/office/drawing/2014/main" id="{86095391-97CE-C494-3961-60E581549570}"/>
              </a:ext>
            </a:extLst>
          </p:cNvPr>
          <p:cNvSpPr>
            <a:spLocks noChangeAspect="1"/>
          </p:cNvSpPr>
          <p:nvPr/>
        </p:nvSpPr>
        <p:spPr>
          <a:xfrm>
            <a:off x="4049190" y="2634571"/>
            <a:ext cx="1711006" cy="1061374"/>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200">
                <a:latin typeface="+mj-lt"/>
              </a:rPr>
              <a:t> Direct Internet Access</a:t>
            </a:r>
          </a:p>
        </p:txBody>
      </p:sp>
      <p:grpSp>
        <p:nvGrpSpPr>
          <p:cNvPr id="43" name="PBC 1">
            <a:extLst>
              <a:ext uri="{FF2B5EF4-FFF2-40B4-BE49-F238E27FC236}">
                <a16:creationId xmlns:a16="http://schemas.microsoft.com/office/drawing/2014/main" id="{3CE71C8B-4E6D-C93F-2F9D-2DAF672EA5A8}"/>
              </a:ext>
            </a:extLst>
          </p:cNvPr>
          <p:cNvGrpSpPr>
            <a:grpSpLocks noChangeAspect="1"/>
          </p:cNvGrpSpPr>
          <p:nvPr/>
        </p:nvGrpSpPr>
        <p:grpSpPr>
          <a:xfrm>
            <a:off x="2974611" y="3752631"/>
            <a:ext cx="1273574" cy="246722"/>
            <a:chOff x="2364562" y="2976326"/>
            <a:chExt cx="7053344" cy="1366399"/>
          </a:xfrm>
        </p:grpSpPr>
        <p:sp>
          <p:nvSpPr>
            <p:cNvPr id="44" name="Freeform 43">
              <a:extLst>
                <a:ext uri="{FF2B5EF4-FFF2-40B4-BE49-F238E27FC236}">
                  <a16:creationId xmlns:a16="http://schemas.microsoft.com/office/drawing/2014/main" id="{A1FFC74E-C1E5-D42E-9D15-E5ED0D40F3DE}"/>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5" name="Freeform 44">
              <a:extLst>
                <a:ext uri="{FF2B5EF4-FFF2-40B4-BE49-F238E27FC236}">
                  <a16:creationId xmlns:a16="http://schemas.microsoft.com/office/drawing/2014/main" id="{845E2638-14B3-D0A8-4177-CD95B91045B4}"/>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46" name="Graphic 38">
              <a:extLst>
                <a:ext uri="{FF2B5EF4-FFF2-40B4-BE49-F238E27FC236}">
                  <a16:creationId xmlns:a16="http://schemas.microsoft.com/office/drawing/2014/main" id="{97F70961-A484-744F-E118-5A3A8C9DA3D5}"/>
                </a:ext>
              </a:extLst>
            </p:cNvPr>
            <p:cNvGrpSpPr/>
            <p:nvPr/>
          </p:nvGrpSpPr>
          <p:grpSpPr>
            <a:xfrm>
              <a:off x="5658852" y="3694387"/>
              <a:ext cx="466200" cy="483019"/>
              <a:chOff x="5042020" y="5214715"/>
              <a:chExt cx="466200" cy="483019"/>
            </a:xfrm>
          </p:grpSpPr>
          <p:sp>
            <p:nvSpPr>
              <p:cNvPr id="63" name="Freeform 62">
                <a:extLst>
                  <a:ext uri="{FF2B5EF4-FFF2-40B4-BE49-F238E27FC236}">
                    <a16:creationId xmlns:a16="http://schemas.microsoft.com/office/drawing/2014/main" id="{9215F080-F1F8-ED6A-DC28-B4B8FE5C0B9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64" name="Freeform 63">
                <a:extLst>
                  <a:ext uri="{FF2B5EF4-FFF2-40B4-BE49-F238E27FC236}">
                    <a16:creationId xmlns:a16="http://schemas.microsoft.com/office/drawing/2014/main" id="{3872C419-DF7B-6C6A-68C7-A4DC1A8906B3}"/>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47" name="Group 46">
              <a:extLst>
                <a:ext uri="{FF2B5EF4-FFF2-40B4-BE49-F238E27FC236}">
                  <a16:creationId xmlns:a16="http://schemas.microsoft.com/office/drawing/2014/main" id="{E5BDA62A-1275-210B-48A0-C3DA83277ED9}"/>
                </a:ext>
              </a:extLst>
            </p:cNvPr>
            <p:cNvGrpSpPr/>
            <p:nvPr/>
          </p:nvGrpSpPr>
          <p:grpSpPr>
            <a:xfrm>
              <a:off x="6411669" y="3594476"/>
              <a:ext cx="2479697" cy="681402"/>
              <a:chOff x="6154005" y="2371943"/>
              <a:chExt cx="2479697" cy="681402"/>
            </a:xfrm>
          </p:grpSpPr>
          <p:sp>
            <p:nvSpPr>
              <p:cNvPr id="61" name="Freeform 60">
                <a:extLst>
                  <a:ext uri="{FF2B5EF4-FFF2-40B4-BE49-F238E27FC236}">
                    <a16:creationId xmlns:a16="http://schemas.microsoft.com/office/drawing/2014/main" id="{D020040C-B8A0-16C5-6B36-D70B93E61D34}"/>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2" name="Freeform 61">
                <a:extLst>
                  <a:ext uri="{FF2B5EF4-FFF2-40B4-BE49-F238E27FC236}">
                    <a16:creationId xmlns:a16="http://schemas.microsoft.com/office/drawing/2014/main" id="{CD2D918D-C53B-B02C-908A-FEF0AB94508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8" name="Group 47">
              <a:extLst>
                <a:ext uri="{FF2B5EF4-FFF2-40B4-BE49-F238E27FC236}">
                  <a16:creationId xmlns:a16="http://schemas.microsoft.com/office/drawing/2014/main" id="{794A6E5C-BFF1-8087-4BC7-6D0D853BDCA5}"/>
                </a:ext>
              </a:extLst>
            </p:cNvPr>
            <p:cNvGrpSpPr/>
            <p:nvPr/>
          </p:nvGrpSpPr>
          <p:grpSpPr>
            <a:xfrm>
              <a:off x="2892539" y="3594476"/>
              <a:ext cx="2479697" cy="681402"/>
              <a:chOff x="6154005" y="2371943"/>
              <a:chExt cx="2479697" cy="681402"/>
            </a:xfrm>
          </p:grpSpPr>
          <p:sp>
            <p:nvSpPr>
              <p:cNvPr id="59" name="Freeform 58">
                <a:extLst>
                  <a:ext uri="{FF2B5EF4-FFF2-40B4-BE49-F238E27FC236}">
                    <a16:creationId xmlns:a16="http://schemas.microsoft.com/office/drawing/2014/main" id="{826E49DA-9FB1-7831-630A-D98DCA1DDAA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0" name="Freeform 59">
                <a:extLst>
                  <a:ext uri="{FF2B5EF4-FFF2-40B4-BE49-F238E27FC236}">
                    <a16:creationId xmlns:a16="http://schemas.microsoft.com/office/drawing/2014/main" id="{38DDFD13-B163-15EB-88A6-141569EFE41A}"/>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49" name="Group 48">
              <a:extLst>
                <a:ext uri="{FF2B5EF4-FFF2-40B4-BE49-F238E27FC236}">
                  <a16:creationId xmlns:a16="http://schemas.microsoft.com/office/drawing/2014/main" id="{08CCED4F-70BD-D023-45F1-FB5C0504603D}"/>
                </a:ext>
              </a:extLst>
            </p:cNvPr>
            <p:cNvGrpSpPr/>
            <p:nvPr/>
          </p:nvGrpSpPr>
          <p:grpSpPr>
            <a:xfrm>
              <a:off x="9070232" y="3528349"/>
              <a:ext cx="347674" cy="800719"/>
              <a:chOff x="8812568" y="2305815"/>
              <a:chExt cx="347674" cy="800719"/>
            </a:xfrm>
          </p:grpSpPr>
          <p:sp>
            <p:nvSpPr>
              <p:cNvPr id="55" name="Freeform 54">
                <a:extLst>
                  <a:ext uri="{FF2B5EF4-FFF2-40B4-BE49-F238E27FC236}">
                    <a16:creationId xmlns:a16="http://schemas.microsoft.com/office/drawing/2014/main" id="{2ABCB1FE-6C44-9FC2-8DFC-7DC9EFB6F275}"/>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6" name="Group 55">
                <a:extLst>
                  <a:ext uri="{FF2B5EF4-FFF2-40B4-BE49-F238E27FC236}">
                    <a16:creationId xmlns:a16="http://schemas.microsoft.com/office/drawing/2014/main" id="{BD7687A3-1965-3EDF-EBB7-867E6987C4EA}"/>
                  </a:ext>
                </a:extLst>
              </p:cNvPr>
              <p:cNvGrpSpPr/>
              <p:nvPr/>
            </p:nvGrpSpPr>
            <p:grpSpPr>
              <a:xfrm flipH="1">
                <a:off x="8852795" y="2372662"/>
                <a:ext cx="262193" cy="679246"/>
                <a:chOff x="1433816" y="2372662"/>
                <a:chExt cx="262193" cy="679246"/>
              </a:xfrm>
              <a:solidFill>
                <a:schemeClr val="bg1"/>
              </a:solidFill>
            </p:grpSpPr>
            <p:sp>
              <p:nvSpPr>
                <p:cNvPr id="57" name="Rounded Rectangle 56">
                  <a:extLst>
                    <a:ext uri="{FF2B5EF4-FFF2-40B4-BE49-F238E27FC236}">
                      <a16:creationId xmlns:a16="http://schemas.microsoft.com/office/drawing/2014/main" id="{C023DA30-086A-5FA9-BEEE-A15513CD1F4F}"/>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8" name="Rounded Rectangle 57">
                  <a:extLst>
                    <a:ext uri="{FF2B5EF4-FFF2-40B4-BE49-F238E27FC236}">
                      <a16:creationId xmlns:a16="http://schemas.microsoft.com/office/drawing/2014/main" id="{036E0817-6B9F-C07D-CC57-D1CED02F969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0" name="Group 49">
              <a:extLst>
                <a:ext uri="{FF2B5EF4-FFF2-40B4-BE49-F238E27FC236}">
                  <a16:creationId xmlns:a16="http://schemas.microsoft.com/office/drawing/2014/main" id="{5FD33BFB-9706-30B8-049C-6C7AE820075D}"/>
                </a:ext>
              </a:extLst>
            </p:cNvPr>
            <p:cNvGrpSpPr/>
            <p:nvPr/>
          </p:nvGrpSpPr>
          <p:grpSpPr>
            <a:xfrm flipV="1">
              <a:off x="2364562" y="3528349"/>
              <a:ext cx="347674" cy="800719"/>
              <a:chOff x="8812568" y="2305815"/>
              <a:chExt cx="347674" cy="800719"/>
            </a:xfrm>
          </p:grpSpPr>
          <p:sp>
            <p:nvSpPr>
              <p:cNvPr id="51" name="Freeform 50">
                <a:extLst>
                  <a:ext uri="{FF2B5EF4-FFF2-40B4-BE49-F238E27FC236}">
                    <a16:creationId xmlns:a16="http://schemas.microsoft.com/office/drawing/2014/main" id="{6EB8204B-3B9B-1F28-217D-1156F16E00E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2" name="Group 51">
                <a:extLst>
                  <a:ext uri="{FF2B5EF4-FFF2-40B4-BE49-F238E27FC236}">
                    <a16:creationId xmlns:a16="http://schemas.microsoft.com/office/drawing/2014/main" id="{7052F944-14AF-C6E8-0D8C-E77095A34CBF}"/>
                  </a:ext>
                </a:extLst>
              </p:cNvPr>
              <p:cNvGrpSpPr/>
              <p:nvPr/>
            </p:nvGrpSpPr>
            <p:grpSpPr>
              <a:xfrm flipH="1">
                <a:off x="8852795" y="2372662"/>
                <a:ext cx="262193" cy="679246"/>
                <a:chOff x="1433816" y="2372662"/>
                <a:chExt cx="262193" cy="679246"/>
              </a:xfrm>
              <a:solidFill>
                <a:schemeClr val="bg1"/>
              </a:solidFill>
            </p:grpSpPr>
            <p:sp>
              <p:nvSpPr>
                <p:cNvPr id="53" name="Rounded Rectangle 52">
                  <a:extLst>
                    <a:ext uri="{FF2B5EF4-FFF2-40B4-BE49-F238E27FC236}">
                      <a16:creationId xmlns:a16="http://schemas.microsoft.com/office/drawing/2014/main" id="{F996F01B-1815-47E2-8048-AA4DF68D2E7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4" name="Rounded Rectangle 53">
                  <a:extLst>
                    <a:ext uri="{FF2B5EF4-FFF2-40B4-BE49-F238E27FC236}">
                      <a16:creationId xmlns:a16="http://schemas.microsoft.com/office/drawing/2014/main" id="{03BC05BC-08E9-1946-43B3-5023C23D65FB}"/>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65" name="PBC 1">
            <a:extLst>
              <a:ext uri="{FF2B5EF4-FFF2-40B4-BE49-F238E27FC236}">
                <a16:creationId xmlns:a16="http://schemas.microsoft.com/office/drawing/2014/main" id="{49B4227E-8990-6239-78B1-4CAFB70B40E3}"/>
              </a:ext>
            </a:extLst>
          </p:cNvPr>
          <p:cNvGrpSpPr>
            <a:grpSpLocks noChangeAspect="1"/>
          </p:cNvGrpSpPr>
          <p:nvPr/>
        </p:nvGrpSpPr>
        <p:grpSpPr>
          <a:xfrm>
            <a:off x="5503284" y="3765043"/>
            <a:ext cx="1273574" cy="246722"/>
            <a:chOff x="2364562" y="2976326"/>
            <a:chExt cx="7053344" cy="1366399"/>
          </a:xfrm>
        </p:grpSpPr>
        <p:sp>
          <p:nvSpPr>
            <p:cNvPr id="66" name="Freeform 65">
              <a:extLst>
                <a:ext uri="{FF2B5EF4-FFF2-40B4-BE49-F238E27FC236}">
                  <a16:creationId xmlns:a16="http://schemas.microsoft.com/office/drawing/2014/main" id="{6503B484-9358-E414-1B7D-B56B9ED54282}"/>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67" name="Freeform 66">
              <a:extLst>
                <a:ext uri="{FF2B5EF4-FFF2-40B4-BE49-F238E27FC236}">
                  <a16:creationId xmlns:a16="http://schemas.microsoft.com/office/drawing/2014/main" id="{E6A445D2-AA19-C9FC-C560-3BC46179AFCA}"/>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68" name="Graphic 38">
              <a:extLst>
                <a:ext uri="{FF2B5EF4-FFF2-40B4-BE49-F238E27FC236}">
                  <a16:creationId xmlns:a16="http://schemas.microsoft.com/office/drawing/2014/main" id="{A69860BB-D8E5-469A-2E78-20E7392FE62C}"/>
                </a:ext>
              </a:extLst>
            </p:cNvPr>
            <p:cNvGrpSpPr/>
            <p:nvPr/>
          </p:nvGrpSpPr>
          <p:grpSpPr>
            <a:xfrm>
              <a:off x="5658852" y="3694387"/>
              <a:ext cx="466200" cy="483019"/>
              <a:chOff x="5042020" y="5214715"/>
              <a:chExt cx="466200" cy="483019"/>
            </a:xfrm>
          </p:grpSpPr>
          <p:sp>
            <p:nvSpPr>
              <p:cNvPr id="85" name="Freeform 84">
                <a:extLst>
                  <a:ext uri="{FF2B5EF4-FFF2-40B4-BE49-F238E27FC236}">
                    <a16:creationId xmlns:a16="http://schemas.microsoft.com/office/drawing/2014/main" id="{37140271-0116-8A50-D95E-C9A67E4161DA}"/>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87" name="Freeform 86">
                <a:extLst>
                  <a:ext uri="{FF2B5EF4-FFF2-40B4-BE49-F238E27FC236}">
                    <a16:creationId xmlns:a16="http://schemas.microsoft.com/office/drawing/2014/main" id="{7114CC72-BBAD-9071-98B5-4968543C0711}"/>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69" name="Group 68">
              <a:extLst>
                <a:ext uri="{FF2B5EF4-FFF2-40B4-BE49-F238E27FC236}">
                  <a16:creationId xmlns:a16="http://schemas.microsoft.com/office/drawing/2014/main" id="{3E687698-9679-0379-D099-1A30D9F10462}"/>
                </a:ext>
              </a:extLst>
            </p:cNvPr>
            <p:cNvGrpSpPr/>
            <p:nvPr/>
          </p:nvGrpSpPr>
          <p:grpSpPr>
            <a:xfrm>
              <a:off x="6411669" y="3594476"/>
              <a:ext cx="2479697" cy="681402"/>
              <a:chOff x="6154005" y="2371943"/>
              <a:chExt cx="2479697" cy="681402"/>
            </a:xfrm>
          </p:grpSpPr>
          <p:sp>
            <p:nvSpPr>
              <p:cNvPr id="83" name="Freeform 82">
                <a:extLst>
                  <a:ext uri="{FF2B5EF4-FFF2-40B4-BE49-F238E27FC236}">
                    <a16:creationId xmlns:a16="http://schemas.microsoft.com/office/drawing/2014/main" id="{203F33CB-81C1-406F-92F5-1237B20AB12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4" name="Freeform 83">
                <a:extLst>
                  <a:ext uri="{FF2B5EF4-FFF2-40B4-BE49-F238E27FC236}">
                    <a16:creationId xmlns:a16="http://schemas.microsoft.com/office/drawing/2014/main" id="{C8B40973-8AD3-09FB-F62D-F5E25D2CD2A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0" name="Group 69">
              <a:extLst>
                <a:ext uri="{FF2B5EF4-FFF2-40B4-BE49-F238E27FC236}">
                  <a16:creationId xmlns:a16="http://schemas.microsoft.com/office/drawing/2014/main" id="{F540E314-C010-F11C-F43C-6DFE3E3E7F3A}"/>
                </a:ext>
              </a:extLst>
            </p:cNvPr>
            <p:cNvGrpSpPr/>
            <p:nvPr/>
          </p:nvGrpSpPr>
          <p:grpSpPr>
            <a:xfrm>
              <a:off x="2892539" y="3594476"/>
              <a:ext cx="2479697" cy="681402"/>
              <a:chOff x="6154005" y="2371943"/>
              <a:chExt cx="2479697" cy="681402"/>
            </a:xfrm>
          </p:grpSpPr>
          <p:sp>
            <p:nvSpPr>
              <p:cNvPr id="81" name="Freeform 80">
                <a:extLst>
                  <a:ext uri="{FF2B5EF4-FFF2-40B4-BE49-F238E27FC236}">
                    <a16:creationId xmlns:a16="http://schemas.microsoft.com/office/drawing/2014/main" id="{F01F9F4B-1FF7-DAA6-E4B0-94592F3E178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2" name="Freeform 81">
                <a:extLst>
                  <a:ext uri="{FF2B5EF4-FFF2-40B4-BE49-F238E27FC236}">
                    <a16:creationId xmlns:a16="http://schemas.microsoft.com/office/drawing/2014/main" id="{FD9F8551-2C0D-BEB5-4F02-091F122CF319}"/>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1" name="Group 70">
              <a:extLst>
                <a:ext uri="{FF2B5EF4-FFF2-40B4-BE49-F238E27FC236}">
                  <a16:creationId xmlns:a16="http://schemas.microsoft.com/office/drawing/2014/main" id="{B8932F55-B0F0-C0E7-20A5-F7129F141B43}"/>
                </a:ext>
              </a:extLst>
            </p:cNvPr>
            <p:cNvGrpSpPr/>
            <p:nvPr/>
          </p:nvGrpSpPr>
          <p:grpSpPr>
            <a:xfrm>
              <a:off x="9070232" y="3528349"/>
              <a:ext cx="347674" cy="800719"/>
              <a:chOff x="8812568" y="2305815"/>
              <a:chExt cx="347674" cy="800719"/>
            </a:xfrm>
          </p:grpSpPr>
          <p:sp>
            <p:nvSpPr>
              <p:cNvPr id="77" name="Freeform 76">
                <a:extLst>
                  <a:ext uri="{FF2B5EF4-FFF2-40B4-BE49-F238E27FC236}">
                    <a16:creationId xmlns:a16="http://schemas.microsoft.com/office/drawing/2014/main" id="{B91EE0CE-4B60-63D2-F00C-787CBBCBA40D}"/>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8" name="Group 77">
                <a:extLst>
                  <a:ext uri="{FF2B5EF4-FFF2-40B4-BE49-F238E27FC236}">
                    <a16:creationId xmlns:a16="http://schemas.microsoft.com/office/drawing/2014/main" id="{0BC3F400-5CB7-E692-49BA-EE57962D29FC}"/>
                  </a:ext>
                </a:extLst>
              </p:cNvPr>
              <p:cNvGrpSpPr/>
              <p:nvPr/>
            </p:nvGrpSpPr>
            <p:grpSpPr>
              <a:xfrm flipH="1">
                <a:off x="8852795" y="2372662"/>
                <a:ext cx="262193" cy="679246"/>
                <a:chOff x="1433816" y="2372662"/>
                <a:chExt cx="262193" cy="679246"/>
              </a:xfrm>
              <a:solidFill>
                <a:schemeClr val="bg1"/>
              </a:solidFill>
            </p:grpSpPr>
            <p:sp>
              <p:nvSpPr>
                <p:cNvPr id="79" name="Rounded Rectangle 78">
                  <a:extLst>
                    <a:ext uri="{FF2B5EF4-FFF2-40B4-BE49-F238E27FC236}">
                      <a16:creationId xmlns:a16="http://schemas.microsoft.com/office/drawing/2014/main" id="{AC5D152F-3BE2-D5F6-0862-BF901DCBA0AD}"/>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0" name="Rounded Rectangle 79">
                  <a:extLst>
                    <a:ext uri="{FF2B5EF4-FFF2-40B4-BE49-F238E27FC236}">
                      <a16:creationId xmlns:a16="http://schemas.microsoft.com/office/drawing/2014/main" id="{BFC603BC-7125-242C-663B-EAA7FB3DAA2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72" name="Group 71">
              <a:extLst>
                <a:ext uri="{FF2B5EF4-FFF2-40B4-BE49-F238E27FC236}">
                  <a16:creationId xmlns:a16="http://schemas.microsoft.com/office/drawing/2014/main" id="{5EC18CFB-585E-9260-14D5-B6491BC80282}"/>
                </a:ext>
              </a:extLst>
            </p:cNvPr>
            <p:cNvGrpSpPr/>
            <p:nvPr/>
          </p:nvGrpSpPr>
          <p:grpSpPr>
            <a:xfrm flipV="1">
              <a:off x="2364562" y="3528349"/>
              <a:ext cx="347674" cy="800719"/>
              <a:chOff x="8812568" y="2305815"/>
              <a:chExt cx="347674" cy="800719"/>
            </a:xfrm>
          </p:grpSpPr>
          <p:sp>
            <p:nvSpPr>
              <p:cNvPr id="73" name="Freeform 72">
                <a:extLst>
                  <a:ext uri="{FF2B5EF4-FFF2-40B4-BE49-F238E27FC236}">
                    <a16:creationId xmlns:a16="http://schemas.microsoft.com/office/drawing/2014/main" id="{1AE67372-1BF6-809E-96FF-13A0F9F7C80A}"/>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4" name="Group 73">
                <a:extLst>
                  <a:ext uri="{FF2B5EF4-FFF2-40B4-BE49-F238E27FC236}">
                    <a16:creationId xmlns:a16="http://schemas.microsoft.com/office/drawing/2014/main" id="{96121140-0FC2-A020-5529-6945336B8724}"/>
                  </a:ext>
                </a:extLst>
              </p:cNvPr>
              <p:cNvGrpSpPr/>
              <p:nvPr/>
            </p:nvGrpSpPr>
            <p:grpSpPr>
              <a:xfrm flipH="1">
                <a:off x="8852795" y="2372662"/>
                <a:ext cx="262193" cy="679246"/>
                <a:chOff x="1433816" y="2372662"/>
                <a:chExt cx="262193" cy="679246"/>
              </a:xfrm>
              <a:solidFill>
                <a:schemeClr val="bg1"/>
              </a:solidFill>
            </p:grpSpPr>
            <p:sp>
              <p:nvSpPr>
                <p:cNvPr id="75" name="Rounded Rectangle 74">
                  <a:extLst>
                    <a:ext uri="{FF2B5EF4-FFF2-40B4-BE49-F238E27FC236}">
                      <a16:creationId xmlns:a16="http://schemas.microsoft.com/office/drawing/2014/main" id="{DD275028-0AF1-44B4-37A7-970875801B45}"/>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76" name="Rounded Rectangle 75">
                  <a:extLst>
                    <a:ext uri="{FF2B5EF4-FFF2-40B4-BE49-F238E27FC236}">
                      <a16:creationId xmlns:a16="http://schemas.microsoft.com/office/drawing/2014/main" id="{69787C2D-45C0-1A10-E500-53233025BFE5}"/>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97457414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92EC-6F3C-2CD0-0C17-1AD128F4AFF0}"/>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2204FD5A-B318-5C71-3910-60DDB1D66CED}"/>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6B959A64-0E2B-F9F0-1EFF-16BC125599D7}"/>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Federate with partner providers for cloud connectivity. </a:t>
            </a:r>
          </a:p>
        </p:txBody>
      </p:sp>
      <p:sp>
        <p:nvSpPr>
          <p:cNvPr id="2" name="Text 21">
            <a:extLst>
              <a:ext uri="{FF2B5EF4-FFF2-40B4-BE49-F238E27FC236}">
                <a16:creationId xmlns:a16="http://schemas.microsoft.com/office/drawing/2014/main" id="{FD59B4A7-F683-12E7-441F-A0E42E04BE05}"/>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Leverage partners to expand reach.</a:t>
            </a:r>
            <a:endParaRPr lang="en-US" sz="2000">
              <a:solidFill>
                <a:schemeClr val="accent1"/>
              </a:solidFill>
              <a:latin typeface="+mj-lt"/>
            </a:endParaRPr>
          </a:p>
        </p:txBody>
      </p:sp>
      <p:sp>
        <p:nvSpPr>
          <p:cNvPr id="3" name="Title 2">
            <a:extLst>
              <a:ext uri="{FF2B5EF4-FFF2-40B4-BE49-F238E27FC236}">
                <a16:creationId xmlns:a16="http://schemas.microsoft.com/office/drawing/2014/main" id="{9799643F-F239-4F3B-72C2-067C28127C44}"/>
              </a:ext>
            </a:extLst>
          </p:cNvPr>
          <p:cNvSpPr>
            <a:spLocks noGrp="1"/>
          </p:cNvSpPr>
          <p:nvPr>
            <p:ph type="title"/>
          </p:nvPr>
        </p:nvSpPr>
        <p:spPr/>
        <p:txBody>
          <a:bodyPr/>
          <a:lstStyle/>
          <a:p>
            <a:r>
              <a:rPr lang="en-US"/>
              <a:t>Cloud Access via Partnership</a:t>
            </a:r>
          </a:p>
        </p:txBody>
      </p:sp>
      <p:grpSp>
        <p:nvGrpSpPr>
          <p:cNvPr id="86" name="Maia Logo">
            <a:extLst>
              <a:ext uri="{FF2B5EF4-FFF2-40B4-BE49-F238E27FC236}">
                <a16:creationId xmlns:a16="http://schemas.microsoft.com/office/drawing/2014/main" id="{07E42CAC-2626-9869-8A1B-B25DC57CE826}"/>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77D52BDE-6E75-C78C-AC24-1604B2782BB5}"/>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7CC77838-4341-37C9-A6CE-F9D4A1427997}"/>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27EC45D4-8B1B-166F-1D52-DEEC5FB9C432}"/>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4009F6FA-4DC2-0FDB-CE34-C15AA178FE20}"/>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13" name="Group 12">
            <a:extLst>
              <a:ext uri="{FF2B5EF4-FFF2-40B4-BE49-F238E27FC236}">
                <a16:creationId xmlns:a16="http://schemas.microsoft.com/office/drawing/2014/main" id="{43FC79DA-61F2-B2F7-706C-6DFBA7741FA4}"/>
              </a:ext>
            </a:extLst>
          </p:cNvPr>
          <p:cNvGrpSpPr>
            <a:grpSpLocks noChangeAspect="1"/>
          </p:cNvGrpSpPr>
          <p:nvPr/>
        </p:nvGrpSpPr>
        <p:grpSpPr>
          <a:xfrm>
            <a:off x="1036415" y="1298467"/>
            <a:ext cx="10454772" cy="3291840"/>
            <a:chOff x="600987" y="1334497"/>
            <a:chExt cx="11008108" cy="3466066"/>
          </a:xfrm>
        </p:grpSpPr>
        <p:sp>
          <p:nvSpPr>
            <p:cNvPr id="4" name="AutoShape 5">
              <a:extLst>
                <a:ext uri="{FF2B5EF4-FFF2-40B4-BE49-F238E27FC236}">
                  <a16:creationId xmlns:a16="http://schemas.microsoft.com/office/drawing/2014/main" id="{255EE8D0-7B95-8278-C409-692CF5DDDC23}"/>
                </a:ext>
              </a:extLst>
            </p:cNvPr>
            <p:cNvSpPr/>
            <p:nvPr/>
          </p:nvSpPr>
          <p:spPr>
            <a:xfrm flipV="1">
              <a:off x="5277900" y="4028302"/>
              <a:ext cx="1495354" cy="3267"/>
            </a:xfrm>
            <a:prstGeom prst="line">
              <a:avLst/>
            </a:prstGeom>
            <a:ln w="57150" cap="flat">
              <a:solidFill>
                <a:srgbClr val="83B1E4"/>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90133AAF-BE01-1246-9143-F73F3CDF78C1}"/>
                </a:ext>
              </a:extLst>
            </p:cNvPr>
            <p:cNvSpPr>
              <a:spLocks noChangeAspect="1"/>
            </p:cNvSpPr>
            <p:nvPr/>
          </p:nvSpPr>
          <p:spPr>
            <a:xfrm>
              <a:off x="3744770" y="2479096"/>
              <a:ext cx="1733034" cy="173303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7E097B59-9C5B-E17E-AB0B-0625A7A9E391}"/>
                </a:ext>
              </a:extLst>
            </p:cNvPr>
            <p:cNvSpPr/>
            <p:nvPr/>
          </p:nvSpPr>
          <p:spPr>
            <a:xfrm flipV="1">
              <a:off x="8494296" y="2247580"/>
              <a:ext cx="2007085" cy="831571"/>
            </a:xfrm>
            <a:prstGeom prst="line">
              <a:avLst/>
            </a:prstGeom>
            <a:ln w="38100" cap="flat">
              <a:solidFill>
                <a:srgbClr val="000000"/>
              </a:solidFill>
              <a:prstDash val="solid"/>
              <a:headEnd type="none" w="sm" len="sm"/>
              <a:tailEnd type="none" w="sm" len="sm"/>
            </a:ln>
          </p:spPr>
          <p:txBody>
            <a:bodyPr/>
            <a:lstStyle/>
            <a:p>
              <a:endParaRPr lang="en-US" sz="1200"/>
            </a:p>
          </p:txBody>
        </p:sp>
        <p:grpSp>
          <p:nvGrpSpPr>
            <p:cNvPr id="16" name="Group 11">
              <a:extLst>
                <a:ext uri="{FF2B5EF4-FFF2-40B4-BE49-F238E27FC236}">
                  <a16:creationId xmlns:a16="http://schemas.microsoft.com/office/drawing/2014/main" id="{C397F45F-E9A8-58B6-85AB-DC15A6232844}"/>
                </a:ext>
              </a:extLst>
            </p:cNvPr>
            <p:cNvGrpSpPr/>
            <p:nvPr/>
          </p:nvGrpSpPr>
          <p:grpSpPr>
            <a:xfrm>
              <a:off x="8982006" y="1334497"/>
              <a:ext cx="2627089" cy="1636753"/>
              <a:chOff x="-25598" y="-847027"/>
              <a:chExt cx="7666247" cy="4776299"/>
            </a:xfrm>
          </p:grpSpPr>
          <p:sp>
            <p:nvSpPr>
              <p:cNvPr id="18" name="Freeform 12">
                <a:extLst>
                  <a:ext uri="{FF2B5EF4-FFF2-40B4-BE49-F238E27FC236}">
                    <a16:creationId xmlns:a16="http://schemas.microsoft.com/office/drawing/2014/main" id="{2BAD92DA-E141-E412-F361-49D03BA795EB}"/>
                  </a:ext>
                </a:extLst>
              </p:cNvPr>
              <p:cNvSpPr>
                <a:spLocks noChangeAspect="1"/>
              </p:cNvSpPr>
              <p:nvPr/>
            </p:nvSpPr>
            <p:spPr>
              <a:xfrm>
                <a:off x="-25598" y="-847027"/>
                <a:ext cx="7666247" cy="4776299"/>
              </a:xfrm>
              <a:custGeom>
                <a:avLst/>
                <a:gdLst/>
                <a:ahLst/>
                <a:cxnLst/>
                <a:rect l="l" t="t" r="r" b="b"/>
                <a:pathLst>
                  <a:path w="7877940" h="4908191">
                    <a:moveTo>
                      <a:pt x="0" y="0"/>
                    </a:moveTo>
                    <a:lnTo>
                      <a:pt x="7877940" y="0"/>
                    </a:lnTo>
                    <a:lnTo>
                      <a:pt x="7877940" y="4908191"/>
                    </a:lnTo>
                    <a:lnTo>
                      <a:pt x="0" y="4908191"/>
                    </a:lnTo>
                    <a:lnTo>
                      <a:pt x="0" y="0"/>
                    </a:lnTo>
                    <a:close/>
                  </a:path>
                </a:pathLst>
              </a:custGeom>
              <a:blipFill>
                <a:blip r:embed="rId5"/>
                <a:stretch>
                  <a:fillRect/>
                </a:stretch>
              </a:blipFill>
            </p:spPr>
            <p:txBody>
              <a:bodyPr/>
              <a:lstStyle/>
              <a:p>
                <a:endParaRPr lang="en-US" sz="1200"/>
              </a:p>
            </p:txBody>
          </p:sp>
          <p:sp>
            <p:nvSpPr>
              <p:cNvPr id="19" name="Freeform 13">
                <a:extLst>
                  <a:ext uri="{FF2B5EF4-FFF2-40B4-BE49-F238E27FC236}">
                    <a16:creationId xmlns:a16="http://schemas.microsoft.com/office/drawing/2014/main" id="{8772081F-AAA1-0392-C45B-8976DA609AE3}"/>
                  </a:ext>
                </a:extLst>
              </p:cNvPr>
              <p:cNvSpPr/>
              <p:nvPr/>
            </p:nvSpPr>
            <p:spPr>
              <a:xfrm>
                <a:off x="3601065" y="-177985"/>
                <a:ext cx="1614214" cy="1614215"/>
              </a:xfrm>
              <a:custGeom>
                <a:avLst/>
                <a:gdLst/>
                <a:ahLst/>
                <a:cxnLst/>
                <a:rect l="l" t="t" r="r" b="b"/>
                <a:pathLst>
                  <a:path w="1614215" h="1614215">
                    <a:moveTo>
                      <a:pt x="0" y="0"/>
                    </a:moveTo>
                    <a:lnTo>
                      <a:pt x="1614215" y="0"/>
                    </a:lnTo>
                    <a:lnTo>
                      <a:pt x="1614215" y="1614215"/>
                    </a:lnTo>
                    <a:lnTo>
                      <a:pt x="0" y="161421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sz="1200"/>
              </a:p>
            </p:txBody>
          </p:sp>
          <p:sp>
            <p:nvSpPr>
              <p:cNvPr id="20" name="Freeform 14">
                <a:extLst>
                  <a:ext uri="{FF2B5EF4-FFF2-40B4-BE49-F238E27FC236}">
                    <a16:creationId xmlns:a16="http://schemas.microsoft.com/office/drawing/2014/main" id="{4B4980FD-8907-5038-EB8E-AD3BCD9C4439}"/>
                  </a:ext>
                </a:extLst>
              </p:cNvPr>
              <p:cNvSpPr/>
              <p:nvPr/>
            </p:nvSpPr>
            <p:spPr>
              <a:xfrm>
                <a:off x="1776499" y="1500783"/>
                <a:ext cx="1824567" cy="1824567"/>
              </a:xfrm>
              <a:custGeom>
                <a:avLst/>
                <a:gdLst/>
                <a:ahLst/>
                <a:cxnLst/>
                <a:rect l="l" t="t" r="r" b="b"/>
                <a:pathLst>
                  <a:path w="1824566" h="1824566">
                    <a:moveTo>
                      <a:pt x="0" y="0"/>
                    </a:moveTo>
                    <a:lnTo>
                      <a:pt x="1824566" y="0"/>
                    </a:lnTo>
                    <a:lnTo>
                      <a:pt x="1824566" y="1824566"/>
                    </a:lnTo>
                    <a:lnTo>
                      <a:pt x="0" y="182456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1" name="Freeform 15">
                <a:extLst>
                  <a:ext uri="{FF2B5EF4-FFF2-40B4-BE49-F238E27FC236}">
                    <a16:creationId xmlns:a16="http://schemas.microsoft.com/office/drawing/2014/main" id="{B3DDC35E-2212-2E83-4FBB-0AF5ECC7F65D}"/>
                  </a:ext>
                </a:extLst>
              </p:cNvPr>
              <p:cNvSpPr/>
              <p:nvPr/>
            </p:nvSpPr>
            <p:spPr>
              <a:xfrm>
                <a:off x="4720778" y="1429200"/>
                <a:ext cx="1896149" cy="1896147"/>
              </a:xfrm>
              <a:custGeom>
                <a:avLst/>
                <a:gdLst/>
                <a:ahLst/>
                <a:cxnLst/>
                <a:rect l="l" t="t" r="r" b="b"/>
                <a:pathLst>
                  <a:path w="1896148" h="1896148">
                    <a:moveTo>
                      <a:pt x="0" y="0"/>
                    </a:moveTo>
                    <a:lnTo>
                      <a:pt x="1896147" y="0"/>
                    </a:lnTo>
                    <a:lnTo>
                      <a:pt x="1896147" y="1896148"/>
                    </a:lnTo>
                    <a:lnTo>
                      <a:pt x="0" y="189614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grpSp>
        <p:sp>
          <p:nvSpPr>
            <p:cNvPr id="22" name="Freeform 16">
              <a:extLst>
                <a:ext uri="{FF2B5EF4-FFF2-40B4-BE49-F238E27FC236}">
                  <a16:creationId xmlns:a16="http://schemas.microsoft.com/office/drawing/2014/main" id="{ABD52D8F-C698-E3FB-A94B-6D572723F4FD}"/>
                </a:ext>
              </a:extLst>
            </p:cNvPr>
            <p:cNvSpPr>
              <a:spLocks noChangeAspect="1"/>
            </p:cNvSpPr>
            <p:nvPr/>
          </p:nvSpPr>
          <p:spPr>
            <a:xfrm>
              <a:off x="7016426" y="2463480"/>
              <a:ext cx="1765050" cy="1444194"/>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9"/>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93EFC565-5BEF-830D-4AF3-C8845E1CB341}"/>
                </a:ext>
              </a:extLst>
            </p:cNvPr>
            <p:cNvSpPr/>
            <p:nvPr/>
          </p:nvSpPr>
          <p:spPr>
            <a:xfrm>
              <a:off x="6715548" y="4244422"/>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10"/>
              <a:stretch>
                <a:fillRect/>
              </a:stretch>
            </a:blipFill>
          </p:spPr>
          <p:txBody>
            <a:bodyPr/>
            <a:lstStyle/>
            <a:p>
              <a:endParaRPr lang="en-US" sz="1200"/>
            </a:p>
          </p:txBody>
        </p:sp>
        <p:sp>
          <p:nvSpPr>
            <p:cNvPr id="26" name="TextBox 25">
              <a:extLst>
                <a:ext uri="{FF2B5EF4-FFF2-40B4-BE49-F238E27FC236}">
                  <a16:creationId xmlns:a16="http://schemas.microsoft.com/office/drawing/2014/main" id="{4116CC02-6EA6-F442-CD35-9CC7922D5750}"/>
                </a:ext>
              </a:extLst>
            </p:cNvPr>
            <p:cNvSpPr txBox="1"/>
            <p:nvPr/>
          </p:nvSpPr>
          <p:spPr bwMode="auto">
            <a:xfrm>
              <a:off x="3405999" y="4376875"/>
              <a:ext cx="3102441" cy="278069"/>
            </a:xfrm>
            <a:prstGeom prst="rect">
              <a:avLst/>
            </a:prstGeom>
            <a:noFill/>
          </p:spPr>
          <p:txBody>
            <a:bodyPr wrap="square" rtlCol="0">
              <a:noAutofit/>
            </a:bodyPr>
            <a:lstStyle/>
            <a:p>
              <a:pPr algn="ctr">
                <a:spcBef>
                  <a:spcPts val="600"/>
                </a:spcBef>
              </a:pPr>
              <a:r>
                <a:rPr lang="en-US">
                  <a:latin typeface="Tomorrow" pitchFamily="2" charset="0"/>
                </a:rPr>
                <a:t>Partner Provider</a:t>
              </a:r>
            </a:p>
          </p:txBody>
        </p:sp>
        <p:sp>
          <p:nvSpPr>
            <p:cNvPr id="12" name="Freeform 7">
              <a:extLst>
                <a:ext uri="{FF2B5EF4-FFF2-40B4-BE49-F238E27FC236}">
                  <a16:creationId xmlns:a16="http://schemas.microsoft.com/office/drawing/2014/main" id="{B7F5B9B5-0E36-2CDF-11DE-C88FFD5A35F4}"/>
                </a:ext>
              </a:extLst>
            </p:cNvPr>
            <p:cNvSpPr>
              <a:spLocks noChangeAspect="1"/>
            </p:cNvSpPr>
            <p:nvPr/>
          </p:nvSpPr>
          <p:spPr>
            <a:xfrm>
              <a:off x="643944" y="2481264"/>
              <a:ext cx="1733034" cy="1733033"/>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4" name="TextBox 13">
              <a:extLst>
                <a:ext uri="{FF2B5EF4-FFF2-40B4-BE49-F238E27FC236}">
                  <a16:creationId xmlns:a16="http://schemas.microsoft.com/office/drawing/2014/main" id="{8327110A-E5AD-6CFB-95D7-5D7582812034}"/>
                </a:ext>
              </a:extLst>
            </p:cNvPr>
            <p:cNvSpPr txBox="1"/>
            <p:nvPr/>
          </p:nvSpPr>
          <p:spPr bwMode="auto">
            <a:xfrm>
              <a:off x="600987" y="4380551"/>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sp>
          <p:nvSpPr>
            <p:cNvPr id="15" name="AutoShape 5">
              <a:extLst>
                <a:ext uri="{FF2B5EF4-FFF2-40B4-BE49-F238E27FC236}">
                  <a16:creationId xmlns:a16="http://schemas.microsoft.com/office/drawing/2014/main" id="{911C9908-AC8E-22B4-13CA-F268406A9D0A}"/>
                </a:ext>
              </a:extLst>
            </p:cNvPr>
            <p:cNvSpPr/>
            <p:nvPr/>
          </p:nvSpPr>
          <p:spPr>
            <a:xfrm flipV="1">
              <a:off x="2731471" y="4028301"/>
              <a:ext cx="1842700" cy="3267"/>
            </a:xfrm>
            <a:prstGeom prst="line">
              <a:avLst/>
            </a:prstGeom>
            <a:ln w="57150" cap="flat">
              <a:solidFill>
                <a:schemeClr val="accent1"/>
              </a:solidFill>
              <a:prstDash val="solid"/>
              <a:headEnd type="none" w="sm" len="sm"/>
              <a:tailEnd type="none" w="sm" len="sm"/>
            </a:ln>
          </p:spPr>
          <p:txBody>
            <a:bodyPr/>
            <a:lstStyle/>
            <a:p>
              <a:endParaRPr lang="en-US" sz="1200"/>
            </a:p>
          </p:txBody>
        </p:sp>
        <p:sp>
          <p:nvSpPr>
            <p:cNvPr id="10" name="Cloud icon">
              <a:extLst>
                <a:ext uri="{FF2B5EF4-FFF2-40B4-BE49-F238E27FC236}">
                  <a16:creationId xmlns:a16="http://schemas.microsoft.com/office/drawing/2014/main" id="{6783EF93-8613-33D7-D382-26C3E7A3E142}"/>
                </a:ext>
              </a:extLst>
            </p:cNvPr>
            <p:cNvSpPr>
              <a:spLocks noChangeAspect="1"/>
            </p:cNvSpPr>
            <p:nvPr/>
          </p:nvSpPr>
          <p:spPr>
            <a:xfrm>
              <a:off x="2206584" y="2582059"/>
              <a:ext cx="1842701" cy="1143067"/>
            </a:xfrm>
            <a:custGeom>
              <a:avLst/>
              <a:gdLst>
                <a:gd name="csX0" fmla="*/ 368105 w 2587448"/>
                <a:gd name="csY0" fmla="*/ 1603022 h 1605052"/>
                <a:gd name="csX1" fmla="*/ 328 w 2587448"/>
                <a:gd name="csY1" fmla="*/ 1261968 h 1605052"/>
                <a:gd name="csX2" fmla="*/ 333194 w 2587448"/>
                <a:gd name="csY2" fmla="*/ 888033 h 1605052"/>
                <a:gd name="csX3" fmla="*/ 329068 w 2587448"/>
                <a:gd name="csY3" fmla="*/ 824368 h 1605052"/>
                <a:gd name="csX4" fmla="*/ 733851 w 2587448"/>
                <a:gd name="csY4" fmla="*/ 419584 h 1605052"/>
                <a:gd name="csX5" fmla="*/ 947510 w 2587448"/>
                <a:gd name="csY5" fmla="*/ 481219 h 1605052"/>
                <a:gd name="csX6" fmla="*/ 1639901 w 2587448"/>
                <a:gd name="csY6" fmla="*/ 10675 h 1605052"/>
                <a:gd name="csX7" fmla="*/ 2120664 w 2587448"/>
                <a:gd name="csY7" fmla="*/ 608551 h 1605052"/>
                <a:gd name="csX8" fmla="*/ 2587082 w 2587448"/>
                <a:gd name="csY8" fmla="*/ 1124289 h 1605052"/>
                <a:gd name="csX9" fmla="*/ 2077564 w 2587448"/>
                <a:gd name="csY9" fmla="*/ 1605053 h 1605052"/>
                <a:gd name="csX10" fmla="*/ 368105 w 2587448"/>
                <a:gd name="csY10" fmla="*/ 1603022 h 1605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587448" h="1605052">
                  <a:moveTo>
                    <a:pt x="368105" y="1603022"/>
                  </a:moveTo>
                  <a:cubicBezTo>
                    <a:pt x="174950" y="1605053"/>
                    <a:pt x="12643" y="1455060"/>
                    <a:pt x="328" y="1261968"/>
                  </a:cubicBezTo>
                  <a:cubicBezTo>
                    <a:pt x="-7860" y="1068812"/>
                    <a:pt x="138007" y="902379"/>
                    <a:pt x="333194" y="888033"/>
                  </a:cubicBezTo>
                  <a:cubicBezTo>
                    <a:pt x="329068" y="867467"/>
                    <a:pt x="329068" y="844870"/>
                    <a:pt x="329068" y="824368"/>
                  </a:cubicBezTo>
                  <a:cubicBezTo>
                    <a:pt x="329068" y="600426"/>
                    <a:pt x="509846" y="419584"/>
                    <a:pt x="733851" y="419584"/>
                  </a:cubicBezTo>
                  <a:cubicBezTo>
                    <a:pt x="809895" y="419584"/>
                    <a:pt x="883844" y="440150"/>
                    <a:pt x="947510" y="481219"/>
                  </a:cubicBezTo>
                  <a:cubicBezTo>
                    <a:pt x="1009145" y="160668"/>
                    <a:pt x="1317318" y="-50960"/>
                    <a:pt x="1639901" y="10675"/>
                  </a:cubicBezTo>
                  <a:cubicBezTo>
                    <a:pt x="1925477" y="64121"/>
                    <a:pt x="2128916" y="318849"/>
                    <a:pt x="2120664" y="608551"/>
                  </a:cubicBezTo>
                  <a:cubicBezTo>
                    <a:pt x="2389800" y="624991"/>
                    <a:pt x="2597365" y="855090"/>
                    <a:pt x="2587082" y="1124289"/>
                  </a:cubicBezTo>
                  <a:cubicBezTo>
                    <a:pt x="2576799" y="1389363"/>
                    <a:pt x="2348732" y="1605053"/>
                    <a:pt x="2077564" y="1605053"/>
                  </a:cubicBezTo>
                  <a:lnTo>
                    <a:pt x="368105" y="1603022"/>
                  </a:lnTo>
                  <a:close/>
                </a:path>
              </a:pathLst>
            </a:custGeom>
            <a:solidFill>
              <a:schemeClr val="bg1"/>
            </a:solidFill>
            <a:ln w="19050" cap="flat">
              <a:solidFill>
                <a:schemeClr val="accent1">
                  <a:alpha val="40000"/>
                </a:schemeClr>
              </a:solidFill>
              <a:prstDash val="solid"/>
              <a:miter/>
            </a:ln>
            <a:effectLst>
              <a:glow rad="101600">
                <a:schemeClr val="accent3">
                  <a:satMod val="175000"/>
                  <a:alpha val="20000"/>
                </a:schemeClr>
              </a:glow>
            </a:effectLst>
          </p:spPr>
          <p:txBody>
            <a:bodyPr lIns="365760" tIns="274320" rIns="365760" bIns="0" anchor="ctr" anchorCtr="0"/>
            <a:lstStyle/>
            <a:p>
              <a:pPr algn="ctr"/>
              <a:r>
                <a:rPr lang="en-US" sz="1200">
                  <a:latin typeface="+mj-lt"/>
                </a:rPr>
                <a:t>Direct Internet Access</a:t>
              </a:r>
            </a:p>
          </p:txBody>
        </p:sp>
      </p:grpSp>
      <p:grpSp>
        <p:nvGrpSpPr>
          <p:cNvPr id="8" name="PBC 1">
            <a:extLst>
              <a:ext uri="{FF2B5EF4-FFF2-40B4-BE49-F238E27FC236}">
                <a16:creationId xmlns:a16="http://schemas.microsoft.com/office/drawing/2014/main" id="{3CEBE4E9-66AE-3973-95F3-47D2D988C251}"/>
              </a:ext>
            </a:extLst>
          </p:cNvPr>
          <p:cNvGrpSpPr>
            <a:grpSpLocks noChangeAspect="1"/>
          </p:cNvGrpSpPr>
          <p:nvPr/>
        </p:nvGrpSpPr>
        <p:grpSpPr>
          <a:xfrm>
            <a:off x="1875505" y="3759975"/>
            <a:ext cx="1188720" cy="230284"/>
            <a:chOff x="2364562" y="2976326"/>
            <a:chExt cx="7053344" cy="1366399"/>
          </a:xfrm>
        </p:grpSpPr>
        <p:sp>
          <p:nvSpPr>
            <p:cNvPr id="9" name="Freeform 8">
              <a:extLst>
                <a:ext uri="{FF2B5EF4-FFF2-40B4-BE49-F238E27FC236}">
                  <a16:creationId xmlns:a16="http://schemas.microsoft.com/office/drawing/2014/main" id="{CC49B4E4-D82C-6C0C-9803-9C8F035DC88F}"/>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7" name="Freeform 16">
              <a:extLst>
                <a:ext uri="{FF2B5EF4-FFF2-40B4-BE49-F238E27FC236}">
                  <a16:creationId xmlns:a16="http://schemas.microsoft.com/office/drawing/2014/main" id="{FD518A7B-3D82-87ED-2C55-78D216614C49}"/>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24" name="Graphic 38">
              <a:extLst>
                <a:ext uri="{FF2B5EF4-FFF2-40B4-BE49-F238E27FC236}">
                  <a16:creationId xmlns:a16="http://schemas.microsoft.com/office/drawing/2014/main" id="{7CBD13F0-87BC-D7BA-51E6-785CCDEAB28C}"/>
                </a:ext>
              </a:extLst>
            </p:cNvPr>
            <p:cNvGrpSpPr/>
            <p:nvPr/>
          </p:nvGrpSpPr>
          <p:grpSpPr>
            <a:xfrm>
              <a:off x="5658852" y="3694387"/>
              <a:ext cx="466200" cy="483019"/>
              <a:chOff x="5042020" y="5214715"/>
              <a:chExt cx="466200" cy="483019"/>
            </a:xfrm>
          </p:grpSpPr>
          <p:sp>
            <p:nvSpPr>
              <p:cNvPr id="45" name="Freeform 44">
                <a:extLst>
                  <a:ext uri="{FF2B5EF4-FFF2-40B4-BE49-F238E27FC236}">
                    <a16:creationId xmlns:a16="http://schemas.microsoft.com/office/drawing/2014/main" id="{345A2842-B9EB-FFF8-1BCD-506DB8CEF9C1}"/>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6" name="Freeform 45">
                <a:extLst>
                  <a:ext uri="{FF2B5EF4-FFF2-40B4-BE49-F238E27FC236}">
                    <a16:creationId xmlns:a16="http://schemas.microsoft.com/office/drawing/2014/main" id="{7A67637F-FC03-1663-FB68-00396D79554E}"/>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25" name="Group 24">
              <a:extLst>
                <a:ext uri="{FF2B5EF4-FFF2-40B4-BE49-F238E27FC236}">
                  <a16:creationId xmlns:a16="http://schemas.microsoft.com/office/drawing/2014/main" id="{EB4ED43B-9660-0FB4-62D3-C3EF8AE11A54}"/>
                </a:ext>
              </a:extLst>
            </p:cNvPr>
            <p:cNvGrpSpPr/>
            <p:nvPr/>
          </p:nvGrpSpPr>
          <p:grpSpPr>
            <a:xfrm>
              <a:off x="6411669" y="3594476"/>
              <a:ext cx="2479697" cy="681402"/>
              <a:chOff x="6154005" y="2371943"/>
              <a:chExt cx="2479697" cy="681402"/>
            </a:xfrm>
          </p:grpSpPr>
          <p:sp>
            <p:nvSpPr>
              <p:cNvPr id="43" name="Freeform 42">
                <a:extLst>
                  <a:ext uri="{FF2B5EF4-FFF2-40B4-BE49-F238E27FC236}">
                    <a16:creationId xmlns:a16="http://schemas.microsoft.com/office/drawing/2014/main" id="{2DCB6576-6C05-EEBA-C7F4-96BB256C5F1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4" name="Freeform 43">
                <a:extLst>
                  <a:ext uri="{FF2B5EF4-FFF2-40B4-BE49-F238E27FC236}">
                    <a16:creationId xmlns:a16="http://schemas.microsoft.com/office/drawing/2014/main" id="{80D80729-6AAF-E0EF-67EF-E3DD0550BC2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7" name="Group 26">
              <a:extLst>
                <a:ext uri="{FF2B5EF4-FFF2-40B4-BE49-F238E27FC236}">
                  <a16:creationId xmlns:a16="http://schemas.microsoft.com/office/drawing/2014/main" id="{A6D14F78-08A9-F37E-DCB6-99E030A55CC6}"/>
                </a:ext>
              </a:extLst>
            </p:cNvPr>
            <p:cNvGrpSpPr/>
            <p:nvPr/>
          </p:nvGrpSpPr>
          <p:grpSpPr>
            <a:xfrm>
              <a:off x="2892539" y="3594476"/>
              <a:ext cx="2479697" cy="681402"/>
              <a:chOff x="6154005" y="2371943"/>
              <a:chExt cx="2479697" cy="681402"/>
            </a:xfrm>
          </p:grpSpPr>
          <p:sp>
            <p:nvSpPr>
              <p:cNvPr id="41" name="Freeform 40">
                <a:extLst>
                  <a:ext uri="{FF2B5EF4-FFF2-40B4-BE49-F238E27FC236}">
                    <a16:creationId xmlns:a16="http://schemas.microsoft.com/office/drawing/2014/main" id="{1F782418-6BB4-B323-C801-9492FE7AA473}"/>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42" name="Freeform 41">
                <a:extLst>
                  <a:ext uri="{FF2B5EF4-FFF2-40B4-BE49-F238E27FC236}">
                    <a16:creationId xmlns:a16="http://schemas.microsoft.com/office/drawing/2014/main" id="{82EF3AEA-53AB-8D1C-DA21-A2D009E9B77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28" name="Group 27">
              <a:extLst>
                <a:ext uri="{FF2B5EF4-FFF2-40B4-BE49-F238E27FC236}">
                  <a16:creationId xmlns:a16="http://schemas.microsoft.com/office/drawing/2014/main" id="{E3510C9D-B905-B4C5-6C20-451645FD71B1}"/>
                </a:ext>
              </a:extLst>
            </p:cNvPr>
            <p:cNvGrpSpPr/>
            <p:nvPr/>
          </p:nvGrpSpPr>
          <p:grpSpPr>
            <a:xfrm>
              <a:off x="9070232" y="3528349"/>
              <a:ext cx="347674" cy="800719"/>
              <a:chOff x="8812568" y="2305815"/>
              <a:chExt cx="347674" cy="800719"/>
            </a:xfrm>
          </p:grpSpPr>
          <p:sp>
            <p:nvSpPr>
              <p:cNvPr id="37" name="Freeform 36">
                <a:extLst>
                  <a:ext uri="{FF2B5EF4-FFF2-40B4-BE49-F238E27FC236}">
                    <a16:creationId xmlns:a16="http://schemas.microsoft.com/office/drawing/2014/main" id="{A24AF990-F428-9DD0-474C-35538815A5C2}"/>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8" name="Group 37">
                <a:extLst>
                  <a:ext uri="{FF2B5EF4-FFF2-40B4-BE49-F238E27FC236}">
                    <a16:creationId xmlns:a16="http://schemas.microsoft.com/office/drawing/2014/main" id="{D1F11FD6-703F-4B5F-6C8F-6AC57409E375}"/>
                  </a:ext>
                </a:extLst>
              </p:cNvPr>
              <p:cNvGrpSpPr/>
              <p:nvPr/>
            </p:nvGrpSpPr>
            <p:grpSpPr>
              <a:xfrm flipH="1">
                <a:off x="8852795" y="2372662"/>
                <a:ext cx="262193" cy="679246"/>
                <a:chOff x="1433816" y="2372662"/>
                <a:chExt cx="262193" cy="679246"/>
              </a:xfrm>
              <a:solidFill>
                <a:schemeClr val="bg1"/>
              </a:solidFill>
            </p:grpSpPr>
            <p:sp>
              <p:nvSpPr>
                <p:cNvPr id="39" name="Rounded Rectangle 38">
                  <a:extLst>
                    <a:ext uri="{FF2B5EF4-FFF2-40B4-BE49-F238E27FC236}">
                      <a16:creationId xmlns:a16="http://schemas.microsoft.com/office/drawing/2014/main" id="{8BB33B24-E5BB-B29A-F171-E3E7813687A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40" name="Rounded Rectangle 39">
                  <a:extLst>
                    <a:ext uri="{FF2B5EF4-FFF2-40B4-BE49-F238E27FC236}">
                      <a16:creationId xmlns:a16="http://schemas.microsoft.com/office/drawing/2014/main" id="{3B2E9B42-CC52-AE5F-0C3C-F14328124205}"/>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29" name="Group 28">
              <a:extLst>
                <a:ext uri="{FF2B5EF4-FFF2-40B4-BE49-F238E27FC236}">
                  <a16:creationId xmlns:a16="http://schemas.microsoft.com/office/drawing/2014/main" id="{4C99E112-4BD7-7167-6792-C4948B5E0354}"/>
                </a:ext>
              </a:extLst>
            </p:cNvPr>
            <p:cNvGrpSpPr/>
            <p:nvPr/>
          </p:nvGrpSpPr>
          <p:grpSpPr>
            <a:xfrm flipV="1">
              <a:off x="2364562" y="3528349"/>
              <a:ext cx="347674" cy="800719"/>
              <a:chOff x="8812568" y="2305815"/>
              <a:chExt cx="347674" cy="800719"/>
            </a:xfrm>
          </p:grpSpPr>
          <p:sp>
            <p:nvSpPr>
              <p:cNvPr id="30" name="Freeform 29">
                <a:extLst>
                  <a:ext uri="{FF2B5EF4-FFF2-40B4-BE49-F238E27FC236}">
                    <a16:creationId xmlns:a16="http://schemas.microsoft.com/office/drawing/2014/main" id="{7BD5F46B-D885-B8EF-5B9C-4CCC6448DD74}"/>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34" name="Group 33">
                <a:extLst>
                  <a:ext uri="{FF2B5EF4-FFF2-40B4-BE49-F238E27FC236}">
                    <a16:creationId xmlns:a16="http://schemas.microsoft.com/office/drawing/2014/main" id="{B8DBC928-EB6C-D8AD-E1F9-CA2FCC375D98}"/>
                  </a:ext>
                </a:extLst>
              </p:cNvPr>
              <p:cNvGrpSpPr/>
              <p:nvPr/>
            </p:nvGrpSpPr>
            <p:grpSpPr>
              <a:xfrm flipH="1">
                <a:off x="8852795" y="2372662"/>
                <a:ext cx="262193" cy="679246"/>
                <a:chOff x="1433816" y="2372662"/>
                <a:chExt cx="262193" cy="679246"/>
              </a:xfrm>
              <a:solidFill>
                <a:schemeClr val="bg1"/>
              </a:solidFill>
            </p:grpSpPr>
            <p:sp>
              <p:nvSpPr>
                <p:cNvPr id="35" name="Rounded Rectangle 34">
                  <a:extLst>
                    <a:ext uri="{FF2B5EF4-FFF2-40B4-BE49-F238E27FC236}">
                      <a16:creationId xmlns:a16="http://schemas.microsoft.com/office/drawing/2014/main" id="{A93A37BE-554E-1D25-2D0F-CFA27928B0F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36" name="Rounded Rectangle 35">
                  <a:extLst>
                    <a:ext uri="{FF2B5EF4-FFF2-40B4-BE49-F238E27FC236}">
                      <a16:creationId xmlns:a16="http://schemas.microsoft.com/office/drawing/2014/main" id="{04796382-C42C-3229-05BB-717A13452903}"/>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47" name="PBC 1">
            <a:extLst>
              <a:ext uri="{FF2B5EF4-FFF2-40B4-BE49-F238E27FC236}">
                <a16:creationId xmlns:a16="http://schemas.microsoft.com/office/drawing/2014/main" id="{4411EEA3-6315-82D0-CE2B-AE3D9145D76E}"/>
              </a:ext>
            </a:extLst>
          </p:cNvPr>
          <p:cNvGrpSpPr>
            <a:grpSpLocks noChangeAspect="1"/>
          </p:cNvGrpSpPr>
          <p:nvPr/>
        </p:nvGrpSpPr>
        <p:grpSpPr>
          <a:xfrm>
            <a:off x="4540153" y="3771806"/>
            <a:ext cx="1188720" cy="230284"/>
            <a:chOff x="2364562" y="2976326"/>
            <a:chExt cx="7053344" cy="1366399"/>
          </a:xfrm>
        </p:grpSpPr>
        <p:sp>
          <p:nvSpPr>
            <p:cNvPr id="48" name="Freeform 47">
              <a:extLst>
                <a:ext uri="{FF2B5EF4-FFF2-40B4-BE49-F238E27FC236}">
                  <a16:creationId xmlns:a16="http://schemas.microsoft.com/office/drawing/2014/main" id="{F1F3E8AF-9FF2-FF19-8222-D59AC37CDC97}"/>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49" name="Freeform 48">
              <a:extLst>
                <a:ext uri="{FF2B5EF4-FFF2-40B4-BE49-F238E27FC236}">
                  <a16:creationId xmlns:a16="http://schemas.microsoft.com/office/drawing/2014/main" id="{79A66F84-4386-81C7-22A6-BDEC3662F0E8}"/>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50" name="Graphic 38">
              <a:extLst>
                <a:ext uri="{FF2B5EF4-FFF2-40B4-BE49-F238E27FC236}">
                  <a16:creationId xmlns:a16="http://schemas.microsoft.com/office/drawing/2014/main" id="{17CC8D9B-84CD-4E31-63E8-FD4842722013}"/>
                </a:ext>
              </a:extLst>
            </p:cNvPr>
            <p:cNvGrpSpPr/>
            <p:nvPr/>
          </p:nvGrpSpPr>
          <p:grpSpPr>
            <a:xfrm>
              <a:off x="5658852" y="3694387"/>
              <a:ext cx="466200" cy="483019"/>
              <a:chOff x="5042020" y="5214715"/>
              <a:chExt cx="466200" cy="483019"/>
            </a:xfrm>
          </p:grpSpPr>
          <p:sp>
            <p:nvSpPr>
              <p:cNvPr id="67" name="Freeform 66">
                <a:extLst>
                  <a:ext uri="{FF2B5EF4-FFF2-40B4-BE49-F238E27FC236}">
                    <a16:creationId xmlns:a16="http://schemas.microsoft.com/office/drawing/2014/main" id="{C5F744FC-BD07-CB0B-3527-200384DBCFED}"/>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68" name="Freeform 67">
                <a:extLst>
                  <a:ext uri="{FF2B5EF4-FFF2-40B4-BE49-F238E27FC236}">
                    <a16:creationId xmlns:a16="http://schemas.microsoft.com/office/drawing/2014/main" id="{C7F8B810-4256-2812-E010-B252015DDC87}"/>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51" name="Group 50">
              <a:extLst>
                <a:ext uri="{FF2B5EF4-FFF2-40B4-BE49-F238E27FC236}">
                  <a16:creationId xmlns:a16="http://schemas.microsoft.com/office/drawing/2014/main" id="{D55C0797-5FBC-66D4-E76D-FD499E0F9DDF}"/>
                </a:ext>
              </a:extLst>
            </p:cNvPr>
            <p:cNvGrpSpPr/>
            <p:nvPr/>
          </p:nvGrpSpPr>
          <p:grpSpPr>
            <a:xfrm>
              <a:off x="6411669" y="3594476"/>
              <a:ext cx="2479697" cy="681402"/>
              <a:chOff x="6154005" y="2371943"/>
              <a:chExt cx="2479697" cy="681402"/>
            </a:xfrm>
          </p:grpSpPr>
          <p:sp>
            <p:nvSpPr>
              <p:cNvPr id="65" name="Freeform 64">
                <a:extLst>
                  <a:ext uri="{FF2B5EF4-FFF2-40B4-BE49-F238E27FC236}">
                    <a16:creationId xmlns:a16="http://schemas.microsoft.com/office/drawing/2014/main" id="{CBC03DB5-5038-5329-B54E-2E5FD7862AF0}"/>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6" name="Freeform 65">
                <a:extLst>
                  <a:ext uri="{FF2B5EF4-FFF2-40B4-BE49-F238E27FC236}">
                    <a16:creationId xmlns:a16="http://schemas.microsoft.com/office/drawing/2014/main" id="{D0817DCC-D843-BDB6-5C6C-E87BEEEB31A8}"/>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2" name="Group 51">
              <a:extLst>
                <a:ext uri="{FF2B5EF4-FFF2-40B4-BE49-F238E27FC236}">
                  <a16:creationId xmlns:a16="http://schemas.microsoft.com/office/drawing/2014/main" id="{E84C89A4-52C8-AD37-9249-B2B4E7A73962}"/>
                </a:ext>
              </a:extLst>
            </p:cNvPr>
            <p:cNvGrpSpPr/>
            <p:nvPr/>
          </p:nvGrpSpPr>
          <p:grpSpPr>
            <a:xfrm>
              <a:off x="2892539" y="3594476"/>
              <a:ext cx="2479697" cy="681402"/>
              <a:chOff x="6154005" y="2371943"/>
              <a:chExt cx="2479697" cy="681402"/>
            </a:xfrm>
          </p:grpSpPr>
          <p:sp>
            <p:nvSpPr>
              <p:cNvPr id="63" name="Freeform 62">
                <a:extLst>
                  <a:ext uri="{FF2B5EF4-FFF2-40B4-BE49-F238E27FC236}">
                    <a16:creationId xmlns:a16="http://schemas.microsoft.com/office/drawing/2014/main" id="{8EC20580-5547-D530-E456-6FB8A91980F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64" name="Freeform 63">
                <a:extLst>
                  <a:ext uri="{FF2B5EF4-FFF2-40B4-BE49-F238E27FC236}">
                    <a16:creationId xmlns:a16="http://schemas.microsoft.com/office/drawing/2014/main" id="{F48917D8-6815-A828-31E5-FFE1A685AA51}"/>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53" name="Group 52">
              <a:extLst>
                <a:ext uri="{FF2B5EF4-FFF2-40B4-BE49-F238E27FC236}">
                  <a16:creationId xmlns:a16="http://schemas.microsoft.com/office/drawing/2014/main" id="{0FE310D3-DCF1-5BCB-F83D-CF99E130B344}"/>
                </a:ext>
              </a:extLst>
            </p:cNvPr>
            <p:cNvGrpSpPr/>
            <p:nvPr/>
          </p:nvGrpSpPr>
          <p:grpSpPr>
            <a:xfrm>
              <a:off x="9070232" y="3528349"/>
              <a:ext cx="347674" cy="800719"/>
              <a:chOff x="8812568" y="2305815"/>
              <a:chExt cx="347674" cy="800719"/>
            </a:xfrm>
          </p:grpSpPr>
          <p:sp>
            <p:nvSpPr>
              <p:cNvPr id="59" name="Freeform 58">
                <a:extLst>
                  <a:ext uri="{FF2B5EF4-FFF2-40B4-BE49-F238E27FC236}">
                    <a16:creationId xmlns:a16="http://schemas.microsoft.com/office/drawing/2014/main" id="{C2A28B70-8C4B-75BA-A2C3-E7EBE0F3B154}"/>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60" name="Group 59">
                <a:extLst>
                  <a:ext uri="{FF2B5EF4-FFF2-40B4-BE49-F238E27FC236}">
                    <a16:creationId xmlns:a16="http://schemas.microsoft.com/office/drawing/2014/main" id="{B8E772F8-D0AE-671F-FD5B-ADB5FA1E0B8D}"/>
                  </a:ext>
                </a:extLst>
              </p:cNvPr>
              <p:cNvGrpSpPr/>
              <p:nvPr/>
            </p:nvGrpSpPr>
            <p:grpSpPr>
              <a:xfrm flipH="1">
                <a:off x="8852795" y="2372662"/>
                <a:ext cx="262193" cy="679246"/>
                <a:chOff x="1433816" y="2372662"/>
                <a:chExt cx="262193" cy="679246"/>
              </a:xfrm>
              <a:solidFill>
                <a:schemeClr val="bg1"/>
              </a:solidFill>
            </p:grpSpPr>
            <p:sp>
              <p:nvSpPr>
                <p:cNvPr id="61" name="Rounded Rectangle 60">
                  <a:extLst>
                    <a:ext uri="{FF2B5EF4-FFF2-40B4-BE49-F238E27FC236}">
                      <a16:creationId xmlns:a16="http://schemas.microsoft.com/office/drawing/2014/main" id="{9E58A22F-34A0-4E1B-6F3D-8C175FC1817A}"/>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62" name="Rounded Rectangle 61">
                  <a:extLst>
                    <a:ext uri="{FF2B5EF4-FFF2-40B4-BE49-F238E27FC236}">
                      <a16:creationId xmlns:a16="http://schemas.microsoft.com/office/drawing/2014/main" id="{7BFECF41-E636-E730-5470-6ADCD8D61EFE}"/>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54" name="Group 53">
              <a:extLst>
                <a:ext uri="{FF2B5EF4-FFF2-40B4-BE49-F238E27FC236}">
                  <a16:creationId xmlns:a16="http://schemas.microsoft.com/office/drawing/2014/main" id="{A396B6C2-1C45-CEE1-0C85-44711ED600B0}"/>
                </a:ext>
              </a:extLst>
            </p:cNvPr>
            <p:cNvGrpSpPr/>
            <p:nvPr/>
          </p:nvGrpSpPr>
          <p:grpSpPr>
            <a:xfrm flipV="1">
              <a:off x="2364562" y="3528349"/>
              <a:ext cx="347674" cy="800719"/>
              <a:chOff x="8812568" y="2305815"/>
              <a:chExt cx="347674" cy="800719"/>
            </a:xfrm>
          </p:grpSpPr>
          <p:sp>
            <p:nvSpPr>
              <p:cNvPr id="55" name="Freeform 54">
                <a:extLst>
                  <a:ext uri="{FF2B5EF4-FFF2-40B4-BE49-F238E27FC236}">
                    <a16:creationId xmlns:a16="http://schemas.microsoft.com/office/drawing/2014/main" id="{09DB2089-1D84-D8D6-25CE-13D4A95056DC}"/>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56" name="Group 55">
                <a:extLst>
                  <a:ext uri="{FF2B5EF4-FFF2-40B4-BE49-F238E27FC236}">
                    <a16:creationId xmlns:a16="http://schemas.microsoft.com/office/drawing/2014/main" id="{E43127B1-DC14-64EE-8F22-DA5A950F84DD}"/>
                  </a:ext>
                </a:extLst>
              </p:cNvPr>
              <p:cNvGrpSpPr/>
              <p:nvPr/>
            </p:nvGrpSpPr>
            <p:grpSpPr>
              <a:xfrm flipH="1">
                <a:off x="8852795" y="2372662"/>
                <a:ext cx="262193" cy="679246"/>
                <a:chOff x="1433816" y="2372662"/>
                <a:chExt cx="262193" cy="679246"/>
              </a:xfrm>
              <a:solidFill>
                <a:schemeClr val="bg1"/>
              </a:solidFill>
            </p:grpSpPr>
            <p:sp>
              <p:nvSpPr>
                <p:cNvPr id="57" name="Rounded Rectangle 56">
                  <a:extLst>
                    <a:ext uri="{FF2B5EF4-FFF2-40B4-BE49-F238E27FC236}">
                      <a16:creationId xmlns:a16="http://schemas.microsoft.com/office/drawing/2014/main" id="{2ED2F586-8406-3D32-16FA-C546ECBB2117}"/>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58" name="Rounded Rectangle 57">
                  <a:extLst>
                    <a:ext uri="{FF2B5EF4-FFF2-40B4-BE49-F238E27FC236}">
                      <a16:creationId xmlns:a16="http://schemas.microsoft.com/office/drawing/2014/main" id="{CC4E1BDD-86F1-6397-72FB-1C6D209C000D}"/>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grpSp>
        <p:nvGrpSpPr>
          <p:cNvPr id="69" name="PBC 1">
            <a:extLst>
              <a:ext uri="{FF2B5EF4-FFF2-40B4-BE49-F238E27FC236}">
                <a16:creationId xmlns:a16="http://schemas.microsoft.com/office/drawing/2014/main" id="{CBC82789-2339-7F9D-674A-0C7A4F3DD4B6}"/>
              </a:ext>
            </a:extLst>
          </p:cNvPr>
          <p:cNvGrpSpPr>
            <a:grpSpLocks noChangeAspect="1"/>
          </p:cNvGrpSpPr>
          <p:nvPr/>
        </p:nvGrpSpPr>
        <p:grpSpPr>
          <a:xfrm>
            <a:off x="6549209" y="3730761"/>
            <a:ext cx="1188720" cy="230284"/>
            <a:chOff x="2364562" y="2976326"/>
            <a:chExt cx="7053344" cy="1366399"/>
          </a:xfrm>
        </p:grpSpPr>
        <p:sp>
          <p:nvSpPr>
            <p:cNvPr id="70" name="Freeform 69">
              <a:extLst>
                <a:ext uri="{FF2B5EF4-FFF2-40B4-BE49-F238E27FC236}">
                  <a16:creationId xmlns:a16="http://schemas.microsoft.com/office/drawing/2014/main" id="{A257162F-9B70-5D22-3CE8-085CDB77CD13}"/>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71" name="Freeform 70">
              <a:extLst>
                <a:ext uri="{FF2B5EF4-FFF2-40B4-BE49-F238E27FC236}">
                  <a16:creationId xmlns:a16="http://schemas.microsoft.com/office/drawing/2014/main" id="{116AEF82-84EE-7334-084D-54ABABC0B645}"/>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72" name="Graphic 38">
              <a:extLst>
                <a:ext uri="{FF2B5EF4-FFF2-40B4-BE49-F238E27FC236}">
                  <a16:creationId xmlns:a16="http://schemas.microsoft.com/office/drawing/2014/main" id="{97CFB04A-2353-5A9E-E5D2-C3E4FFDD274A}"/>
                </a:ext>
              </a:extLst>
            </p:cNvPr>
            <p:cNvGrpSpPr/>
            <p:nvPr/>
          </p:nvGrpSpPr>
          <p:grpSpPr>
            <a:xfrm>
              <a:off x="5658852" y="3694387"/>
              <a:ext cx="466200" cy="483019"/>
              <a:chOff x="5042020" y="5214715"/>
              <a:chExt cx="466200" cy="483019"/>
            </a:xfrm>
          </p:grpSpPr>
          <p:sp>
            <p:nvSpPr>
              <p:cNvPr id="95" name="Freeform 94">
                <a:extLst>
                  <a:ext uri="{FF2B5EF4-FFF2-40B4-BE49-F238E27FC236}">
                    <a16:creationId xmlns:a16="http://schemas.microsoft.com/office/drawing/2014/main" id="{E807EF59-64F7-2F3B-CEB9-C155604ABBF0}"/>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96" name="Freeform 95">
                <a:extLst>
                  <a:ext uri="{FF2B5EF4-FFF2-40B4-BE49-F238E27FC236}">
                    <a16:creationId xmlns:a16="http://schemas.microsoft.com/office/drawing/2014/main" id="{8CE510A3-42DC-8275-E575-74E5D2E6E2B9}"/>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73" name="Group 72">
              <a:extLst>
                <a:ext uri="{FF2B5EF4-FFF2-40B4-BE49-F238E27FC236}">
                  <a16:creationId xmlns:a16="http://schemas.microsoft.com/office/drawing/2014/main" id="{296B0A02-CAC3-9A9A-5A59-00FE15D409C7}"/>
                </a:ext>
              </a:extLst>
            </p:cNvPr>
            <p:cNvGrpSpPr/>
            <p:nvPr/>
          </p:nvGrpSpPr>
          <p:grpSpPr>
            <a:xfrm>
              <a:off x="6411669" y="3594476"/>
              <a:ext cx="2479697" cy="681402"/>
              <a:chOff x="6154005" y="2371943"/>
              <a:chExt cx="2479697" cy="681402"/>
            </a:xfrm>
          </p:grpSpPr>
          <p:sp>
            <p:nvSpPr>
              <p:cNvPr id="88" name="Freeform 87">
                <a:extLst>
                  <a:ext uri="{FF2B5EF4-FFF2-40B4-BE49-F238E27FC236}">
                    <a16:creationId xmlns:a16="http://schemas.microsoft.com/office/drawing/2014/main" id="{C4300199-FBC2-7471-DF60-5BB826861C9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94" name="Freeform 93">
                <a:extLst>
                  <a:ext uri="{FF2B5EF4-FFF2-40B4-BE49-F238E27FC236}">
                    <a16:creationId xmlns:a16="http://schemas.microsoft.com/office/drawing/2014/main" id="{BA211CDB-8FF8-2F28-21D5-9DAFF41FC7CB}"/>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4" name="Group 73">
              <a:extLst>
                <a:ext uri="{FF2B5EF4-FFF2-40B4-BE49-F238E27FC236}">
                  <a16:creationId xmlns:a16="http://schemas.microsoft.com/office/drawing/2014/main" id="{9D170268-99F1-9C69-6EC8-D4CE34BA4D62}"/>
                </a:ext>
              </a:extLst>
            </p:cNvPr>
            <p:cNvGrpSpPr/>
            <p:nvPr/>
          </p:nvGrpSpPr>
          <p:grpSpPr>
            <a:xfrm>
              <a:off x="2892539" y="3594476"/>
              <a:ext cx="2479697" cy="681402"/>
              <a:chOff x="6154005" y="2371943"/>
              <a:chExt cx="2479697" cy="681402"/>
            </a:xfrm>
          </p:grpSpPr>
          <p:sp>
            <p:nvSpPr>
              <p:cNvPr id="85" name="Freeform 84">
                <a:extLst>
                  <a:ext uri="{FF2B5EF4-FFF2-40B4-BE49-F238E27FC236}">
                    <a16:creationId xmlns:a16="http://schemas.microsoft.com/office/drawing/2014/main" id="{05BB951C-5E2E-A79A-05FA-5A33D2D35AA5}"/>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87" name="Freeform 86">
                <a:extLst>
                  <a:ext uri="{FF2B5EF4-FFF2-40B4-BE49-F238E27FC236}">
                    <a16:creationId xmlns:a16="http://schemas.microsoft.com/office/drawing/2014/main" id="{AD156657-C1F6-F1DE-9CA7-B1822A56041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75" name="Group 74">
              <a:extLst>
                <a:ext uri="{FF2B5EF4-FFF2-40B4-BE49-F238E27FC236}">
                  <a16:creationId xmlns:a16="http://schemas.microsoft.com/office/drawing/2014/main" id="{153352B8-060C-8D2C-5967-71ADBD9B6D31}"/>
                </a:ext>
              </a:extLst>
            </p:cNvPr>
            <p:cNvGrpSpPr/>
            <p:nvPr/>
          </p:nvGrpSpPr>
          <p:grpSpPr>
            <a:xfrm>
              <a:off x="9070232" y="3528349"/>
              <a:ext cx="347674" cy="800719"/>
              <a:chOff x="8812568" y="2305815"/>
              <a:chExt cx="347674" cy="800719"/>
            </a:xfrm>
          </p:grpSpPr>
          <p:sp>
            <p:nvSpPr>
              <p:cNvPr id="81" name="Freeform 80">
                <a:extLst>
                  <a:ext uri="{FF2B5EF4-FFF2-40B4-BE49-F238E27FC236}">
                    <a16:creationId xmlns:a16="http://schemas.microsoft.com/office/drawing/2014/main" id="{22F8FEB6-2939-B233-8DDA-CC153078A3B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82" name="Group 81">
                <a:extLst>
                  <a:ext uri="{FF2B5EF4-FFF2-40B4-BE49-F238E27FC236}">
                    <a16:creationId xmlns:a16="http://schemas.microsoft.com/office/drawing/2014/main" id="{BE2E50C1-4A9A-F80B-C42B-DC5EA856D77D}"/>
                  </a:ext>
                </a:extLst>
              </p:cNvPr>
              <p:cNvGrpSpPr/>
              <p:nvPr/>
            </p:nvGrpSpPr>
            <p:grpSpPr>
              <a:xfrm flipH="1">
                <a:off x="8852795" y="2372662"/>
                <a:ext cx="262193" cy="679246"/>
                <a:chOff x="1433816" y="2372662"/>
                <a:chExt cx="262193" cy="679246"/>
              </a:xfrm>
              <a:solidFill>
                <a:schemeClr val="bg1"/>
              </a:solidFill>
            </p:grpSpPr>
            <p:sp>
              <p:nvSpPr>
                <p:cNvPr id="83" name="Rounded Rectangle 82">
                  <a:extLst>
                    <a:ext uri="{FF2B5EF4-FFF2-40B4-BE49-F238E27FC236}">
                      <a16:creationId xmlns:a16="http://schemas.microsoft.com/office/drawing/2014/main" id="{D6DABB28-5D7A-79BB-27C6-D02723829F7C}"/>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4" name="Rounded Rectangle 83">
                  <a:extLst>
                    <a:ext uri="{FF2B5EF4-FFF2-40B4-BE49-F238E27FC236}">
                      <a16:creationId xmlns:a16="http://schemas.microsoft.com/office/drawing/2014/main" id="{2439AAF2-2A40-3B33-7F05-44F1545CC6C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76" name="Group 75">
              <a:extLst>
                <a:ext uri="{FF2B5EF4-FFF2-40B4-BE49-F238E27FC236}">
                  <a16:creationId xmlns:a16="http://schemas.microsoft.com/office/drawing/2014/main" id="{41F880E9-2DC4-6284-23A3-9EB9DFCF0CF5}"/>
                </a:ext>
              </a:extLst>
            </p:cNvPr>
            <p:cNvGrpSpPr/>
            <p:nvPr/>
          </p:nvGrpSpPr>
          <p:grpSpPr>
            <a:xfrm flipV="1">
              <a:off x="2364562" y="3528349"/>
              <a:ext cx="347674" cy="800719"/>
              <a:chOff x="8812568" y="2305815"/>
              <a:chExt cx="347674" cy="800719"/>
            </a:xfrm>
          </p:grpSpPr>
          <p:sp>
            <p:nvSpPr>
              <p:cNvPr id="77" name="Freeform 76">
                <a:extLst>
                  <a:ext uri="{FF2B5EF4-FFF2-40B4-BE49-F238E27FC236}">
                    <a16:creationId xmlns:a16="http://schemas.microsoft.com/office/drawing/2014/main" id="{C5AEE882-8C79-B57F-7448-7FB80BBFCFA1}"/>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78" name="Group 77">
                <a:extLst>
                  <a:ext uri="{FF2B5EF4-FFF2-40B4-BE49-F238E27FC236}">
                    <a16:creationId xmlns:a16="http://schemas.microsoft.com/office/drawing/2014/main" id="{6EADB153-1903-7286-B9C9-A571623301EE}"/>
                  </a:ext>
                </a:extLst>
              </p:cNvPr>
              <p:cNvGrpSpPr/>
              <p:nvPr/>
            </p:nvGrpSpPr>
            <p:grpSpPr>
              <a:xfrm flipH="1">
                <a:off x="8852795" y="2372662"/>
                <a:ext cx="262193" cy="679246"/>
                <a:chOff x="1433816" y="2372662"/>
                <a:chExt cx="262193" cy="679246"/>
              </a:xfrm>
              <a:solidFill>
                <a:schemeClr val="bg1"/>
              </a:solidFill>
            </p:grpSpPr>
            <p:sp>
              <p:nvSpPr>
                <p:cNvPr id="79" name="Rounded Rectangle 78">
                  <a:extLst>
                    <a:ext uri="{FF2B5EF4-FFF2-40B4-BE49-F238E27FC236}">
                      <a16:creationId xmlns:a16="http://schemas.microsoft.com/office/drawing/2014/main" id="{E85B966E-8FBA-6D31-47D5-5747A88276DE}"/>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80" name="Rounded Rectangle 79">
                  <a:extLst>
                    <a:ext uri="{FF2B5EF4-FFF2-40B4-BE49-F238E27FC236}">
                      <a16:creationId xmlns:a16="http://schemas.microsoft.com/office/drawing/2014/main" id="{3EF760F6-389F-1B71-F101-E07F344B4AEF}"/>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426257691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4125-E8BC-319E-CB4C-A2FF7F29B236}"/>
            </a:ext>
          </a:extLst>
        </p:cNvPr>
        <p:cNvGrpSpPr/>
        <p:nvPr/>
      </p:nvGrpSpPr>
      <p:grpSpPr>
        <a:xfrm>
          <a:off x="0" y="0"/>
          <a:ext cx="0" cy="0"/>
          <a:chOff x="0" y="0"/>
          <a:chExt cx="0" cy="0"/>
        </a:xfrm>
      </p:grpSpPr>
      <p:sp>
        <p:nvSpPr>
          <p:cNvPr id="93" name="Rectangle 92">
            <a:extLst>
              <a:ext uri="{FF2B5EF4-FFF2-40B4-BE49-F238E27FC236}">
                <a16:creationId xmlns:a16="http://schemas.microsoft.com/office/drawing/2014/main" id="{AAF48E08-C7F0-CA76-0B86-753863CA50B0}"/>
              </a:ext>
            </a:extLst>
          </p:cNvPr>
          <p:cNvSpPr/>
          <p:nvPr/>
        </p:nvSpPr>
        <p:spPr bwMode="auto">
          <a:xfrm>
            <a:off x="-10198" y="5176050"/>
            <a:ext cx="12202198" cy="1681950"/>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6" name="Rectangle 5">
            <a:extLst>
              <a:ext uri="{FF2B5EF4-FFF2-40B4-BE49-F238E27FC236}">
                <a16:creationId xmlns:a16="http://schemas.microsoft.com/office/drawing/2014/main" id="{DA48A733-6FF5-47B6-1E5D-FDD87F2A2BD8}"/>
              </a:ext>
            </a:extLst>
          </p:cNvPr>
          <p:cNvSpPr/>
          <p:nvPr/>
        </p:nvSpPr>
        <p:spPr bwMode="auto">
          <a:xfrm>
            <a:off x="794376" y="5428919"/>
            <a:ext cx="10603248" cy="348319"/>
          </a:xfrm>
          <a:prstGeom prst="rect">
            <a:avLst/>
          </a:prstGeom>
          <a:noFill/>
          <a:ln w="12700" cap="sq" algn="ctr">
            <a:noFill/>
            <a:miter lim="800000"/>
            <a:headEnd/>
            <a:tailEnd/>
          </a:ln>
          <a:effectLst/>
        </p:spPr>
        <p:txBody>
          <a:bodyPr wrap="square" lIns="182880" rIns="182880" rtlCol="0" anchor="ctr" anchorCtr="1"/>
          <a:lstStyle/>
          <a:p>
            <a:pPr algn="ctr">
              <a:lnSpc>
                <a:spcPct val="95000"/>
              </a:lnSpc>
              <a:spcBef>
                <a:spcPts val="1080"/>
              </a:spcBef>
            </a:pPr>
            <a:r>
              <a:rPr lang="en-US">
                <a:solidFill>
                  <a:schemeClr val="bg1"/>
                </a:solidFill>
              </a:rPr>
              <a:t>Offer any service in the Equinix fabric. </a:t>
            </a:r>
          </a:p>
        </p:txBody>
      </p:sp>
      <p:sp>
        <p:nvSpPr>
          <p:cNvPr id="2" name="Text 21">
            <a:extLst>
              <a:ext uri="{FF2B5EF4-FFF2-40B4-BE49-F238E27FC236}">
                <a16:creationId xmlns:a16="http://schemas.microsoft.com/office/drawing/2014/main" id="{95BBD040-C589-18F1-33E9-9CC396221A8E}"/>
              </a:ext>
            </a:extLst>
          </p:cNvPr>
          <p:cNvSpPr/>
          <p:nvPr/>
        </p:nvSpPr>
        <p:spPr>
          <a:xfrm>
            <a:off x="2152575" y="5959489"/>
            <a:ext cx="7861000" cy="389530"/>
          </a:xfrm>
          <a:prstGeom prst="rect">
            <a:avLst/>
          </a:prstGeom>
          <a:noFill/>
          <a:ln/>
        </p:spPr>
        <p:txBody>
          <a:bodyPr wrap="square" rtlCol="0" anchor="ctr"/>
          <a:lstStyle/>
          <a:p>
            <a:pPr marL="0" indent="0" algn="ctr">
              <a:buNone/>
            </a:pPr>
            <a:r>
              <a:rPr lang="en-US" sz="2000">
                <a:solidFill>
                  <a:schemeClr val="accent1"/>
                </a:solidFill>
                <a:latin typeface="+mj-lt"/>
                <a:cs typeface="Calibri" pitchFamily="34" charset="-120"/>
              </a:rPr>
              <a:t>Deliver more than cloud connectivity.</a:t>
            </a:r>
            <a:endParaRPr lang="en-US" sz="2000">
              <a:solidFill>
                <a:schemeClr val="accent1"/>
              </a:solidFill>
              <a:latin typeface="+mj-lt"/>
            </a:endParaRPr>
          </a:p>
        </p:txBody>
      </p:sp>
      <p:sp>
        <p:nvSpPr>
          <p:cNvPr id="3" name="Title 2">
            <a:extLst>
              <a:ext uri="{FF2B5EF4-FFF2-40B4-BE49-F238E27FC236}">
                <a16:creationId xmlns:a16="http://schemas.microsoft.com/office/drawing/2014/main" id="{0CA3DB14-772E-DE81-1B63-522E32ECC0CE}"/>
              </a:ext>
            </a:extLst>
          </p:cNvPr>
          <p:cNvSpPr>
            <a:spLocks noGrp="1"/>
          </p:cNvSpPr>
          <p:nvPr>
            <p:ph type="title"/>
          </p:nvPr>
        </p:nvSpPr>
        <p:spPr/>
        <p:txBody>
          <a:bodyPr/>
          <a:lstStyle/>
          <a:p>
            <a:r>
              <a:rPr lang="en-US"/>
              <a:t>Expand Reach and Service Offerings</a:t>
            </a:r>
          </a:p>
        </p:txBody>
      </p:sp>
      <p:grpSp>
        <p:nvGrpSpPr>
          <p:cNvPr id="86" name="Maia Logo">
            <a:extLst>
              <a:ext uri="{FF2B5EF4-FFF2-40B4-BE49-F238E27FC236}">
                <a16:creationId xmlns:a16="http://schemas.microsoft.com/office/drawing/2014/main" id="{E3A535DD-3945-3C4A-E6E9-4A47AB8220CB}"/>
              </a:ext>
            </a:extLst>
          </p:cNvPr>
          <p:cNvGrpSpPr/>
          <p:nvPr/>
        </p:nvGrpSpPr>
        <p:grpSpPr>
          <a:xfrm>
            <a:off x="9982492" y="6181218"/>
            <a:ext cx="1700948" cy="415640"/>
            <a:chOff x="1447800" y="2292350"/>
            <a:chExt cx="7774788" cy="1899831"/>
          </a:xfrm>
        </p:grpSpPr>
        <p:sp>
          <p:nvSpPr>
            <p:cNvPr id="89" name="Freeform 20">
              <a:extLst>
                <a:ext uri="{FF2B5EF4-FFF2-40B4-BE49-F238E27FC236}">
                  <a16:creationId xmlns:a16="http://schemas.microsoft.com/office/drawing/2014/main" id="{4018DFE4-2D09-012E-59EF-4158F995B95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90" name="Freeform 21">
              <a:extLst>
                <a:ext uri="{FF2B5EF4-FFF2-40B4-BE49-F238E27FC236}">
                  <a16:creationId xmlns:a16="http://schemas.microsoft.com/office/drawing/2014/main" id="{712BBEEA-98A7-2927-C80E-B0637D7145ED}"/>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91" name="Freeform 22">
              <a:extLst>
                <a:ext uri="{FF2B5EF4-FFF2-40B4-BE49-F238E27FC236}">
                  <a16:creationId xmlns:a16="http://schemas.microsoft.com/office/drawing/2014/main" id="{3BE578E9-5631-3755-37D9-4C4E1B2FEBBF}"/>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92" name="Slide Number Placeholder 21">
            <a:extLst>
              <a:ext uri="{FF2B5EF4-FFF2-40B4-BE49-F238E27FC236}">
                <a16:creationId xmlns:a16="http://schemas.microsoft.com/office/drawing/2014/main" id="{2ECCFFDE-C928-599D-43F4-F461FECEED8E}"/>
              </a:ext>
            </a:extLst>
          </p:cNvPr>
          <p:cNvSpPr>
            <a:spLocks noGrp="1"/>
          </p:cNvSpPr>
          <p:nvPr>
            <p:ph type="sldNum" sz="quarter" idx="10"/>
          </p:nvPr>
        </p:nvSpPr>
        <p:spPr>
          <a:xfrm>
            <a:off x="509588" y="6445250"/>
            <a:ext cx="2743200" cy="139700"/>
          </a:xfrm>
        </p:spPr>
        <p:txBody>
          <a:bodyPr/>
          <a:lstStyle>
            <a:lvl1pPr>
              <a:defRPr>
                <a:solidFill>
                  <a:schemeClr val="bg2"/>
                </a:solidFill>
              </a:defRPr>
            </a:lvl1pPr>
          </a:lstStyle>
          <a:p>
            <a:r>
              <a:rPr lang="en-US">
                <a:solidFill>
                  <a:schemeClr val="bg1"/>
                </a:solidFill>
              </a:rPr>
              <a:t>© 2026 MaiaEdge</a:t>
            </a:r>
          </a:p>
        </p:txBody>
      </p:sp>
      <p:grpSp>
        <p:nvGrpSpPr>
          <p:cNvPr id="27" name="Group 26">
            <a:extLst>
              <a:ext uri="{FF2B5EF4-FFF2-40B4-BE49-F238E27FC236}">
                <a16:creationId xmlns:a16="http://schemas.microsoft.com/office/drawing/2014/main" id="{E44C0C8F-3878-86C6-0903-4DE18BDBF5FA}"/>
              </a:ext>
            </a:extLst>
          </p:cNvPr>
          <p:cNvGrpSpPr/>
          <p:nvPr/>
        </p:nvGrpSpPr>
        <p:grpSpPr>
          <a:xfrm>
            <a:off x="1437522" y="2336589"/>
            <a:ext cx="8175343" cy="2339293"/>
            <a:chOff x="1831102" y="1864996"/>
            <a:chExt cx="8175343" cy="2339293"/>
          </a:xfrm>
        </p:grpSpPr>
        <p:sp>
          <p:nvSpPr>
            <p:cNvPr id="4" name="AutoShape 5">
              <a:extLst>
                <a:ext uri="{FF2B5EF4-FFF2-40B4-BE49-F238E27FC236}">
                  <a16:creationId xmlns:a16="http://schemas.microsoft.com/office/drawing/2014/main" id="{D0215BC0-5AC2-397B-605F-2BEA948D169A}"/>
                </a:ext>
              </a:extLst>
            </p:cNvPr>
            <p:cNvSpPr/>
            <p:nvPr/>
          </p:nvSpPr>
          <p:spPr>
            <a:xfrm>
              <a:off x="4300984" y="3478609"/>
              <a:ext cx="2065616" cy="0"/>
            </a:xfrm>
            <a:prstGeom prst="line">
              <a:avLst/>
            </a:prstGeom>
            <a:ln w="57150" cap="flat">
              <a:solidFill>
                <a:srgbClr val="83B1E3"/>
              </a:solidFill>
              <a:prstDash val="solid"/>
              <a:headEnd type="none" w="sm" len="sm"/>
              <a:tailEnd type="none" w="sm" len="sm"/>
            </a:ln>
          </p:spPr>
          <p:txBody>
            <a:bodyPr/>
            <a:lstStyle/>
            <a:p>
              <a:endParaRPr lang="en-US" sz="1200"/>
            </a:p>
          </p:txBody>
        </p:sp>
        <p:sp>
          <p:nvSpPr>
            <p:cNvPr id="7" name="Freeform 7">
              <a:extLst>
                <a:ext uri="{FF2B5EF4-FFF2-40B4-BE49-F238E27FC236}">
                  <a16:creationId xmlns:a16="http://schemas.microsoft.com/office/drawing/2014/main" id="{4CED3D7F-8330-5ECC-8431-A0F963BDADD2}"/>
                </a:ext>
              </a:extLst>
            </p:cNvPr>
            <p:cNvSpPr>
              <a:spLocks noChangeAspect="1"/>
            </p:cNvSpPr>
            <p:nvPr/>
          </p:nvSpPr>
          <p:spPr>
            <a:xfrm>
              <a:off x="2335249" y="1902405"/>
              <a:ext cx="1737360" cy="1737359"/>
            </a:xfrm>
            <a:custGeom>
              <a:avLst/>
              <a:gdLst/>
              <a:ahLst/>
              <a:cxnLst/>
              <a:rect l="l" t="t" r="r" b="b"/>
              <a:pathLst>
                <a:path w="5449923" h="5449923">
                  <a:moveTo>
                    <a:pt x="0" y="0"/>
                  </a:moveTo>
                  <a:lnTo>
                    <a:pt x="5449923" y="0"/>
                  </a:lnTo>
                  <a:lnTo>
                    <a:pt x="5449923" y="5449923"/>
                  </a:lnTo>
                  <a:lnTo>
                    <a:pt x="0" y="5449923"/>
                  </a:lnTo>
                  <a:lnTo>
                    <a:pt x="0" y="0"/>
                  </a:lnTo>
                  <a:close/>
                </a:path>
              </a:pathLst>
            </a:custGeom>
            <a:blipFill>
              <a:blip r:embed="rId4"/>
              <a:stretch>
                <a:fillRect/>
              </a:stretch>
            </a:blipFill>
          </p:spPr>
          <p:txBody>
            <a:bodyPr/>
            <a:lstStyle/>
            <a:p>
              <a:endParaRPr lang="en-US" sz="1200"/>
            </a:p>
          </p:txBody>
        </p:sp>
        <p:sp>
          <p:nvSpPr>
            <p:cNvPr id="11" name="AutoShape 10">
              <a:extLst>
                <a:ext uri="{FF2B5EF4-FFF2-40B4-BE49-F238E27FC236}">
                  <a16:creationId xmlns:a16="http://schemas.microsoft.com/office/drawing/2014/main" id="{538DC3D8-C17E-5C7A-D353-0B656490E176}"/>
                </a:ext>
              </a:extLst>
            </p:cNvPr>
            <p:cNvSpPr/>
            <p:nvPr/>
          </p:nvSpPr>
          <p:spPr>
            <a:xfrm flipV="1">
              <a:off x="7362256" y="1864996"/>
              <a:ext cx="2644189" cy="1033429"/>
            </a:xfrm>
            <a:prstGeom prst="line">
              <a:avLst/>
            </a:prstGeom>
            <a:ln w="38100" cap="flat">
              <a:solidFill>
                <a:srgbClr val="000000"/>
              </a:solidFill>
              <a:prstDash val="solid"/>
              <a:headEnd type="none" w="sm" len="sm"/>
              <a:tailEnd type="none" w="sm" len="sm"/>
            </a:ln>
          </p:spPr>
          <p:txBody>
            <a:bodyPr/>
            <a:lstStyle/>
            <a:p>
              <a:endParaRPr lang="en-US" sz="1200"/>
            </a:p>
          </p:txBody>
        </p:sp>
        <p:sp>
          <p:nvSpPr>
            <p:cNvPr id="22" name="Freeform 16">
              <a:extLst>
                <a:ext uri="{FF2B5EF4-FFF2-40B4-BE49-F238E27FC236}">
                  <a16:creationId xmlns:a16="http://schemas.microsoft.com/office/drawing/2014/main" id="{D5F1697F-179B-EBF0-F0B6-2A01F68EA702}"/>
                </a:ext>
              </a:extLst>
            </p:cNvPr>
            <p:cNvSpPr>
              <a:spLocks noChangeAspect="1"/>
            </p:cNvSpPr>
            <p:nvPr/>
          </p:nvSpPr>
          <p:spPr>
            <a:xfrm>
              <a:off x="5893397" y="2091452"/>
              <a:ext cx="1828800" cy="1496356"/>
            </a:xfrm>
            <a:custGeom>
              <a:avLst/>
              <a:gdLst/>
              <a:ahLst/>
              <a:cxnLst/>
              <a:rect l="l" t="t" r="r" b="b"/>
              <a:pathLst>
                <a:path w="4207551" h="3442692">
                  <a:moveTo>
                    <a:pt x="0" y="0"/>
                  </a:moveTo>
                  <a:lnTo>
                    <a:pt x="4207551" y="0"/>
                  </a:lnTo>
                  <a:lnTo>
                    <a:pt x="4207551" y="3442692"/>
                  </a:lnTo>
                  <a:lnTo>
                    <a:pt x="0" y="3442692"/>
                  </a:lnTo>
                  <a:lnTo>
                    <a:pt x="0" y="0"/>
                  </a:lnTo>
                  <a:close/>
                </a:path>
              </a:pathLst>
            </a:custGeom>
            <a:blipFill>
              <a:blip r:embed="rId5"/>
              <a:stretch>
                <a:fillRect b="-22216"/>
              </a:stretch>
            </a:blipFill>
          </p:spPr>
          <p:txBody>
            <a:bodyPr/>
            <a:lstStyle/>
            <a:p>
              <a:endParaRPr lang="en-US" sz="1200"/>
            </a:p>
          </p:txBody>
        </p:sp>
        <p:sp>
          <p:nvSpPr>
            <p:cNvPr id="23" name="Freeform 17">
              <a:extLst>
                <a:ext uri="{FF2B5EF4-FFF2-40B4-BE49-F238E27FC236}">
                  <a16:creationId xmlns:a16="http://schemas.microsoft.com/office/drawing/2014/main" id="{C118A060-533A-B1DE-BA2A-48A0D3C5062E}"/>
                </a:ext>
              </a:extLst>
            </p:cNvPr>
            <p:cNvSpPr/>
            <p:nvPr/>
          </p:nvSpPr>
          <p:spPr>
            <a:xfrm>
              <a:off x="6164045" y="3648148"/>
              <a:ext cx="1142229" cy="556141"/>
            </a:xfrm>
            <a:custGeom>
              <a:avLst/>
              <a:gdLst/>
              <a:ahLst/>
              <a:cxnLst/>
              <a:rect l="l" t="t" r="r" b="b"/>
              <a:pathLst>
                <a:path w="2499899" h="1217179">
                  <a:moveTo>
                    <a:pt x="0" y="0"/>
                  </a:moveTo>
                  <a:lnTo>
                    <a:pt x="2499899" y="0"/>
                  </a:lnTo>
                  <a:lnTo>
                    <a:pt x="2499899" y="1217180"/>
                  </a:lnTo>
                  <a:lnTo>
                    <a:pt x="0" y="1217180"/>
                  </a:lnTo>
                  <a:lnTo>
                    <a:pt x="0" y="0"/>
                  </a:lnTo>
                  <a:close/>
                </a:path>
              </a:pathLst>
            </a:custGeom>
            <a:blipFill>
              <a:blip r:embed="rId6"/>
              <a:stretch>
                <a:fillRect/>
              </a:stretch>
            </a:blipFill>
          </p:spPr>
          <p:txBody>
            <a:bodyPr/>
            <a:lstStyle/>
            <a:p>
              <a:endParaRPr lang="en-US" sz="1200"/>
            </a:p>
          </p:txBody>
        </p:sp>
        <p:sp>
          <p:nvSpPr>
            <p:cNvPr id="26" name="TextBox 25">
              <a:extLst>
                <a:ext uri="{FF2B5EF4-FFF2-40B4-BE49-F238E27FC236}">
                  <a16:creationId xmlns:a16="http://schemas.microsoft.com/office/drawing/2014/main" id="{295957A0-52D3-1B50-5CD4-8D7942A9C3F4}"/>
                </a:ext>
              </a:extLst>
            </p:cNvPr>
            <p:cNvSpPr txBox="1"/>
            <p:nvPr/>
          </p:nvSpPr>
          <p:spPr bwMode="auto">
            <a:xfrm>
              <a:off x="1831102" y="3839383"/>
              <a:ext cx="3102441" cy="278070"/>
            </a:xfrm>
            <a:prstGeom prst="rect">
              <a:avLst/>
            </a:prstGeom>
            <a:noFill/>
          </p:spPr>
          <p:txBody>
            <a:bodyPr wrap="square" rtlCol="0">
              <a:noAutofit/>
            </a:bodyPr>
            <a:lstStyle/>
            <a:p>
              <a:pPr algn="ctr">
                <a:spcBef>
                  <a:spcPts val="600"/>
                </a:spcBef>
              </a:pPr>
              <a:r>
                <a:rPr lang="en-US">
                  <a:latin typeface="Tomorrow" pitchFamily="2" charset="0"/>
                </a:rPr>
                <a:t>Service Provider</a:t>
              </a:r>
            </a:p>
          </p:txBody>
        </p:sp>
      </p:grpSp>
      <p:grpSp>
        <p:nvGrpSpPr>
          <p:cNvPr id="30" name="Group 29">
            <a:extLst>
              <a:ext uri="{FF2B5EF4-FFF2-40B4-BE49-F238E27FC236}">
                <a16:creationId xmlns:a16="http://schemas.microsoft.com/office/drawing/2014/main" id="{89567AB6-D9DE-8548-14D2-0E9E08E94EC2}"/>
              </a:ext>
            </a:extLst>
          </p:cNvPr>
          <p:cNvGrpSpPr>
            <a:grpSpLocks noChangeAspect="1"/>
          </p:cNvGrpSpPr>
          <p:nvPr/>
        </p:nvGrpSpPr>
        <p:grpSpPr>
          <a:xfrm>
            <a:off x="7695257" y="1707078"/>
            <a:ext cx="2935332" cy="1828800"/>
            <a:chOff x="7389367" y="685801"/>
            <a:chExt cx="3938970" cy="2454095"/>
          </a:xfrm>
        </p:grpSpPr>
        <p:sp>
          <p:nvSpPr>
            <p:cNvPr id="32" name="Freeform 11">
              <a:extLst>
                <a:ext uri="{FF2B5EF4-FFF2-40B4-BE49-F238E27FC236}">
                  <a16:creationId xmlns:a16="http://schemas.microsoft.com/office/drawing/2014/main" id="{0D1B0D32-A044-E397-BB42-2214BEF26D32}"/>
                </a:ext>
              </a:extLst>
            </p:cNvPr>
            <p:cNvSpPr/>
            <p:nvPr/>
          </p:nvSpPr>
          <p:spPr>
            <a:xfrm>
              <a:off x="7389367" y="685801"/>
              <a:ext cx="3938970" cy="2454095"/>
            </a:xfrm>
            <a:custGeom>
              <a:avLst/>
              <a:gdLst/>
              <a:ahLst/>
              <a:cxnLst/>
              <a:rect l="l" t="t" r="r" b="b"/>
              <a:pathLst>
                <a:path w="5908455" h="3681143">
                  <a:moveTo>
                    <a:pt x="0" y="0"/>
                  </a:moveTo>
                  <a:lnTo>
                    <a:pt x="5908454" y="0"/>
                  </a:lnTo>
                  <a:lnTo>
                    <a:pt x="5908454" y="3681143"/>
                  </a:lnTo>
                  <a:lnTo>
                    <a:pt x="0" y="3681143"/>
                  </a:lnTo>
                  <a:lnTo>
                    <a:pt x="0" y="0"/>
                  </a:lnTo>
                  <a:close/>
                </a:path>
              </a:pathLst>
            </a:custGeom>
            <a:blipFill>
              <a:blip r:embed="rId7"/>
              <a:stretch>
                <a:fillRect/>
              </a:stretch>
            </a:blipFill>
          </p:spPr>
          <p:txBody>
            <a:bodyPr/>
            <a:lstStyle/>
            <a:p>
              <a:endParaRPr lang="en-US" sz="1200"/>
            </a:p>
          </p:txBody>
        </p:sp>
        <p:sp>
          <p:nvSpPr>
            <p:cNvPr id="33" name="Freeform 12">
              <a:extLst>
                <a:ext uri="{FF2B5EF4-FFF2-40B4-BE49-F238E27FC236}">
                  <a16:creationId xmlns:a16="http://schemas.microsoft.com/office/drawing/2014/main" id="{F3180EED-350C-9818-F68B-3921C539C2AD}"/>
                </a:ext>
              </a:extLst>
            </p:cNvPr>
            <p:cNvSpPr/>
            <p:nvPr/>
          </p:nvSpPr>
          <p:spPr>
            <a:xfrm>
              <a:off x="8247403" y="1667934"/>
              <a:ext cx="489828" cy="489828"/>
            </a:xfrm>
            <a:custGeom>
              <a:avLst/>
              <a:gdLst/>
              <a:ahLst/>
              <a:cxnLst/>
              <a:rect l="l" t="t" r="r" b="b"/>
              <a:pathLst>
                <a:path w="734742" h="734742">
                  <a:moveTo>
                    <a:pt x="0" y="0"/>
                  </a:moveTo>
                  <a:lnTo>
                    <a:pt x="734742" y="0"/>
                  </a:lnTo>
                  <a:lnTo>
                    <a:pt x="734742" y="734741"/>
                  </a:lnTo>
                  <a:lnTo>
                    <a:pt x="0" y="73474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sz="1200"/>
            </a:p>
          </p:txBody>
        </p:sp>
        <p:sp>
          <p:nvSpPr>
            <p:cNvPr id="34" name="Freeform 13">
              <a:extLst>
                <a:ext uri="{FF2B5EF4-FFF2-40B4-BE49-F238E27FC236}">
                  <a16:creationId xmlns:a16="http://schemas.microsoft.com/office/drawing/2014/main" id="{25C85614-B0C9-76D6-3778-744407062252}"/>
                </a:ext>
              </a:extLst>
            </p:cNvPr>
            <p:cNvSpPr/>
            <p:nvPr/>
          </p:nvSpPr>
          <p:spPr>
            <a:xfrm>
              <a:off x="7835066" y="2236113"/>
              <a:ext cx="553658" cy="553658"/>
            </a:xfrm>
            <a:custGeom>
              <a:avLst/>
              <a:gdLst/>
              <a:ahLst/>
              <a:cxnLst/>
              <a:rect l="l" t="t" r="r" b="b"/>
              <a:pathLst>
                <a:path w="830487" h="830487">
                  <a:moveTo>
                    <a:pt x="0" y="0"/>
                  </a:moveTo>
                  <a:lnTo>
                    <a:pt x="830487" y="0"/>
                  </a:lnTo>
                  <a:lnTo>
                    <a:pt x="830487" y="830488"/>
                  </a:lnTo>
                  <a:lnTo>
                    <a:pt x="0" y="830488"/>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sz="1200"/>
            </a:p>
          </p:txBody>
        </p:sp>
        <p:sp>
          <p:nvSpPr>
            <p:cNvPr id="39" name="Freeform 14">
              <a:extLst>
                <a:ext uri="{FF2B5EF4-FFF2-40B4-BE49-F238E27FC236}">
                  <a16:creationId xmlns:a16="http://schemas.microsoft.com/office/drawing/2014/main" id="{4BD5C085-9A41-1CC2-F067-8EC1B41ADF11}"/>
                </a:ext>
              </a:extLst>
            </p:cNvPr>
            <p:cNvSpPr/>
            <p:nvPr/>
          </p:nvSpPr>
          <p:spPr>
            <a:xfrm>
              <a:off x="8649228" y="2225253"/>
              <a:ext cx="575379" cy="575379"/>
            </a:xfrm>
            <a:custGeom>
              <a:avLst/>
              <a:gdLst/>
              <a:ahLst/>
              <a:cxnLst/>
              <a:rect l="l" t="t" r="r" b="b"/>
              <a:pathLst>
                <a:path w="863069" h="863069">
                  <a:moveTo>
                    <a:pt x="0" y="0"/>
                  </a:moveTo>
                  <a:lnTo>
                    <a:pt x="863069" y="0"/>
                  </a:lnTo>
                  <a:lnTo>
                    <a:pt x="863069" y="863068"/>
                  </a:lnTo>
                  <a:lnTo>
                    <a:pt x="0" y="86306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sz="1200"/>
            </a:p>
          </p:txBody>
        </p:sp>
        <p:sp>
          <p:nvSpPr>
            <p:cNvPr id="40" name="Freeform 17">
              <a:extLst>
                <a:ext uri="{FF2B5EF4-FFF2-40B4-BE49-F238E27FC236}">
                  <a16:creationId xmlns:a16="http://schemas.microsoft.com/office/drawing/2014/main" id="{15DBADA0-2C78-BF62-13BE-71A9314CAC10}"/>
                </a:ext>
              </a:extLst>
            </p:cNvPr>
            <p:cNvSpPr/>
            <p:nvPr/>
          </p:nvSpPr>
          <p:spPr>
            <a:xfrm>
              <a:off x="9485111" y="2262222"/>
              <a:ext cx="510154" cy="501440"/>
            </a:xfrm>
            <a:custGeom>
              <a:avLst/>
              <a:gdLst/>
              <a:ahLst/>
              <a:cxnLst/>
              <a:rect l="l" t="t" r="r" b="b"/>
              <a:pathLst>
                <a:path w="765231" h="752160">
                  <a:moveTo>
                    <a:pt x="0" y="0"/>
                  </a:moveTo>
                  <a:lnTo>
                    <a:pt x="765231" y="0"/>
                  </a:lnTo>
                  <a:lnTo>
                    <a:pt x="765231" y="752160"/>
                  </a:lnTo>
                  <a:lnTo>
                    <a:pt x="0" y="752160"/>
                  </a:lnTo>
                  <a:lnTo>
                    <a:pt x="0" y="0"/>
                  </a:lnTo>
                  <a:close/>
                </a:path>
              </a:pathLst>
            </a:custGeom>
            <a:blipFill>
              <a:blip r:embed="rId11"/>
              <a:stretch>
                <a:fillRect l="-89563" r="-93613" b="-65656"/>
              </a:stretch>
            </a:blipFill>
          </p:spPr>
          <p:txBody>
            <a:bodyPr/>
            <a:lstStyle/>
            <a:p>
              <a:endParaRPr lang="en-US" sz="1200"/>
            </a:p>
          </p:txBody>
        </p:sp>
        <p:sp>
          <p:nvSpPr>
            <p:cNvPr id="81" name="Freeform 18">
              <a:extLst>
                <a:ext uri="{FF2B5EF4-FFF2-40B4-BE49-F238E27FC236}">
                  <a16:creationId xmlns:a16="http://schemas.microsoft.com/office/drawing/2014/main" id="{96D032A4-84EB-467C-6D72-F061A992F426}"/>
                </a:ext>
              </a:extLst>
            </p:cNvPr>
            <p:cNvSpPr/>
            <p:nvPr/>
          </p:nvSpPr>
          <p:spPr>
            <a:xfrm>
              <a:off x="10255768" y="2293538"/>
              <a:ext cx="626869" cy="438808"/>
            </a:xfrm>
            <a:custGeom>
              <a:avLst/>
              <a:gdLst/>
              <a:ahLst/>
              <a:cxnLst/>
              <a:rect l="l" t="t" r="r" b="b"/>
              <a:pathLst>
                <a:path w="940303" h="658212">
                  <a:moveTo>
                    <a:pt x="0" y="0"/>
                  </a:moveTo>
                  <a:lnTo>
                    <a:pt x="940303" y="0"/>
                  </a:lnTo>
                  <a:lnTo>
                    <a:pt x="940303" y="658212"/>
                  </a:lnTo>
                  <a:lnTo>
                    <a:pt x="0" y="658212"/>
                  </a:lnTo>
                  <a:lnTo>
                    <a:pt x="0" y="0"/>
                  </a:lnTo>
                  <a:close/>
                </a:path>
              </a:pathLst>
            </a:custGeom>
            <a:blipFill>
              <a:blip r:embed="rId12"/>
              <a:stretch>
                <a:fillRect/>
              </a:stretch>
            </a:blipFill>
          </p:spPr>
          <p:txBody>
            <a:bodyPr/>
            <a:lstStyle/>
            <a:p>
              <a:endParaRPr lang="en-US" sz="1200"/>
            </a:p>
          </p:txBody>
        </p:sp>
        <p:sp>
          <p:nvSpPr>
            <p:cNvPr id="94" name="Freeform 19">
              <a:extLst>
                <a:ext uri="{FF2B5EF4-FFF2-40B4-BE49-F238E27FC236}">
                  <a16:creationId xmlns:a16="http://schemas.microsoft.com/office/drawing/2014/main" id="{626B475B-044D-0DAF-B292-712C28179B26}"/>
                </a:ext>
              </a:extLst>
            </p:cNvPr>
            <p:cNvSpPr/>
            <p:nvPr/>
          </p:nvSpPr>
          <p:spPr>
            <a:xfrm>
              <a:off x="9754895" y="1735785"/>
              <a:ext cx="715405" cy="354125"/>
            </a:xfrm>
            <a:custGeom>
              <a:avLst/>
              <a:gdLst/>
              <a:ahLst/>
              <a:cxnLst/>
              <a:rect l="l" t="t" r="r" b="b"/>
              <a:pathLst>
                <a:path w="1073107" h="531188">
                  <a:moveTo>
                    <a:pt x="0" y="0"/>
                  </a:moveTo>
                  <a:lnTo>
                    <a:pt x="1073108" y="0"/>
                  </a:lnTo>
                  <a:lnTo>
                    <a:pt x="1073108" y="531188"/>
                  </a:lnTo>
                  <a:lnTo>
                    <a:pt x="0" y="531188"/>
                  </a:lnTo>
                  <a:lnTo>
                    <a:pt x="0" y="0"/>
                  </a:lnTo>
                  <a:close/>
                </a:path>
              </a:pathLst>
            </a:custGeom>
            <a:blipFill>
              <a:blip r:embed="rId13"/>
              <a:stretch>
                <a:fillRect/>
              </a:stretch>
            </a:blipFill>
          </p:spPr>
          <p:txBody>
            <a:bodyPr/>
            <a:lstStyle/>
            <a:p>
              <a:endParaRPr lang="en-US" sz="1200"/>
            </a:p>
          </p:txBody>
        </p:sp>
        <p:sp>
          <p:nvSpPr>
            <p:cNvPr id="95" name="Freeform 20">
              <a:extLst>
                <a:ext uri="{FF2B5EF4-FFF2-40B4-BE49-F238E27FC236}">
                  <a16:creationId xmlns:a16="http://schemas.microsoft.com/office/drawing/2014/main" id="{CED18165-42EB-BEF4-EC9A-E8646CEDFF25}"/>
                </a:ext>
              </a:extLst>
            </p:cNvPr>
            <p:cNvSpPr/>
            <p:nvPr/>
          </p:nvSpPr>
          <p:spPr>
            <a:xfrm>
              <a:off x="8901951" y="1651753"/>
              <a:ext cx="688224" cy="522190"/>
            </a:xfrm>
            <a:custGeom>
              <a:avLst/>
              <a:gdLst/>
              <a:ahLst/>
              <a:cxnLst/>
              <a:rect l="l" t="t" r="r" b="b"/>
              <a:pathLst>
                <a:path w="1032336" h="783285">
                  <a:moveTo>
                    <a:pt x="0" y="0"/>
                  </a:moveTo>
                  <a:lnTo>
                    <a:pt x="1032336" y="0"/>
                  </a:lnTo>
                  <a:lnTo>
                    <a:pt x="1032336" y="783285"/>
                  </a:lnTo>
                  <a:lnTo>
                    <a:pt x="0" y="783285"/>
                  </a:lnTo>
                  <a:lnTo>
                    <a:pt x="0" y="0"/>
                  </a:lnTo>
                  <a:close/>
                </a:path>
              </a:pathLst>
            </a:custGeom>
            <a:blipFill>
              <a:blip r:embed="rId14"/>
              <a:stretch>
                <a:fillRect/>
              </a:stretch>
            </a:blipFill>
          </p:spPr>
          <p:txBody>
            <a:bodyPr/>
            <a:lstStyle/>
            <a:p>
              <a:endParaRPr lang="en-US" sz="1200"/>
            </a:p>
          </p:txBody>
        </p:sp>
        <p:sp>
          <p:nvSpPr>
            <p:cNvPr id="96" name="Freeform 21">
              <a:extLst>
                <a:ext uri="{FF2B5EF4-FFF2-40B4-BE49-F238E27FC236}">
                  <a16:creationId xmlns:a16="http://schemas.microsoft.com/office/drawing/2014/main" id="{169D70BE-6878-B9E0-AEC9-21061CE9BCC8}"/>
                </a:ext>
              </a:extLst>
            </p:cNvPr>
            <p:cNvSpPr/>
            <p:nvPr/>
          </p:nvSpPr>
          <p:spPr>
            <a:xfrm>
              <a:off x="9088752" y="957210"/>
              <a:ext cx="1104641" cy="694543"/>
            </a:xfrm>
            <a:custGeom>
              <a:avLst/>
              <a:gdLst/>
              <a:ahLst/>
              <a:cxnLst/>
              <a:rect l="l" t="t" r="r" b="b"/>
              <a:pathLst>
                <a:path w="1656962" h="1041815">
                  <a:moveTo>
                    <a:pt x="0" y="0"/>
                  </a:moveTo>
                  <a:lnTo>
                    <a:pt x="1656962" y="0"/>
                  </a:lnTo>
                  <a:lnTo>
                    <a:pt x="1656962" y="1041815"/>
                  </a:lnTo>
                  <a:lnTo>
                    <a:pt x="0" y="1041815"/>
                  </a:lnTo>
                  <a:lnTo>
                    <a:pt x="0" y="0"/>
                  </a:lnTo>
                  <a:close/>
                </a:path>
              </a:pathLst>
            </a:custGeom>
            <a:blipFill>
              <a:blip r:embed="rId15"/>
              <a:stretch>
                <a:fillRect/>
              </a:stretch>
            </a:blipFill>
          </p:spPr>
          <p:txBody>
            <a:bodyPr/>
            <a:lstStyle/>
            <a:p>
              <a:endParaRPr lang="en-US" sz="1200"/>
            </a:p>
          </p:txBody>
        </p:sp>
      </p:grpSp>
      <p:grpSp>
        <p:nvGrpSpPr>
          <p:cNvPr id="5" name="PBC 1">
            <a:extLst>
              <a:ext uri="{FF2B5EF4-FFF2-40B4-BE49-F238E27FC236}">
                <a16:creationId xmlns:a16="http://schemas.microsoft.com/office/drawing/2014/main" id="{3AA321E0-8F88-2174-6665-23F78C657846}"/>
              </a:ext>
            </a:extLst>
          </p:cNvPr>
          <p:cNvGrpSpPr>
            <a:grpSpLocks noChangeAspect="1"/>
          </p:cNvGrpSpPr>
          <p:nvPr/>
        </p:nvGrpSpPr>
        <p:grpSpPr>
          <a:xfrm>
            <a:off x="2824565" y="3865004"/>
            <a:ext cx="1188720" cy="230284"/>
            <a:chOff x="2364562" y="2976326"/>
            <a:chExt cx="7053344" cy="1366399"/>
          </a:xfrm>
        </p:grpSpPr>
        <p:sp>
          <p:nvSpPr>
            <p:cNvPr id="10" name="Freeform 9">
              <a:extLst>
                <a:ext uri="{FF2B5EF4-FFF2-40B4-BE49-F238E27FC236}">
                  <a16:creationId xmlns:a16="http://schemas.microsoft.com/office/drawing/2014/main" id="{E059E6B9-7762-9CB3-9E6F-2F3992914E6B}"/>
                </a:ext>
              </a:extLst>
            </p:cNvPr>
            <p:cNvSpPr/>
            <p:nvPr/>
          </p:nvSpPr>
          <p:spPr>
            <a:xfrm>
              <a:off x="2682784" y="2976326"/>
              <a:ext cx="6416899" cy="552022"/>
            </a:xfrm>
            <a:custGeom>
              <a:avLst/>
              <a:gdLst>
                <a:gd name="csX0" fmla="*/ 6416899 w 6416899"/>
                <a:gd name="csY0" fmla="*/ 552023 h 552022"/>
                <a:gd name="csX1" fmla="*/ 5522571 w 6416899"/>
                <a:gd name="csY1" fmla="*/ 0 h 552022"/>
                <a:gd name="csX2" fmla="*/ 894329 w 6416899"/>
                <a:gd name="csY2" fmla="*/ 0 h 552022"/>
                <a:gd name="csX3" fmla="*/ 0 w 6416899"/>
                <a:gd name="csY3" fmla="*/ 552023 h 552022"/>
                <a:gd name="csX4" fmla="*/ 6416899 w 6416899"/>
                <a:gd name="csY4" fmla="*/ 552023 h 552022"/>
              </a:gdLst>
              <a:ahLst/>
              <a:cxnLst>
                <a:cxn ang="0">
                  <a:pos x="csX0" y="csY0"/>
                </a:cxn>
                <a:cxn ang="0">
                  <a:pos x="csX1" y="csY1"/>
                </a:cxn>
                <a:cxn ang="0">
                  <a:pos x="csX2" y="csY2"/>
                </a:cxn>
                <a:cxn ang="0">
                  <a:pos x="csX3" y="csY3"/>
                </a:cxn>
                <a:cxn ang="0">
                  <a:pos x="csX4" y="csY4"/>
                </a:cxn>
              </a:cxnLst>
              <a:rect l="l" t="t" r="r" b="b"/>
              <a:pathLst>
                <a:path w="6416899" h="552022">
                  <a:moveTo>
                    <a:pt x="6416899" y="552023"/>
                  </a:moveTo>
                  <a:lnTo>
                    <a:pt x="5522571" y="0"/>
                  </a:lnTo>
                  <a:lnTo>
                    <a:pt x="894329" y="0"/>
                  </a:lnTo>
                  <a:lnTo>
                    <a:pt x="0" y="552023"/>
                  </a:lnTo>
                  <a:lnTo>
                    <a:pt x="6416899" y="552023"/>
                  </a:lnTo>
                  <a:close/>
                </a:path>
              </a:pathLst>
            </a:custGeom>
            <a:solidFill>
              <a:schemeClr val="tx1"/>
            </a:solidFill>
            <a:ln w="6350" cap="flat">
              <a:solidFill>
                <a:schemeClr val="tx1"/>
              </a:solidFill>
              <a:prstDash val="solid"/>
              <a:miter/>
            </a:ln>
          </p:spPr>
          <p:txBody>
            <a:bodyPr/>
            <a:lstStyle/>
            <a:p>
              <a:endParaRPr lang="en-US"/>
            </a:p>
          </p:txBody>
        </p:sp>
        <p:sp>
          <p:nvSpPr>
            <p:cNvPr id="12" name="Freeform 11">
              <a:extLst>
                <a:ext uri="{FF2B5EF4-FFF2-40B4-BE49-F238E27FC236}">
                  <a16:creationId xmlns:a16="http://schemas.microsoft.com/office/drawing/2014/main" id="{6E1744D5-AEAD-9FE3-4181-5AA43021900F}"/>
                </a:ext>
              </a:extLst>
            </p:cNvPr>
            <p:cNvSpPr/>
            <p:nvPr/>
          </p:nvSpPr>
          <p:spPr>
            <a:xfrm>
              <a:off x="2682784" y="3528349"/>
              <a:ext cx="6416899" cy="814376"/>
            </a:xfrm>
            <a:custGeom>
              <a:avLst/>
              <a:gdLst>
                <a:gd name="csX0" fmla="*/ 6416899 w 6416899"/>
                <a:gd name="csY0" fmla="*/ 0 h 814376"/>
                <a:gd name="csX1" fmla="*/ 6387448 w 6416899"/>
                <a:gd name="csY1" fmla="*/ 800720 h 814376"/>
                <a:gd name="csX2" fmla="*/ 6387448 w 6416899"/>
                <a:gd name="csY2" fmla="*/ 814377 h 814376"/>
                <a:gd name="csX3" fmla="*/ 30170 w 6416899"/>
                <a:gd name="csY3" fmla="*/ 814377 h 814376"/>
                <a:gd name="csX4" fmla="*/ 29452 w 6416899"/>
                <a:gd name="csY4" fmla="*/ 800720 h 814376"/>
                <a:gd name="csX5" fmla="*/ 0 w 6416899"/>
                <a:gd name="csY5" fmla="*/ 0 h 814376"/>
                <a:gd name="csX6" fmla="*/ 6416899 w 6416899"/>
                <a:gd name="csY6" fmla="*/ 0 h 8143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416899" h="814376">
                  <a:moveTo>
                    <a:pt x="6416899" y="0"/>
                  </a:moveTo>
                  <a:lnTo>
                    <a:pt x="6387448" y="800720"/>
                  </a:lnTo>
                  <a:lnTo>
                    <a:pt x="6387448" y="814377"/>
                  </a:lnTo>
                  <a:lnTo>
                    <a:pt x="30170" y="814377"/>
                  </a:lnTo>
                  <a:lnTo>
                    <a:pt x="29452" y="800720"/>
                  </a:lnTo>
                  <a:lnTo>
                    <a:pt x="0" y="0"/>
                  </a:lnTo>
                  <a:lnTo>
                    <a:pt x="6416899" y="0"/>
                  </a:lnTo>
                  <a:close/>
                </a:path>
              </a:pathLst>
            </a:custGeom>
            <a:solidFill>
              <a:schemeClr val="tx1">
                <a:lumMod val="85000"/>
                <a:lumOff val="15000"/>
              </a:schemeClr>
            </a:solidFill>
            <a:ln w="6350" cap="flat">
              <a:solidFill>
                <a:schemeClr val="tx1">
                  <a:lumMod val="85000"/>
                  <a:lumOff val="15000"/>
                </a:schemeClr>
              </a:solidFill>
              <a:prstDash val="solid"/>
              <a:miter/>
            </a:ln>
          </p:spPr>
          <p:txBody>
            <a:bodyPr/>
            <a:lstStyle/>
            <a:p>
              <a:endParaRPr lang="en-US"/>
            </a:p>
          </p:txBody>
        </p:sp>
        <p:grpSp>
          <p:nvGrpSpPr>
            <p:cNvPr id="13" name="Graphic 38">
              <a:extLst>
                <a:ext uri="{FF2B5EF4-FFF2-40B4-BE49-F238E27FC236}">
                  <a16:creationId xmlns:a16="http://schemas.microsoft.com/office/drawing/2014/main" id="{11E96506-3677-E152-93A0-CBBC95348D63}"/>
                </a:ext>
              </a:extLst>
            </p:cNvPr>
            <p:cNvGrpSpPr/>
            <p:nvPr/>
          </p:nvGrpSpPr>
          <p:grpSpPr>
            <a:xfrm>
              <a:off x="5658852" y="3694387"/>
              <a:ext cx="466200" cy="483019"/>
              <a:chOff x="5042020" y="5214715"/>
              <a:chExt cx="466200" cy="483019"/>
            </a:xfrm>
          </p:grpSpPr>
          <p:sp>
            <p:nvSpPr>
              <p:cNvPr id="38" name="Freeform 37">
                <a:extLst>
                  <a:ext uri="{FF2B5EF4-FFF2-40B4-BE49-F238E27FC236}">
                    <a16:creationId xmlns:a16="http://schemas.microsoft.com/office/drawing/2014/main" id="{4B6E9DA5-0D16-163C-5145-11BCDF85FA55}"/>
                  </a:ext>
                </a:extLst>
              </p:cNvPr>
              <p:cNvSpPr/>
              <p:nvPr/>
            </p:nvSpPr>
            <p:spPr>
              <a:xfrm>
                <a:off x="5042020" y="5214715"/>
                <a:ext cx="466200" cy="483019"/>
              </a:xfrm>
              <a:custGeom>
                <a:avLst/>
                <a:gdLst>
                  <a:gd name="csX0" fmla="*/ 293800 w 466200"/>
                  <a:gd name="csY0" fmla="*/ 0 h 483019"/>
                  <a:gd name="csX1" fmla="*/ 0 w 466200"/>
                  <a:gd name="csY1" fmla="*/ 168913 h 483019"/>
                  <a:gd name="csX2" fmla="*/ 57467 w 466200"/>
                  <a:gd name="csY2" fmla="*/ 205571 h 483019"/>
                  <a:gd name="csX3" fmla="*/ 171683 w 466200"/>
                  <a:gd name="csY3" fmla="*/ 278168 h 483019"/>
                  <a:gd name="csX4" fmla="*/ 171683 w 466200"/>
                  <a:gd name="csY4" fmla="*/ 483020 h 483019"/>
                  <a:gd name="csX5" fmla="*/ 230586 w 466200"/>
                  <a:gd name="csY5" fmla="*/ 448518 h 483019"/>
                  <a:gd name="csX6" fmla="*/ 230586 w 466200"/>
                  <a:gd name="csY6" fmla="*/ 243666 h 483019"/>
                  <a:gd name="csX7" fmla="*/ 116371 w 466200"/>
                  <a:gd name="csY7" fmla="*/ 171069 h 483019"/>
                  <a:gd name="csX8" fmla="*/ 175274 w 466200"/>
                  <a:gd name="csY8" fmla="*/ 137287 h 483019"/>
                  <a:gd name="csX9" fmla="*/ 289490 w 466200"/>
                  <a:gd name="csY9" fmla="*/ 209883 h 483019"/>
                  <a:gd name="csX10" fmla="*/ 289490 w 466200"/>
                  <a:gd name="csY10" fmla="*/ 414736 h 483019"/>
                  <a:gd name="csX11" fmla="*/ 348393 w 466200"/>
                  <a:gd name="csY11" fmla="*/ 380953 h 483019"/>
                  <a:gd name="csX12" fmla="*/ 348393 w 466200"/>
                  <a:gd name="csY12" fmla="*/ 175382 h 483019"/>
                  <a:gd name="csX13" fmla="*/ 234178 w 466200"/>
                  <a:gd name="csY13" fmla="*/ 102785 h 483019"/>
                  <a:gd name="csX14" fmla="*/ 293081 w 466200"/>
                  <a:gd name="csY14" fmla="*/ 69003 h 483019"/>
                  <a:gd name="csX15" fmla="*/ 407297 w 466200"/>
                  <a:gd name="csY15" fmla="*/ 141599 h 483019"/>
                  <a:gd name="csX16" fmla="*/ 407297 w 466200"/>
                  <a:gd name="csY16" fmla="*/ 347170 h 483019"/>
                  <a:gd name="csX17" fmla="*/ 466201 w 466200"/>
                  <a:gd name="csY17" fmla="*/ 313388 h 483019"/>
                  <a:gd name="csX18" fmla="*/ 466201 w 466200"/>
                  <a:gd name="csY18" fmla="*/ 108535 h 483019"/>
                  <a:gd name="csX19" fmla="*/ 295237 w 466200"/>
                  <a:gd name="csY19" fmla="*/ 0 h 4830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466200" h="483019">
                    <a:moveTo>
                      <a:pt x="293800" y="0"/>
                    </a:moveTo>
                    <a:lnTo>
                      <a:pt x="0" y="168913"/>
                    </a:lnTo>
                    <a:lnTo>
                      <a:pt x="57467" y="205571"/>
                    </a:lnTo>
                    <a:lnTo>
                      <a:pt x="171683" y="278168"/>
                    </a:lnTo>
                    <a:lnTo>
                      <a:pt x="171683" y="483020"/>
                    </a:lnTo>
                    <a:lnTo>
                      <a:pt x="230586" y="448518"/>
                    </a:lnTo>
                    <a:lnTo>
                      <a:pt x="230586" y="243666"/>
                    </a:lnTo>
                    <a:lnTo>
                      <a:pt x="116371" y="171069"/>
                    </a:lnTo>
                    <a:lnTo>
                      <a:pt x="175274" y="137287"/>
                    </a:lnTo>
                    <a:lnTo>
                      <a:pt x="289490" y="209883"/>
                    </a:lnTo>
                    <a:lnTo>
                      <a:pt x="289490" y="414736"/>
                    </a:lnTo>
                    <a:lnTo>
                      <a:pt x="348393" y="380953"/>
                    </a:lnTo>
                    <a:lnTo>
                      <a:pt x="348393" y="175382"/>
                    </a:lnTo>
                    <a:lnTo>
                      <a:pt x="234178" y="102785"/>
                    </a:lnTo>
                    <a:lnTo>
                      <a:pt x="293081" y="69003"/>
                    </a:lnTo>
                    <a:lnTo>
                      <a:pt x="407297" y="141599"/>
                    </a:lnTo>
                    <a:lnTo>
                      <a:pt x="407297" y="347170"/>
                    </a:lnTo>
                    <a:lnTo>
                      <a:pt x="466201" y="313388"/>
                    </a:lnTo>
                    <a:lnTo>
                      <a:pt x="466201" y="108535"/>
                    </a:lnTo>
                    <a:lnTo>
                      <a:pt x="295237" y="0"/>
                    </a:lnTo>
                    <a:close/>
                  </a:path>
                </a:pathLst>
              </a:custGeom>
              <a:solidFill>
                <a:srgbClr val="FFC709"/>
              </a:solidFill>
              <a:ln w="7183" cap="flat">
                <a:noFill/>
                <a:prstDash val="solid"/>
                <a:miter/>
              </a:ln>
            </p:spPr>
            <p:txBody>
              <a:bodyPr/>
              <a:lstStyle/>
              <a:p>
                <a:endParaRPr lang="en-US"/>
              </a:p>
            </p:txBody>
          </p:sp>
          <p:sp>
            <p:nvSpPr>
              <p:cNvPr id="41" name="Freeform 40">
                <a:extLst>
                  <a:ext uri="{FF2B5EF4-FFF2-40B4-BE49-F238E27FC236}">
                    <a16:creationId xmlns:a16="http://schemas.microsoft.com/office/drawing/2014/main" id="{ACBEA693-D7BA-C5B2-6CA4-3FAA988E65C2}"/>
                  </a:ext>
                </a:extLst>
              </p:cNvPr>
              <p:cNvSpPr/>
              <p:nvPr/>
            </p:nvSpPr>
            <p:spPr>
              <a:xfrm>
                <a:off x="5212984" y="5323250"/>
                <a:ext cx="293799" cy="374484"/>
              </a:xfrm>
              <a:custGeom>
                <a:avLst/>
                <a:gdLst>
                  <a:gd name="csX0" fmla="*/ 58904 w 293799"/>
                  <a:gd name="csY0" fmla="*/ 339982 h 374484"/>
                  <a:gd name="csX1" fmla="*/ 0 w 293799"/>
                  <a:gd name="csY1" fmla="*/ 374484 h 374484"/>
                  <a:gd name="csX2" fmla="*/ 0 w 293799"/>
                  <a:gd name="csY2" fmla="*/ 169632 h 374484"/>
                  <a:gd name="csX3" fmla="*/ 58904 w 293799"/>
                  <a:gd name="csY3" fmla="*/ 135849 h 374484"/>
                  <a:gd name="csX4" fmla="*/ 58904 w 293799"/>
                  <a:gd name="csY4" fmla="*/ 340702 h 374484"/>
                  <a:gd name="csX5" fmla="*/ 58904 w 293799"/>
                  <a:gd name="csY5" fmla="*/ 340702 h 374484"/>
                  <a:gd name="csX6" fmla="*/ 176711 w 293799"/>
                  <a:gd name="csY6" fmla="*/ 273136 h 374484"/>
                  <a:gd name="csX7" fmla="*/ 117807 w 293799"/>
                  <a:gd name="csY7" fmla="*/ 306919 h 374484"/>
                  <a:gd name="csX8" fmla="*/ 117807 w 293799"/>
                  <a:gd name="csY8" fmla="*/ 101348 h 374484"/>
                  <a:gd name="csX9" fmla="*/ 176711 w 293799"/>
                  <a:gd name="csY9" fmla="*/ 67565 h 374484"/>
                  <a:gd name="csX10" fmla="*/ 176711 w 293799"/>
                  <a:gd name="csY10" fmla="*/ 273136 h 374484"/>
                  <a:gd name="csX11" fmla="*/ 176711 w 293799"/>
                  <a:gd name="csY11" fmla="*/ 273136 h 374484"/>
                  <a:gd name="csX12" fmla="*/ 293800 w 293799"/>
                  <a:gd name="csY12" fmla="*/ 205571 h 374484"/>
                  <a:gd name="csX13" fmla="*/ 234896 w 293799"/>
                  <a:gd name="csY13" fmla="*/ 239353 h 374484"/>
                  <a:gd name="csX14" fmla="*/ 234896 w 293799"/>
                  <a:gd name="csY14" fmla="*/ 33783 h 374484"/>
                  <a:gd name="csX15" fmla="*/ 293800 w 293799"/>
                  <a:gd name="csY15" fmla="*/ 0 h 374484"/>
                  <a:gd name="csX16" fmla="*/ 293800 w 293799"/>
                  <a:gd name="csY16" fmla="*/ 205571 h 374484"/>
                  <a:gd name="csX17" fmla="*/ 293800 w 293799"/>
                  <a:gd name="csY17" fmla="*/ 205571 h 374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93799" h="374484">
                    <a:moveTo>
                      <a:pt x="58904" y="339982"/>
                    </a:moveTo>
                    <a:lnTo>
                      <a:pt x="0" y="374484"/>
                    </a:lnTo>
                    <a:lnTo>
                      <a:pt x="0" y="169632"/>
                    </a:lnTo>
                    <a:lnTo>
                      <a:pt x="58904" y="135849"/>
                    </a:lnTo>
                    <a:lnTo>
                      <a:pt x="58904" y="340702"/>
                    </a:lnTo>
                    <a:lnTo>
                      <a:pt x="58904" y="340702"/>
                    </a:lnTo>
                    <a:close/>
                    <a:moveTo>
                      <a:pt x="176711" y="273136"/>
                    </a:moveTo>
                    <a:lnTo>
                      <a:pt x="117807" y="306919"/>
                    </a:lnTo>
                    <a:lnTo>
                      <a:pt x="117807" y="101348"/>
                    </a:lnTo>
                    <a:lnTo>
                      <a:pt x="176711" y="67565"/>
                    </a:lnTo>
                    <a:lnTo>
                      <a:pt x="176711" y="273136"/>
                    </a:lnTo>
                    <a:lnTo>
                      <a:pt x="176711" y="273136"/>
                    </a:lnTo>
                    <a:close/>
                    <a:moveTo>
                      <a:pt x="293800" y="205571"/>
                    </a:moveTo>
                    <a:lnTo>
                      <a:pt x="234896" y="239353"/>
                    </a:lnTo>
                    <a:lnTo>
                      <a:pt x="234896" y="33783"/>
                    </a:lnTo>
                    <a:lnTo>
                      <a:pt x="293800" y="0"/>
                    </a:lnTo>
                    <a:lnTo>
                      <a:pt x="293800" y="205571"/>
                    </a:lnTo>
                    <a:lnTo>
                      <a:pt x="293800" y="205571"/>
                    </a:lnTo>
                    <a:close/>
                  </a:path>
                </a:pathLst>
              </a:custGeom>
              <a:solidFill>
                <a:srgbClr val="F8991D"/>
              </a:solidFill>
              <a:ln w="7183" cap="flat">
                <a:noFill/>
                <a:prstDash val="solid"/>
                <a:miter/>
              </a:ln>
            </p:spPr>
            <p:txBody>
              <a:bodyPr/>
              <a:lstStyle/>
              <a:p>
                <a:endParaRPr lang="en-US"/>
              </a:p>
            </p:txBody>
          </p:sp>
        </p:grpSp>
        <p:grpSp>
          <p:nvGrpSpPr>
            <p:cNvPr id="14" name="Group 13">
              <a:extLst>
                <a:ext uri="{FF2B5EF4-FFF2-40B4-BE49-F238E27FC236}">
                  <a16:creationId xmlns:a16="http://schemas.microsoft.com/office/drawing/2014/main" id="{C8EC32C5-1CCC-B203-24E5-3658CEEDF6EB}"/>
                </a:ext>
              </a:extLst>
            </p:cNvPr>
            <p:cNvGrpSpPr/>
            <p:nvPr/>
          </p:nvGrpSpPr>
          <p:grpSpPr>
            <a:xfrm>
              <a:off x="6411669" y="3594476"/>
              <a:ext cx="2479697" cy="681402"/>
              <a:chOff x="6154005" y="2371943"/>
              <a:chExt cx="2479697" cy="681402"/>
            </a:xfrm>
          </p:grpSpPr>
          <p:sp>
            <p:nvSpPr>
              <p:cNvPr id="36" name="Freeform 35">
                <a:extLst>
                  <a:ext uri="{FF2B5EF4-FFF2-40B4-BE49-F238E27FC236}">
                    <a16:creationId xmlns:a16="http://schemas.microsoft.com/office/drawing/2014/main" id="{2EAA75DA-F852-49A2-B127-F2FF1258862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7" name="Freeform 36">
                <a:extLst>
                  <a:ext uri="{FF2B5EF4-FFF2-40B4-BE49-F238E27FC236}">
                    <a16:creationId xmlns:a16="http://schemas.microsoft.com/office/drawing/2014/main" id="{4DDA0C2C-95A2-9FF5-73B1-488A8F14819E}"/>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5" name="Group 14">
              <a:extLst>
                <a:ext uri="{FF2B5EF4-FFF2-40B4-BE49-F238E27FC236}">
                  <a16:creationId xmlns:a16="http://schemas.microsoft.com/office/drawing/2014/main" id="{86F6384B-6D2B-3D38-1C04-B0837FCAF520}"/>
                </a:ext>
              </a:extLst>
            </p:cNvPr>
            <p:cNvGrpSpPr/>
            <p:nvPr/>
          </p:nvGrpSpPr>
          <p:grpSpPr>
            <a:xfrm>
              <a:off x="2892539" y="3594476"/>
              <a:ext cx="2479697" cy="681402"/>
              <a:chOff x="6154005" y="2371943"/>
              <a:chExt cx="2479697" cy="681402"/>
            </a:xfrm>
          </p:grpSpPr>
          <p:sp>
            <p:nvSpPr>
              <p:cNvPr id="31" name="Freeform 30">
                <a:extLst>
                  <a:ext uri="{FF2B5EF4-FFF2-40B4-BE49-F238E27FC236}">
                    <a16:creationId xmlns:a16="http://schemas.microsoft.com/office/drawing/2014/main" id="{A6E966CF-CB97-4D97-8725-5B98AB167477}"/>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2"/>
                      <a:pt x="444650" y="0"/>
                      <a:pt x="464046" y="0"/>
                    </a:cubicBezTo>
                    <a:lnTo>
                      <a:pt x="2014934" y="0"/>
                    </a:lnTo>
                    <a:cubicBezTo>
                      <a:pt x="2035047" y="0"/>
                      <a:pt x="2054442" y="5032"/>
                      <a:pt x="2071682" y="14376"/>
                    </a:cubicBezTo>
                    <a:lnTo>
                      <a:pt x="2417202" y="201977"/>
                    </a:lnTo>
                    <a:cubicBezTo>
                      <a:pt x="2455993" y="222822"/>
                      <a:pt x="2479698" y="263073"/>
                      <a:pt x="2479698" y="306919"/>
                    </a:cubicBezTo>
                    <a:lnTo>
                      <a:pt x="2479698" y="374484"/>
                    </a:lnTo>
                    <a:cubicBezTo>
                      <a:pt x="2479698" y="418330"/>
                      <a:pt x="2455993" y="458581"/>
                      <a:pt x="2417202" y="479426"/>
                    </a:cubicBezTo>
                    <a:lnTo>
                      <a:pt x="2071682" y="667027"/>
                    </a:lnTo>
                    <a:cubicBezTo>
                      <a:pt x="2054442" y="676372"/>
                      <a:pt x="2034329" y="681403"/>
                      <a:pt x="2014934" y="681403"/>
                    </a:cubicBezTo>
                    <a:lnTo>
                      <a:pt x="1239849" y="681403"/>
                    </a:lnTo>
                    <a:cubicBezTo>
                      <a:pt x="1239849" y="681403"/>
                      <a:pt x="464764" y="681403"/>
                      <a:pt x="464764" y="681403"/>
                    </a:cubicBezTo>
                    <a:cubicBezTo>
                      <a:pt x="444650" y="681403"/>
                      <a:pt x="425255" y="676372"/>
                      <a:pt x="408015" y="667027"/>
                    </a:cubicBezTo>
                    <a:lnTo>
                      <a:pt x="62495" y="479426"/>
                    </a:lnTo>
                    <a:cubicBezTo>
                      <a:pt x="23705" y="458581"/>
                      <a:pt x="0" y="418330"/>
                      <a:pt x="0" y="374484"/>
                    </a:cubicBezTo>
                    <a:lnTo>
                      <a:pt x="0" y="306919"/>
                    </a:lnTo>
                    <a:cubicBezTo>
                      <a:pt x="0" y="263073"/>
                      <a:pt x="23705" y="222822"/>
                      <a:pt x="62495" y="201977"/>
                    </a:cubicBezTo>
                    <a:close/>
                  </a:path>
                </a:pathLst>
              </a:custGeom>
              <a:pattFill prst="ltHorz">
                <a:fgClr>
                  <a:schemeClr val="tx1">
                    <a:lumMod val="75000"/>
                    <a:lumOff val="25000"/>
                  </a:schemeClr>
                </a:fgClr>
                <a:bgClr>
                  <a:schemeClr val="tx1">
                    <a:lumMod val="85000"/>
                    <a:lumOff val="15000"/>
                  </a:schemeClr>
                </a:bgClr>
              </a:pattFill>
              <a:ln w="7183" cap="flat">
                <a:noFill/>
                <a:prstDash val="solid"/>
                <a:miter/>
              </a:ln>
            </p:spPr>
            <p:txBody>
              <a:bodyPr/>
              <a:lstStyle/>
              <a:p>
                <a:endParaRPr lang="en-US"/>
              </a:p>
            </p:txBody>
          </p:sp>
          <p:sp>
            <p:nvSpPr>
              <p:cNvPr id="35" name="Freeform 34">
                <a:extLst>
                  <a:ext uri="{FF2B5EF4-FFF2-40B4-BE49-F238E27FC236}">
                    <a16:creationId xmlns:a16="http://schemas.microsoft.com/office/drawing/2014/main" id="{F6CC242D-2A1F-D110-7021-A56D239B888D}"/>
                  </a:ext>
                </a:extLst>
              </p:cNvPr>
              <p:cNvSpPr/>
              <p:nvPr/>
            </p:nvSpPr>
            <p:spPr>
              <a:xfrm>
                <a:off x="6154005" y="2371943"/>
                <a:ext cx="2479697" cy="681402"/>
              </a:xfrm>
              <a:custGeom>
                <a:avLst/>
                <a:gdLst>
                  <a:gd name="csX0" fmla="*/ 61777 w 2479697"/>
                  <a:gd name="csY0" fmla="*/ 201977 h 681402"/>
                  <a:gd name="csX1" fmla="*/ 407297 w 2479697"/>
                  <a:gd name="csY1" fmla="*/ 14376 h 681402"/>
                  <a:gd name="csX2" fmla="*/ 464046 w 2479697"/>
                  <a:gd name="csY2" fmla="*/ 0 h 681402"/>
                  <a:gd name="csX3" fmla="*/ 2014934 w 2479697"/>
                  <a:gd name="csY3" fmla="*/ 0 h 681402"/>
                  <a:gd name="csX4" fmla="*/ 2071682 w 2479697"/>
                  <a:gd name="csY4" fmla="*/ 14376 h 681402"/>
                  <a:gd name="csX5" fmla="*/ 2417202 w 2479697"/>
                  <a:gd name="csY5" fmla="*/ 201977 h 681402"/>
                  <a:gd name="csX6" fmla="*/ 2479698 w 2479697"/>
                  <a:gd name="csY6" fmla="*/ 306919 h 681402"/>
                  <a:gd name="csX7" fmla="*/ 2479698 w 2479697"/>
                  <a:gd name="csY7" fmla="*/ 374484 h 681402"/>
                  <a:gd name="csX8" fmla="*/ 2417202 w 2479697"/>
                  <a:gd name="csY8" fmla="*/ 479426 h 681402"/>
                  <a:gd name="csX9" fmla="*/ 2071682 w 2479697"/>
                  <a:gd name="csY9" fmla="*/ 667027 h 681402"/>
                  <a:gd name="csX10" fmla="*/ 2014934 w 2479697"/>
                  <a:gd name="csY10" fmla="*/ 681403 h 681402"/>
                  <a:gd name="csX11" fmla="*/ 1239849 w 2479697"/>
                  <a:gd name="csY11" fmla="*/ 681403 h 681402"/>
                  <a:gd name="csX12" fmla="*/ 464764 w 2479697"/>
                  <a:gd name="csY12" fmla="*/ 681403 h 681402"/>
                  <a:gd name="csX13" fmla="*/ 408015 w 2479697"/>
                  <a:gd name="csY13" fmla="*/ 667027 h 681402"/>
                  <a:gd name="csX14" fmla="*/ 62495 w 2479697"/>
                  <a:gd name="csY14" fmla="*/ 479426 h 681402"/>
                  <a:gd name="csX15" fmla="*/ 0 w 2479697"/>
                  <a:gd name="csY15" fmla="*/ 374484 h 681402"/>
                  <a:gd name="csX16" fmla="*/ 0 w 2479697"/>
                  <a:gd name="csY16" fmla="*/ 306919 h 681402"/>
                  <a:gd name="csX17" fmla="*/ 62495 w 2479697"/>
                  <a:gd name="csY17" fmla="*/ 201977 h 681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479697" h="681402">
                    <a:moveTo>
                      <a:pt x="61777" y="201977"/>
                    </a:moveTo>
                    <a:lnTo>
                      <a:pt x="407297" y="14376"/>
                    </a:lnTo>
                    <a:cubicBezTo>
                      <a:pt x="424537" y="5031"/>
                      <a:pt x="444650" y="0"/>
                      <a:pt x="464046" y="0"/>
                    </a:cubicBezTo>
                    <a:lnTo>
                      <a:pt x="2014934" y="0"/>
                    </a:lnTo>
                    <a:cubicBezTo>
                      <a:pt x="2035047" y="0"/>
                      <a:pt x="2054442" y="5031"/>
                      <a:pt x="2071682" y="14376"/>
                    </a:cubicBezTo>
                    <a:lnTo>
                      <a:pt x="2417202" y="201977"/>
                    </a:lnTo>
                    <a:cubicBezTo>
                      <a:pt x="2455993" y="222822"/>
                      <a:pt x="2479698" y="263073"/>
                      <a:pt x="2479698" y="306919"/>
                    </a:cubicBezTo>
                    <a:lnTo>
                      <a:pt x="2479698" y="374484"/>
                    </a:lnTo>
                    <a:cubicBezTo>
                      <a:pt x="2479698" y="418329"/>
                      <a:pt x="2455993" y="458581"/>
                      <a:pt x="2417202" y="479426"/>
                    </a:cubicBezTo>
                    <a:lnTo>
                      <a:pt x="2071682" y="667027"/>
                    </a:lnTo>
                    <a:cubicBezTo>
                      <a:pt x="2054442" y="676371"/>
                      <a:pt x="2034329" y="681403"/>
                      <a:pt x="2014934" y="681403"/>
                    </a:cubicBezTo>
                    <a:lnTo>
                      <a:pt x="1239849" y="681403"/>
                    </a:lnTo>
                    <a:cubicBezTo>
                      <a:pt x="1239849" y="681403"/>
                      <a:pt x="464764" y="681403"/>
                      <a:pt x="464764" y="681403"/>
                    </a:cubicBezTo>
                    <a:cubicBezTo>
                      <a:pt x="444650" y="681403"/>
                      <a:pt x="425255" y="676371"/>
                      <a:pt x="408015" y="667027"/>
                    </a:cubicBezTo>
                    <a:lnTo>
                      <a:pt x="62495" y="479426"/>
                    </a:lnTo>
                    <a:cubicBezTo>
                      <a:pt x="23705" y="458581"/>
                      <a:pt x="0" y="418329"/>
                      <a:pt x="0" y="374484"/>
                    </a:cubicBezTo>
                    <a:lnTo>
                      <a:pt x="0" y="306919"/>
                    </a:lnTo>
                    <a:cubicBezTo>
                      <a:pt x="0" y="263073"/>
                      <a:pt x="23705" y="222822"/>
                      <a:pt x="62495" y="201977"/>
                    </a:cubicBezTo>
                    <a:close/>
                  </a:path>
                </a:pathLst>
              </a:custGeom>
              <a:noFill/>
              <a:ln w="12700" cap="rnd">
                <a:gradFill>
                  <a:gsLst>
                    <a:gs pos="0">
                      <a:schemeClr val="accent1"/>
                    </a:gs>
                    <a:gs pos="100000">
                      <a:schemeClr val="accent2"/>
                    </a:gs>
                  </a:gsLst>
                  <a:lin ang="5400000" scaled="1"/>
                </a:gradFill>
                <a:prstDash val="solid"/>
                <a:round/>
              </a:ln>
            </p:spPr>
            <p:txBody>
              <a:bodyPr/>
              <a:lstStyle/>
              <a:p>
                <a:endParaRPr lang="en-US"/>
              </a:p>
            </p:txBody>
          </p:sp>
        </p:grpSp>
        <p:grpSp>
          <p:nvGrpSpPr>
            <p:cNvPr id="16" name="Group 15">
              <a:extLst>
                <a:ext uri="{FF2B5EF4-FFF2-40B4-BE49-F238E27FC236}">
                  <a16:creationId xmlns:a16="http://schemas.microsoft.com/office/drawing/2014/main" id="{9AE8C23C-3199-7404-C4D5-B83A05CC1FB5}"/>
                </a:ext>
              </a:extLst>
            </p:cNvPr>
            <p:cNvGrpSpPr/>
            <p:nvPr/>
          </p:nvGrpSpPr>
          <p:grpSpPr>
            <a:xfrm>
              <a:off x="9070232" y="3528349"/>
              <a:ext cx="347674" cy="800719"/>
              <a:chOff x="8812568" y="2305815"/>
              <a:chExt cx="347674" cy="800719"/>
            </a:xfrm>
          </p:grpSpPr>
          <p:sp>
            <p:nvSpPr>
              <p:cNvPr id="24" name="Freeform 23">
                <a:extLst>
                  <a:ext uri="{FF2B5EF4-FFF2-40B4-BE49-F238E27FC236}">
                    <a16:creationId xmlns:a16="http://schemas.microsoft.com/office/drawing/2014/main" id="{4142E237-6A49-2889-5059-AAD4EE296D47}"/>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25" name="Group 24">
                <a:extLst>
                  <a:ext uri="{FF2B5EF4-FFF2-40B4-BE49-F238E27FC236}">
                    <a16:creationId xmlns:a16="http://schemas.microsoft.com/office/drawing/2014/main" id="{EA0CC8AF-A12F-688F-049D-1B4E7B388648}"/>
                  </a:ext>
                </a:extLst>
              </p:cNvPr>
              <p:cNvGrpSpPr/>
              <p:nvPr/>
            </p:nvGrpSpPr>
            <p:grpSpPr>
              <a:xfrm flipH="1">
                <a:off x="8852795" y="2372662"/>
                <a:ext cx="262193" cy="679246"/>
                <a:chOff x="1433816" y="2372662"/>
                <a:chExt cx="262193" cy="679246"/>
              </a:xfrm>
              <a:solidFill>
                <a:schemeClr val="bg1"/>
              </a:solidFill>
            </p:grpSpPr>
            <p:sp>
              <p:nvSpPr>
                <p:cNvPr id="28" name="Rounded Rectangle 27">
                  <a:extLst>
                    <a:ext uri="{FF2B5EF4-FFF2-40B4-BE49-F238E27FC236}">
                      <a16:creationId xmlns:a16="http://schemas.microsoft.com/office/drawing/2014/main" id="{0A8E03B0-E6B8-275E-822F-F8E82E160620}"/>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9" name="Rounded Rectangle 28">
                  <a:extLst>
                    <a:ext uri="{FF2B5EF4-FFF2-40B4-BE49-F238E27FC236}">
                      <a16:creationId xmlns:a16="http://schemas.microsoft.com/office/drawing/2014/main" id="{CB2B1025-C6E4-9B53-F804-723A09C92B26}"/>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nvGrpSpPr>
            <p:cNvPr id="17" name="Group 16">
              <a:extLst>
                <a:ext uri="{FF2B5EF4-FFF2-40B4-BE49-F238E27FC236}">
                  <a16:creationId xmlns:a16="http://schemas.microsoft.com/office/drawing/2014/main" id="{3DF1D1F4-9BCE-0762-3125-ECA2B5B410FB}"/>
                </a:ext>
              </a:extLst>
            </p:cNvPr>
            <p:cNvGrpSpPr/>
            <p:nvPr/>
          </p:nvGrpSpPr>
          <p:grpSpPr>
            <a:xfrm flipV="1">
              <a:off x="2364562" y="3528349"/>
              <a:ext cx="347674" cy="800719"/>
              <a:chOff x="8812568" y="2305815"/>
              <a:chExt cx="347674" cy="800719"/>
            </a:xfrm>
          </p:grpSpPr>
          <p:sp>
            <p:nvSpPr>
              <p:cNvPr id="18" name="Freeform 17">
                <a:extLst>
                  <a:ext uri="{FF2B5EF4-FFF2-40B4-BE49-F238E27FC236}">
                    <a16:creationId xmlns:a16="http://schemas.microsoft.com/office/drawing/2014/main" id="{D930B21B-E3CE-CB1D-97AD-2D65F31B0CB6}"/>
                  </a:ext>
                </a:extLst>
              </p:cNvPr>
              <p:cNvSpPr/>
              <p:nvPr/>
            </p:nvSpPr>
            <p:spPr>
              <a:xfrm>
                <a:off x="8812568" y="2305815"/>
                <a:ext cx="347674" cy="800719"/>
              </a:xfrm>
              <a:custGeom>
                <a:avLst/>
                <a:gdLst>
                  <a:gd name="csX0" fmla="*/ 0 w 347674"/>
                  <a:gd name="csY0" fmla="*/ 800720 h 800719"/>
                  <a:gd name="csX1" fmla="*/ 318223 w 347674"/>
                  <a:gd name="csY1" fmla="*/ 797845 h 800719"/>
                  <a:gd name="csX2" fmla="*/ 347675 w 347674"/>
                  <a:gd name="csY2" fmla="*/ 0 h 800719"/>
                  <a:gd name="csX3" fmla="*/ 29452 w 347674"/>
                  <a:gd name="csY3" fmla="*/ 0 h 800719"/>
                  <a:gd name="csX4" fmla="*/ 0 w 347674"/>
                  <a:gd name="csY4" fmla="*/ 800720 h 800719"/>
                </a:gdLst>
                <a:ahLst/>
                <a:cxnLst>
                  <a:cxn ang="0">
                    <a:pos x="csX0" y="csY0"/>
                  </a:cxn>
                  <a:cxn ang="0">
                    <a:pos x="csX1" y="csY1"/>
                  </a:cxn>
                  <a:cxn ang="0">
                    <a:pos x="csX2" y="csY2"/>
                  </a:cxn>
                  <a:cxn ang="0">
                    <a:pos x="csX3" y="csY3"/>
                  </a:cxn>
                  <a:cxn ang="0">
                    <a:pos x="csX4" y="csY4"/>
                  </a:cxn>
                </a:cxnLst>
                <a:rect l="l" t="t" r="r" b="b"/>
                <a:pathLst>
                  <a:path w="347674" h="800719">
                    <a:moveTo>
                      <a:pt x="0" y="800720"/>
                    </a:moveTo>
                    <a:lnTo>
                      <a:pt x="318223" y="797845"/>
                    </a:lnTo>
                    <a:lnTo>
                      <a:pt x="347675" y="0"/>
                    </a:lnTo>
                    <a:lnTo>
                      <a:pt x="29452" y="0"/>
                    </a:lnTo>
                    <a:lnTo>
                      <a:pt x="0" y="800720"/>
                    </a:lnTo>
                    <a:close/>
                  </a:path>
                </a:pathLst>
              </a:custGeom>
              <a:solidFill>
                <a:schemeClr val="tx1">
                  <a:lumMod val="50000"/>
                  <a:lumOff val="50000"/>
                </a:schemeClr>
              </a:solidFill>
              <a:ln w="3592" cap="flat">
                <a:noFill/>
                <a:prstDash val="solid"/>
                <a:miter/>
              </a:ln>
            </p:spPr>
            <p:txBody>
              <a:bodyPr/>
              <a:lstStyle/>
              <a:p>
                <a:endParaRPr lang="en-US"/>
              </a:p>
            </p:txBody>
          </p:sp>
          <p:grpSp>
            <p:nvGrpSpPr>
              <p:cNvPr id="19" name="Group 18">
                <a:extLst>
                  <a:ext uri="{FF2B5EF4-FFF2-40B4-BE49-F238E27FC236}">
                    <a16:creationId xmlns:a16="http://schemas.microsoft.com/office/drawing/2014/main" id="{1BD161F5-DD1F-3BF7-C7A3-22D47258F192}"/>
                  </a:ext>
                </a:extLst>
              </p:cNvPr>
              <p:cNvGrpSpPr/>
              <p:nvPr/>
            </p:nvGrpSpPr>
            <p:grpSpPr>
              <a:xfrm flipH="1">
                <a:off x="8852795" y="2372662"/>
                <a:ext cx="262193" cy="679246"/>
                <a:chOff x="1433816" y="2372662"/>
                <a:chExt cx="262193" cy="679246"/>
              </a:xfrm>
              <a:solidFill>
                <a:schemeClr val="bg1"/>
              </a:solidFill>
            </p:grpSpPr>
            <p:sp>
              <p:nvSpPr>
                <p:cNvPr id="20" name="Rounded Rectangle 19">
                  <a:extLst>
                    <a:ext uri="{FF2B5EF4-FFF2-40B4-BE49-F238E27FC236}">
                      <a16:creationId xmlns:a16="http://schemas.microsoft.com/office/drawing/2014/main" id="{640FBF00-2260-53E6-A085-81D9C7F70263}"/>
                    </a:ext>
                  </a:extLst>
                </p:cNvPr>
                <p:cNvSpPr>
                  <a:spLocks/>
                </p:cNvSpPr>
                <p:nvPr/>
              </p:nvSpPr>
              <p:spPr bwMode="auto">
                <a:xfrm>
                  <a:off x="1433816" y="2372662"/>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21" name="Rounded Rectangle 20">
                  <a:extLst>
                    <a:ext uri="{FF2B5EF4-FFF2-40B4-BE49-F238E27FC236}">
                      <a16:creationId xmlns:a16="http://schemas.microsoft.com/office/drawing/2014/main" id="{05F80BB9-C66A-2765-86AD-CF6FD7D7927C}"/>
                    </a:ext>
                  </a:extLst>
                </p:cNvPr>
                <p:cNvSpPr>
                  <a:spLocks/>
                </p:cNvSpPr>
                <p:nvPr/>
              </p:nvSpPr>
              <p:spPr bwMode="auto">
                <a:xfrm>
                  <a:off x="1449121" y="2951324"/>
                  <a:ext cx="246888" cy="100584"/>
                </a:xfrm>
                <a:prstGeom prst="roundRect">
                  <a:avLst>
                    <a:gd name="adj" fmla="val 50000"/>
                  </a:avLst>
                </a:prstGeom>
                <a:grp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grpSp>
        </p:grpSp>
      </p:grpSp>
    </p:spTree>
    <p:custDataLst>
      <p:tags r:id="rId1"/>
    </p:custDataLst>
    <p:extLst>
      <p:ext uri="{BB962C8B-B14F-4D97-AF65-F5344CB8AC3E}">
        <p14:creationId xmlns:p14="http://schemas.microsoft.com/office/powerpoint/2010/main" val="164192825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7A034-FDBB-2153-47BC-5ED144F20DD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6D68D30-BA2A-1FF8-17FD-CB6650E6AD75}"/>
              </a:ext>
            </a:extLst>
          </p:cNvPr>
          <p:cNvSpPr/>
          <p:nvPr/>
        </p:nvSpPr>
        <p:spPr bwMode="auto">
          <a:xfrm>
            <a:off x="5817327" y="1959429"/>
            <a:ext cx="6374673" cy="2924254"/>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b="1"/>
          </a:p>
        </p:txBody>
      </p:sp>
      <p:sp>
        <p:nvSpPr>
          <p:cNvPr id="12" name="Pentagon 11">
            <a:extLst>
              <a:ext uri="{FF2B5EF4-FFF2-40B4-BE49-F238E27FC236}">
                <a16:creationId xmlns:a16="http://schemas.microsoft.com/office/drawing/2014/main" id="{34472C81-D3FC-7386-D40B-AF561E83BE0F}"/>
              </a:ext>
            </a:extLst>
          </p:cNvPr>
          <p:cNvSpPr/>
          <p:nvPr/>
        </p:nvSpPr>
        <p:spPr bwMode="auto">
          <a:xfrm>
            <a:off x="0" y="1959429"/>
            <a:ext cx="6374674" cy="2232762"/>
          </a:xfrm>
          <a:prstGeom prst="homePlate">
            <a:avLst>
              <a:gd name="adj" fmla="val 26143"/>
            </a:avLst>
          </a:prstGeom>
          <a:gradFill>
            <a:gsLst>
              <a:gs pos="10000">
                <a:schemeClr val="bg1">
                  <a:lumMod val="95000"/>
                </a:schemeClr>
              </a:gs>
              <a:gs pos="96000">
                <a:schemeClr val="bg1"/>
              </a:gs>
            </a:gsLst>
            <a:lin ang="6000000" scaled="0"/>
          </a:gra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b="1"/>
          </a:p>
        </p:txBody>
      </p:sp>
      <p:sp>
        <p:nvSpPr>
          <p:cNvPr id="23" name="Rectangle 22">
            <a:extLst>
              <a:ext uri="{FF2B5EF4-FFF2-40B4-BE49-F238E27FC236}">
                <a16:creationId xmlns:a16="http://schemas.microsoft.com/office/drawing/2014/main" id="{0CE6BAB1-84D9-3827-3C45-98C3B4E97E4B}"/>
              </a:ext>
            </a:extLst>
          </p:cNvPr>
          <p:cNvSpPr/>
          <p:nvPr/>
        </p:nvSpPr>
        <p:spPr bwMode="auto">
          <a:xfrm>
            <a:off x="-10198" y="4437325"/>
            <a:ext cx="12202198" cy="2420676"/>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6" name="Maia Logo">
            <a:extLst>
              <a:ext uri="{FF2B5EF4-FFF2-40B4-BE49-F238E27FC236}">
                <a16:creationId xmlns:a16="http://schemas.microsoft.com/office/drawing/2014/main" id="{FA8E41C2-7D86-30FF-0FB8-E5680013E3CB}"/>
              </a:ext>
            </a:extLst>
          </p:cNvPr>
          <p:cNvGrpSpPr/>
          <p:nvPr/>
        </p:nvGrpSpPr>
        <p:grpSpPr>
          <a:xfrm>
            <a:off x="9982492" y="6181218"/>
            <a:ext cx="1700948" cy="415640"/>
            <a:chOff x="1447800" y="2292350"/>
            <a:chExt cx="7774788" cy="1899831"/>
          </a:xfrm>
        </p:grpSpPr>
        <p:sp>
          <p:nvSpPr>
            <p:cNvPr id="7" name="Freeform 20">
              <a:extLst>
                <a:ext uri="{FF2B5EF4-FFF2-40B4-BE49-F238E27FC236}">
                  <a16:creationId xmlns:a16="http://schemas.microsoft.com/office/drawing/2014/main" id="{819226D3-C2F5-CB6B-660E-A3BFF9D89016}"/>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8" name="Freeform 21">
              <a:extLst>
                <a:ext uri="{FF2B5EF4-FFF2-40B4-BE49-F238E27FC236}">
                  <a16:creationId xmlns:a16="http://schemas.microsoft.com/office/drawing/2014/main" id="{F2A8E60A-5629-267F-25EA-8CF8A4D4D4DC}"/>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10" name="Freeform 22">
              <a:extLst>
                <a:ext uri="{FF2B5EF4-FFF2-40B4-BE49-F238E27FC236}">
                  <a16:creationId xmlns:a16="http://schemas.microsoft.com/office/drawing/2014/main" id="{4EB1B71D-5664-0BFB-849D-A0E9B8445C81}"/>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11" name="Slide Number Placeholder 21">
            <a:extLst>
              <a:ext uri="{FF2B5EF4-FFF2-40B4-BE49-F238E27FC236}">
                <a16:creationId xmlns:a16="http://schemas.microsoft.com/office/drawing/2014/main" id="{60F829E5-739E-B2B4-1B52-FD72757EAA12}"/>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2026 MaiaEdge</a:t>
            </a:r>
          </a:p>
        </p:txBody>
      </p:sp>
      <p:sp>
        <p:nvSpPr>
          <p:cNvPr id="4" name="Title 3">
            <a:extLst>
              <a:ext uri="{FF2B5EF4-FFF2-40B4-BE49-F238E27FC236}">
                <a16:creationId xmlns:a16="http://schemas.microsoft.com/office/drawing/2014/main" id="{D7BD3519-B24F-A26A-B761-E9F48AF088E4}"/>
              </a:ext>
            </a:extLst>
          </p:cNvPr>
          <p:cNvSpPr>
            <a:spLocks noGrp="1"/>
          </p:cNvSpPr>
          <p:nvPr>
            <p:ph type="title"/>
          </p:nvPr>
        </p:nvSpPr>
        <p:spPr>
          <a:xfrm>
            <a:off x="510363" y="287635"/>
            <a:ext cx="11171274" cy="1107996"/>
          </a:xfrm>
        </p:spPr>
        <p:txBody>
          <a:bodyPr/>
          <a:lstStyle/>
          <a:p>
            <a:r>
              <a:rPr lang="en-US" dirty="0"/>
              <a:t>Cloud On-Ramp: Direct</a:t>
            </a:r>
          </a:p>
        </p:txBody>
      </p:sp>
      <p:sp>
        <p:nvSpPr>
          <p:cNvPr id="13" name="Text 20">
            <a:extLst>
              <a:ext uri="{FF2B5EF4-FFF2-40B4-BE49-F238E27FC236}">
                <a16:creationId xmlns:a16="http://schemas.microsoft.com/office/drawing/2014/main" id="{9C918A9C-BC67-9421-536F-E290FC274EC6}"/>
              </a:ext>
            </a:extLst>
          </p:cNvPr>
          <p:cNvSpPr/>
          <p:nvPr/>
        </p:nvSpPr>
        <p:spPr>
          <a:xfrm>
            <a:off x="1564780" y="2204560"/>
            <a:ext cx="4518159" cy="1227708"/>
          </a:xfrm>
          <a:prstGeom prst="rect">
            <a:avLst/>
          </a:prstGeom>
        </p:spPr>
        <p:txBody>
          <a:bodyPr wrap="none" lIns="0">
            <a:noAutofit/>
          </a:bodyPr>
          <a:lstStyle/>
          <a:p>
            <a:pPr marL="0" marR="0" lvl="0" indent="0" algn="l" defTabSz="914400" rtl="0" eaLnBrk="1" fontAlgn="auto" latinLnBrk="0" hangingPunct="1">
              <a:lnSpc>
                <a:spcPct val="100000"/>
              </a:lnSpc>
              <a:spcBef>
                <a:spcPts val="600"/>
              </a:spcBef>
              <a:spcAft>
                <a:spcPts val="300"/>
              </a:spcAft>
              <a:buClr>
                <a:srgbClr val="FF9400"/>
              </a:buClr>
              <a:buSzTx/>
              <a:buFontTx/>
              <a:buNone/>
              <a:tabLst/>
              <a:defRPr/>
            </a:pPr>
            <a:r>
              <a:rPr kumimoji="0" lang="en-US" sz="1800" b="0" i="0" u="none" strike="noStrike" kern="1200" cap="none" spc="0" normalizeH="0" baseline="0" noProof="0" dirty="0">
                <a:ln>
                  <a:noFill/>
                </a:ln>
                <a:solidFill>
                  <a:schemeClr val="accent2"/>
                </a:solidFill>
                <a:effectLst/>
                <a:uLnTx/>
                <a:uFillTx/>
                <a:latin typeface="Tomorrow Medium"/>
                <a:ea typeface="Roboto Medium" panose="02000000000000000000" pitchFamily="2" charset="0"/>
                <a:cs typeface="Arial" panose="020B0604020202020204" pitchFamily="34" charset="0"/>
              </a:rPr>
              <a:t>If a data center already has direct:</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Fiber connectivity to Equinix</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Connectivity to Megaport</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Access to other cloud exchanges</a:t>
            </a:r>
          </a:p>
        </p:txBody>
      </p:sp>
      <p:sp>
        <p:nvSpPr>
          <p:cNvPr id="14" name="Text 20">
            <a:extLst>
              <a:ext uri="{FF2B5EF4-FFF2-40B4-BE49-F238E27FC236}">
                <a16:creationId xmlns:a16="http://schemas.microsoft.com/office/drawing/2014/main" id="{57413978-D4CC-4382-A5F9-93ED63E3B658}"/>
              </a:ext>
            </a:extLst>
          </p:cNvPr>
          <p:cNvSpPr/>
          <p:nvPr/>
        </p:nvSpPr>
        <p:spPr>
          <a:xfrm>
            <a:off x="7093131" y="2230688"/>
            <a:ext cx="3954178" cy="841007"/>
          </a:xfrm>
          <a:prstGeom prst="rect">
            <a:avLst/>
          </a:prstGeom>
          <a:noFill/>
        </p:spPr>
        <p:txBody>
          <a:bodyPr wrap="square" lIns="0">
            <a:noAutofit/>
          </a:bodyPr>
          <a:lstStyle/>
          <a:p>
            <a:pPr>
              <a:spcAft>
                <a:spcPts val="1200"/>
              </a:spcAft>
            </a:pPr>
            <a:r>
              <a:rPr lang="en-US" sz="2400" err="1">
                <a:latin typeface="+mj-lt"/>
                <a:cs typeface="Calibri" pitchFamily="34" charset="-120"/>
              </a:rPr>
              <a:t>MaiaEdge</a:t>
            </a:r>
            <a:r>
              <a:rPr lang="en-US" sz="2400">
                <a:latin typeface="+mj-lt"/>
                <a:cs typeface="Calibri" pitchFamily="34" charset="-120"/>
              </a:rPr>
              <a:t> can simply connect and expose cloud services</a:t>
            </a:r>
          </a:p>
        </p:txBody>
      </p:sp>
      <p:pic>
        <p:nvPicPr>
          <p:cNvPr id="16" name="Picture 15">
            <a:extLst>
              <a:ext uri="{FF2B5EF4-FFF2-40B4-BE49-F238E27FC236}">
                <a16:creationId xmlns:a16="http://schemas.microsoft.com/office/drawing/2014/main" id="{11C00267-EA27-CDEE-DF8E-DD9034C578F1}"/>
              </a:ext>
            </a:extLst>
          </p:cNvPr>
          <p:cNvPicPr>
            <a:picLocks noChangeAspect="1"/>
          </p:cNvPicPr>
          <p:nvPr/>
        </p:nvPicPr>
        <p:blipFill>
          <a:blip r:embed="rId4"/>
          <a:srcRect t="10858" b="21244"/>
          <a:stretch>
            <a:fillRect/>
          </a:stretch>
        </p:blipFill>
        <p:spPr>
          <a:xfrm>
            <a:off x="925507" y="3740876"/>
            <a:ext cx="10340990" cy="1595368"/>
          </a:xfrm>
          <a:prstGeom prst="rect">
            <a:avLst/>
          </a:prstGeom>
        </p:spPr>
      </p:pic>
      <p:sp>
        <p:nvSpPr>
          <p:cNvPr id="18" name="TextBox 17">
            <a:extLst>
              <a:ext uri="{FF2B5EF4-FFF2-40B4-BE49-F238E27FC236}">
                <a16:creationId xmlns:a16="http://schemas.microsoft.com/office/drawing/2014/main" id="{298EFC62-2FB4-3F9C-A623-F39CC57C6848}"/>
              </a:ext>
            </a:extLst>
          </p:cNvPr>
          <p:cNvSpPr txBox="1"/>
          <p:nvPr/>
        </p:nvSpPr>
        <p:spPr>
          <a:xfrm>
            <a:off x="497668" y="5510953"/>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Cloud becomes another destination reachable instantly</a:t>
            </a:r>
          </a:p>
        </p:txBody>
      </p:sp>
    </p:spTree>
    <p:custDataLst>
      <p:tags r:id="rId1"/>
    </p:custDataLst>
    <p:extLst>
      <p:ext uri="{BB962C8B-B14F-4D97-AF65-F5344CB8AC3E}">
        <p14:creationId xmlns:p14="http://schemas.microsoft.com/office/powerpoint/2010/main" val="60125223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C983C-E9E0-50B0-FBB4-DEE247E61235}"/>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EE2ED51F-9F48-B37C-B16B-31019B03C3B5}"/>
              </a:ext>
            </a:extLst>
          </p:cNvPr>
          <p:cNvSpPr/>
          <p:nvPr/>
        </p:nvSpPr>
        <p:spPr bwMode="auto">
          <a:xfrm>
            <a:off x="5817327" y="1959429"/>
            <a:ext cx="6374673" cy="2924254"/>
          </a:xfrm>
          <a:prstGeom prst="rect">
            <a:avLst/>
          </a:prstGeom>
          <a:solidFill>
            <a:schemeClr val="accent2"/>
          </a:solidFill>
          <a:ln w="12700" cap="sq" algn="ctr">
            <a:noFill/>
            <a:miter lim="800000"/>
            <a:headEnd/>
            <a:tailEnd/>
          </a:ln>
          <a:effectLst/>
        </p:spPr>
        <p:txBody>
          <a:bodyPr wrap="square" lIns="182880" rIns="182880" rtlCol="0" anchor="ctr" anchorCtr="1"/>
          <a:lstStyle/>
          <a:p>
            <a:pPr algn="l">
              <a:lnSpc>
                <a:spcPct val="95000"/>
              </a:lnSpc>
              <a:spcBef>
                <a:spcPts val="1080"/>
              </a:spcBef>
            </a:pPr>
            <a:endParaRPr lang="en-US" sz="1600"/>
          </a:p>
        </p:txBody>
      </p:sp>
      <p:sp>
        <p:nvSpPr>
          <p:cNvPr id="35" name="Pentagon 34">
            <a:extLst>
              <a:ext uri="{FF2B5EF4-FFF2-40B4-BE49-F238E27FC236}">
                <a16:creationId xmlns:a16="http://schemas.microsoft.com/office/drawing/2014/main" id="{D9A685BD-303B-67EA-531E-F39C47E94537}"/>
              </a:ext>
            </a:extLst>
          </p:cNvPr>
          <p:cNvSpPr/>
          <p:nvPr/>
        </p:nvSpPr>
        <p:spPr bwMode="auto">
          <a:xfrm>
            <a:off x="0" y="1959429"/>
            <a:ext cx="6374674" cy="2232762"/>
          </a:xfrm>
          <a:prstGeom prst="homePlate">
            <a:avLst>
              <a:gd name="adj" fmla="val 26143"/>
            </a:avLst>
          </a:prstGeom>
          <a:gradFill>
            <a:gsLst>
              <a:gs pos="10000">
                <a:schemeClr val="bg1">
                  <a:lumMod val="95000"/>
                </a:schemeClr>
              </a:gs>
              <a:gs pos="96000">
                <a:schemeClr val="bg1"/>
              </a:gs>
            </a:gsLst>
            <a:lin ang="6000000" scaled="0"/>
          </a:gradFill>
          <a:ln w="12700" cap="sq" algn="ctr">
            <a:noFill/>
            <a:prstDash val="dash"/>
            <a:miter lim="800000"/>
            <a:headEnd/>
            <a:tailEnd/>
          </a:ln>
          <a:effectLst/>
        </p:spPr>
        <p:txBody>
          <a:bodyPr wrap="square" lIns="182880" rIns="182880" rtlCol="0" anchor="ctr" anchorCtr="1"/>
          <a:lstStyle/>
          <a:p>
            <a:pPr>
              <a:lnSpc>
                <a:spcPct val="95000"/>
              </a:lnSpc>
              <a:spcBef>
                <a:spcPts val="1080"/>
              </a:spcBef>
            </a:pPr>
            <a:endParaRPr lang="en-US" sz="1600"/>
          </a:p>
        </p:txBody>
      </p:sp>
      <p:sp>
        <p:nvSpPr>
          <p:cNvPr id="23" name="Rectangle 22">
            <a:extLst>
              <a:ext uri="{FF2B5EF4-FFF2-40B4-BE49-F238E27FC236}">
                <a16:creationId xmlns:a16="http://schemas.microsoft.com/office/drawing/2014/main" id="{5019E389-6C83-CA3B-EFE0-329E899B6BAD}"/>
              </a:ext>
            </a:extLst>
          </p:cNvPr>
          <p:cNvSpPr/>
          <p:nvPr/>
        </p:nvSpPr>
        <p:spPr bwMode="auto">
          <a:xfrm>
            <a:off x="-10198" y="4437325"/>
            <a:ext cx="12202198" cy="2420676"/>
          </a:xfrm>
          <a:prstGeom prst="rect">
            <a:avLst/>
          </a:prstGeom>
          <a:gradFill>
            <a:gsLst>
              <a:gs pos="48000">
                <a:srgbClr val="212121"/>
              </a:gs>
              <a:gs pos="0">
                <a:schemeClr val="tx1">
                  <a:lumMod val="75000"/>
                  <a:lumOff val="25000"/>
                </a:schemeClr>
              </a:gs>
              <a:gs pos="100000">
                <a:schemeClr val="tx1"/>
              </a:gs>
            </a:gsLst>
            <a:lin ang="4800000" scaled="0"/>
          </a:gradFill>
          <a:ln w="12700" cap="sq" algn="ctr">
            <a:noFill/>
            <a:miter lim="800000"/>
            <a:headEnd/>
            <a:tailEnd/>
          </a:ln>
          <a:effectLst/>
        </p:spPr>
        <p:txBody>
          <a:bodyPr wrap="square" lIns="182880" rIns="182880" rtlCol="0" anchor="ctr" anchorCtr="1"/>
          <a:lstStyle/>
          <a:p>
            <a:pPr>
              <a:lnSpc>
                <a:spcPct val="95000"/>
              </a:lnSpc>
              <a:spcBef>
                <a:spcPts val="1080"/>
              </a:spcBef>
            </a:pPr>
            <a:endParaRPr lang="en-US" sz="1600"/>
          </a:p>
        </p:txBody>
      </p:sp>
      <p:grpSp>
        <p:nvGrpSpPr>
          <p:cNvPr id="24" name="Maia Logo">
            <a:extLst>
              <a:ext uri="{FF2B5EF4-FFF2-40B4-BE49-F238E27FC236}">
                <a16:creationId xmlns:a16="http://schemas.microsoft.com/office/drawing/2014/main" id="{DEC9F61D-599F-07E8-05C2-133F0CFA8C69}"/>
              </a:ext>
            </a:extLst>
          </p:cNvPr>
          <p:cNvGrpSpPr/>
          <p:nvPr/>
        </p:nvGrpSpPr>
        <p:grpSpPr>
          <a:xfrm>
            <a:off x="9982492" y="6181218"/>
            <a:ext cx="1700948" cy="415640"/>
            <a:chOff x="1447800" y="2292350"/>
            <a:chExt cx="7774788" cy="1899831"/>
          </a:xfrm>
        </p:grpSpPr>
        <p:sp>
          <p:nvSpPr>
            <p:cNvPr id="25" name="Freeform 20">
              <a:extLst>
                <a:ext uri="{FF2B5EF4-FFF2-40B4-BE49-F238E27FC236}">
                  <a16:creationId xmlns:a16="http://schemas.microsoft.com/office/drawing/2014/main" id="{823E4E5D-DC63-E2A4-E980-498C8109844B}"/>
                </a:ext>
              </a:extLst>
            </p:cNvPr>
            <p:cNvSpPr/>
            <p:nvPr/>
          </p:nvSpPr>
          <p:spPr>
            <a:xfrm>
              <a:off x="1447800" y="2292350"/>
              <a:ext cx="1833999" cy="1899036"/>
            </a:xfrm>
            <a:custGeom>
              <a:avLst/>
              <a:gdLst>
                <a:gd name="csX0" fmla="*/ 1158693 w 1833999"/>
                <a:gd name="csY0" fmla="*/ 0 h 1899036"/>
                <a:gd name="csX1" fmla="*/ 0 w 1833999"/>
                <a:gd name="csY1" fmla="*/ 664822 h 1899036"/>
                <a:gd name="csX2" fmla="*/ 226164 w 1833999"/>
                <a:gd name="csY2" fmla="*/ 807965 h 1899036"/>
                <a:gd name="csX3" fmla="*/ 675307 w 1833999"/>
                <a:gd name="csY3" fmla="*/ 1092662 h 1899036"/>
                <a:gd name="csX4" fmla="*/ 675307 w 1833999"/>
                <a:gd name="csY4" fmla="*/ 1899037 h 1899036"/>
                <a:gd name="csX5" fmla="*/ 907045 w 1833999"/>
                <a:gd name="csY5" fmla="*/ 1764641 h 1899036"/>
                <a:gd name="csX6" fmla="*/ 907045 w 1833999"/>
                <a:gd name="csY6" fmla="*/ 959061 h 1899036"/>
                <a:gd name="csX7" fmla="*/ 457903 w 1833999"/>
                <a:gd name="csY7" fmla="*/ 674365 h 1899036"/>
                <a:gd name="csX8" fmla="*/ 689641 w 1833999"/>
                <a:gd name="csY8" fmla="*/ 541559 h 1899036"/>
                <a:gd name="csX9" fmla="*/ 1138784 w 1833999"/>
                <a:gd name="csY9" fmla="*/ 826256 h 1899036"/>
                <a:gd name="csX10" fmla="*/ 1138784 w 1833999"/>
                <a:gd name="csY10" fmla="*/ 1633426 h 1899036"/>
                <a:gd name="csX11" fmla="*/ 1370523 w 1833999"/>
                <a:gd name="csY11" fmla="*/ 1500621 h 1899036"/>
                <a:gd name="csX12" fmla="*/ 1370523 w 1833999"/>
                <a:gd name="csY12" fmla="*/ 692655 h 1899036"/>
                <a:gd name="csX13" fmla="*/ 921380 w 1833999"/>
                <a:gd name="csY13" fmla="*/ 407959 h 1899036"/>
                <a:gd name="csX14" fmla="*/ 1153118 w 1833999"/>
                <a:gd name="csY14" fmla="*/ 274358 h 1899036"/>
                <a:gd name="csX15" fmla="*/ 1602261 w 1833999"/>
                <a:gd name="csY15" fmla="*/ 559055 h 1899036"/>
                <a:gd name="csX16" fmla="*/ 1602261 w 1833999"/>
                <a:gd name="csY16" fmla="*/ 1367815 h 1899036"/>
                <a:gd name="csX17" fmla="*/ 1834000 w 1833999"/>
                <a:gd name="csY17" fmla="*/ 1235010 h 1899036"/>
                <a:gd name="csX18" fmla="*/ 1834000 w 1833999"/>
                <a:gd name="csY18" fmla="*/ 427840 h 1899036"/>
                <a:gd name="csX19" fmla="*/ 1158693 w 1833999"/>
                <a:gd name="csY19" fmla="*/ 0 h 18990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33999" h="1899036">
                  <a:moveTo>
                    <a:pt x="1158693" y="0"/>
                  </a:moveTo>
                  <a:lnTo>
                    <a:pt x="0" y="664822"/>
                  </a:lnTo>
                  <a:lnTo>
                    <a:pt x="226164" y="807965"/>
                  </a:lnTo>
                  <a:lnTo>
                    <a:pt x="675307" y="1092662"/>
                  </a:lnTo>
                  <a:lnTo>
                    <a:pt x="675307" y="1899037"/>
                  </a:lnTo>
                  <a:lnTo>
                    <a:pt x="907045" y="1764641"/>
                  </a:lnTo>
                  <a:lnTo>
                    <a:pt x="907045" y="959061"/>
                  </a:lnTo>
                  <a:lnTo>
                    <a:pt x="457903" y="674365"/>
                  </a:lnTo>
                  <a:lnTo>
                    <a:pt x="689641" y="541559"/>
                  </a:lnTo>
                  <a:lnTo>
                    <a:pt x="1138784" y="826256"/>
                  </a:lnTo>
                  <a:lnTo>
                    <a:pt x="1138784" y="1633426"/>
                  </a:lnTo>
                  <a:lnTo>
                    <a:pt x="1370523" y="1500621"/>
                  </a:lnTo>
                  <a:lnTo>
                    <a:pt x="1370523" y="692655"/>
                  </a:lnTo>
                  <a:lnTo>
                    <a:pt x="921380" y="407959"/>
                  </a:lnTo>
                  <a:lnTo>
                    <a:pt x="1153118" y="274358"/>
                  </a:lnTo>
                  <a:lnTo>
                    <a:pt x="1602261" y="559055"/>
                  </a:lnTo>
                  <a:lnTo>
                    <a:pt x="1602261" y="1367815"/>
                  </a:lnTo>
                  <a:lnTo>
                    <a:pt x="1834000" y="1235010"/>
                  </a:lnTo>
                  <a:lnTo>
                    <a:pt x="1834000" y="427840"/>
                  </a:lnTo>
                  <a:lnTo>
                    <a:pt x="1158693" y="0"/>
                  </a:lnTo>
                  <a:close/>
                </a:path>
              </a:pathLst>
            </a:custGeom>
            <a:solidFill>
              <a:srgbClr val="FFC709"/>
            </a:solidFill>
            <a:ln w="7964" cap="flat">
              <a:noFill/>
              <a:prstDash val="solid"/>
              <a:miter/>
            </a:ln>
          </p:spPr>
          <p:txBody>
            <a:bodyPr/>
            <a:lstStyle/>
            <a:p>
              <a:endParaRPr lang="en-US"/>
            </a:p>
          </p:txBody>
        </p:sp>
        <p:sp>
          <p:nvSpPr>
            <p:cNvPr id="26" name="Freeform 21">
              <a:extLst>
                <a:ext uri="{FF2B5EF4-FFF2-40B4-BE49-F238E27FC236}">
                  <a16:creationId xmlns:a16="http://schemas.microsoft.com/office/drawing/2014/main" id="{2B8A9276-CE19-1713-1B52-25DCE2471CBE}"/>
                </a:ext>
              </a:extLst>
            </p:cNvPr>
            <p:cNvSpPr/>
            <p:nvPr/>
          </p:nvSpPr>
          <p:spPr>
            <a:xfrm>
              <a:off x="2123903" y="2718599"/>
              <a:ext cx="1157896" cy="1473582"/>
            </a:xfrm>
            <a:custGeom>
              <a:avLst/>
              <a:gdLst>
                <a:gd name="csX0" fmla="*/ 230942 w 1157896"/>
                <a:gd name="csY0" fmla="*/ 1339187 h 1473582"/>
                <a:gd name="csX1" fmla="*/ 0 w 1157896"/>
                <a:gd name="csY1" fmla="*/ 1473582 h 1473582"/>
                <a:gd name="csX2" fmla="*/ 0 w 1157896"/>
                <a:gd name="csY2" fmla="*/ 666412 h 1473582"/>
                <a:gd name="csX3" fmla="*/ 230942 w 1157896"/>
                <a:gd name="csY3" fmla="*/ 532812 h 1473582"/>
                <a:gd name="csX4" fmla="*/ 230942 w 1157896"/>
                <a:gd name="csY4" fmla="*/ 1338391 h 1473582"/>
                <a:gd name="csX5" fmla="*/ 230942 w 1157896"/>
                <a:gd name="csY5" fmla="*/ 1338391 h 1473582"/>
                <a:gd name="csX6" fmla="*/ 693623 w 1157896"/>
                <a:gd name="csY6" fmla="*/ 1075962 h 1473582"/>
                <a:gd name="csX7" fmla="*/ 461884 w 1157896"/>
                <a:gd name="csY7" fmla="*/ 1208767 h 1473582"/>
                <a:gd name="csX8" fmla="*/ 461884 w 1157896"/>
                <a:gd name="csY8" fmla="*/ 400802 h 1473582"/>
                <a:gd name="csX9" fmla="*/ 693623 w 1157896"/>
                <a:gd name="csY9" fmla="*/ 267201 h 1473582"/>
                <a:gd name="csX10" fmla="*/ 693623 w 1157896"/>
                <a:gd name="csY10" fmla="*/ 1075167 h 1473582"/>
                <a:gd name="csX11" fmla="*/ 693623 w 1157896"/>
                <a:gd name="csY11" fmla="*/ 1075167 h 1473582"/>
                <a:gd name="csX12" fmla="*/ 1157897 w 1157896"/>
                <a:gd name="csY12" fmla="*/ 809556 h 1473582"/>
                <a:gd name="csX13" fmla="*/ 926954 w 1157896"/>
                <a:gd name="csY13" fmla="*/ 942361 h 1473582"/>
                <a:gd name="csX14" fmla="*/ 926954 w 1157896"/>
                <a:gd name="csY14" fmla="*/ 133601 h 1473582"/>
                <a:gd name="csX15" fmla="*/ 1157897 w 1157896"/>
                <a:gd name="csY15" fmla="*/ 0 h 1473582"/>
                <a:gd name="csX16" fmla="*/ 1157897 w 1157896"/>
                <a:gd name="csY16" fmla="*/ 808761 h 1473582"/>
                <a:gd name="csX17" fmla="*/ 1157897 w 1157896"/>
                <a:gd name="csY17" fmla="*/ 808761 h 14735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57896" h="1473582">
                  <a:moveTo>
                    <a:pt x="230942" y="1339187"/>
                  </a:moveTo>
                  <a:lnTo>
                    <a:pt x="0" y="1473582"/>
                  </a:lnTo>
                  <a:lnTo>
                    <a:pt x="0" y="666412"/>
                  </a:lnTo>
                  <a:lnTo>
                    <a:pt x="230942" y="532812"/>
                  </a:lnTo>
                  <a:lnTo>
                    <a:pt x="230942" y="1338391"/>
                  </a:lnTo>
                  <a:lnTo>
                    <a:pt x="230942" y="1338391"/>
                  </a:lnTo>
                  <a:close/>
                  <a:moveTo>
                    <a:pt x="693623" y="1075962"/>
                  </a:moveTo>
                  <a:lnTo>
                    <a:pt x="461884" y="1208767"/>
                  </a:lnTo>
                  <a:lnTo>
                    <a:pt x="461884" y="400802"/>
                  </a:lnTo>
                  <a:lnTo>
                    <a:pt x="693623" y="267201"/>
                  </a:lnTo>
                  <a:lnTo>
                    <a:pt x="693623" y="1075167"/>
                  </a:lnTo>
                  <a:lnTo>
                    <a:pt x="693623" y="1075167"/>
                  </a:lnTo>
                  <a:close/>
                  <a:moveTo>
                    <a:pt x="1157897" y="809556"/>
                  </a:moveTo>
                  <a:lnTo>
                    <a:pt x="926954" y="942361"/>
                  </a:lnTo>
                  <a:lnTo>
                    <a:pt x="926954" y="133601"/>
                  </a:lnTo>
                  <a:lnTo>
                    <a:pt x="1157897" y="0"/>
                  </a:lnTo>
                  <a:lnTo>
                    <a:pt x="1157897" y="808761"/>
                  </a:lnTo>
                  <a:lnTo>
                    <a:pt x="1157897" y="808761"/>
                  </a:lnTo>
                  <a:close/>
                </a:path>
              </a:pathLst>
            </a:custGeom>
            <a:solidFill>
              <a:srgbClr val="F8991D"/>
            </a:solidFill>
            <a:ln w="7964" cap="flat">
              <a:noFill/>
              <a:prstDash val="solid"/>
              <a:miter/>
            </a:ln>
          </p:spPr>
          <p:txBody>
            <a:bodyPr/>
            <a:lstStyle/>
            <a:p>
              <a:endParaRPr lang="en-US"/>
            </a:p>
          </p:txBody>
        </p:sp>
        <p:sp>
          <p:nvSpPr>
            <p:cNvPr id="28" name="Freeform 22">
              <a:extLst>
                <a:ext uri="{FF2B5EF4-FFF2-40B4-BE49-F238E27FC236}">
                  <a16:creationId xmlns:a16="http://schemas.microsoft.com/office/drawing/2014/main" id="{69D7B806-4F70-FAA9-05F5-F79B040F30E8}"/>
                </a:ext>
              </a:extLst>
            </p:cNvPr>
            <p:cNvSpPr/>
            <p:nvPr/>
          </p:nvSpPr>
          <p:spPr>
            <a:xfrm>
              <a:off x="3746073" y="2718597"/>
              <a:ext cx="5476515" cy="1057672"/>
            </a:xfrm>
            <a:custGeom>
              <a:avLst/>
              <a:gdLst>
                <a:gd name="csX0" fmla="*/ 4546376 w 5476515"/>
                <a:gd name="csY0" fmla="*/ 245730 h 1057671"/>
                <a:gd name="csX1" fmla="*/ 4606899 w 5476515"/>
                <a:gd name="csY1" fmla="*/ 270382 h 1057671"/>
                <a:gd name="csX2" fmla="*/ 4671404 w 5476515"/>
                <a:gd name="csY2" fmla="*/ 334797 h 1057671"/>
                <a:gd name="csX3" fmla="*/ 4690516 w 5476515"/>
                <a:gd name="csY3" fmla="*/ 245730 h 1057671"/>
                <a:gd name="csX4" fmla="*/ 4789264 w 5476515"/>
                <a:gd name="csY4" fmla="*/ 245730 h 1057671"/>
                <a:gd name="csX5" fmla="*/ 4769355 w 5476515"/>
                <a:gd name="csY5" fmla="*/ 341954 h 1057671"/>
                <a:gd name="csX6" fmla="*/ 4769355 w 5476515"/>
                <a:gd name="csY6" fmla="*/ 916118 h 1057671"/>
                <a:gd name="csX7" fmla="*/ 4743872 w 5476515"/>
                <a:gd name="csY7" fmla="*/ 978147 h 1057671"/>
                <a:gd name="csX8" fmla="*/ 4690516 w 5476515"/>
                <a:gd name="csY8" fmla="*/ 1031428 h 1057671"/>
                <a:gd name="csX9" fmla="*/ 4630790 w 5476515"/>
                <a:gd name="csY9" fmla="*/ 1057671 h 1057671"/>
                <a:gd name="csX10" fmla="*/ 4388699 w 5476515"/>
                <a:gd name="csY10" fmla="*/ 1057671 h 1057671"/>
                <a:gd name="csX11" fmla="*/ 4328972 w 5476515"/>
                <a:gd name="csY11" fmla="*/ 1033019 h 1057671"/>
                <a:gd name="csX12" fmla="*/ 4255708 w 5476515"/>
                <a:gd name="csY12" fmla="*/ 959856 h 1057671"/>
                <a:gd name="csX13" fmla="*/ 4321009 w 5476515"/>
                <a:gd name="csY13" fmla="*/ 893056 h 1057671"/>
                <a:gd name="csX14" fmla="*/ 4383124 w 5476515"/>
                <a:gd name="csY14" fmla="*/ 955085 h 1057671"/>
                <a:gd name="csX15" fmla="*/ 4399847 w 5476515"/>
                <a:gd name="csY15" fmla="*/ 963833 h 1057671"/>
                <a:gd name="csX16" fmla="*/ 4615659 w 5476515"/>
                <a:gd name="csY16" fmla="*/ 963833 h 1057671"/>
                <a:gd name="csX17" fmla="*/ 4632382 w 5476515"/>
                <a:gd name="csY17" fmla="*/ 956675 h 1057671"/>
                <a:gd name="csX18" fmla="*/ 4657070 w 5476515"/>
                <a:gd name="csY18" fmla="*/ 932023 h 1057671"/>
                <a:gd name="csX19" fmla="*/ 4664236 w 5476515"/>
                <a:gd name="csY19" fmla="*/ 915323 h 1057671"/>
                <a:gd name="csX20" fmla="*/ 4664236 w 5476515"/>
                <a:gd name="csY20" fmla="*/ 741165 h 1057671"/>
                <a:gd name="csX21" fmla="*/ 4606103 w 5476515"/>
                <a:gd name="csY21" fmla="*/ 800013 h 1057671"/>
                <a:gd name="csX22" fmla="*/ 4546376 w 5476515"/>
                <a:gd name="csY22" fmla="*/ 825461 h 1057671"/>
                <a:gd name="csX23" fmla="*/ 4387902 w 5476515"/>
                <a:gd name="csY23" fmla="*/ 825461 h 1057671"/>
                <a:gd name="csX24" fmla="*/ 4328176 w 5476515"/>
                <a:gd name="csY24" fmla="*/ 800808 h 1057671"/>
                <a:gd name="csX25" fmla="*/ 4274820 w 5476515"/>
                <a:gd name="csY25" fmla="*/ 747527 h 1057671"/>
                <a:gd name="csX26" fmla="*/ 4249337 w 5476515"/>
                <a:gd name="csY26" fmla="*/ 685498 h 1057671"/>
                <a:gd name="csX27" fmla="*/ 4249337 w 5476515"/>
                <a:gd name="csY27" fmla="*/ 387283 h 1057671"/>
                <a:gd name="csX28" fmla="*/ 4274820 w 5476515"/>
                <a:gd name="csY28" fmla="*/ 323663 h 1057671"/>
                <a:gd name="csX29" fmla="*/ 4328176 w 5476515"/>
                <a:gd name="csY29" fmla="*/ 270382 h 1057671"/>
                <a:gd name="csX30" fmla="*/ 4387902 w 5476515"/>
                <a:gd name="csY30" fmla="*/ 245730 h 1057671"/>
                <a:gd name="csX31" fmla="*/ 4546376 w 5476515"/>
                <a:gd name="csY31" fmla="*/ 245730 h 1057671"/>
                <a:gd name="csX32" fmla="*/ 394194 w 5476515"/>
                <a:gd name="csY32" fmla="*/ 672774 h 1057671"/>
                <a:gd name="csX33" fmla="*/ 607617 w 5476515"/>
                <a:gd name="csY33" fmla="*/ 13519 h 1057671"/>
                <a:gd name="csX34" fmla="*/ 789185 w 5476515"/>
                <a:gd name="csY34" fmla="*/ 13519 h 1057671"/>
                <a:gd name="csX35" fmla="*/ 789185 w 5476515"/>
                <a:gd name="csY35" fmla="*/ 824665 h 1057671"/>
                <a:gd name="csX36" fmla="*/ 680881 w 5476515"/>
                <a:gd name="csY36" fmla="*/ 824665 h 1057671"/>
                <a:gd name="csX37" fmla="*/ 680881 w 5476515"/>
                <a:gd name="csY37" fmla="*/ 116900 h 1057671"/>
                <a:gd name="csX38" fmla="*/ 450736 w 5476515"/>
                <a:gd name="csY38" fmla="*/ 824665 h 1057671"/>
                <a:gd name="csX39" fmla="*/ 338450 w 5476515"/>
                <a:gd name="csY39" fmla="*/ 824665 h 1057671"/>
                <a:gd name="csX40" fmla="*/ 109897 w 5476515"/>
                <a:gd name="csY40" fmla="*/ 116900 h 1057671"/>
                <a:gd name="csX41" fmla="*/ 109897 w 5476515"/>
                <a:gd name="csY41" fmla="*/ 824665 h 1057671"/>
                <a:gd name="csX42" fmla="*/ 0 w 5476515"/>
                <a:gd name="csY42" fmla="*/ 824665 h 1057671"/>
                <a:gd name="csX43" fmla="*/ 0 w 5476515"/>
                <a:gd name="csY43" fmla="*/ 13519 h 1057671"/>
                <a:gd name="csX44" fmla="*/ 181568 w 5476515"/>
                <a:gd name="csY44" fmla="*/ 13519 h 1057671"/>
                <a:gd name="csX45" fmla="*/ 394991 w 5476515"/>
                <a:gd name="csY45" fmla="*/ 672774 h 1057671"/>
                <a:gd name="csX46" fmla="*/ 394991 w 5476515"/>
                <a:gd name="csY46" fmla="*/ 672774 h 1057671"/>
                <a:gd name="csX47" fmla="*/ 1373708 w 5476515"/>
                <a:gd name="csY47" fmla="*/ 246525 h 1057671"/>
                <a:gd name="csX48" fmla="*/ 1433434 w 5476515"/>
                <a:gd name="csY48" fmla="*/ 270382 h 1057671"/>
                <a:gd name="csX49" fmla="*/ 1486790 w 5476515"/>
                <a:gd name="csY49" fmla="*/ 323663 h 1057671"/>
                <a:gd name="csX50" fmla="*/ 1512273 w 5476515"/>
                <a:gd name="csY50" fmla="*/ 385692 h 1057671"/>
                <a:gd name="csX51" fmla="*/ 1512273 w 5476515"/>
                <a:gd name="csY51" fmla="*/ 693451 h 1057671"/>
                <a:gd name="csX52" fmla="*/ 1519440 w 5476515"/>
                <a:gd name="csY52" fmla="*/ 710151 h 1057671"/>
                <a:gd name="csX53" fmla="*/ 1567222 w 5476515"/>
                <a:gd name="csY53" fmla="*/ 756275 h 1057671"/>
                <a:gd name="csX54" fmla="*/ 1498735 w 5476515"/>
                <a:gd name="csY54" fmla="*/ 823870 h 1057671"/>
                <a:gd name="csX55" fmla="*/ 1434231 w 5476515"/>
                <a:gd name="csY55" fmla="*/ 759456 h 1057671"/>
                <a:gd name="csX56" fmla="*/ 1393617 w 5476515"/>
                <a:gd name="csY56" fmla="*/ 800013 h 1057671"/>
                <a:gd name="csX57" fmla="*/ 1333890 w 5476515"/>
                <a:gd name="csY57" fmla="*/ 823870 h 1057671"/>
                <a:gd name="csX58" fmla="*/ 1131617 w 5476515"/>
                <a:gd name="csY58" fmla="*/ 823870 h 1057671"/>
                <a:gd name="csX59" fmla="*/ 1071891 w 5476515"/>
                <a:gd name="csY59" fmla="*/ 800013 h 1057671"/>
                <a:gd name="csX60" fmla="*/ 1018535 w 5476515"/>
                <a:gd name="csY60" fmla="*/ 746732 h 1057671"/>
                <a:gd name="csX61" fmla="*/ 993051 w 5476515"/>
                <a:gd name="csY61" fmla="*/ 684703 h 1057671"/>
                <a:gd name="csX62" fmla="*/ 993051 w 5476515"/>
                <a:gd name="csY62" fmla="*/ 590069 h 1057671"/>
                <a:gd name="csX63" fmla="*/ 1018535 w 5476515"/>
                <a:gd name="csY63" fmla="*/ 528040 h 1057671"/>
                <a:gd name="csX64" fmla="*/ 1066316 w 5476515"/>
                <a:gd name="csY64" fmla="*/ 480326 h 1057671"/>
                <a:gd name="csX65" fmla="*/ 1126839 w 5476515"/>
                <a:gd name="csY65" fmla="*/ 454878 h 1057671"/>
                <a:gd name="csX66" fmla="*/ 1408748 w 5476515"/>
                <a:gd name="csY66" fmla="*/ 454878 h 1057671"/>
                <a:gd name="csX67" fmla="*/ 1408748 w 5476515"/>
                <a:gd name="csY67" fmla="*/ 388873 h 1057671"/>
                <a:gd name="csX68" fmla="*/ 1401580 w 5476515"/>
                <a:gd name="csY68" fmla="*/ 372173 h 1057671"/>
                <a:gd name="csX69" fmla="*/ 1376893 w 5476515"/>
                <a:gd name="csY69" fmla="*/ 347520 h 1057671"/>
                <a:gd name="csX70" fmla="*/ 1360170 w 5476515"/>
                <a:gd name="csY70" fmla="*/ 340363 h 1057671"/>
                <a:gd name="csX71" fmla="*/ 1141173 w 5476515"/>
                <a:gd name="csY71" fmla="*/ 340363 h 1057671"/>
                <a:gd name="csX72" fmla="*/ 1124450 w 5476515"/>
                <a:gd name="csY72" fmla="*/ 347520 h 1057671"/>
                <a:gd name="csX73" fmla="*/ 1079058 w 5476515"/>
                <a:gd name="csY73" fmla="*/ 392849 h 1057671"/>
                <a:gd name="csX74" fmla="*/ 1014553 w 5476515"/>
                <a:gd name="csY74" fmla="*/ 328435 h 1057671"/>
                <a:gd name="csX75" fmla="*/ 1072687 w 5476515"/>
                <a:gd name="csY75" fmla="*/ 270382 h 1057671"/>
                <a:gd name="csX76" fmla="*/ 1132413 w 5476515"/>
                <a:gd name="csY76" fmla="*/ 246525 h 1057671"/>
                <a:gd name="csX77" fmla="*/ 1373708 w 5476515"/>
                <a:gd name="csY77" fmla="*/ 246525 h 1057671"/>
                <a:gd name="csX78" fmla="*/ 2425690 w 5476515"/>
                <a:gd name="csY78" fmla="*/ 246525 h 1057671"/>
                <a:gd name="csX79" fmla="*/ 2485416 w 5476515"/>
                <a:gd name="csY79" fmla="*/ 270382 h 1057671"/>
                <a:gd name="csX80" fmla="*/ 2538772 w 5476515"/>
                <a:gd name="csY80" fmla="*/ 323663 h 1057671"/>
                <a:gd name="csX81" fmla="*/ 2564255 w 5476515"/>
                <a:gd name="csY81" fmla="*/ 385692 h 1057671"/>
                <a:gd name="csX82" fmla="*/ 2564255 w 5476515"/>
                <a:gd name="csY82" fmla="*/ 693451 h 1057671"/>
                <a:gd name="csX83" fmla="*/ 2571422 w 5476515"/>
                <a:gd name="csY83" fmla="*/ 710151 h 1057671"/>
                <a:gd name="csX84" fmla="*/ 2619203 w 5476515"/>
                <a:gd name="csY84" fmla="*/ 756275 h 1057671"/>
                <a:gd name="csX85" fmla="*/ 2550717 w 5476515"/>
                <a:gd name="csY85" fmla="*/ 823870 h 1057671"/>
                <a:gd name="csX86" fmla="*/ 2486212 w 5476515"/>
                <a:gd name="csY86" fmla="*/ 759456 h 1057671"/>
                <a:gd name="csX87" fmla="*/ 2445599 w 5476515"/>
                <a:gd name="csY87" fmla="*/ 800013 h 1057671"/>
                <a:gd name="csX88" fmla="*/ 2385872 w 5476515"/>
                <a:gd name="csY88" fmla="*/ 823870 h 1057671"/>
                <a:gd name="csX89" fmla="*/ 2183598 w 5476515"/>
                <a:gd name="csY89" fmla="*/ 823870 h 1057671"/>
                <a:gd name="csX90" fmla="*/ 2123872 w 5476515"/>
                <a:gd name="csY90" fmla="*/ 800013 h 1057671"/>
                <a:gd name="csX91" fmla="*/ 2070516 w 5476515"/>
                <a:gd name="csY91" fmla="*/ 746732 h 1057671"/>
                <a:gd name="csX92" fmla="*/ 2045033 w 5476515"/>
                <a:gd name="csY92" fmla="*/ 684703 h 1057671"/>
                <a:gd name="csX93" fmla="*/ 2045033 w 5476515"/>
                <a:gd name="csY93" fmla="*/ 590069 h 1057671"/>
                <a:gd name="csX94" fmla="*/ 2070516 w 5476515"/>
                <a:gd name="csY94" fmla="*/ 528040 h 1057671"/>
                <a:gd name="csX95" fmla="*/ 2118297 w 5476515"/>
                <a:gd name="csY95" fmla="*/ 480326 h 1057671"/>
                <a:gd name="csX96" fmla="*/ 2178821 w 5476515"/>
                <a:gd name="csY96" fmla="*/ 454878 h 1057671"/>
                <a:gd name="csX97" fmla="*/ 2459933 w 5476515"/>
                <a:gd name="csY97" fmla="*/ 454878 h 1057671"/>
                <a:gd name="csX98" fmla="*/ 2459933 w 5476515"/>
                <a:gd name="csY98" fmla="*/ 388873 h 1057671"/>
                <a:gd name="csX99" fmla="*/ 2452765 w 5476515"/>
                <a:gd name="csY99" fmla="*/ 372173 h 1057671"/>
                <a:gd name="csX100" fmla="*/ 2428079 w 5476515"/>
                <a:gd name="csY100" fmla="*/ 347520 h 1057671"/>
                <a:gd name="csX101" fmla="*/ 2411356 w 5476515"/>
                <a:gd name="csY101" fmla="*/ 340363 h 1057671"/>
                <a:gd name="csX102" fmla="*/ 2192359 w 5476515"/>
                <a:gd name="csY102" fmla="*/ 340363 h 1057671"/>
                <a:gd name="csX103" fmla="*/ 2175635 w 5476515"/>
                <a:gd name="csY103" fmla="*/ 347520 h 1057671"/>
                <a:gd name="csX104" fmla="*/ 2130243 w 5476515"/>
                <a:gd name="csY104" fmla="*/ 392849 h 1057671"/>
                <a:gd name="csX105" fmla="*/ 2065738 w 5476515"/>
                <a:gd name="csY105" fmla="*/ 328435 h 1057671"/>
                <a:gd name="csX106" fmla="*/ 2123872 w 5476515"/>
                <a:gd name="csY106" fmla="*/ 270382 h 1057671"/>
                <a:gd name="csX107" fmla="*/ 2183598 w 5476515"/>
                <a:gd name="csY107" fmla="*/ 246525 h 1057671"/>
                <a:gd name="csX108" fmla="*/ 2425690 w 5476515"/>
                <a:gd name="csY108" fmla="*/ 246525 h 1057671"/>
                <a:gd name="csX109" fmla="*/ 3355033 w 5476515"/>
                <a:gd name="csY109" fmla="*/ 120877 h 1057671"/>
                <a:gd name="csX110" fmla="*/ 2940930 w 5476515"/>
                <a:gd name="csY110" fmla="*/ 120877 h 1057671"/>
                <a:gd name="csX111" fmla="*/ 2940930 w 5476515"/>
                <a:gd name="csY111" fmla="*/ 365016 h 1057671"/>
                <a:gd name="csX112" fmla="*/ 3355033 w 5476515"/>
                <a:gd name="csY112" fmla="*/ 365016 h 1057671"/>
                <a:gd name="csX113" fmla="*/ 3355033 w 5476515"/>
                <a:gd name="csY113" fmla="*/ 472373 h 1057671"/>
                <a:gd name="csX114" fmla="*/ 2940930 w 5476515"/>
                <a:gd name="csY114" fmla="*/ 472373 h 1057671"/>
                <a:gd name="csX115" fmla="*/ 2940930 w 5476515"/>
                <a:gd name="csY115" fmla="*/ 718103 h 1057671"/>
                <a:gd name="csX116" fmla="*/ 3355033 w 5476515"/>
                <a:gd name="csY116" fmla="*/ 718103 h 1057671"/>
                <a:gd name="csX117" fmla="*/ 3355033 w 5476515"/>
                <a:gd name="csY117" fmla="*/ 824665 h 1057671"/>
                <a:gd name="csX118" fmla="*/ 2830237 w 5476515"/>
                <a:gd name="csY118" fmla="*/ 824665 h 1057671"/>
                <a:gd name="csX119" fmla="*/ 2830237 w 5476515"/>
                <a:gd name="csY119" fmla="*/ 13519 h 1057671"/>
                <a:gd name="csX120" fmla="*/ 3355033 w 5476515"/>
                <a:gd name="csY120" fmla="*/ 13519 h 1057671"/>
                <a:gd name="csX121" fmla="*/ 3355033 w 5476515"/>
                <a:gd name="csY121" fmla="*/ 120877 h 1057671"/>
                <a:gd name="csX122" fmla="*/ 4061397 w 5476515"/>
                <a:gd name="csY122" fmla="*/ 729236 h 1057671"/>
                <a:gd name="csX123" fmla="*/ 4082899 w 5476515"/>
                <a:gd name="csY123" fmla="*/ 825461 h 1057671"/>
                <a:gd name="csX124" fmla="*/ 3984948 w 5476515"/>
                <a:gd name="csY124" fmla="*/ 825461 h 1057671"/>
                <a:gd name="csX125" fmla="*/ 3964243 w 5476515"/>
                <a:gd name="csY125" fmla="*/ 736394 h 1057671"/>
                <a:gd name="csX126" fmla="*/ 3898942 w 5476515"/>
                <a:gd name="csY126" fmla="*/ 800013 h 1057671"/>
                <a:gd name="csX127" fmla="*/ 3839215 w 5476515"/>
                <a:gd name="csY127" fmla="*/ 825461 h 1057671"/>
                <a:gd name="csX128" fmla="*/ 3680741 w 5476515"/>
                <a:gd name="csY128" fmla="*/ 825461 h 1057671"/>
                <a:gd name="csX129" fmla="*/ 3621015 w 5476515"/>
                <a:gd name="csY129" fmla="*/ 800808 h 1057671"/>
                <a:gd name="csX130" fmla="*/ 3567659 w 5476515"/>
                <a:gd name="csY130" fmla="*/ 747527 h 1057671"/>
                <a:gd name="csX131" fmla="*/ 3542176 w 5476515"/>
                <a:gd name="csY131" fmla="*/ 683908 h 1057671"/>
                <a:gd name="csX132" fmla="*/ 3542176 w 5476515"/>
                <a:gd name="csY132" fmla="*/ 385692 h 1057671"/>
                <a:gd name="csX133" fmla="*/ 3567659 w 5476515"/>
                <a:gd name="csY133" fmla="*/ 323663 h 1057671"/>
                <a:gd name="csX134" fmla="*/ 3621015 w 5476515"/>
                <a:gd name="csY134" fmla="*/ 270382 h 1057671"/>
                <a:gd name="csX135" fmla="*/ 3680741 w 5476515"/>
                <a:gd name="csY135" fmla="*/ 245730 h 1057671"/>
                <a:gd name="csX136" fmla="*/ 3837623 w 5476515"/>
                <a:gd name="csY136" fmla="*/ 245730 h 1057671"/>
                <a:gd name="csX137" fmla="*/ 3898145 w 5476515"/>
                <a:gd name="csY137" fmla="*/ 270382 h 1057671"/>
                <a:gd name="csX138" fmla="*/ 3957075 w 5476515"/>
                <a:gd name="csY138" fmla="*/ 330025 h 1057671"/>
                <a:gd name="csX139" fmla="*/ 3957075 w 5476515"/>
                <a:gd name="csY139" fmla="*/ 14314 h 1057671"/>
                <a:gd name="csX140" fmla="*/ 4060601 w 5476515"/>
                <a:gd name="csY140" fmla="*/ 14314 h 1057671"/>
                <a:gd name="csX141" fmla="*/ 4060601 w 5476515"/>
                <a:gd name="csY141" fmla="*/ 729236 h 1057671"/>
                <a:gd name="csX142" fmla="*/ 4060601 w 5476515"/>
                <a:gd name="csY142" fmla="*/ 729236 h 1057671"/>
                <a:gd name="csX143" fmla="*/ 5337951 w 5476515"/>
                <a:gd name="csY143" fmla="*/ 246525 h 1057671"/>
                <a:gd name="csX144" fmla="*/ 5397677 w 5476515"/>
                <a:gd name="csY144" fmla="*/ 270382 h 1057671"/>
                <a:gd name="csX145" fmla="*/ 5451033 w 5476515"/>
                <a:gd name="csY145" fmla="*/ 323663 h 1057671"/>
                <a:gd name="csX146" fmla="*/ 5476516 w 5476515"/>
                <a:gd name="csY146" fmla="*/ 385692 h 1057671"/>
                <a:gd name="csX147" fmla="*/ 5476516 w 5476515"/>
                <a:gd name="csY147" fmla="*/ 560645 h 1057671"/>
                <a:gd name="csX148" fmla="*/ 5061617 w 5476515"/>
                <a:gd name="csY148" fmla="*/ 560645 h 1057671"/>
                <a:gd name="csX149" fmla="*/ 5063209 w 5476515"/>
                <a:gd name="csY149" fmla="*/ 680727 h 1057671"/>
                <a:gd name="csX150" fmla="*/ 5069580 w 5476515"/>
                <a:gd name="csY150" fmla="*/ 697427 h 1057671"/>
                <a:gd name="csX151" fmla="*/ 5093471 w 5476515"/>
                <a:gd name="csY151" fmla="*/ 722079 h 1057671"/>
                <a:gd name="csX152" fmla="*/ 5110194 w 5476515"/>
                <a:gd name="csY152" fmla="*/ 729236 h 1057671"/>
                <a:gd name="csX153" fmla="*/ 5324413 w 5476515"/>
                <a:gd name="csY153" fmla="*/ 729236 h 1057671"/>
                <a:gd name="csX154" fmla="*/ 5341136 w 5476515"/>
                <a:gd name="csY154" fmla="*/ 722079 h 1057671"/>
                <a:gd name="csX155" fmla="*/ 5406437 w 5476515"/>
                <a:gd name="csY155" fmla="*/ 655279 h 1057671"/>
                <a:gd name="csX156" fmla="*/ 5474923 w 5476515"/>
                <a:gd name="csY156" fmla="*/ 722079 h 1057671"/>
                <a:gd name="csX157" fmla="*/ 5397677 w 5476515"/>
                <a:gd name="csY157" fmla="*/ 800013 h 1057671"/>
                <a:gd name="csX158" fmla="*/ 5337951 w 5476515"/>
                <a:gd name="csY158" fmla="*/ 823870 h 1057671"/>
                <a:gd name="csX159" fmla="*/ 5095063 w 5476515"/>
                <a:gd name="csY159" fmla="*/ 823870 h 1057671"/>
                <a:gd name="csX160" fmla="*/ 5035337 w 5476515"/>
                <a:gd name="csY160" fmla="*/ 800013 h 1057671"/>
                <a:gd name="csX161" fmla="*/ 4981981 w 5476515"/>
                <a:gd name="csY161" fmla="*/ 746732 h 1057671"/>
                <a:gd name="csX162" fmla="*/ 4956498 w 5476515"/>
                <a:gd name="csY162" fmla="*/ 684703 h 1057671"/>
                <a:gd name="csX163" fmla="*/ 4956498 w 5476515"/>
                <a:gd name="csY163" fmla="*/ 385692 h 1057671"/>
                <a:gd name="csX164" fmla="*/ 4981981 w 5476515"/>
                <a:gd name="csY164" fmla="*/ 323663 h 1057671"/>
                <a:gd name="csX165" fmla="*/ 5035337 w 5476515"/>
                <a:gd name="csY165" fmla="*/ 270382 h 1057671"/>
                <a:gd name="csX166" fmla="*/ 5095063 w 5476515"/>
                <a:gd name="csY166" fmla="*/ 246525 h 1057671"/>
                <a:gd name="csX167" fmla="*/ 5337951 w 5476515"/>
                <a:gd name="csY167" fmla="*/ 246525 h 1057671"/>
                <a:gd name="csX168" fmla="*/ 1869836 w 5476515"/>
                <a:gd name="csY168" fmla="*/ 824665 h 1057671"/>
                <a:gd name="csX169" fmla="*/ 1766310 w 5476515"/>
                <a:gd name="csY169" fmla="*/ 824665 h 1057671"/>
                <a:gd name="csX170" fmla="*/ 1766310 w 5476515"/>
                <a:gd name="csY170" fmla="*/ 340363 h 1057671"/>
                <a:gd name="csX171" fmla="*/ 1642079 w 5476515"/>
                <a:gd name="csY171" fmla="*/ 340363 h 1057671"/>
                <a:gd name="csX172" fmla="*/ 1642079 w 5476515"/>
                <a:gd name="csY172" fmla="*/ 245730 h 1057671"/>
                <a:gd name="csX173" fmla="*/ 1869836 w 5476515"/>
                <a:gd name="csY173" fmla="*/ 245730 h 1057671"/>
                <a:gd name="csX174" fmla="*/ 1869836 w 5476515"/>
                <a:gd name="csY174" fmla="*/ 824665 h 1057671"/>
                <a:gd name="csX175" fmla="*/ 1147544 w 5476515"/>
                <a:gd name="csY175" fmla="*/ 545536 h 1057671"/>
                <a:gd name="csX176" fmla="*/ 1130821 w 5476515"/>
                <a:gd name="csY176" fmla="*/ 552693 h 1057671"/>
                <a:gd name="csX177" fmla="*/ 1106134 w 5476515"/>
                <a:gd name="csY177" fmla="*/ 577345 h 1057671"/>
                <a:gd name="csX178" fmla="*/ 1097374 w 5476515"/>
                <a:gd name="csY178" fmla="*/ 594045 h 1057671"/>
                <a:gd name="csX179" fmla="*/ 1097374 w 5476515"/>
                <a:gd name="csY179" fmla="*/ 681522 h 1057671"/>
                <a:gd name="csX180" fmla="*/ 1105337 w 5476515"/>
                <a:gd name="csY180" fmla="*/ 698222 h 1057671"/>
                <a:gd name="csX181" fmla="*/ 1129228 w 5476515"/>
                <a:gd name="csY181" fmla="*/ 722079 h 1057671"/>
                <a:gd name="csX182" fmla="*/ 1145951 w 5476515"/>
                <a:gd name="csY182" fmla="*/ 729236 h 1057671"/>
                <a:gd name="csX183" fmla="*/ 1320352 w 5476515"/>
                <a:gd name="csY183" fmla="*/ 729236 h 1057671"/>
                <a:gd name="csX184" fmla="*/ 1337076 w 5476515"/>
                <a:gd name="csY184" fmla="*/ 722079 h 1057671"/>
                <a:gd name="csX185" fmla="*/ 1402377 w 5476515"/>
                <a:gd name="csY185" fmla="*/ 659255 h 1057671"/>
                <a:gd name="csX186" fmla="*/ 1409544 w 5476515"/>
                <a:gd name="csY186" fmla="*/ 640965 h 1057671"/>
                <a:gd name="csX187" fmla="*/ 1409544 w 5476515"/>
                <a:gd name="csY187" fmla="*/ 544740 h 1057671"/>
                <a:gd name="csX188" fmla="*/ 1147544 w 5476515"/>
                <a:gd name="csY188" fmla="*/ 544740 h 1057671"/>
                <a:gd name="csX189" fmla="*/ 2198729 w 5476515"/>
                <a:gd name="csY189" fmla="*/ 545536 h 1057671"/>
                <a:gd name="csX190" fmla="*/ 2182006 w 5476515"/>
                <a:gd name="csY190" fmla="*/ 552693 h 1057671"/>
                <a:gd name="csX191" fmla="*/ 2157319 w 5476515"/>
                <a:gd name="csY191" fmla="*/ 577345 h 1057671"/>
                <a:gd name="csX192" fmla="*/ 2148559 w 5476515"/>
                <a:gd name="csY192" fmla="*/ 594045 h 1057671"/>
                <a:gd name="csX193" fmla="*/ 2148559 w 5476515"/>
                <a:gd name="csY193" fmla="*/ 681522 h 1057671"/>
                <a:gd name="csX194" fmla="*/ 2155726 w 5476515"/>
                <a:gd name="csY194" fmla="*/ 698222 h 1057671"/>
                <a:gd name="csX195" fmla="*/ 2180413 w 5476515"/>
                <a:gd name="csY195" fmla="*/ 722079 h 1057671"/>
                <a:gd name="csX196" fmla="*/ 2197137 w 5476515"/>
                <a:gd name="csY196" fmla="*/ 729236 h 1057671"/>
                <a:gd name="csX197" fmla="*/ 2371538 w 5476515"/>
                <a:gd name="csY197" fmla="*/ 729236 h 1057671"/>
                <a:gd name="csX198" fmla="*/ 2388261 w 5476515"/>
                <a:gd name="csY198" fmla="*/ 722079 h 1057671"/>
                <a:gd name="csX199" fmla="*/ 2452765 w 5476515"/>
                <a:gd name="csY199" fmla="*/ 659255 h 1057671"/>
                <a:gd name="csX200" fmla="*/ 2459933 w 5476515"/>
                <a:gd name="csY200" fmla="*/ 640965 h 1057671"/>
                <a:gd name="csX201" fmla="*/ 2459933 w 5476515"/>
                <a:gd name="csY201" fmla="*/ 544740 h 1057671"/>
                <a:gd name="csX202" fmla="*/ 2197933 w 5476515"/>
                <a:gd name="csY202" fmla="*/ 544740 h 1057671"/>
                <a:gd name="csX203" fmla="*/ 2197933 w 5476515"/>
                <a:gd name="csY203" fmla="*/ 544740 h 1057671"/>
                <a:gd name="csX204" fmla="*/ 3695872 w 5476515"/>
                <a:gd name="csY204" fmla="*/ 341159 h 1057671"/>
                <a:gd name="csX205" fmla="*/ 3679148 w 5476515"/>
                <a:gd name="csY205" fmla="*/ 348316 h 1057671"/>
                <a:gd name="csX206" fmla="*/ 3654462 w 5476515"/>
                <a:gd name="csY206" fmla="*/ 372173 h 1057671"/>
                <a:gd name="csX207" fmla="*/ 3645702 w 5476515"/>
                <a:gd name="csY207" fmla="*/ 388873 h 1057671"/>
                <a:gd name="csX208" fmla="*/ 3645702 w 5476515"/>
                <a:gd name="csY208" fmla="*/ 677546 h 1057671"/>
                <a:gd name="csX209" fmla="*/ 3652869 w 5476515"/>
                <a:gd name="csY209" fmla="*/ 698222 h 1057671"/>
                <a:gd name="csX210" fmla="*/ 3676759 w 5476515"/>
                <a:gd name="csY210" fmla="*/ 722079 h 1057671"/>
                <a:gd name="csX211" fmla="*/ 3693483 w 5476515"/>
                <a:gd name="csY211" fmla="*/ 729236 h 1057671"/>
                <a:gd name="csX212" fmla="*/ 3835234 w 5476515"/>
                <a:gd name="csY212" fmla="*/ 729236 h 1057671"/>
                <a:gd name="csX213" fmla="*/ 3853550 w 5476515"/>
                <a:gd name="csY213" fmla="*/ 722079 h 1057671"/>
                <a:gd name="csX214" fmla="*/ 3949908 w 5476515"/>
                <a:gd name="csY214" fmla="*/ 625855 h 1057671"/>
                <a:gd name="csX215" fmla="*/ 3957075 w 5476515"/>
                <a:gd name="csY215" fmla="*/ 609155 h 1057671"/>
                <a:gd name="csX216" fmla="*/ 3957075 w 5476515"/>
                <a:gd name="csY216" fmla="*/ 460445 h 1057671"/>
                <a:gd name="csX217" fmla="*/ 3949908 w 5476515"/>
                <a:gd name="csY217" fmla="*/ 443745 h 1057671"/>
                <a:gd name="csX218" fmla="*/ 3853550 w 5476515"/>
                <a:gd name="csY218" fmla="*/ 347520 h 1057671"/>
                <a:gd name="csX219" fmla="*/ 3836826 w 5476515"/>
                <a:gd name="csY219" fmla="*/ 340363 h 1057671"/>
                <a:gd name="csX220" fmla="*/ 3695872 w 5476515"/>
                <a:gd name="csY220" fmla="*/ 340363 h 1057671"/>
                <a:gd name="csX221" fmla="*/ 4403829 w 5476515"/>
                <a:gd name="csY221" fmla="*/ 341159 h 1057671"/>
                <a:gd name="csX222" fmla="*/ 4387106 w 5476515"/>
                <a:gd name="csY222" fmla="*/ 348316 h 1057671"/>
                <a:gd name="csX223" fmla="*/ 4362419 w 5476515"/>
                <a:gd name="csY223" fmla="*/ 372173 h 1057671"/>
                <a:gd name="csX224" fmla="*/ 4353659 w 5476515"/>
                <a:gd name="csY224" fmla="*/ 392054 h 1057671"/>
                <a:gd name="csX225" fmla="*/ 4353659 w 5476515"/>
                <a:gd name="csY225" fmla="*/ 681522 h 1057671"/>
                <a:gd name="csX226" fmla="*/ 4361623 w 5476515"/>
                <a:gd name="csY226" fmla="*/ 698222 h 1057671"/>
                <a:gd name="csX227" fmla="*/ 4385513 w 5476515"/>
                <a:gd name="csY227" fmla="*/ 722079 h 1057671"/>
                <a:gd name="csX228" fmla="*/ 4402237 w 5476515"/>
                <a:gd name="csY228" fmla="*/ 729236 h 1057671"/>
                <a:gd name="csX229" fmla="*/ 4543191 w 5476515"/>
                <a:gd name="csY229" fmla="*/ 729236 h 1057671"/>
                <a:gd name="csX230" fmla="*/ 4561507 w 5476515"/>
                <a:gd name="csY230" fmla="*/ 722079 h 1057671"/>
                <a:gd name="csX231" fmla="*/ 4657866 w 5476515"/>
                <a:gd name="csY231" fmla="*/ 625855 h 1057671"/>
                <a:gd name="csX232" fmla="*/ 4665033 w 5476515"/>
                <a:gd name="csY232" fmla="*/ 609155 h 1057671"/>
                <a:gd name="csX233" fmla="*/ 4665033 w 5476515"/>
                <a:gd name="csY233" fmla="*/ 460445 h 1057671"/>
                <a:gd name="csX234" fmla="*/ 4657866 w 5476515"/>
                <a:gd name="csY234" fmla="*/ 443745 h 1057671"/>
                <a:gd name="csX235" fmla="*/ 4561507 w 5476515"/>
                <a:gd name="csY235" fmla="*/ 347520 h 1057671"/>
                <a:gd name="csX236" fmla="*/ 4544784 w 5476515"/>
                <a:gd name="csY236" fmla="*/ 340363 h 1057671"/>
                <a:gd name="csX237" fmla="*/ 4403033 w 5476515"/>
                <a:gd name="csY237" fmla="*/ 340363 h 1057671"/>
                <a:gd name="csX238" fmla="*/ 4403033 w 5476515"/>
                <a:gd name="csY238" fmla="*/ 340363 h 1057671"/>
                <a:gd name="csX239" fmla="*/ 5111787 w 5476515"/>
                <a:gd name="csY239" fmla="*/ 341159 h 1057671"/>
                <a:gd name="csX240" fmla="*/ 5095063 w 5476515"/>
                <a:gd name="csY240" fmla="*/ 348316 h 1057671"/>
                <a:gd name="csX241" fmla="*/ 5070376 w 5476515"/>
                <a:gd name="csY241" fmla="*/ 372173 h 1057671"/>
                <a:gd name="csX242" fmla="*/ 5061617 w 5476515"/>
                <a:gd name="csY242" fmla="*/ 388873 h 1057671"/>
                <a:gd name="csX243" fmla="*/ 5061617 w 5476515"/>
                <a:gd name="csY243" fmla="*/ 469192 h 1057671"/>
                <a:gd name="csX244" fmla="*/ 5373787 w 5476515"/>
                <a:gd name="csY244" fmla="*/ 467602 h 1057671"/>
                <a:gd name="csX245" fmla="*/ 5373787 w 5476515"/>
                <a:gd name="csY245" fmla="*/ 388078 h 1057671"/>
                <a:gd name="csX246" fmla="*/ 5366619 w 5476515"/>
                <a:gd name="csY246" fmla="*/ 371378 h 1057671"/>
                <a:gd name="csX247" fmla="*/ 5341933 w 5476515"/>
                <a:gd name="csY247" fmla="*/ 347520 h 1057671"/>
                <a:gd name="csX248" fmla="*/ 5325209 w 5476515"/>
                <a:gd name="csY248" fmla="*/ 340363 h 1057671"/>
                <a:gd name="csX249" fmla="*/ 5111787 w 5476515"/>
                <a:gd name="csY249" fmla="*/ 340363 h 1057671"/>
                <a:gd name="csX250" fmla="*/ 1881781 w 5476515"/>
                <a:gd name="csY250" fmla="*/ 128829 h 1057671"/>
                <a:gd name="csX251" fmla="*/ 1751975 w 5476515"/>
                <a:gd name="csY251" fmla="*/ 128829 h 1057671"/>
                <a:gd name="csX252" fmla="*/ 1751975 w 5476515"/>
                <a:gd name="csY252" fmla="*/ 0 h 1057671"/>
                <a:gd name="csX253" fmla="*/ 1881781 w 5476515"/>
                <a:gd name="csY253" fmla="*/ 0 h 1057671"/>
                <a:gd name="csX254" fmla="*/ 1881781 w 5476515"/>
                <a:gd name="csY254" fmla="*/ 128829 h 105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Lst>
              <a:rect l="l" t="t" r="r" b="b"/>
              <a:pathLst>
                <a:path w="5476515" h="1057671">
                  <a:moveTo>
                    <a:pt x="4546376" y="245730"/>
                  </a:moveTo>
                  <a:cubicBezTo>
                    <a:pt x="4569471" y="245730"/>
                    <a:pt x="4590176" y="254477"/>
                    <a:pt x="4606899" y="270382"/>
                  </a:cubicBezTo>
                  <a:lnTo>
                    <a:pt x="4671404" y="334797"/>
                  </a:lnTo>
                  <a:lnTo>
                    <a:pt x="4690516" y="245730"/>
                  </a:lnTo>
                  <a:lnTo>
                    <a:pt x="4789264" y="245730"/>
                  </a:lnTo>
                  <a:lnTo>
                    <a:pt x="4769355" y="341954"/>
                  </a:lnTo>
                  <a:lnTo>
                    <a:pt x="4769355" y="916118"/>
                  </a:lnTo>
                  <a:cubicBezTo>
                    <a:pt x="4769355" y="939975"/>
                    <a:pt x="4759799" y="962242"/>
                    <a:pt x="4743872" y="978147"/>
                  </a:cubicBezTo>
                  <a:lnTo>
                    <a:pt x="4690516" y="1031428"/>
                  </a:lnTo>
                  <a:cubicBezTo>
                    <a:pt x="4673793" y="1048923"/>
                    <a:pt x="4653884" y="1057671"/>
                    <a:pt x="4630790" y="1057671"/>
                  </a:cubicBezTo>
                  <a:lnTo>
                    <a:pt x="4388699" y="1057671"/>
                  </a:lnTo>
                  <a:cubicBezTo>
                    <a:pt x="4364808" y="1057671"/>
                    <a:pt x="4345695" y="1048923"/>
                    <a:pt x="4328972" y="1033019"/>
                  </a:cubicBezTo>
                  <a:lnTo>
                    <a:pt x="4255708" y="959856"/>
                  </a:lnTo>
                  <a:lnTo>
                    <a:pt x="4321009" y="893056"/>
                  </a:lnTo>
                  <a:lnTo>
                    <a:pt x="4383124" y="955085"/>
                  </a:lnTo>
                  <a:cubicBezTo>
                    <a:pt x="4387902" y="961447"/>
                    <a:pt x="4394273" y="963833"/>
                    <a:pt x="4399847" y="963833"/>
                  </a:cubicBezTo>
                  <a:lnTo>
                    <a:pt x="4615659" y="963833"/>
                  </a:lnTo>
                  <a:cubicBezTo>
                    <a:pt x="4622030" y="963833"/>
                    <a:pt x="4627604" y="959856"/>
                    <a:pt x="4632382" y="956675"/>
                  </a:cubicBezTo>
                  <a:lnTo>
                    <a:pt x="4657070" y="932023"/>
                  </a:lnTo>
                  <a:cubicBezTo>
                    <a:pt x="4661847" y="927252"/>
                    <a:pt x="4664236" y="920890"/>
                    <a:pt x="4664236" y="915323"/>
                  </a:cubicBezTo>
                  <a:lnTo>
                    <a:pt x="4664236" y="741165"/>
                  </a:lnTo>
                  <a:lnTo>
                    <a:pt x="4606103" y="800013"/>
                  </a:lnTo>
                  <a:cubicBezTo>
                    <a:pt x="4589380" y="816713"/>
                    <a:pt x="4568674" y="825461"/>
                    <a:pt x="4546376" y="825461"/>
                  </a:cubicBezTo>
                  <a:lnTo>
                    <a:pt x="4387902" y="825461"/>
                  </a:lnTo>
                  <a:cubicBezTo>
                    <a:pt x="4364808" y="825461"/>
                    <a:pt x="4344899" y="818303"/>
                    <a:pt x="4328176" y="800808"/>
                  </a:cubicBezTo>
                  <a:lnTo>
                    <a:pt x="4274820" y="747527"/>
                  </a:lnTo>
                  <a:cubicBezTo>
                    <a:pt x="4258097" y="730032"/>
                    <a:pt x="4249337" y="709355"/>
                    <a:pt x="4249337" y="685498"/>
                  </a:cubicBezTo>
                  <a:lnTo>
                    <a:pt x="4249337" y="387283"/>
                  </a:lnTo>
                  <a:cubicBezTo>
                    <a:pt x="4249337" y="363425"/>
                    <a:pt x="4258097" y="341159"/>
                    <a:pt x="4274820" y="323663"/>
                  </a:cubicBezTo>
                  <a:lnTo>
                    <a:pt x="4328176" y="270382"/>
                  </a:lnTo>
                  <a:cubicBezTo>
                    <a:pt x="4344899" y="253682"/>
                    <a:pt x="4364808" y="245730"/>
                    <a:pt x="4387902" y="245730"/>
                  </a:cubicBezTo>
                  <a:lnTo>
                    <a:pt x="4546376" y="245730"/>
                  </a:lnTo>
                  <a:close/>
                  <a:moveTo>
                    <a:pt x="394194" y="672774"/>
                  </a:moveTo>
                  <a:lnTo>
                    <a:pt x="607617" y="13519"/>
                  </a:lnTo>
                  <a:lnTo>
                    <a:pt x="789185" y="13519"/>
                  </a:lnTo>
                  <a:lnTo>
                    <a:pt x="789185" y="824665"/>
                  </a:lnTo>
                  <a:lnTo>
                    <a:pt x="680881" y="824665"/>
                  </a:lnTo>
                  <a:lnTo>
                    <a:pt x="680881" y="116900"/>
                  </a:lnTo>
                  <a:lnTo>
                    <a:pt x="450736" y="824665"/>
                  </a:lnTo>
                  <a:lnTo>
                    <a:pt x="338450" y="824665"/>
                  </a:lnTo>
                  <a:lnTo>
                    <a:pt x="109897" y="116900"/>
                  </a:lnTo>
                  <a:lnTo>
                    <a:pt x="109897" y="824665"/>
                  </a:lnTo>
                  <a:lnTo>
                    <a:pt x="0" y="824665"/>
                  </a:lnTo>
                  <a:lnTo>
                    <a:pt x="0" y="13519"/>
                  </a:lnTo>
                  <a:lnTo>
                    <a:pt x="181568" y="13519"/>
                  </a:lnTo>
                  <a:lnTo>
                    <a:pt x="394991" y="672774"/>
                  </a:lnTo>
                  <a:lnTo>
                    <a:pt x="394991" y="672774"/>
                  </a:lnTo>
                  <a:close/>
                  <a:moveTo>
                    <a:pt x="1373708" y="246525"/>
                  </a:moveTo>
                  <a:cubicBezTo>
                    <a:pt x="1398395" y="246525"/>
                    <a:pt x="1417507" y="255272"/>
                    <a:pt x="1433434" y="270382"/>
                  </a:cubicBezTo>
                  <a:lnTo>
                    <a:pt x="1486790" y="323663"/>
                  </a:lnTo>
                  <a:cubicBezTo>
                    <a:pt x="1503513" y="340363"/>
                    <a:pt x="1512273" y="362630"/>
                    <a:pt x="1512273" y="385692"/>
                  </a:cubicBezTo>
                  <a:lnTo>
                    <a:pt x="1512273" y="693451"/>
                  </a:lnTo>
                  <a:cubicBezTo>
                    <a:pt x="1512273" y="700608"/>
                    <a:pt x="1515459" y="705379"/>
                    <a:pt x="1519440" y="710151"/>
                  </a:cubicBezTo>
                  <a:lnTo>
                    <a:pt x="1567222" y="756275"/>
                  </a:lnTo>
                  <a:lnTo>
                    <a:pt x="1498735" y="823870"/>
                  </a:lnTo>
                  <a:lnTo>
                    <a:pt x="1434231" y="759456"/>
                  </a:lnTo>
                  <a:lnTo>
                    <a:pt x="1393617" y="800013"/>
                  </a:lnTo>
                  <a:cubicBezTo>
                    <a:pt x="1376893" y="815918"/>
                    <a:pt x="1356985" y="823870"/>
                    <a:pt x="1333890" y="823870"/>
                  </a:cubicBezTo>
                  <a:lnTo>
                    <a:pt x="1131617" y="823870"/>
                  </a:lnTo>
                  <a:cubicBezTo>
                    <a:pt x="1108523" y="823870"/>
                    <a:pt x="1088614" y="816713"/>
                    <a:pt x="1071891" y="800013"/>
                  </a:cubicBezTo>
                  <a:lnTo>
                    <a:pt x="1018535" y="746732"/>
                  </a:lnTo>
                  <a:cubicBezTo>
                    <a:pt x="1001811" y="730032"/>
                    <a:pt x="993051" y="708560"/>
                    <a:pt x="993051" y="684703"/>
                  </a:cubicBezTo>
                  <a:lnTo>
                    <a:pt x="993051" y="590069"/>
                  </a:lnTo>
                  <a:cubicBezTo>
                    <a:pt x="993051" y="565417"/>
                    <a:pt x="1001811" y="544740"/>
                    <a:pt x="1018535" y="528040"/>
                  </a:cubicBezTo>
                  <a:lnTo>
                    <a:pt x="1066316" y="480326"/>
                  </a:lnTo>
                  <a:cubicBezTo>
                    <a:pt x="1083039" y="463626"/>
                    <a:pt x="1104541" y="454878"/>
                    <a:pt x="1126839" y="454878"/>
                  </a:cubicBezTo>
                  <a:lnTo>
                    <a:pt x="1408748" y="454878"/>
                  </a:lnTo>
                  <a:lnTo>
                    <a:pt x="1408748" y="388873"/>
                  </a:lnTo>
                  <a:cubicBezTo>
                    <a:pt x="1408748" y="382511"/>
                    <a:pt x="1406359" y="376149"/>
                    <a:pt x="1401580" y="372173"/>
                  </a:cubicBezTo>
                  <a:lnTo>
                    <a:pt x="1376893" y="347520"/>
                  </a:lnTo>
                  <a:cubicBezTo>
                    <a:pt x="1372115" y="342749"/>
                    <a:pt x="1365745" y="340363"/>
                    <a:pt x="1360170" y="340363"/>
                  </a:cubicBezTo>
                  <a:lnTo>
                    <a:pt x="1141173" y="340363"/>
                  </a:lnTo>
                  <a:cubicBezTo>
                    <a:pt x="1134006" y="340363"/>
                    <a:pt x="1127635" y="342749"/>
                    <a:pt x="1124450" y="347520"/>
                  </a:cubicBezTo>
                  <a:lnTo>
                    <a:pt x="1079058" y="392849"/>
                  </a:lnTo>
                  <a:lnTo>
                    <a:pt x="1014553" y="328435"/>
                  </a:lnTo>
                  <a:lnTo>
                    <a:pt x="1072687" y="270382"/>
                  </a:lnTo>
                  <a:cubicBezTo>
                    <a:pt x="1089410" y="253682"/>
                    <a:pt x="1108523" y="246525"/>
                    <a:pt x="1132413" y="246525"/>
                  </a:cubicBezTo>
                  <a:lnTo>
                    <a:pt x="1373708" y="246525"/>
                  </a:lnTo>
                  <a:close/>
                  <a:moveTo>
                    <a:pt x="2425690" y="246525"/>
                  </a:moveTo>
                  <a:cubicBezTo>
                    <a:pt x="2450376" y="246525"/>
                    <a:pt x="2469489" y="255272"/>
                    <a:pt x="2485416" y="270382"/>
                  </a:cubicBezTo>
                  <a:lnTo>
                    <a:pt x="2538772" y="323663"/>
                  </a:lnTo>
                  <a:cubicBezTo>
                    <a:pt x="2555495" y="340363"/>
                    <a:pt x="2564255" y="362630"/>
                    <a:pt x="2564255" y="385692"/>
                  </a:cubicBezTo>
                  <a:lnTo>
                    <a:pt x="2564255" y="693451"/>
                  </a:lnTo>
                  <a:cubicBezTo>
                    <a:pt x="2564255" y="700608"/>
                    <a:pt x="2567440" y="705379"/>
                    <a:pt x="2571422" y="710151"/>
                  </a:cubicBezTo>
                  <a:lnTo>
                    <a:pt x="2619203" y="756275"/>
                  </a:lnTo>
                  <a:lnTo>
                    <a:pt x="2550717" y="823870"/>
                  </a:lnTo>
                  <a:lnTo>
                    <a:pt x="2486212" y="759456"/>
                  </a:lnTo>
                  <a:lnTo>
                    <a:pt x="2445599" y="800013"/>
                  </a:lnTo>
                  <a:cubicBezTo>
                    <a:pt x="2428875" y="815918"/>
                    <a:pt x="2408966" y="823870"/>
                    <a:pt x="2385872" y="823870"/>
                  </a:cubicBezTo>
                  <a:lnTo>
                    <a:pt x="2183598" y="823870"/>
                  </a:lnTo>
                  <a:cubicBezTo>
                    <a:pt x="2160504" y="823870"/>
                    <a:pt x="2140596" y="816713"/>
                    <a:pt x="2123872" y="800013"/>
                  </a:cubicBezTo>
                  <a:lnTo>
                    <a:pt x="2070516" y="746732"/>
                  </a:lnTo>
                  <a:cubicBezTo>
                    <a:pt x="2053793" y="730032"/>
                    <a:pt x="2045033" y="708560"/>
                    <a:pt x="2045033" y="684703"/>
                  </a:cubicBezTo>
                  <a:lnTo>
                    <a:pt x="2045033" y="590069"/>
                  </a:lnTo>
                  <a:cubicBezTo>
                    <a:pt x="2045033" y="565417"/>
                    <a:pt x="2053793" y="544740"/>
                    <a:pt x="2070516" y="528040"/>
                  </a:cubicBezTo>
                  <a:lnTo>
                    <a:pt x="2118297" y="480326"/>
                  </a:lnTo>
                  <a:cubicBezTo>
                    <a:pt x="2135021" y="463626"/>
                    <a:pt x="2156523" y="454878"/>
                    <a:pt x="2178821" y="454878"/>
                  </a:cubicBezTo>
                  <a:lnTo>
                    <a:pt x="2459933" y="454878"/>
                  </a:lnTo>
                  <a:lnTo>
                    <a:pt x="2459933" y="388873"/>
                  </a:lnTo>
                  <a:cubicBezTo>
                    <a:pt x="2459933" y="382511"/>
                    <a:pt x="2457544" y="376149"/>
                    <a:pt x="2452765" y="372173"/>
                  </a:cubicBezTo>
                  <a:lnTo>
                    <a:pt x="2428079" y="347520"/>
                  </a:lnTo>
                  <a:cubicBezTo>
                    <a:pt x="2423301" y="342749"/>
                    <a:pt x="2416930" y="340363"/>
                    <a:pt x="2411356" y="340363"/>
                  </a:cubicBezTo>
                  <a:lnTo>
                    <a:pt x="2192359" y="340363"/>
                  </a:lnTo>
                  <a:cubicBezTo>
                    <a:pt x="2185191" y="340363"/>
                    <a:pt x="2178821" y="342749"/>
                    <a:pt x="2175635" y="347520"/>
                  </a:cubicBezTo>
                  <a:lnTo>
                    <a:pt x="2130243" y="392849"/>
                  </a:lnTo>
                  <a:lnTo>
                    <a:pt x="2065738" y="328435"/>
                  </a:lnTo>
                  <a:lnTo>
                    <a:pt x="2123872" y="270382"/>
                  </a:lnTo>
                  <a:cubicBezTo>
                    <a:pt x="2140596" y="253682"/>
                    <a:pt x="2159708" y="246525"/>
                    <a:pt x="2183598" y="246525"/>
                  </a:cubicBezTo>
                  <a:lnTo>
                    <a:pt x="2425690" y="246525"/>
                  </a:lnTo>
                  <a:close/>
                  <a:moveTo>
                    <a:pt x="3355033" y="120877"/>
                  </a:moveTo>
                  <a:lnTo>
                    <a:pt x="2940930" y="120877"/>
                  </a:lnTo>
                  <a:lnTo>
                    <a:pt x="2940930" y="365016"/>
                  </a:lnTo>
                  <a:lnTo>
                    <a:pt x="3355033" y="365016"/>
                  </a:lnTo>
                  <a:lnTo>
                    <a:pt x="3355033" y="472373"/>
                  </a:lnTo>
                  <a:lnTo>
                    <a:pt x="2940930" y="472373"/>
                  </a:lnTo>
                  <a:lnTo>
                    <a:pt x="2940930" y="718103"/>
                  </a:lnTo>
                  <a:lnTo>
                    <a:pt x="3355033" y="718103"/>
                  </a:lnTo>
                  <a:lnTo>
                    <a:pt x="3355033" y="824665"/>
                  </a:lnTo>
                  <a:lnTo>
                    <a:pt x="2830237" y="824665"/>
                  </a:lnTo>
                  <a:lnTo>
                    <a:pt x="2830237" y="13519"/>
                  </a:lnTo>
                  <a:lnTo>
                    <a:pt x="3355033" y="13519"/>
                  </a:lnTo>
                  <a:lnTo>
                    <a:pt x="3355033" y="120877"/>
                  </a:lnTo>
                  <a:close/>
                  <a:moveTo>
                    <a:pt x="4061397" y="729236"/>
                  </a:moveTo>
                  <a:lnTo>
                    <a:pt x="4082899" y="825461"/>
                  </a:lnTo>
                  <a:lnTo>
                    <a:pt x="3984948" y="825461"/>
                  </a:lnTo>
                  <a:lnTo>
                    <a:pt x="3964243" y="736394"/>
                  </a:lnTo>
                  <a:lnTo>
                    <a:pt x="3898942" y="800013"/>
                  </a:lnTo>
                  <a:cubicBezTo>
                    <a:pt x="3882218" y="816713"/>
                    <a:pt x="3861513" y="825461"/>
                    <a:pt x="3839215" y="825461"/>
                  </a:cubicBezTo>
                  <a:lnTo>
                    <a:pt x="3680741" y="825461"/>
                  </a:lnTo>
                  <a:cubicBezTo>
                    <a:pt x="3657647" y="825461"/>
                    <a:pt x="3638534" y="818303"/>
                    <a:pt x="3621015" y="800808"/>
                  </a:cubicBezTo>
                  <a:lnTo>
                    <a:pt x="3567659" y="747527"/>
                  </a:lnTo>
                  <a:cubicBezTo>
                    <a:pt x="3550936" y="730032"/>
                    <a:pt x="3542176" y="708560"/>
                    <a:pt x="3542176" y="683908"/>
                  </a:cubicBezTo>
                  <a:lnTo>
                    <a:pt x="3542176" y="385692"/>
                  </a:lnTo>
                  <a:cubicBezTo>
                    <a:pt x="3542176" y="361835"/>
                    <a:pt x="3550936" y="341159"/>
                    <a:pt x="3567659" y="323663"/>
                  </a:cubicBezTo>
                  <a:lnTo>
                    <a:pt x="3621015" y="270382"/>
                  </a:lnTo>
                  <a:cubicBezTo>
                    <a:pt x="3637738" y="253682"/>
                    <a:pt x="3656850" y="245730"/>
                    <a:pt x="3680741" y="245730"/>
                  </a:cubicBezTo>
                  <a:lnTo>
                    <a:pt x="3837623" y="245730"/>
                  </a:lnTo>
                  <a:cubicBezTo>
                    <a:pt x="3860717" y="245730"/>
                    <a:pt x="3881422" y="254477"/>
                    <a:pt x="3898145" y="270382"/>
                  </a:cubicBezTo>
                  <a:lnTo>
                    <a:pt x="3957075" y="330025"/>
                  </a:lnTo>
                  <a:lnTo>
                    <a:pt x="3957075" y="14314"/>
                  </a:lnTo>
                  <a:lnTo>
                    <a:pt x="4060601" y="14314"/>
                  </a:lnTo>
                  <a:lnTo>
                    <a:pt x="4060601" y="729236"/>
                  </a:lnTo>
                  <a:lnTo>
                    <a:pt x="4060601" y="729236"/>
                  </a:lnTo>
                  <a:close/>
                  <a:moveTo>
                    <a:pt x="5337951" y="246525"/>
                  </a:moveTo>
                  <a:cubicBezTo>
                    <a:pt x="5361045" y="246525"/>
                    <a:pt x="5381750" y="253682"/>
                    <a:pt x="5397677" y="270382"/>
                  </a:cubicBezTo>
                  <a:lnTo>
                    <a:pt x="5451033" y="323663"/>
                  </a:lnTo>
                  <a:cubicBezTo>
                    <a:pt x="5467756" y="340363"/>
                    <a:pt x="5476516" y="361040"/>
                    <a:pt x="5476516" y="385692"/>
                  </a:cubicBezTo>
                  <a:lnTo>
                    <a:pt x="5476516" y="560645"/>
                  </a:lnTo>
                  <a:lnTo>
                    <a:pt x="5061617" y="560645"/>
                  </a:lnTo>
                  <a:lnTo>
                    <a:pt x="5063209" y="680727"/>
                  </a:lnTo>
                  <a:cubicBezTo>
                    <a:pt x="5063209" y="687884"/>
                    <a:pt x="5065598" y="692655"/>
                    <a:pt x="5069580" y="697427"/>
                  </a:cubicBezTo>
                  <a:lnTo>
                    <a:pt x="5093471" y="722079"/>
                  </a:lnTo>
                  <a:cubicBezTo>
                    <a:pt x="5098249" y="726851"/>
                    <a:pt x="5104619" y="729236"/>
                    <a:pt x="5110194" y="729236"/>
                  </a:cubicBezTo>
                  <a:lnTo>
                    <a:pt x="5324413" y="729236"/>
                  </a:lnTo>
                  <a:cubicBezTo>
                    <a:pt x="5330784" y="729236"/>
                    <a:pt x="5336358" y="726851"/>
                    <a:pt x="5341136" y="722079"/>
                  </a:cubicBezTo>
                  <a:lnTo>
                    <a:pt x="5406437" y="655279"/>
                  </a:lnTo>
                  <a:lnTo>
                    <a:pt x="5474923" y="722079"/>
                  </a:lnTo>
                  <a:lnTo>
                    <a:pt x="5397677" y="800013"/>
                  </a:lnTo>
                  <a:cubicBezTo>
                    <a:pt x="5380954" y="816713"/>
                    <a:pt x="5361045" y="823870"/>
                    <a:pt x="5337951" y="823870"/>
                  </a:cubicBezTo>
                  <a:lnTo>
                    <a:pt x="5095063" y="823870"/>
                  </a:lnTo>
                  <a:cubicBezTo>
                    <a:pt x="5071969" y="823870"/>
                    <a:pt x="5052856" y="816713"/>
                    <a:pt x="5035337" y="800013"/>
                  </a:cubicBezTo>
                  <a:lnTo>
                    <a:pt x="4981981" y="746732"/>
                  </a:lnTo>
                  <a:cubicBezTo>
                    <a:pt x="4965258" y="730032"/>
                    <a:pt x="4956498" y="709355"/>
                    <a:pt x="4956498" y="684703"/>
                  </a:cubicBezTo>
                  <a:lnTo>
                    <a:pt x="4956498" y="385692"/>
                  </a:lnTo>
                  <a:cubicBezTo>
                    <a:pt x="4956498" y="362630"/>
                    <a:pt x="4965258" y="340363"/>
                    <a:pt x="4981981" y="323663"/>
                  </a:cubicBezTo>
                  <a:lnTo>
                    <a:pt x="5035337" y="270382"/>
                  </a:lnTo>
                  <a:cubicBezTo>
                    <a:pt x="5052060" y="253682"/>
                    <a:pt x="5071173" y="246525"/>
                    <a:pt x="5095063" y="246525"/>
                  </a:cubicBezTo>
                  <a:lnTo>
                    <a:pt x="5337951" y="246525"/>
                  </a:lnTo>
                  <a:close/>
                  <a:moveTo>
                    <a:pt x="1869836" y="824665"/>
                  </a:moveTo>
                  <a:lnTo>
                    <a:pt x="1766310" y="824665"/>
                  </a:lnTo>
                  <a:lnTo>
                    <a:pt x="1766310" y="340363"/>
                  </a:lnTo>
                  <a:lnTo>
                    <a:pt x="1642079" y="340363"/>
                  </a:lnTo>
                  <a:lnTo>
                    <a:pt x="1642079" y="245730"/>
                  </a:lnTo>
                  <a:lnTo>
                    <a:pt x="1869836" y="245730"/>
                  </a:lnTo>
                  <a:lnTo>
                    <a:pt x="1869836" y="824665"/>
                  </a:lnTo>
                  <a:close/>
                  <a:moveTo>
                    <a:pt x="1147544" y="545536"/>
                  </a:moveTo>
                  <a:cubicBezTo>
                    <a:pt x="1140377" y="545536"/>
                    <a:pt x="1134006" y="549512"/>
                    <a:pt x="1130821" y="552693"/>
                  </a:cubicBezTo>
                  <a:lnTo>
                    <a:pt x="1106134" y="577345"/>
                  </a:lnTo>
                  <a:cubicBezTo>
                    <a:pt x="1101355" y="582117"/>
                    <a:pt x="1097374" y="588479"/>
                    <a:pt x="1097374" y="594045"/>
                  </a:cubicBezTo>
                  <a:lnTo>
                    <a:pt x="1097374" y="681522"/>
                  </a:lnTo>
                  <a:cubicBezTo>
                    <a:pt x="1097374" y="688679"/>
                    <a:pt x="1101355" y="693451"/>
                    <a:pt x="1105337" y="698222"/>
                  </a:cubicBezTo>
                  <a:lnTo>
                    <a:pt x="1129228" y="722079"/>
                  </a:lnTo>
                  <a:cubicBezTo>
                    <a:pt x="1134006" y="726851"/>
                    <a:pt x="1141173" y="729236"/>
                    <a:pt x="1145951" y="729236"/>
                  </a:cubicBezTo>
                  <a:lnTo>
                    <a:pt x="1320352" y="729236"/>
                  </a:lnTo>
                  <a:cubicBezTo>
                    <a:pt x="1326723" y="729236"/>
                    <a:pt x="1333890" y="726851"/>
                    <a:pt x="1337076" y="722079"/>
                  </a:cubicBezTo>
                  <a:lnTo>
                    <a:pt x="1402377" y="659255"/>
                  </a:lnTo>
                  <a:cubicBezTo>
                    <a:pt x="1407155" y="654484"/>
                    <a:pt x="1409544" y="649712"/>
                    <a:pt x="1409544" y="640965"/>
                  </a:cubicBezTo>
                  <a:lnTo>
                    <a:pt x="1409544" y="544740"/>
                  </a:lnTo>
                  <a:lnTo>
                    <a:pt x="1147544" y="544740"/>
                  </a:lnTo>
                  <a:close/>
                  <a:moveTo>
                    <a:pt x="2198729" y="545536"/>
                  </a:moveTo>
                  <a:cubicBezTo>
                    <a:pt x="2191562" y="545536"/>
                    <a:pt x="2185191" y="549512"/>
                    <a:pt x="2182006" y="552693"/>
                  </a:cubicBezTo>
                  <a:lnTo>
                    <a:pt x="2157319" y="577345"/>
                  </a:lnTo>
                  <a:cubicBezTo>
                    <a:pt x="2152541" y="582117"/>
                    <a:pt x="2148559" y="588479"/>
                    <a:pt x="2148559" y="594045"/>
                  </a:cubicBezTo>
                  <a:lnTo>
                    <a:pt x="2148559" y="681522"/>
                  </a:lnTo>
                  <a:cubicBezTo>
                    <a:pt x="2148559" y="688679"/>
                    <a:pt x="2151744" y="693451"/>
                    <a:pt x="2155726" y="698222"/>
                  </a:cubicBezTo>
                  <a:lnTo>
                    <a:pt x="2180413" y="722079"/>
                  </a:lnTo>
                  <a:cubicBezTo>
                    <a:pt x="2185191" y="726851"/>
                    <a:pt x="2192359" y="729236"/>
                    <a:pt x="2197137" y="729236"/>
                  </a:cubicBezTo>
                  <a:lnTo>
                    <a:pt x="2371538" y="729236"/>
                  </a:lnTo>
                  <a:cubicBezTo>
                    <a:pt x="2377909" y="729236"/>
                    <a:pt x="2385075" y="726851"/>
                    <a:pt x="2388261" y="722079"/>
                  </a:cubicBezTo>
                  <a:lnTo>
                    <a:pt x="2452765" y="659255"/>
                  </a:lnTo>
                  <a:cubicBezTo>
                    <a:pt x="2457544" y="654484"/>
                    <a:pt x="2459933" y="649712"/>
                    <a:pt x="2459933" y="640965"/>
                  </a:cubicBezTo>
                  <a:lnTo>
                    <a:pt x="2459933" y="544740"/>
                  </a:lnTo>
                  <a:lnTo>
                    <a:pt x="2197933" y="544740"/>
                  </a:lnTo>
                  <a:lnTo>
                    <a:pt x="2197933" y="544740"/>
                  </a:lnTo>
                  <a:close/>
                  <a:moveTo>
                    <a:pt x="3695872" y="341159"/>
                  </a:moveTo>
                  <a:cubicBezTo>
                    <a:pt x="3689501" y="341159"/>
                    <a:pt x="3682334" y="343544"/>
                    <a:pt x="3679148" y="348316"/>
                  </a:cubicBezTo>
                  <a:lnTo>
                    <a:pt x="3654462" y="372173"/>
                  </a:lnTo>
                  <a:cubicBezTo>
                    <a:pt x="3649684" y="376944"/>
                    <a:pt x="3646498" y="381716"/>
                    <a:pt x="3645702" y="388873"/>
                  </a:cubicBezTo>
                  <a:lnTo>
                    <a:pt x="3645702" y="677546"/>
                  </a:lnTo>
                  <a:cubicBezTo>
                    <a:pt x="3645702" y="684703"/>
                    <a:pt x="3648887" y="693451"/>
                    <a:pt x="3652869" y="698222"/>
                  </a:cubicBezTo>
                  <a:lnTo>
                    <a:pt x="3676759" y="722079"/>
                  </a:lnTo>
                  <a:cubicBezTo>
                    <a:pt x="3681538" y="726851"/>
                    <a:pt x="3688705" y="729236"/>
                    <a:pt x="3693483" y="729236"/>
                  </a:cubicBezTo>
                  <a:lnTo>
                    <a:pt x="3835234" y="729236"/>
                  </a:lnTo>
                  <a:cubicBezTo>
                    <a:pt x="3842400" y="729236"/>
                    <a:pt x="3848772" y="726851"/>
                    <a:pt x="3853550" y="722079"/>
                  </a:cubicBezTo>
                  <a:lnTo>
                    <a:pt x="3949908" y="625855"/>
                  </a:lnTo>
                  <a:cubicBezTo>
                    <a:pt x="3954686" y="621084"/>
                    <a:pt x="3957075" y="616312"/>
                    <a:pt x="3957075" y="609155"/>
                  </a:cubicBezTo>
                  <a:lnTo>
                    <a:pt x="3957075" y="460445"/>
                  </a:lnTo>
                  <a:cubicBezTo>
                    <a:pt x="3957075" y="454083"/>
                    <a:pt x="3954686" y="448516"/>
                    <a:pt x="3949908" y="443745"/>
                  </a:cubicBezTo>
                  <a:lnTo>
                    <a:pt x="3853550" y="347520"/>
                  </a:lnTo>
                  <a:cubicBezTo>
                    <a:pt x="3848772" y="342749"/>
                    <a:pt x="3842400" y="340363"/>
                    <a:pt x="3836826" y="340363"/>
                  </a:cubicBezTo>
                  <a:lnTo>
                    <a:pt x="3695872" y="340363"/>
                  </a:lnTo>
                  <a:close/>
                  <a:moveTo>
                    <a:pt x="4403829" y="341159"/>
                  </a:moveTo>
                  <a:cubicBezTo>
                    <a:pt x="4397458" y="341159"/>
                    <a:pt x="4390292" y="343544"/>
                    <a:pt x="4387106" y="348316"/>
                  </a:cubicBezTo>
                  <a:lnTo>
                    <a:pt x="4362419" y="372173"/>
                  </a:lnTo>
                  <a:cubicBezTo>
                    <a:pt x="4357641" y="376944"/>
                    <a:pt x="4353659" y="384897"/>
                    <a:pt x="4353659" y="392054"/>
                  </a:cubicBezTo>
                  <a:lnTo>
                    <a:pt x="4353659" y="681522"/>
                  </a:lnTo>
                  <a:cubicBezTo>
                    <a:pt x="4353659" y="688679"/>
                    <a:pt x="4357641" y="693451"/>
                    <a:pt x="4361623" y="698222"/>
                  </a:cubicBezTo>
                  <a:lnTo>
                    <a:pt x="4385513" y="722079"/>
                  </a:lnTo>
                  <a:cubicBezTo>
                    <a:pt x="4390292" y="726851"/>
                    <a:pt x="4397458" y="729236"/>
                    <a:pt x="4402237" y="729236"/>
                  </a:cubicBezTo>
                  <a:lnTo>
                    <a:pt x="4543191" y="729236"/>
                  </a:lnTo>
                  <a:cubicBezTo>
                    <a:pt x="4550358" y="729236"/>
                    <a:pt x="4556729" y="726851"/>
                    <a:pt x="4561507" y="722079"/>
                  </a:cubicBezTo>
                  <a:lnTo>
                    <a:pt x="4657866" y="625855"/>
                  </a:lnTo>
                  <a:cubicBezTo>
                    <a:pt x="4662644" y="621084"/>
                    <a:pt x="4665033" y="616312"/>
                    <a:pt x="4665033" y="609155"/>
                  </a:cubicBezTo>
                  <a:lnTo>
                    <a:pt x="4665033" y="460445"/>
                  </a:lnTo>
                  <a:cubicBezTo>
                    <a:pt x="4665033" y="454083"/>
                    <a:pt x="4662644" y="448516"/>
                    <a:pt x="4657866" y="443745"/>
                  </a:cubicBezTo>
                  <a:lnTo>
                    <a:pt x="4561507" y="347520"/>
                  </a:lnTo>
                  <a:cubicBezTo>
                    <a:pt x="4556729" y="342749"/>
                    <a:pt x="4550358" y="340363"/>
                    <a:pt x="4544784" y="340363"/>
                  </a:cubicBezTo>
                  <a:lnTo>
                    <a:pt x="4403033" y="340363"/>
                  </a:lnTo>
                  <a:lnTo>
                    <a:pt x="4403033" y="340363"/>
                  </a:lnTo>
                  <a:close/>
                  <a:moveTo>
                    <a:pt x="5111787" y="341159"/>
                  </a:moveTo>
                  <a:cubicBezTo>
                    <a:pt x="5104619" y="341159"/>
                    <a:pt x="5098249" y="343544"/>
                    <a:pt x="5095063" y="348316"/>
                  </a:cubicBezTo>
                  <a:lnTo>
                    <a:pt x="5070376" y="372173"/>
                  </a:lnTo>
                  <a:cubicBezTo>
                    <a:pt x="5065598" y="376944"/>
                    <a:pt x="5063209" y="383306"/>
                    <a:pt x="5061617" y="388873"/>
                  </a:cubicBezTo>
                  <a:lnTo>
                    <a:pt x="5061617" y="469192"/>
                  </a:lnTo>
                  <a:lnTo>
                    <a:pt x="5373787" y="467602"/>
                  </a:lnTo>
                  <a:lnTo>
                    <a:pt x="5373787" y="388078"/>
                  </a:lnTo>
                  <a:cubicBezTo>
                    <a:pt x="5373787" y="381716"/>
                    <a:pt x="5371397" y="376149"/>
                    <a:pt x="5366619" y="371378"/>
                  </a:cubicBezTo>
                  <a:lnTo>
                    <a:pt x="5341933" y="347520"/>
                  </a:lnTo>
                  <a:cubicBezTo>
                    <a:pt x="5337154" y="342749"/>
                    <a:pt x="5330784" y="340363"/>
                    <a:pt x="5325209" y="340363"/>
                  </a:cubicBezTo>
                  <a:lnTo>
                    <a:pt x="5111787" y="340363"/>
                  </a:lnTo>
                  <a:close/>
                  <a:moveTo>
                    <a:pt x="1881781" y="128829"/>
                  </a:moveTo>
                  <a:lnTo>
                    <a:pt x="1751975" y="128829"/>
                  </a:lnTo>
                  <a:lnTo>
                    <a:pt x="1751975" y="0"/>
                  </a:lnTo>
                  <a:lnTo>
                    <a:pt x="1881781" y="0"/>
                  </a:lnTo>
                  <a:lnTo>
                    <a:pt x="1881781" y="128829"/>
                  </a:lnTo>
                  <a:close/>
                </a:path>
              </a:pathLst>
            </a:custGeom>
            <a:solidFill>
              <a:schemeClr val="bg1"/>
            </a:solidFill>
            <a:ln w="7964" cap="flat">
              <a:noFill/>
              <a:prstDash val="solid"/>
              <a:miter/>
            </a:ln>
          </p:spPr>
          <p:txBody>
            <a:bodyPr/>
            <a:lstStyle/>
            <a:p>
              <a:endParaRPr lang="en-US"/>
            </a:p>
          </p:txBody>
        </p:sp>
      </p:grpSp>
      <p:sp>
        <p:nvSpPr>
          <p:cNvPr id="29" name="Slide Number Placeholder 21">
            <a:extLst>
              <a:ext uri="{FF2B5EF4-FFF2-40B4-BE49-F238E27FC236}">
                <a16:creationId xmlns:a16="http://schemas.microsoft.com/office/drawing/2014/main" id="{33100EFA-0B26-5C3D-31DE-BC1E8694F5BC}"/>
              </a:ext>
            </a:extLst>
          </p:cNvPr>
          <p:cNvSpPr txBox="1">
            <a:spLocks/>
          </p:cNvSpPr>
          <p:nvPr/>
        </p:nvSpPr>
        <p:spPr>
          <a:xfrm>
            <a:off x="509588" y="6445250"/>
            <a:ext cx="2743200" cy="139700"/>
          </a:xfrm>
          <a:prstGeom prst="rect">
            <a:avLst/>
          </a:prstGeom>
        </p:spPr>
        <p:txBody>
          <a:bodyPr vert="horz" lIns="0" tIns="0" rIns="0" bIns="0" rtlCol="0" anchor="b">
            <a:spAutoFit/>
          </a:bodyPr>
          <a:lstStyle>
            <a:defPPr>
              <a:defRPr lang="en-US"/>
            </a:defPPr>
            <a:lvl1pPr marL="0" algn="l" defTabSz="914400" rtl="0" eaLnBrk="1" latinLnBrk="0" hangingPunct="1">
              <a:defRPr sz="900" b="0" i="0" kern="1200">
                <a:solidFill>
                  <a:schemeClr val="bg2"/>
                </a:solidFill>
                <a:latin typeface="+mn-lt"/>
                <a:ea typeface="Roboto Light" panose="02000000000000000000" pitchFamily="2"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2026 MaiaEdge</a:t>
            </a:r>
          </a:p>
        </p:txBody>
      </p:sp>
      <p:sp>
        <p:nvSpPr>
          <p:cNvPr id="30" name="TextBox 29">
            <a:extLst>
              <a:ext uri="{FF2B5EF4-FFF2-40B4-BE49-F238E27FC236}">
                <a16:creationId xmlns:a16="http://schemas.microsoft.com/office/drawing/2014/main" id="{834685AB-9493-2D75-C0F4-A93BD0CA7DC2}"/>
              </a:ext>
            </a:extLst>
          </p:cNvPr>
          <p:cNvSpPr txBox="1"/>
          <p:nvPr/>
        </p:nvSpPr>
        <p:spPr>
          <a:xfrm>
            <a:off x="497668" y="5510953"/>
            <a:ext cx="11183969" cy="369332"/>
          </a:xfrm>
          <a:prstGeom prst="rect">
            <a:avLst/>
          </a:prstGeom>
          <a:noFill/>
        </p:spPr>
        <p:txBody>
          <a:bodyPr wrap="square" lIns="0" rtlCol="0">
            <a:noAutofit/>
          </a:bodyPr>
          <a:lstStyle>
            <a:defPPr>
              <a:defRPr lang="en-US"/>
            </a:defPPr>
            <a:lvl1pPr>
              <a:defRPr>
                <a:latin typeface="+mj-lt"/>
              </a:defRPr>
            </a:lvl1pPr>
          </a:lstStyle>
          <a:p>
            <a:pPr algn="ctr"/>
            <a:r>
              <a:rPr lang="en-US" sz="2200">
                <a:solidFill>
                  <a:schemeClr val="accent1"/>
                </a:solidFill>
              </a:rPr>
              <a:t>Cloud becomes another destination reachable through partners</a:t>
            </a:r>
          </a:p>
        </p:txBody>
      </p:sp>
      <p:sp>
        <p:nvSpPr>
          <p:cNvPr id="13" name="Text 20">
            <a:extLst>
              <a:ext uri="{FF2B5EF4-FFF2-40B4-BE49-F238E27FC236}">
                <a16:creationId xmlns:a16="http://schemas.microsoft.com/office/drawing/2014/main" id="{1CB0C583-6AE9-9ADA-7061-E815642D39EC}"/>
              </a:ext>
            </a:extLst>
          </p:cNvPr>
          <p:cNvSpPr/>
          <p:nvPr/>
        </p:nvSpPr>
        <p:spPr>
          <a:xfrm>
            <a:off x="1564410" y="2213992"/>
            <a:ext cx="4091807" cy="1227708"/>
          </a:xfrm>
          <a:prstGeom prst="rect">
            <a:avLst/>
          </a:prstGeom>
        </p:spPr>
        <p:txBody>
          <a:bodyPr wrap="none" lIns="0">
            <a:noAutofit/>
          </a:bodyPr>
          <a:lstStyle/>
          <a:p>
            <a:pPr>
              <a:spcBef>
                <a:spcPts val="600"/>
              </a:spcBef>
              <a:spcAft>
                <a:spcPts val="300"/>
              </a:spcAft>
              <a:buClr>
                <a:schemeClr val="accent2"/>
              </a:buClr>
            </a:pPr>
            <a:r>
              <a:rPr lang="en-US" dirty="0">
                <a:solidFill>
                  <a:schemeClr val="accent2"/>
                </a:solidFill>
                <a:latin typeface="+mj-lt"/>
                <a:ea typeface="Roboto Medium" panose="02000000000000000000" pitchFamily="2" charset="0"/>
                <a:cs typeface="Arial" panose="020B0604020202020204" pitchFamily="34" charset="0"/>
              </a:rPr>
              <a:t>If a site has DIA, it can still:</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Connect to the network fabric</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Reach a PBC deployed in Equinix </a:t>
            </a:r>
          </a:p>
          <a:p>
            <a:pPr marL="182880" indent="-182880">
              <a:spcBef>
                <a:spcPts val="600"/>
              </a:spcBef>
              <a:buClr>
                <a:schemeClr val="accent2"/>
              </a:buClr>
              <a:buFont typeface="Arial" panose="020B0604020202020204" pitchFamily="34" charset="0"/>
              <a:buChar char="•"/>
            </a:pPr>
            <a:r>
              <a:rPr lang="en-US" sz="1400" dirty="0">
                <a:ea typeface="Roboto Medium" panose="02000000000000000000" pitchFamily="2" charset="0"/>
                <a:cs typeface="Arial" panose="020B0604020202020204" pitchFamily="34" charset="0"/>
              </a:rPr>
              <a:t>Access cloud services through partners</a:t>
            </a:r>
          </a:p>
        </p:txBody>
      </p:sp>
      <p:sp>
        <p:nvSpPr>
          <p:cNvPr id="4" name="Title 3">
            <a:extLst>
              <a:ext uri="{FF2B5EF4-FFF2-40B4-BE49-F238E27FC236}">
                <a16:creationId xmlns:a16="http://schemas.microsoft.com/office/drawing/2014/main" id="{6EC8B61C-1181-85A2-89E4-3172996B0EF6}"/>
              </a:ext>
            </a:extLst>
          </p:cNvPr>
          <p:cNvSpPr>
            <a:spLocks noGrp="1"/>
          </p:cNvSpPr>
          <p:nvPr>
            <p:ph type="title"/>
          </p:nvPr>
        </p:nvSpPr>
        <p:spPr>
          <a:xfrm>
            <a:off x="510363" y="287635"/>
            <a:ext cx="11171274" cy="1107996"/>
          </a:xfrm>
        </p:spPr>
        <p:txBody>
          <a:bodyPr/>
          <a:lstStyle/>
          <a:p>
            <a:r>
              <a:rPr lang="en-US" dirty="0"/>
              <a:t>Cloud On-Ramp: Partners</a:t>
            </a:r>
          </a:p>
        </p:txBody>
      </p:sp>
      <p:sp>
        <p:nvSpPr>
          <p:cNvPr id="14" name="Text 20">
            <a:extLst>
              <a:ext uri="{FF2B5EF4-FFF2-40B4-BE49-F238E27FC236}">
                <a16:creationId xmlns:a16="http://schemas.microsoft.com/office/drawing/2014/main" id="{6D0DAE73-C746-09A5-0C10-259D4426BA16}"/>
              </a:ext>
            </a:extLst>
          </p:cNvPr>
          <p:cNvSpPr/>
          <p:nvPr/>
        </p:nvSpPr>
        <p:spPr>
          <a:xfrm>
            <a:off x="7093131" y="2230688"/>
            <a:ext cx="4176552" cy="841007"/>
          </a:xfrm>
          <a:prstGeom prst="rect">
            <a:avLst/>
          </a:prstGeom>
          <a:noFill/>
        </p:spPr>
        <p:txBody>
          <a:bodyPr wrap="square" lIns="0">
            <a:noAutofit/>
          </a:bodyPr>
          <a:lstStyle/>
          <a:p>
            <a:pPr>
              <a:spcAft>
                <a:spcPts val="1200"/>
              </a:spcAft>
            </a:pPr>
            <a:r>
              <a:rPr lang="en-US" sz="2400">
                <a:latin typeface="+mj-lt"/>
                <a:cs typeface="Calibri" pitchFamily="34" charset="-120"/>
              </a:rPr>
              <a:t>Reach cloud through </a:t>
            </a:r>
            <a:r>
              <a:rPr lang="en-US" sz="2400" err="1">
                <a:latin typeface="+mj-lt"/>
                <a:cs typeface="Calibri" pitchFamily="34" charset="-120"/>
              </a:rPr>
              <a:t>MaiaEdge</a:t>
            </a:r>
            <a:r>
              <a:rPr lang="en-US" sz="2400">
                <a:latin typeface="+mj-lt"/>
                <a:cs typeface="Calibri" pitchFamily="34" charset="-120"/>
              </a:rPr>
              <a:t>-enabled sites</a:t>
            </a:r>
          </a:p>
        </p:txBody>
      </p:sp>
      <p:pic>
        <p:nvPicPr>
          <p:cNvPr id="2" name="Picture 1">
            <a:extLst>
              <a:ext uri="{FF2B5EF4-FFF2-40B4-BE49-F238E27FC236}">
                <a16:creationId xmlns:a16="http://schemas.microsoft.com/office/drawing/2014/main" id="{0DD823EE-905C-805D-546E-391F2EAF326F}"/>
              </a:ext>
            </a:extLst>
          </p:cNvPr>
          <p:cNvPicPr>
            <a:picLocks noChangeAspect="1"/>
          </p:cNvPicPr>
          <p:nvPr/>
        </p:nvPicPr>
        <p:blipFill>
          <a:blip r:embed="rId4"/>
          <a:srcRect t="4266" b="4077"/>
          <a:stretch>
            <a:fillRect/>
          </a:stretch>
        </p:blipFill>
        <p:spPr>
          <a:xfrm>
            <a:off x="915969" y="3740876"/>
            <a:ext cx="10353714" cy="1596422"/>
          </a:xfrm>
          <a:prstGeom prst="rect">
            <a:avLst/>
          </a:prstGeom>
        </p:spPr>
      </p:pic>
    </p:spTree>
    <p:custDataLst>
      <p:tags r:id="rId1"/>
    </p:custDataLst>
    <p:extLst>
      <p:ext uri="{BB962C8B-B14F-4D97-AF65-F5344CB8AC3E}">
        <p14:creationId xmlns:p14="http://schemas.microsoft.com/office/powerpoint/2010/main" val="251018412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0.9|1.2|0.9|0.9|1.2|1.2|1.2"/>
</p:tagLst>
</file>

<file path=ppt/tags/tag2.xml><?xml version="1.0" encoding="utf-8"?>
<p:tagLst xmlns:a="http://schemas.openxmlformats.org/drawingml/2006/main" xmlns:r="http://schemas.openxmlformats.org/officeDocument/2006/relationships" xmlns:p="http://schemas.openxmlformats.org/presentationml/2006/main">
  <p:tag name="TIMING" val="|0.9|1.2|0.9|0.9|1.2|1.2|1.2"/>
</p:tagLst>
</file>

<file path=ppt/tags/tag3.xml><?xml version="1.0" encoding="utf-8"?>
<p:tagLst xmlns:a="http://schemas.openxmlformats.org/drawingml/2006/main" xmlns:r="http://schemas.openxmlformats.org/officeDocument/2006/relationships" xmlns:p="http://schemas.openxmlformats.org/presentationml/2006/main">
  <p:tag name="TIMING" val="|0.9|1.2|0.9|0.9|1.2|1.2|1.2"/>
</p:tagLst>
</file>

<file path=ppt/tags/tag4.xml><?xml version="1.0" encoding="utf-8"?>
<p:tagLst xmlns:a="http://schemas.openxmlformats.org/drawingml/2006/main" xmlns:r="http://schemas.openxmlformats.org/officeDocument/2006/relationships" xmlns:p="http://schemas.openxmlformats.org/presentationml/2006/main">
  <p:tag name="TIMING" val="|0.9|1.2|0.9|0.9|1.2|1.2|1.2"/>
</p:tagLst>
</file>

<file path=ppt/tags/tag5.xml><?xml version="1.0" encoding="utf-8"?>
<p:tagLst xmlns:a="http://schemas.openxmlformats.org/drawingml/2006/main" xmlns:r="http://schemas.openxmlformats.org/officeDocument/2006/relationships" xmlns:p="http://schemas.openxmlformats.org/presentationml/2006/main">
  <p:tag name="TIMING" val="|0.9|1.2|0.9|0.9|1.2|1.2|1.2"/>
</p:tagLst>
</file>

<file path=ppt/tags/tag6.xml><?xml version="1.0" encoding="utf-8"?>
<p:tagLst xmlns:a="http://schemas.openxmlformats.org/drawingml/2006/main" xmlns:r="http://schemas.openxmlformats.org/officeDocument/2006/relationships" xmlns:p="http://schemas.openxmlformats.org/presentationml/2006/main">
  <p:tag name="TIMING" val="|0.9|1.2|0.9|0.9|1.2|1.2|1.2"/>
</p:tagLst>
</file>

<file path=ppt/tags/tag7.xml><?xml version="1.0" encoding="utf-8"?>
<p:tagLst xmlns:a="http://schemas.openxmlformats.org/drawingml/2006/main" xmlns:r="http://schemas.openxmlformats.org/officeDocument/2006/relationships" xmlns:p="http://schemas.openxmlformats.org/presentationml/2006/main">
  <p:tag name="TIMING" val="|0.9|1.2|0.9|0.9|1.2|1.2|1.2"/>
</p:tagLst>
</file>

<file path=ppt/tags/tag8.xml><?xml version="1.0" encoding="utf-8"?>
<p:tagLst xmlns:a="http://schemas.openxmlformats.org/drawingml/2006/main" xmlns:r="http://schemas.openxmlformats.org/officeDocument/2006/relationships" xmlns:p="http://schemas.openxmlformats.org/presentationml/2006/main">
  <p:tag name="TIMING" val="|0.9|1.2|0.9|0.9|1.2|1.2|1.2"/>
</p:tagLst>
</file>

<file path=ppt/tags/tag9.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0.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1.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2.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3.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4.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5.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6.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7.xml><?xml version="1.0" encoding="utf-8"?>
<p:tagLst xmlns:a="http://schemas.openxmlformats.org/drawingml/2006/main" xmlns:r="http://schemas.openxmlformats.org/officeDocument/2006/relationships" xmlns:p="http://schemas.openxmlformats.org/presentationml/2006/main">
  <p:tag name="TIMING" val="|0.9|1.2|0.9|0.9|1.2|1.2|1.2"/>
</p:tagLst>
</file>

<file path=ppt/tags/tag18.xml><?xml version="1.0" encoding="utf-8"?>
<p:tagLst xmlns:a="http://schemas.openxmlformats.org/drawingml/2006/main" xmlns:r="http://schemas.openxmlformats.org/officeDocument/2006/relationships" xmlns:p="http://schemas.openxmlformats.org/presentationml/2006/main">
  <p:tag name="TIMING" val="|0.9|1.2|0.9|0.9|1.2|1.2|1.2"/>
</p:tagLst>
</file>

<file path=ppt/theme/theme1.xml><?xml version="1.0" encoding="utf-8"?>
<a:theme xmlns:a="http://schemas.openxmlformats.org/drawingml/2006/main" name="1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MaiaEdge">
      <a:dk1>
        <a:srgbClr val="000000"/>
      </a:dk1>
      <a:lt1>
        <a:srgbClr val="FFFFFF"/>
      </a:lt1>
      <a:dk2>
        <a:srgbClr val="000000"/>
      </a:dk2>
      <a:lt2>
        <a:srgbClr val="D4D0C9"/>
      </a:lt2>
      <a:accent1>
        <a:srgbClr val="FFC200"/>
      </a:accent1>
      <a:accent2>
        <a:srgbClr val="FF9400"/>
      </a:accent2>
      <a:accent3>
        <a:srgbClr val="D4D0C9"/>
      </a:accent3>
      <a:accent4>
        <a:srgbClr val="000000"/>
      </a:accent4>
      <a:accent5>
        <a:srgbClr val="EF0000"/>
      </a:accent5>
      <a:accent6>
        <a:srgbClr val="FFA92E"/>
      </a:accent6>
      <a:hlink>
        <a:srgbClr val="0000FF"/>
      </a:hlink>
      <a:folHlink>
        <a:srgbClr val="EF0000"/>
      </a:folHlink>
    </a:clrScheme>
    <a:fontScheme name="Tomorrow Medium">
      <a:majorFont>
        <a:latin typeface="Tomorrow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12700" cap="sq" algn="ctr">
          <a:noFill/>
          <a:miter lim="800000"/>
          <a:headEnd/>
          <a:tailEnd/>
        </a:ln>
        <a:effectLst/>
      </a:spPr>
      <a:bodyPr wrap="square" lIns="182880" rIns="182880" anchor="ctr" anchorCtr="1"/>
      <a:lstStyle>
        <a:defPPr algn="l">
          <a:lnSpc>
            <a:spcPct val="95000"/>
          </a:lnSpc>
          <a:spcBef>
            <a:spcPts val="1080"/>
          </a:spcBef>
          <a:defRPr sz="1600" b="1" dirty="0"/>
        </a:defPPr>
      </a:lstStyle>
    </a:spDef>
    <a:lnDef>
      <a:spPr bwMode="auto">
        <a:solidFill>
          <a:schemeClr val="accent2"/>
        </a:solidFill>
        <a:ln w="12700" cap="flat" cmpd="sng" algn="ctr">
          <a:solidFill>
            <a:schemeClr val="bg2"/>
          </a:solidFill>
          <a:prstDash val="solid"/>
          <a:round/>
          <a:headEnd type="none" w="med" len="med"/>
          <a:tailEnd type="none" w="med" len="med"/>
        </a:ln>
        <a:effectLst/>
      </a:spPr>
      <a:bodyPr/>
      <a:lstStyle/>
    </a:lnDef>
    <a:txDef>
      <a:spPr bwMode="auto">
        <a:noFill/>
      </a:spPr>
      <a:bodyPr wrap="square" rtlCol="0">
        <a:noAutofit/>
      </a:bodyPr>
      <a:lstStyle>
        <a:defPPr algn="l">
          <a:spcBef>
            <a:spcPts val="6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385d383-5247-4622-baab-26d6217c57ea">
      <Terms xmlns="http://schemas.microsoft.com/office/infopath/2007/PartnerControls"/>
    </lcf76f155ced4ddcb4097134ff3c332f>
    <TaxCatchAll xmlns="ed523d83-577e-496e-a929-d129df92a17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4079719090764888F3518ADB357560" ma:contentTypeVersion="12" ma:contentTypeDescription="Create a new document." ma:contentTypeScope="" ma:versionID="5cc0b0515060d800ca0dcd7df7c8b7a6">
  <xsd:schema xmlns:xsd="http://www.w3.org/2001/XMLSchema" xmlns:xs="http://www.w3.org/2001/XMLSchema" xmlns:p="http://schemas.microsoft.com/office/2006/metadata/properties" xmlns:ns2="c385d383-5247-4622-baab-26d6217c57ea" xmlns:ns3="ed523d83-577e-496e-a929-d129df92a179" targetNamespace="http://schemas.microsoft.com/office/2006/metadata/properties" ma:root="true" ma:fieldsID="893ab8fe2db634baf46b5c6f2ef93a6b" ns2:_="" ns3:_="">
    <xsd:import namespace="c385d383-5247-4622-baab-26d6217c57ea"/>
    <xsd:import namespace="ed523d83-577e-496e-a929-d129df92a1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85d383-5247-4622-baab-26d6217c57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2463502-ae89-45c2-89b3-463160bd7c9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523d83-577e-496e-a929-d129df92a17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164c31f-715e-4630-96ca-c1f13c67a246}" ma:internalName="TaxCatchAll" ma:showField="CatchAllData" ma:web="ed523d83-577e-496e-a929-d129df92a1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99B4CB-122A-4863-AAC2-809102BDA10C}">
  <ds:schemaRefs>
    <ds:schemaRef ds:uri="http://purl.org/dc/elements/1.1/"/>
    <ds:schemaRef ds:uri="c385d383-5247-4622-baab-26d6217c57ea"/>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ed523d83-577e-496e-a929-d129df92a179"/>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C4F513AA-9D91-4739-8EFB-1D20CDED92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85d383-5247-4622-baab-26d6217c57ea"/>
    <ds:schemaRef ds:uri="ed523d83-577e-496e-a929-d129df92a1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8A9869-63F5-4AD2-A520-BA6A774731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3644</TotalTime>
  <Words>7536</Words>
  <Application>Microsoft Macintosh PowerPoint</Application>
  <PresentationFormat>Widescreen</PresentationFormat>
  <Paragraphs>1012</Paragraphs>
  <Slides>48</Slides>
  <Notes>48</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48</vt:i4>
      </vt:variant>
    </vt:vector>
  </HeadingPairs>
  <TitlesOfParts>
    <vt:vector size="66" baseType="lpstr">
      <vt:lpstr>-webkit-standard</vt:lpstr>
      <vt:lpstr>Aptos</vt:lpstr>
      <vt:lpstr>Aptos Display</vt:lpstr>
      <vt:lpstr>Arial</vt:lpstr>
      <vt:lpstr>Calibri</vt:lpstr>
      <vt:lpstr>fkGroteskNeue</vt:lpstr>
      <vt:lpstr>Lato</vt:lpstr>
      <vt:lpstr>Poppins SemiBold</vt:lpstr>
      <vt:lpstr>Roboto Medium</vt:lpstr>
      <vt:lpstr>Tomorrow</vt:lpstr>
      <vt:lpstr>Tomorrow Bold</vt:lpstr>
      <vt:lpstr>Tomorrow Medium</vt:lpstr>
      <vt:lpstr>Verdana Regular</vt:lpstr>
      <vt:lpstr>1_Office Theme</vt:lpstr>
      <vt:lpstr>2_Office Theme</vt:lpstr>
      <vt:lpstr>3_Office Theme</vt:lpstr>
      <vt:lpstr>Office Theme</vt:lpstr>
      <vt:lpstr>4_Office Theme</vt:lpstr>
      <vt:lpstr>Simplifying Private Connectivity </vt:lpstr>
      <vt:lpstr>Instant Private  Connectivity, Anywhere.</vt:lpstr>
      <vt:lpstr>3 Decades of Connecting Networks</vt:lpstr>
      <vt:lpstr>Ethernet Islands </vt:lpstr>
      <vt:lpstr>Connected but not Integrated </vt:lpstr>
      <vt:lpstr>The Challenge with NaaS   </vt:lpstr>
      <vt:lpstr>What if connectivity was this simple?</vt:lpstr>
      <vt:lpstr>Instant Private Fabric</vt:lpstr>
      <vt:lpstr>PowerPoint Presentation</vt:lpstr>
      <vt:lpstr>The Infrastructure</vt:lpstr>
      <vt:lpstr>The Infrastructure</vt:lpstr>
      <vt:lpstr>PowerPoint Presentation</vt:lpstr>
      <vt:lpstr>Multi-Tenancy: MSP &amp; Customer View </vt:lpstr>
      <vt:lpstr>Connecting Distributed AI</vt:lpstr>
      <vt:lpstr>Instant Private  Connectivity, Anywhere.</vt:lpstr>
      <vt:lpstr>3 Decades of Connecting Networks</vt:lpstr>
      <vt:lpstr>AI is distributing. Networks weren't designed for it.</vt:lpstr>
      <vt:lpstr>Connecting Distributed AI is Hard</vt:lpstr>
      <vt:lpstr>Current Solutions Create More Complexity</vt:lpstr>
      <vt:lpstr>What if connectivity was this simple?</vt:lpstr>
      <vt:lpstr>AI networks should behave like a fabric</vt:lpstr>
      <vt:lpstr>Distributed AI Infrastructure connected instantly </vt:lpstr>
      <vt:lpstr>Extend Your AI Fabric </vt:lpstr>
      <vt:lpstr>The Infrastructure</vt:lpstr>
      <vt:lpstr>The Infrastructure</vt:lpstr>
      <vt:lpstr>PowerPoint Presentation</vt:lpstr>
      <vt:lpstr>Multi-Tenancy: MSP &amp; Customer View </vt:lpstr>
      <vt:lpstr>Instant Private Fabric for Distributed  AI Infrastructure </vt:lpstr>
      <vt:lpstr>PowerPoint Presentation</vt:lpstr>
      <vt:lpstr>Fabric of Fabrics </vt:lpstr>
      <vt:lpstr>Instant Private  Connectivity, Anywhere.</vt:lpstr>
      <vt:lpstr>3 Decades of Connecting Networks</vt:lpstr>
      <vt:lpstr>Traditional Interconnection </vt:lpstr>
      <vt:lpstr>What if connectivity was this simple?</vt:lpstr>
      <vt:lpstr>Instant Services Fabric </vt:lpstr>
      <vt:lpstr>Extend Your Datacenter Instantly </vt:lpstr>
      <vt:lpstr>The Infrastructure</vt:lpstr>
      <vt:lpstr>The Infrastructure</vt:lpstr>
      <vt:lpstr>PowerPoint Presentation</vt:lpstr>
      <vt:lpstr>Multi-Tenancy: MSP &amp; Customer View </vt:lpstr>
      <vt:lpstr>Simplified Cloud Connectivity </vt:lpstr>
      <vt:lpstr>Simplify Cloud Access</vt:lpstr>
      <vt:lpstr>Cloud Access via Private Wavelength</vt:lpstr>
      <vt:lpstr>Cloud Access via DIA</vt:lpstr>
      <vt:lpstr>Cloud Access via Partnership</vt:lpstr>
      <vt:lpstr>Expand Reach and Service Offerings</vt:lpstr>
      <vt:lpstr>Cloud On-Ramp: Direct</vt:lpstr>
      <vt:lpstr>Cloud On-Ramp: Partners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Hannah Roberts</dc:creator>
  <cp:lastModifiedBy>Tim Ziemer</cp:lastModifiedBy>
  <cp:revision>33</cp:revision>
  <dcterms:created xsi:type="dcterms:W3CDTF">2026-04-01T16:34:28Z</dcterms:created>
  <dcterms:modified xsi:type="dcterms:W3CDTF">2026-05-28T21:19:10Z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43000.0000000000</vt:lpwstr>
  </property>
  <property fmtid="{D5CDD505-2E9C-101B-9397-08002B2CF9AE}" pid="3" name="ContentTypeId">
    <vt:lpwstr>0x010100154079719090764888F3518ADB357560</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_activity">
    <vt:lpwstr>{"FileActivityType":"9","FileActivityTimeStamp":"2026-04-29T17:44:27.843Z","FileActivityUsersOnPage":[{"DisplayName":"Hannah Roberts","Id":"hannahroberts@maiaedge.io"},{"DisplayName":"Cooper  Kennedy","Id":"cooperkennedy@maiaedge.io"},{"DisplayName":"Ken Cunningham","Id":"ken@maiaedge.io"},{"DisplayName":"Tim Lieto","Id":"timlieto@maiaedge.io"}],"FileActivityNavigationId":null}</vt:lpwstr>
  </property>
  <property fmtid="{D5CDD505-2E9C-101B-9397-08002B2CF9AE}" pid="9" name="TriggerFlowInfo">
    <vt:lpwstr/>
  </property>
  <property fmtid="{D5CDD505-2E9C-101B-9397-08002B2CF9AE}" pid="10" name="MediaServiceImageTags">
    <vt:lpwstr/>
  </property>
</Properties>
</file>