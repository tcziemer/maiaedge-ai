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l">
              <a:defRPr sz="4400" b="1">
                <a:solidFill>
                  <a:srgbClr val="FFFFFF"/>
                </a:solidFill>
                <a:latin typeface="Calibri"/>
              </a:defRPr>
            </a:pPr>
            <a:r>
              <a:t>LMaaS: Last Mile as a Service</a:t>
            </a:r>
          </a:p>
        </p:txBody>
      </p:sp>
      <p:sp>
        <p:nvSpPr>
          <p:cNvPr id="4" name="TextBox 3"/>
          <p:cNvSpPr txBox="1"/>
          <p:nvPr/>
        </p:nvSpPr>
        <p:spPr>
          <a:xfrm>
            <a:off x="914400" y="2743200"/>
            <a:ext cx="9144000" cy="731520"/>
          </a:xfrm>
          <a:prstGeom prst="rect">
            <a:avLst/>
          </a:prstGeom>
          <a:noFill/>
        </p:spPr>
        <p:txBody>
          <a:bodyPr wrap="square">
            <a:spAutoFit/>
          </a:bodyPr>
          <a:lstStyle/>
          <a:p>
            <a:pPr algn="l">
              <a:defRPr sz="2400" b="0">
                <a:solidFill>
                  <a:srgbClr val="00C2CB"/>
                </a:solidFill>
                <a:latin typeface="Calibri"/>
              </a:defRPr>
            </a:pPr>
            <a:r>
              <a:t>Strategic Positioning &amp; Go-to-Market Framework</a:t>
            </a:r>
          </a:p>
        </p:txBody>
      </p:sp>
      <p:sp>
        <p:nvSpPr>
          <p:cNvPr id="5" name="Rectangle 4"/>
          <p:cNvSpPr/>
          <p:nvPr/>
        </p:nvSpPr>
        <p:spPr>
          <a:xfrm>
            <a:off x="0" y="3566160"/>
            <a:ext cx="27432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931920"/>
            <a:ext cx="5486400" cy="457200"/>
          </a:xfrm>
          <a:prstGeom prst="rect">
            <a:avLst/>
          </a:prstGeom>
          <a:noFill/>
        </p:spPr>
        <p:txBody>
          <a:bodyPr wrap="square">
            <a:spAutoFit/>
          </a:bodyPr>
          <a:lstStyle/>
          <a:p>
            <a:pPr algn="l">
              <a:defRPr sz="1800" b="0">
                <a:solidFill>
                  <a:srgbClr val="B0B8C8"/>
                </a:solidFill>
                <a:latin typeface="Calibri"/>
              </a:defRPr>
            </a:pPr>
            <a:r>
              <a:t>Tim Ziemer  →  Abilash &amp; Patrick</a:t>
            </a:r>
          </a:p>
        </p:txBody>
      </p:sp>
      <p:sp>
        <p:nvSpPr>
          <p:cNvPr id="7" name="TextBox 6"/>
          <p:cNvSpPr txBox="1"/>
          <p:nvPr/>
        </p:nvSpPr>
        <p:spPr>
          <a:xfrm>
            <a:off x="914400" y="4480560"/>
            <a:ext cx="5486400" cy="457200"/>
          </a:xfrm>
          <a:prstGeom prst="rect">
            <a:avLst/>
          </a:prstGeom>
          <a:noFill/>
        </p:spPr>
        <p:txBody>
          <a:bodyPr wrap="square">
            <a:spAutoFit/>
          </a:bodyPr>
          <a:lstStyle/>
          <a:p>
            <a:pPr algn="l">
              <a:defRPr sz="1400" b="0">
                <a:solidFill>
                  <a:srgbClr val="B0B8C8"/>
                </a:solidFill>
                <a:latin typeface="Calibri"/>
              </a:defRPr>
            </a:pPr>
            <a:r>
              <a:t>March 2026  |  MaiaEdge Confidential</a:t>
            </a:r>
          </a:p>
        </p:txBody>
      </p:sp>
      <p:sp>
        <p:nvSpPr>
          <p:cNvPr id="8" name="TextBox 7"/>
          <p:cNvSpPr txBox="1"/>
          <p:nvPr/>
        </p:nvSpPr>
        <p:spPr>
          <a:xfrm>
            <a:off x="8686800" y="5669280"/>
            <a:ext cx="3200400" cy="731520"/>
          </a:xfrm>
          <a:prstGeom prst="rect">
            <a:avLst/>
          </a:prstGeom>
          <a:noFill/>
        </p:spPr>
        <p:txBody>
          <a:bodyPr wrap="square">
            <a:spAutoFit/>
          </a:bodyPr>
          <a:lstStyle/>
          <a:p>
            <a:pPr algn="r">
              <a:defRPr sz="3200" b="1">
                <a:solidFill>
                  <a:srgbClr val="FFFFFF"/>
                </a:solidFill>
                <a:latin typeface="Calibri"/>
              </a:defRPr>
            </a:pPr>
            <a:r>
              <a:t>MaiaEdge</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What is LMaaS?</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45720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LMaaS (Last Mile as a Service) is a platform — hardware and software — that sits inside regional fiber operators' metro ethernet networks.</a:t>
            </a:r>
          </a:p>
          <a:p>
            <a:pPr>
              <a:lnSpc>
                <a:spcPts val="2340"/>
              </a:lnSpc>
              <a:spcAft>
                <a:spcPts val="1440"/>
              </a:spcAft>
              <a:defRPr sz="1800">
                <a:solidFill>
                  <a:srgbClr val="FFFFFF"/>
                </a:solidFill>
                <a:latin typeface="Calibri"/>
              </a:defRPr>
            </a:pPr>
            <a:r>
              <a:t>The hardware is the PBC (with the port extender as an optional addition), installed in the fiber operator's metro ethernet. The cloud-hosted software layer manages provisioning, cloud interconnect, multi-tenant path slicing, and the service lifecycle.</a:t>
            </a:r>
          </a:p>
          <a:p>
            <a:pPr>
              <a:lnSpc>
                <a:spcPts val="2340"/>
              </a:lnSpc>
              <a:spcAft>
                <a:spcPts val="1440"/>
              </a:spcAft>
              <a:defRPr sz="1800">
                <a:solidFill>
                  <a:srgbClr val="FFFFFF"/>
                </a:solidFill>
                <a:latin typeface="Calibri"/>
              </a:defRPr>
            </a:pPr>
            <a:r>
              <a:t>The fiber operator owns the glass and the customer relationship. LMaaS turns their transport into managed connectivity capable of reaching cloud providers, colocation facilities, and neoclouds — and gives those destinations a managed path back to the enterprise.</a:t>
            </a:r>
          </a:p>
          <a:p>
            <a:pPr>
              <a:lnSpc>
                <a:spcPts val="2340"/>
              </a:lnSpc>
              <a:spcAft>
                <a:spcPts val="1440"/>
              </a:spcAft>
              <a:defRPr sz="1800">
                <a:solidFill>
                  <a:srgbClr val="FFFFFF"/>
                </a:solidFill>
                <a:latin typeface="Calibri"/>
              </a:defRPr>
            </a:pPr>
            <a:r>
              <a:t>Think of it as embedding a private Equinix Fabric inside regional fiber networks.</a:t>
            </a:r>
          </a:p>
        </p:txBody>
      </p:sp>
      <p:sp>
        <p:nvSpPr>
          <p:cNvPr id="6" name="Rounded Rectangle 5"/>
          <p:cNvSpPr/>
          <p:nvPr/>
        </p:nvSpPr>
        <p:spPr>
          <a:xfrm>
            <a:off x="731520" y="5303520"/>
            <a:ext cx="10515600" cy="9144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Target Operators</a:t>
            </a:r>
          </a:p>
          <a:p>
            <a:pPr>
              <a:spcBef>
                <a:spcPts val="600"/>
              </a:spcBef>
              <a:defRPr sz="1200">
                <a:solidFill>
                  <a:srgbClr val="FFFFFF"/>
                </a:solidFill>
                <a:latin typeface="Calibri"/>
              </a:defRPr>
            </a:pPr>
            <a:r>
              <a:t>Companies like Arvig, Consolidated, Ziply, TDS, Shenandoah — local/regional operators that own last-mile fiber and sell DIA and on-net ethernet but don't offer carrier-grade cloud or connectivity services today.</a:t>
            </a:r>
          </a:p>
        </p:txBody>
      </p:sp>
      <p:sp>
        <p:nvSpPr>
          <p:cNvPr id="7" name="Rectangle 6"/>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The Core Problem</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32004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Fiber operators are structurally unable to sell cloud onramp, multi-cloud connectivity, or neocloud access on their own.</a:t>
            </a:r>
          </a:p>
          <a:p>
            <a:pPr>
              <a:lnSpc>
                <a:spcPts val="2340"/>
              </a:lnSpc>
              <a:spcAft>
                <a:spcPts val="1440"/>
              </a:spcAft>
              <a:defRPr sz="1800">
                <a:solidFill>
                  <a:srgbClr val="FFFFFF"/>
                </a:solidFill>
                <a:latin typeface="Calibri"/>
              </a:defRPr>
            </a:pPr>
            <a:r>
              <a:t>They lack NOC/SOC capabilities, cloud provider integrations, multi-vendor orchestration, and the consultative sales motion these services require. Their organizations are built around physical infrastructure: fiber routes, poles, splitters, truck rolls.</a:t>
            </a:r>
          </a:p>
          <a:p>
            <a:pPr>
              <a:lnSpc>
                <a:spcPts val="2340"/>
              </a:lnSpc>
              <a:spcAft>
                <a:spcPts val="1440"/>
              </a:spcAft>
              <a:defRPr sz="1800">
                <a:solidFill>
                  <a:srgbClr val="FFFFFF"/>
                </a:solidFill>
                <a:latin typeface="Calibri"/>
              </a:defRPr>
            </a:pPr>
            <a:r>
              <a:t>BEAD and RDOF subsidies are consuming all available capital and management attention on fiber buildouts at 15–25x EBITDA multiples. The opportunity cost of investing in cloud service capabilities is irrational right now.</a:t>
            </a:r>
          </a:p>
        </p:txBody>
      </p:sp>
      <p:sp>
        <p:nvSpPr>
          <p:cNvPr id="6" name="Rounded Rectangle 5"/>
          <p:cNvSpPr/>
          <p:nvPr/>
        </p:nvSpPr>
        <p:spPr>
          <a:xfrm>
            <a:off x="731520" y="4754880"/>
            <a:ext cx="3200400" cy="164592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Operational Gap</a:t>
            </a:r>
          </a:p>
          <a:p>
            <a:pPr>
              <a:spcBef>
                <a:spcPts val="600"/>
              </a:spcBef>
              <a:defRPr sz="1200">
                <a:solidFill>
                  <a:srgbClr val="FFFFFF"/>
                </a:solidFill>
                <a:latin typeface="Calibri"/>
              </a:defRPr>
            </a:pPr>
            <a:r>
              <a:t>No NOC, no cloud integrations,</a:t>
            </a:r>
            <a:br/>
            <a:r>
              <a:t>no multi-vendor orchestration</a:t>
            </a:r>
          </a:p>
        </p:txBody>
      </p:sp>
      <p:sp>
        <p:nvSpPr>
          <p:cNvPr id="7" name="Rounded Rectangle 6"/>
          <p:cNvSpPr/>
          <p:nvPr/>
        </p:nvSpPr>
        <p:spPr>
          <a:xfrm>
            <a:off x="4251960" y="4754880"/>
            <a:ext cx="3200400" cy="164592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Capital Gap</a:t>
            </a:r>
          </a:p>
          <a:p>
            <a:pPr>
              <a:spcBef>
                <a:spcPts val="600"/>
              </a:spcBef>
              <a:defRPr sz="1200">
                <a:solidFill>
                  <a:srgbClr val="FFFFFF"/>
                </a:solidFill>
                <a:latin typeface="Calibri"/>
              </a:defRPr>
            </a:pPr>
            <a:r>
              <a:t>All investment going to</a:t>
            </a:r>
            <a:br/>
            <a:r>
              <a:t>fiber buildouts (BEAD/RDOF)</a:t>
            </a:r>
          </a:p>
        </p:txBody>
      </p:sp>
      <p:sp>
        <p:nvSpPr>
          <p:cNvPr id="8" name="Rounded Rectangle 7"/>
          <p:cNvSpPr/>
          <p:nvPr/>
        </p:nvSpPr>
        <p:spPr>
          <a:xfrm>
            <a:off x="7772400" y="4754880"/>
            <a:ext cx="3200400" cy="164592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Commercial Gap</a:t>
            </a:r>
          </a:p>
          <a:p>
            <a:pPr>
              <a:spcBef>
                <a:spcPts val="600"/>
              </a:spcBef>
              <a:defRPr sz="1200">
                <a:solidFill>
                  <a:srgbClr val="FFFFFF"/>
                </a:solidFill>
                <a:latin typeface="Calibri"/>
              </a:defRPr>
            </a:pPr>
            <a:r>
              <a:t>No billing model, no sales</a:t>
            </a:r>
            <a:br/>
            <a:r>
              <a:t>motion for cloud services</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The Calix Proof Point</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41148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Calix built a complete platform — GigaSpire hardware in the home paired with cloud software (CommandIQ, SmartHome, Revenue EDGE) — that lets fiber operators offer managed home services without building any of the underlying technology.</a:t>
            </a:r>
          </a:p>
          <a:p>
            <a:pPr>
              <a:lnSpc>
                <a:spcPts val="2340"/>
              </a:lnSpc>
              <a:spcAft>
                <a:spcPts val="1440"/>
              </a:spcAft>
              <a:defRPr sz="1800">
                <a:solidFill>
                  <a:srgbClr val="FFFFFF"/>
                </a:solidFill>
                <a:latin typeface="Calibri"/>
              </a:defRPr>
            </a:pPr>
            <a:r>
              <a:t>Same model as LMaaS: hardware in the network plus cloud orchestration on top. The operator never had to build a NOC or hire software engineers.</a:t>
            </a:r>
          </a:p>
          <a:p>
            <a:pPr>
              <a:lnSpc>
                <a:spcPts val="2340"/>
              </a:lnSpc>
              <a:spcAft>
                <a:spcPts val="1440"/>
              </a:spcAft>
              <a:defRPr sz="1800">
                <a:solidFill>
                  <a:srgbClr val="FFFFFF"/>
                </a:solidFill>
                <a:latin typeface="Calibri"/>
              </a:defRPr>
            </a:pPr>
            <a:r>
              <a:t>Calix built a $2B+ market cap business on this model.</a:t>
            </a:r>
          </a:p>
          <a:p>
            <a:pPr>
              <a:lnSpc>
                <a:spcPts val="2340"/>
              </a:lnSpc>
              <a:spcAft>
                <a:spcPts val="1440"/>
              </a:spcAft>
              <a:defRPr sz="1800">
                <a:solidFill>
                  <a:srgbClr val="FFFFFF"/>
                </a:solidFill>
                <a:latin typeface="Calibri"/>
              </a:defRPr>
            </a:pPr>
            <a:r>
              <a:t>LMaaS is the Calix equivalent for enterprise cloud and neocloud connectivity.</a:t>
            </a:r>
          </a:p>
        </p:txBody>
      </p:sp>
      <p:sp>
        <p:nvSpPr>
          <p:cNvPr id="6" name="Rounded Rectangle 5"/>
          <p:cNvSpPr/>
          <p:nvPr/>
        </p:nvSpPr>
        <p:spPr>
          <a:xfrm>
            <a:off x="731520" y="5029200"/>
            <a:ext cx="5029200" cy="13716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Calix Model</a:t>
            </a:r>
          </a:p>
          <a:p>
            <a:pPr>
              <a:spcBef>
                <a:spcPts val="600"/>
              </a:spcBef>
              <a:defRPr sz="1200">
                <a:solidFill>
                  <a:srgbClr val="FFFFFF"/>
                </a:solidFill>
                <a:latin typeface="Calibri"/>
              </a:defRPr>
            </a:pPr>
            <a:r>
              <a:t>GigaSpire HW + Cloud SW → Managed Home WiFi, Security, Parental Controls</a:t>
            </a:r>
          </a:p>
        </p:txBody>
      </p:sp>
      <p:sp>
        <p:nvSpPr>
          <p:cNvPr id="7" name="Rounded Rectangle 6"/>
          <p:cNvSpPr/>
          <p:nvPr/>
        </p:nvSpPr>
        <p:spPr>
          <a:xfrm>
            <a:off x="6217920" y="5029200"/>
            <a:ext cx="5029200" cy="13716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LMaaS Model</a:t>
            </a:r>
          </a:p>
          <a:p>
            <a:pPr>
              <a:spcBef>
                <a:spcPts val="600"/>
              </a:spcBef>
              <a:defRPr sz="1200">
                <a:solidFill>
                  <a:srgbClr val="FFFFFF"/>
                </a:solidFill>
                <a:latin typeface="Calibri"/>
              </a:defRPr>
            </a:pPr>
            <a:r>
              <a:t>PBC HW + Cloud SW → Managed Cloud Onramp, Neocloud Access, Connectivity</a:t>
            </a:r>
          </a:p>
        </p:txBody>
      </p:sp>
      <p:sp>
        <p:nvSpPr>
          <p:cNvPr id="8" name="Rectangle 7"/>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Regulatory Structure &amp; Billing</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27432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Telecom-classified services carry ~31% in regulatory surcharges. LMaaS avoids this using a Split Product Model.</a:t>
            </a:r>
          </a:p>
          <a:p>
            <a:pPr>
              <a:lnSpc>
                <a:spcPts val="2340"/>
              </a:lnSpc>
              <a:spcAft>
                <a:spcPts val="1440"/>
              </a:spcAft>
              <a:defRPr sz="1800">
                <a:solidFill>
                  <a:srgbClr val="FFFFFF"/>
                </a:solidFill>
                <a:latin typeface="Calibri"/>
              </a:defRPr>
            </a:pPr>
            <a:r>
              <a:t>The fiber operator remains carrier of record and sells transport (E-Line, wavelength, dark fiber) with all associated telecom taxes and FCC compliance. MaiaEdge provides the platform as a separate information service. The fiber operator's compliance posture doesn't change at all.</a:t>
            </a:r>
          </a:p>
          <a:p>
            <a:pPr>
              <a:lnSpc>
                <a:spcPts val="2340"/>
              </a:lnSpc>
              <a:spcAft>
                <a:spcPts val="1440"/>
              </a:spcAft>
              <a:defRPr sz="1800">
                <a:solidFill>
                  <a:srgbClr val="FFFFFF"/>
                </a:solidFill>
                <a:latin typeface="Calibri"/>
              </a:defRPr>
            </a:pPr>
            <a:r>
              <a:t>This is how Megaport, PacketFabric, and Equinix Fabric are structured.</a:t>
            </a:r>
          </a:p>
        </p:txBody>
      </p:sp>
      <p:sp>
        <p:nvSpPr>
          <p:cNvPr id="6" name="TextBox 5"/>
          <p:cNvSpPr txBox="1"/>
          <p:nvPr/>
        </p:nvSpPr>
        <p:spPr>
          <a:xfrm>
            <a:off x="731520" y="3840480"/>
            <a:ext cx="9144000" cy="457200"/>
          </a:xfrm>
          <a:prstGeom prst="rect">
            <a:avLst/>
          </a:prstGeom>
          <a:noFill/>
        </p:spPr>
        <p:txBody>
          <a:bodyPr wrap="square">
            <a:spAutoFit/>
          </a:bodyPr>
          <a:lstStyle/>
          <a:p>
            <a:pPr algn="l">
              <a:defRPr sz="2200" b="1">
                <a:solidFill>
                  <a:srgbClr val="00C2CB"/>
                </a:solidFill>
                <a:latin typeface="Calibri"/>
              </a:defRPr>
            </a:pPr>
            <a:r>
              <a:t>Port + Path Billing Model</a:t>
            </a:r>
          </a:p>
        </p:txBody>
      </p:sp>
      <p:sp>
        <p:nvSpPr>
          <p:cNvPr id="7" name="Rounded Rectangle 6"/>
          <p:cNvSpPr/>
          <p:nvPr/>
        </p:nvSpPr>
        <p:spPr>
          <a:xfrm>
            <a:off x="731520" y="4389120"/>
            <a:ext cx="5029200" cy="20116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PORT  (Fiber Operator)</a:t>
            </a:r>
          </a:p>
          <a:p>
            <a:pPr>
              <a:spcBef>
                <a:spcPts val="600"/>
              </a:spcBef>
              <a:defRPr sz="1200">
                <a:solidFill>
                  <a:srgbClr val="FFFFFF"/>
                </a:solidFill>
                <a:latin typeface="Calibri"/>
              </a:defRPr>
            </a:pPr>
            <a:r>
              <a:t>Transport invoice: E-Line, wavelength,</a:t>
            </a:r>
            <a:br/>
            <a:r>
              <a:t>dark fiber. Telecom-classified.</a:t>
            </a:r>
            <a:br/>
            <a:r>
              <a:t>All taxes and FCC compliance handled</a:t>
            </a:r>
            <a:br/>
            <a:r>
              <a:t>by the fiber operator.</a:t>
            </a:r>
          </a:p>
        </p:txBody>
      </p:sp>
      <p:sp>
        <p:nvSpPr>
          <p:cNvPr id="8" name="Rounded Rectangle 7"/>
          <p:cNvSpPr/>
          <p:nvPr/>
        </p:nvSpPr>
        <p:spPr>
          <a:xfrm>
            <a:off x="6217920" y="4389120"/>
            <a:ext cx="5029200" cy="20116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PATH  (MaiaEdge)</a:t>
            </a:r>
          </a:p>
          <a:p>
            <a:pPr>
              <a:spcBef>
                <a:spcPts val="600"/>
              </a:spcBef>
              <a:defRPr sz="1200">
                <a:solidFill>
                  <a:srgbClr val="FFFFFF"/>
                </a:solidFill>
                <a:latin typeface="Calibri"/>
              </a:defRPr>
            </a:pPr>
            <a:r>
              <a:t>Fabric path invoice: logical connections</a:t>
            </a:r>
            <a:br/>
            <a:r>
              <a:t>to cloud, colo, and neocloud destinations.</a:t>
            </a:r>
            <a:br/>
            <a:r>
              <a:t>Information service. Contractually distinct</a:t>
            </a:r>
            <a:br/>
            <a:r>
              <a:t>line items. Revenue share internal.</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Calix as Strategic Distribution Partner</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5029200"/>
          </a:xfrm>
          <a:prstGeom prst="rect">
            <a:avLst/>
          </a:prstGeom>
          <a:noFill/>
        </p:spPr>
        <p:txBody>
          <a:bodyPr wrap="square">
            <a:spAutoFit/>
          </a:bodyPr>
          <a:lstStyle/>
          <a:p>
            <a:pPr>
              <a:lnSpc>
                <a:spcPts val="2210"/>
              </a:lnSpc>
              <a:spcAft>
                <a:spcPts val="1360"/>
              </a:spcAft>
              <a:defRPr sz="1700">
                <a:solidFill>
                  <a:srgbClr val="FFFFFF"/>
                </a:solidFill>
                <a:latin typeface="Calibri"/>
              </a:defRPr>
            </a:pPr>
            <a:r>
              <a:t>Calix has 1,600+ fiber operator customers and 250+ certified partners. Their SmartBiz and ManagedBiz platforms cover small and mid-market business WiFi and security — but there is no cloud onramp, neocloud connectivity, or SD-WAN capability anywhere in their portfolio.</a:t>
            </a:r>
          </a:p>
          <a:p>
            <a:pPr>
              <a:lnSpc>
                <a:spcPts val="2210"/>
              </a:lnSpc>
              <a:spcAft>
                <a:spcPts val="1360"/>
              </a:spcAft>
              <a:defRPr sz="1700">
                <a:solidFill>
                  <a:srgbClr val="FFFFFF"/>
                </a:solidFill>
                <a:latin typeface="Calibri"/>
              </a:defRPr>
            </a:pPr>
            <a:r>
              <a:t>Their new Calix One platform (Feb 2026) is an AI-native enterprise framework on Google Cloud — architecturally designed for this kind of service integration.</a:t>
            </a:r>
          </a:p>
          <a:p>
            <a:pPr>
              <a:lnSpc>
                <a:spcPts val="2210"/>
              </a:lnSpc>
              <a:spcAft>
                <a:spcPts val="1360"/>
              </a:spcAft>
              <a:defRPr sz="1700">
                <a:solidFill>
                  <a:srgbClr val="FFFFFF"/>
                </a:solidFill>
                <a:latin typeface="Calibri"/>
              </a:defRPr>
            </a:pPr>
            <a:r>
              <a:t>If LMaaS were embedded in the Calix platform the way SmartBiz is today, MaiaEdge would have a channel into 1,600 fiber operators overnight.</a:t>
            </a:r>
          </a:p>
          <a:p>
            <a:pPr>
              <a:lnSpc>
                <a:spcPts val="2210"/>
              </a:lnSpc>
              <a:spcAft>
                <a:spcPts val="1360"/>
              </a:spcAft>
              <a:defRPr sz="1700">
                <a:solidFill>
                  <a:srgbClr val="FFFFFF"/>
                </a:solidFill>
                <a:latin typeface="Calibri"/>
              </a:defRPr>
            </a:pPr>
            <a:r>
              <a:t>Side benefit: Calix has already built billing system integration for fiber companies, which could simplify the Port + Path invoicing model significantly.</a:t>
            </a:r>
          </a:p>
          <a:p>
            <a:pPr>
              <a:lnSpc>
                <a:spcPts val="2210"/>
              </a:lnSpc>
              <a:spcAft>
                <a:spcPts val="1360"/>
              </a:spcAft>
              <a:defRPr sz="1700">
                <a:solidFill>
                  <a:srgbClr val="FFFFFF"/>
                </a:solidFill>
                <a:latin typeface="Calibri"/>
              </a:defRPr>
            </a:pPr>
            <a:r>
              <a:t>Plume is a secondary option — 400+ ISP relationships, expanding into enterprise with WorkPass — but more WiFi-centric.</a:t>
            </a:r>
          </a:p>
        </p:txBody>
      </p:sp>
      <p:sp>
        <p:nvSpPr>
          <p:cNvPr id="6" name="Rectangle 5"/>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The Neocloud Opportunity</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36576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Neoclouds need low-latency, dynamic capacity to the enterprise, and they don't have the last mile distribution to deliver it.</a:t>
            </a:r>
          </a:p>
          <a:p>
            <a:pPr>
              <a:lnSpc>
                <a:spcPts val="2340"/>
              </a:lnSpc>
              <a:spcAft>
                <a:spcPts val="1440"/>
              </a:spcAft>
              <a:defRPr sz="1800">
                <a:solidFill>
                  <a:srgbClr val="FFFFFF"/>
                </a:solidFill>
                <a:latin typeface="Calibri"/>
              </a:defRPr>
            </a:pPr>
            <a:r>
              <a:t>The hyperscalers solved this through massive CapEx on direct connect infrastructure and peering. Neoclouds can't replicate that.</a:t>
            </a:r>
          </a:p>
          <a:p>
            <a:pPr>
              <a:lnSpc>
                <a:spcPts val="2340"/>
              </a:lnSpc>
              <a:spcAft>
                <a:spcPts val="1440"/>
              </a:spcAft>
              <a:defRPr sz="1800">
                <a:solidFill>
                  <a:srgbClr val="FFFFFF"/>
                </a:solidFill>
                <a:latin typeface="Calibri"/>
              </a:defRPr>
            </a:pPr>
            <a:r>
              <a:t>LMaaS embedded inside regional fiber operators gives neoclouds a managed path from their compute to enterprise premises without building their own last mile. The same model works with companies like RevNet for Azure Local.</a:t>
            </a:r>
          </a:p>
          <a:p>
            <a:pPr>
              <a:lnSpc>
                <a:spcPts val="2340"/>
              </a:lnSpc>
              <a:spcAft>
                <a:spcPts val="1440"/>
              </a:spcAft>
              <a:defRPr sz="1800">
                <a:solidFill>
                  <a:srgbClr val="FFFFFF"/>
                </a:solidFill>
                <a:latin typeface="Calibri"/>
              </a:defRPr>
            </a:pPr>
            <a:r>
              <a:t>The fiber operators get new revenue, the neoclouds and distributed AI providers get enterprise reach, and MaiaEdge is the orchestration layer that connects them.</a:t>
            </a:r>
          </a:p>
        </p:txBody>
      </p:sp>
      <p:sp>
        <p:nvSpPr>
          <p:cNvPr id="6" name="Rounded Rectangle 5"/>
          <p:cNvSpPr/>
          <p:nvPr/>
        </p:nvSpPr>
        <p:spPr>
          <a:xfrm>
            <a:off x="731520" y="5029200"/>
            <a:ext cx="3200400" cy="13716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Fiber Operators</a:t>
            </a:r>
          </a:p>
          <a:p>
            <a:pPr>
              <a:spcBef>
                <a:spcPts val="600"/>
              </a:spcBef>
              <a:defRPr sz="1200">
                <a:solidFill>
                  <a:srgbClr val="FFFFFF"/>
                </a:solidFill>
                <a:latin typeface="Calibri"/>
              </a:defRPr>
            </a:pPr>
            <a:r>
              <a:t>New revenue streams</a:t>
            </a:r>
            <a:br/>
            <a:r>
              <a:t>without becoming a carrier</a:t>
            </a:r>
          </a:p>
        </p:txBody>
      </p:sp>
      <p:sp>
        <p:nvSpPr>
          <p:cNvPr id="7" name="Rounded Rectangle 6"/>
          <p:cNvSpPr/>
          <p:nvPr/>
        </p:nvSpPr>
        <p:spPr>
          <a:xfrm>
            <a:off x="4251960" y="5029200"/>
            <a:ext cx="3200400" cy="13716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Neoclouds / AI</a:t>
            </a:r>
          </a:p>
          <a:p>
            <a:pPr>
              <a:spcBef>
                <a:spcPts val="600"/>
              </a:spcBef>
              <a:defRPr sz="1200">
                <a:solidFill>
                  <a:srgbClr val="FFFFFF"/>
                </a:solidFill>
                <a:latin typeface="Calibri"/>
              </a:defRPr>
            </a:pPr>
            <a:r>
              <a:t>Enterprise reach via</a:t>
            </a:r>
            <a:br/>
            <a:r>
              <a:t>managed last mile</a:t>
            </a:r>
          </a:p>
        </p:txBody>
      </p:sp>
      <p:sp>
        <p:nvSpPr>
          <p:cNvPr id="8" name="Rounded Rectangle 7"/>
          <p:cNvSpPr/>
          <p:nvPr/>
        </p:nvSpPr>
        <p:spPr>
          <a:xfrm>
            <a:off x="7772400" y="5029200"/>
            <a:ext cx="3200400" cy="13716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MaiaEdge</a:t>
            </a:r>
          </a:p>
          <a:p>
            <a:pPr>
              <a:spcBef>
                <a:spcPts val="600"/>
              </a:spcBef>
              <a:defRPr sz="1200">
                <a:solidFill>
                  <a:srgbClr val="FFFFFF"/>
                </a:solidFill>
                <a:latin typeface="Calibri"/>
              </a:defRPr>
            </a:pPr>
            <a:r>
              <a:t>Orchestration layer —</a:t>
            </a:r>
            <a:br/>
            <a:r>
              <a:t>network effects compound</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What This Means for MaiaEdge</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3657600"/>
          </a:xfrm>
          <a:prstGeom prst="rect">
            <a:avLst/>
          </a:prstGeom>
          <a:noFill/>
        </p:spPr>
        <p:txBody>
          <a:bodyPr wrap="square">
            <a:spAutoFit/>
          </a:bodyPr>
          <a:lstStyle/>
          <a:p>
            <a:pPr>
              <a:lnSpc>
                <a:spcPts val="2600"/>
              </a:lnSpc>
              <a:spcAft>
                <a:spcPts val="1600"/>
              </a:spcAft>
              <a:defRPr sz="2000">
                <a:solidFill>
                  <a:srgbClr val="FFFFFF"/>
                </a:solidFill>
                <a:latin typeface="Calibri"/>
              </a:defRPr>
            </a:pPr>
            <a:r>
              <a:t>LMaaS is a natural service extension of the existing PBC business. We're already in the metro ethernet.</a:t>
            </a:r>
          </a:p>
          <a:p>
            <a:pPr>
              <a:lnSpc>
                <a:spcPts val="2600"/>
              </a:lnSpc>
              <a:spcAft>
                <a:spcPts val="1600"/>
              </a:spcAft>
              <a:defRPr sz="2000">
                <a:solidFill>
                  <a:srgbClr val="FFFFFF"/>
                </a:solidFill>
                <a:latin typeface="Calibri"/>
              </a:defRPr>
            </a:pPr>
            <a:r>
              <a:t>The platform opens up new revenue streams on top of that installed base — usage-based fabric path fees and revenue shares alongside the existing hardware and subscription model.</a:t>
            </a:r>
          </a:p>
          <a:p>
            <a:pPr>
              <a:lnSpc>
                <a:spcPts val="2600"/>
              </a:lnSpc>
              <a:spcAft>
                <a:spcPts val="1600"/>
              </a:spcAft>
              <a:defRPr sz="2000">
                <a:solidFill>
                  <a:srgbClr val="FFFFFF"/>
                </a:solidFill>
                <a:latin typeface="Calibri"/>
              </a:defRPr>
            </a:pPr>
            <a:r>
              <a:t>Every fiber operator on the platform makes it more valuable to every cloud, colocation, and neocloud destination, and that network effect compounds as we scale.</a:t>
            </a:r>
          </a:p>
        </p:txBody>
      </p:sp>
      <p:sp>
        <p:nvSpPr>
          <p:cNvPr id="6" name="Rounded Rectangle 5"/>
          <p:cNvSpPr/>
          <p:nvPr/>
        </p:nvSpPr>
        <p:spPr>
          <a:xfrm>
            <a:off x="731520" y="4114800"/>
            <a:ext cx="10515600" cy="20116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The Turnkey Platform</a:t>
            </a:r>
          </a:p>
          <a:p>
            <a:pPr>
              <a:spcBef>
                <a:spcPts val="600"/>
              </a:spcBef>
              <a:defRPr sz="1200">
                <a:solidFill>
                  <a:srgbClr val="FFFFFF"/>
                </a:solidFill>
                <a:latin typeface="Calibri"/>
              </a:defRPr>
            </a:pPr>
            <a:r>
              <a:t>Fills the operational gap (no NOC or cloud integrations needed), the regulatory gap (fiber operator's compliance posture unchanged), and the commercial gap (billing, pricing, revenue share pre-structured). The pitch: participate in cloud and neocloud connectivity revenue without becoming a carrier or diverting from your buildout strategy.</a:t>
            </a:r>
          </a:p>
        </p:txBody>
      </p:sp>
      <p:sp>
        <p:nvSpPr>
          <p:cNvPr id="7" name="Rectangle 6"/>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Competitive Positioning</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2743200"/>
          </a:xfrm>
          <a:prstGeom prst="rect">
            <a:avLst/>
          </a:prstGeom>
          <a:noFill/>
        </p:spPr>
        <p:txBody>
          <a:bodyPr wrap="square">
            <a:spAutoFit/>
          </a:bodyPr>
          <a:lstStyle/>
          <a:p>
            <a:pPr>
              <a:lnSpc>
                <a:spcPts val="2340"/>
              </a:lnSpc>
              <a:spcAft>
                <a:spcPts val="1440"/>
              </a:spcAft>
              <a:defRPr sz="1800">
                <a:solidFill>
                  <a:srgbClr val="FFFFFF"/>
                </a:solidFill>
                <a:latin typeface="Calibri"/>
              </a:defRPr>
            </a:pPr>
            <a:r>
              <a:t>Megaport, PacketFabric, and Equinix are not competitors — they're potential partners.</a:t>
            </a:r>
          </a:p>
          <a:p>
            <a:pPr>
              <a:lnSpc>
                <a:spcPts val="2340"/>
              </a:lnSpc>
              <a:spcAft>
                <a:spcPts val="1440"/>
              </a:spcAft>
              <a:defRPr sz="1800">
                <a:solidFill>
                  <a:srgbClr val="FFFFFF"/>
                </a:solidFill>
                <a:latin typeface="Calibri"/>
              </a:defRPr>
            </a:pPr>
            <a:r>
              <a:t>They all terminate at the data center or colocation facility and have no way to reach the enterprise across the last mile. LMaaS solves that problem for them.</a:t>
            </a:r>
          </a:p>
          <a:p>
            <a:pPr>
              <a:lnSpc>
                <a:spcPts val="2340"/>
              </a:lnSpc>
              <a:spcAft>
                <a:spcPts val="1440"/>
              </a:spcAft>
              <a:defRPr sz="1800">
                <a:solidFill>
                  <a:srgbClr val="FFFFFF"/>
                </a:solidFill>
                <a:latin typeface="Calibri"/>
              </a:defRPr>
            </a:pPr>
            <a:r>
              <a:t>An Equinix-endorsed reference architecture would give MaiaEdge credibility in every fiber operator conversation.</a:t>
            </a:r>
          </a:p>
        </p:txBody>
      </p:sp>
      <p:sp>
        <p:nvSpPr>
          <p:cNvPr id="6" name="Rounded Rectangle 5"/>
          <p:cNvSpPr/>
          <p:nvPr/>
        </p:nvSpPr>
        <p:spPr>
          <a:xfrm>
            <a:off x="731520" y="4389120"/>
            <a:ext cx="3200400" cy="18288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Megaport / PacketFabric</a:t>
            </a:r>
          </a:p>
          <a:p>
            <a:pPr>
              <a:spcBef>
                <a:spcPts val="600"/>
              </a:spcBef>
              <a:defRPr sz="1200">
                <a:solidFill>
                  <a:srgbClr val="FFFFFF"/>
                </a:solidFill>
                <a:latin typeface="Calibri"/>
              </a:defRPr>
            </a:pPr>
            <a:r>
              <a:t>Need last mile reach.</a:t>
            </a:r>
            <a:br/>
            <a:r>
              <a:t>LMaaS is the managed on-ramp</a:t>
            </a:r>
            <a:br/>
            <a:r>
              <a:t>from enterprise to their fabric.</a:t>
            </a:r>
          </a:p>
        </p:txBody>
      </p:sp>
      <p:sp>
        <p:nvSpPr>
          <p:cNvPr id="7" name="Rounded Rectangle 6"/>
          <p:cNvSpPr/>
          <p:nvPr/>
        </p:nvSpPr>
        <p:spPr>
          <a:xfrm>
            <a:off x="4251960" y="4389120"/>
            <a:ext cx="3200400" cy="18288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Equinix</a:t>
            </a:r>
          </a:p>
          <a:p>
            <a:pPr>
              <a:spcBef>
                <a:spcPts val="600"/>
              </a:spcBef>
              <a:defRPr sz="1200">
                <a:solidFill>
                  <a:srgbClr val="FFFFFF"/>
                </a:solidFill>
                <a:latin typeface="Calibri"/>
              </a:defRPr>
            </a:pPr>
            <a:r>
              <a:t>Needs enterprise traffic.</a:t>
            </a:r>
            <a:br/>
            <a:r>
              <a:t>Reference architecture endorsement</a:t>
            </a:r>
            <a:br/>
            <a:r>
              <a:t>= marketing accelerant.</a:t>
            </a:r>
          </a:p>
        </p:txBody>
      </p:sp>
      <p:sp>
        <p:nvSpPr>
          <p:cNvPr id="8" name="Rounded Rectangle 7"/>
          <p:cNvSpPr/>
          <p:nvPr/>
        </p:nvSpPr>
        <p:spPr>
          <a:xfrm>
            <a:off x="7772400" y="4389120"/>
            <a:ext cx="3200400" cy="182880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Windstream Enterprise</a:t>
            </a:r>
          </a:p>
          <a:p>
            <a:pPr>
              <a:spcBef>
                <a:spcPts val="600"/>
              </a:spcBef>
              <a:defRPr sz="1200">
                <a:solidFill>
                  <a:srgbClr val="FFFFFF"/>
                </a:solidFill>
                <a:latin typeface="Calibri"/>
              </a:defRPr>
            </a:pPr>
            <a:r>
              <a:t>Built SD-WAN internally with</a:t>
            </a:r>
            <a:br/>
            <a:r>
              <a:t>separate enterprise division.</a:t>
            </a:r>
            <a:br/>
            <a:r>
              <a:t>Not replicable by regional operators.</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Next Steps</a:t>
            </a:r>
          </a:p>
        </p:txBody>
      </p:sp>
      <p:sp>
        <p:nvSpPr>
          <p:cNvPr id="4" name="Rectangle 3"/>
          <p:cNvSpPr/>
          <p:nvPr/>
        </p:nvSpPr>
        <p:spPr>
          <a:xfrm>
            <a:off x="0" y="1005840"/>
            <a:ext cx="1828800" cy="27432"/>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5029200" cy="10972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Fiber Operator Validation  (In Progress)</a:t>
            </a:r>
          </a:p>
          <a:p>
            <a:pPr>
              <a:spcBef>
                <a:spcPts val="600"/>
              </a:spcBef>
              <a:defRPr sz="1200">
                <a:solidFill>
                  <a:srgbClr val="FFFFFF"/>
                </a:solidFill>
                <a:latin typeface="Calibri"/>
              </a:defRPr>
            </a:pPr>
            <a:r>
              <a:t>Tim Z is already engaging fiber operators to discuss the Port + Path model and test whether the turnkey pitch resonates with their sales teams.</a:t>
            </a:r>
          </a:p>
        </p:txBody>
      </p:sp>
      <p:sp>
        <p:nvSpPr>
          <p:cNvPr id="6" name="Rounded Rectangle 5"/>
          <p:cNvSpPr/>
          <p:nvPr/>
        </p:nvSpPr>
        <p:spPr>
          <a:xfrm>
            <a:off x="6080760" y="1371600"/>
            <a:ext cx="5029200" cy="10972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Competitive Positioning &amp; Partnerships</a:t>
            </a:r>
          </a:p>
          <a:p>
            <a:pPr>
              <a:spcBef>
                <a:spcPts val="600"/>
              </a:spcBef>
              <a:defRPr sz="1200">
                <a:solidFill>
                  <a:srgbClr val="FFFFFF"/>
                </a:solidFill>
                <a:latin typeface="Calibri"/>
              </a:defRPr>
            </a:pPr>
            <a:r>
              <a:t>Engage Megaport, PacketFabric, and Equinix as complementary partners. Pursue Equinix reference architecture endorsement as a marketing accelerant.</a:t>
            </a:r>
          </a:p>
        </p:txBody>
      </p:sp>
      <p:sp>
        <p:nvSpPr>
          <p:cNvPr id="7" name="Rounded Rectangle 6"/>
          <p:cNvSpPr/>
          <p:nvPr/>
        </p:nvSpPr>
        <p:spPr>
          <a:xfrm>
            <a:off x="731520" y="2743200"/>
            <a:ext cx="5029200" cy="10972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Calix Partnership Exploration</a:t>
            </a:r>
          </a:p>
          <a:p>
            <a:pPr>
              <a:spcBef>
                <a:spcPts val="600"/>
              </a:spcBef>
              <a:defRPr sz="1200">
                <a:solidFill>
                  <a:srgbClr val="FFFFFF"/>
                </a:solidFill>
                <a:latin typeface="Calibri"/>
              </a:defRPr>
            </a:pPr>
            <a:r>
              <a:t>Open exploratory conversation with Calix's partner team about embedding LMaaS in their platform and leveraging their billing integration.</a:t>
            </a:r>
          </a:p>
        </p:txBody>
      </p:sp>
      <p:sp>
        <p:nvSpPr>
          <p:cNvPr id="8" name="Rounded Rectangle 7"/>
          <p:cNvSpPr/>
          <p:nvPr/>
        </p:nvSpPr>
        <p:spPr>
          <a:xfrm>
            <a:off x="6080760" y="2743200"/>
            <a:ext cx="5029200" cy="1097280"/>
          </a:xfrm>
          <a:prstGeom prst="roundRect">
            <a:avLst>
              <a:gd name="adj" fmla="val 5000"/>
            </a:avLst>
          </a:prstGeom>
          <a:solidFill>
            <a:srgbClr val="1A253C"/>
          </a:solidFill>
          <a:ln w="19050">
            <a:solidFill>
              <a:srgbClr val="00C2CB"/>
            </a:solid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a:lstStyle/>
          <a:p>
            <a:pPr algn="ctr">
              <a:defRPr sz="1400" b="1">
                <a:solidFill>
                  <a:srgbClr val="00C2CB"/>
                </a:solidFill>
                <a:latin typeface="Calibri"/>
              </a:defRPr>
            </a:pPr>
            <a:r>
              <a:t>Contract &amp; Billing Framework</a:t>
            </a:r>
          </a:p>
          <a:p>
            <a:pPr>
              <a:spcBef>
                <a:spcPts val="600"/>
              </a:spcBef>
              <a:defRPr sz="1200">
                <a:solidFill>
                  <a:srgbClr val="FFFFFF"/>
                </a:solidFill>
                <a:latin typeface="Calibri"/>
              </a:defRPr>
            </a:pPr>
            <a:r>
              <a:t>Sketch out the contract language and billing structure that maintains the Split Product Model separation.</a:t>
            </a:r>
          </a:p>
        </p:txBody>
      </p:sp>
      <p:sp>
        <p:nvSpPr>
          <p:cNvPr id="9" name="Rectangle 8"/>
          <p:cNvSpPr/>
          <p:nvPr/>
        </p:nvSpPr>
        <p:spPr>
          <a:xfrm>
            <a:off x="0" y="6492240"/>
            <a:ext cx="12191695" cy="36576"/>
          </a:xfrm>
          <a:prstGeom prst="rect">
            <a:avLst/>
          </a:prstGeom>
          <a:solidFill>
            <a:srgbClr val="00C2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2743200" cy="274320"/>
          </a:xfrm>
          <a:prstGeom prst="rect">
            <a:avLst/>
          </a:prstGeom>
          <a:noFill/>
        </p:spPr>
        <p:txBody>
          <a:bodyPr wrap="square">
            <a:spAutoFit/>
          </a:bodyPr>
          <a:lstStyle/>
          <a:p>
            <a:pPr algn="l">
              <a:defRPr sz="900" b="0">
                <a:solidFill>
                  <a:srgbClr val="B0B8C8"/>
                </a:solidFill>
                <a:latin typeface="Calibri"/>
              </a:defRPr>
            </a:pPr>
            <a:r>
              <a:t>MaiaEdge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