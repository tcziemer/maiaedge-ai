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Deals</c:v>
                </c:pt>
              </c:strCache>
            </c:strRef>
          </c:tx>
          <c:spPr>
            <a:solidFill>
              <a:srgbClr val="028A9E"/>
            </a:solidFill>
          </c:spPr>
          <c:cat>
            <c:strRef>
              <c:f>Sheet1!$A$2:$A$12</c:f>
              <c:strCache>
                <c:ptCount val="11"/>
                <c:pt idx="0">
                  <c:v>Feb '25</c:v>
                </c:pt>
                <c:pt idx="1">
                  <c:v>Jun '25</c:v>
                </c:pt>
                <c:pt idx="2">
                  <c:v>Jul '25</c:v>
                </c:pt>
                <c:pt idx="3">
                  <c:v>Aug '25</c:v>
                </c:pt>
                <c:pt idx="4">
                  <c:v>Sep '25</c:v>
                </c:pt>
                <c:pt idx="5">
                  <c:v>Nov '25</c:v>
                </c:pt>
                <c:pt idx="6">
                  <c:v>Jan '26</c:v>
                </c:pt>
                <c:pt idx="7">
                  <c:v>Feb '26</c:v>
                </c:pt>
                <c:pt idx="8">
                  <c:v>Mar '26</c:v>
                </c:pt>
                <c:pt idx="9">
                  <c:v>Apr '26</c:v>
                </c:pt>
                <c:pt idx="10">
                  <c:v>May '26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7</c:v>
                </c:pt>
                <c:pt idx="6">
                  <c:v>2</c:v>
                </c:pt>
                <c:pt idx="7">
                  <c:v>1</c:v>
                </c:pt>
                <c:pt idx="8">
                  <c:v>9</c:v>
                </c:pt>
                <c:pt idx="9">
                  <c:v>3</c:v>
                </c:pt>
                <c:pt idx="10">
                  <c:v>9</c:v>
                </c:pt>
              </c:numCache>
            </c:numRef>
          </c:val>
          <c:dPt>
            <c:idx val="8"/>
            <c:bubble3D val="0"/>
            <c:spPr>
              <a:solidFill>
                <a:srgbClr val="1E2761"/>
              </a:solidFill>
            </c:spPr>
          </c:dPt>
          <c:dPt>
            <c:idx val="9"/>
            <c:bubble3D val="0"/>
            <c:spPr>
              <a:solidFill>
                <a:srgbClr val="1E2761"/>
              </a:solidFill>
            </c:spPr>
          </c:dPt>
          <c:dPt>
            <c:idx val="10"/>
            <c:bubble3D val="0"/>
            <c:spPr>
              <a:solidFill>
                <a:srgbClr val="1E2761"/>
              </a:solidFill>
            </c:spPr>
          </c:dPt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3291840"/>
            <a:ext cx="9034272" cy="1851660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94F"/>
                </a:solidFill>
              </a:rPr>
              <a:t>PIPELINE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Funnel Trends &amp;
Deal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June 2026  |  MaiaEdge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25 active deals  -  $3.2M open pipeline  -  9 new in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92024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515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Active Deals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960120"/>
            <a:ext cx="1920240" cy="1280160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0515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$3.2M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Open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960120"/>
            <a:ext cx="1920240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0515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$344K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FCE7"/>
                </a:solidFill>
              </a:rPr>
              <a:t>Closed Won YTD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960120"/>
            <a:ext cx="1920240" cy="1280160"/>
          </a:xfrm>
          <a:prstGeom prst="rect">
            <a:avLst/>
          </a:prstGeom>
          <a:solidFill>
            <a:srgbClr val="E8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0515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</a:rPr>
              <a:t>New Deals in May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2316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2743200" cy="64008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Velocity Accelerating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2962656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March and May both hit 9 new deals - the two biggest creation months in the pipeline's history. GTM motion is clearly building.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42316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2423160"/>
            <a:ext cx="2743200" cy="64008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Mid-Funnel Bulge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2962656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12 deals at Presentation/POC and 9 at Qualified to Buy. Converting these forward is the highest-leverage activity right now.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42316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2423160"/>
            <a:ext cx="2743200" cy="64008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Win Rate Improving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2962656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3 wins in 2026 (HDCO $266K, IENTC $19K). Loss pace has slowed materially since Q4 2025 - a positive leading indicator.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Deal Creation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New deals entered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914400"/>
          <a:ext cx="82296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Funnel Shape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47472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7977" cy="658368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169" y="10698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Appointment Scheduled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075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9E"/>
                </a:solidFill>
              </a:rPr>
              <a:t>$30K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19656"/>
            <a:ext cx="347472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19656"/>
            <a:ext cx="1250899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4091" y="19293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653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Qualified to 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671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9E"/>
                </a:solidFill>
              </a:rPr>
              <a:t>$2.15M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79191"/>
            <a:ext cx="347472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679191"/>
            <a:ext cx="1667865" cy="658368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1057" y="2788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2491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Presentation / POC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2666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9E"/>
                </a:solidFill>
              </a:rPr>
              <a:t>$440K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38728"/>
            <a:ext cx="3474720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38728"/>
            <a:ext cx="416966" cy="658368"/>
          </a:xfrm>
          <a:prstGeom prst="rect">
            <a:avLst/>
          </a:prstGeom>
          <a:solidFill>
            <a:srgbClr val="E8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" y="36484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84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POC Active /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9E"/>
                </a:solidFill>
              </a:rPr>
              <a:t>$410K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960120"/>
            <a:ext cx="2286000" cy="10789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005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508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Total Active Deals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148840"/>
            <a:ext cx="2286000" cy="1078992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$3.2M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697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Open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337560"/>
            <a:ext cx="2286000" cy="10789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6B34"/>
                </a:solidFill>
              </a:rPr>
              <a:t>$344K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886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6B34"/>
                </a:solidFill>
              </a:rPr>
              <a:t>Closed Won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Qualified to Buy  -  Move These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B94F"/>
                </a:solidFill>
              </a:rPr>
              <a:t>9 deals  |  $2.15M in value  |  Priority conversion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886968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8869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88696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88696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16152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8016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Nexus Data Centers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2801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$1,000,000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28016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12801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36776"/>
            <a:ext cx="8503920" cy="420624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700784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Movi - CPE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7007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$600,000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700784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170078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57400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121408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Ark Datacenter Backbone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121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$200,000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12140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212140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478024"/>
            <a:ext cx="8503920" cy="420624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542032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Swiss Vault - Indonesia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$100,000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54203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25420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98648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96265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Swiss Vault - Genomics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9626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$100,000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9626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296265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319272"/>
            <a:ext cx="8503920" cy="420624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383279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Momentum - Pilot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38327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3383279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3383279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39896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803904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Provocative Science - Pilot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8039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3803904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380390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160520"/>
            <a:ext cx="8503920" cy="420624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4224528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Colony Compute - 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42245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16752" y="42245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1" y="42245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581144"/>
            <a:ext cx="8503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4645152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Flo Networks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46451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</a:rPr>
              <a:t>TBD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4645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1" y="4645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International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Presentation / POC Stage  -  Active Pitches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12 deals actively evaluating MaiaEdge  |  Focus: advance to POC or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886968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8869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88696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88696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16152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5272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NextHop - 5 POP APAC + 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2527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$105,000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25272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1252728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38020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57459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CyrusOne - DFW1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5745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$60,000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574596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1574596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859889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1896465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Ocean Networks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896465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896465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1896465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81758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21833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Centra -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21833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218334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2218334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03627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540203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Datum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540203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2540203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254020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East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825495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2862071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ambiFOX GmbH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862071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2862071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2862071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147364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18394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Ecotel Communication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1839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</a:rPr>
              <a:t>TBD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3183940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3183940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69233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3505809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Atlantech Online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3505809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</a:rPr>
              <a:t>TBD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16752" y="3505809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1" y="3505809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791102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382767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Acuutech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382767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</a:rPr>
              <a:t>TBD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382767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1" y="3827678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International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112971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4149547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Fusion Broadband 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4149547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</a:rPr>
              <a:t>TBD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16752" y="4149547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42631" y="4149547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West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434840"/>
            <a:ext cx="8503920" cy="321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447141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Arvig - First Deal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44714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$15,000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6752" y="4471416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42631" y="4471416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756708"/>
            <a:ext cx="8503920" cy="321868"/>
          </a:xfrm>
          <a:prstGeom prst="rect">
            <a:avLst/>
          </a:prstGeom>
          <a:solidFill>
            <a:srgbClr val="F1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" y="479328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Technium - Lab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479328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166B34"/>
                </a:solidFill>
              </a:rPr>
              <a:t>$5,000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16752" y="4793284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Tim 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42631" y="4793284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East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</a:rPr>
              <a:t>POC Active / Late Stage  -  Nearest to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3 deals  |  $410K in value  |  These need a push to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85039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Movi - 22 x 100G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51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8B94F"/>
                </a:solidFill>
              </a:rPr>
              <a:t>$400,000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Tim L  -  East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</a:rPr>
              <a:t>Largest deal in POC stage. 22-port 100G build-out. Close date Sep 2026. Push to contract in June.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8503920" cy="1325880"/>
          </a:xfrm>
          <a:prstGeom prst="rect">
            <a:avLst/>
          </a:prstGeom>
          <a:solidFill>
            <a:srgbClr val="02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RevNet / Alasconnect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87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8B94F"/>
                </a:solidFill>
              </a:rPr>
              <a:t>TBD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Tim L  -  East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</a:rPr>
              <a:t>In POC since Nov 2025 - longest time in this stage at 7 months. Needs a clear decision: convert to contract or close 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31335"/>
            <a:ext cx="8503920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2277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RocNet - Lab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2277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8B94F"/>
                </a:solidFill>
              </a:rPr>
              <a:t>$10,000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0682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</a:rPr>
              <a:t>Tim L  -  East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8114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CCC"/>
                </a:solidFill>
              </a:rPr>
              <a:t>Lab unit purchase. Close date was May 15 - already past. Needs immediate follow-up to get a PO or mark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94F"/>
                </a:solidFill>
              </a:rP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Moving the Funnel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2029968" cy="37033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527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C262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28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1B1B"/>
                </a:solidFill>
              </a:rPr>
              <a:t>Close RocNet and force RevNet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414015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1B1B"/>
                </a:solidFill>
              </a:rPr>
              <a:t>RocNet's close date passed May 15 - get a PO this week or close the deal out. RevNet has been in POC for 7 months; schedule a call to force a yes/no.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1115568"/>
            <a:ext cx="2029968" cy="3703320"/>
          </a:xfrm>
          <a:prstGeom prst="rect">
            <a:avLst/>
          </a:prstGeom>
          <a:solidFill>
            <a:srgbClr val="CC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527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28A9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4A5A"/>
                </a:solidFill>
              </a:rPr>
              <a:t>Movi contract push - $400K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14015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A5A"/>
                </a:solidFill>
              </a:rPr>
              <a:t>Move the 22x100G deal from POC to contract in June. Sep close is achievable. Movi CPE ($600K) should enter active POC simultaneously.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8304" y="1115568"/>
            <a:ext cx="2029968" cy="37033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2527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B94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828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</a:rPr>
              <a:t>Convert top QTB to active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414015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2400E"/>
                </a:solidFill>
              </a:rPr>
              <a:t>Nexus ($1M), Ark ($200K), Swiss Vault ($200K) are the highest-value QTB deals. Each needs a defined POC scope and start date before end of June.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4576" y="1115568"/>
            <a:ext cx="2029968" cy="3703320"/>
          </a:xfrm>
          <a:prstGeom prst="rect">
            <a:avLst/>
          </a:prstGeom>
          <a:solidFill>
            <a:srgbClr val="E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12527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8288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Qualify all TBD-value deals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414015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8 active deals have no dollar amount. Get budget numbers on Ecotel, Atlantech, Acuutech, Fusion Broadband, and Flo Networks this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MaiaEdge  |  June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