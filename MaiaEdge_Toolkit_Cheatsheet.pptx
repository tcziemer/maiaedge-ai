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5" d="100"/>
          <a:sy n="155" d="100"/>
        </p:scale>
        <p:origin x="31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36978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1097280"/>
            <a:ext cx="7680960" cy="1097280"/>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MaiaEdge AI Toolkit</a:t>
            </a:r>
            <a:endParaRPr lang="en-US" sz="4400" dirty="0"/>
          </a:p>
        </p:txBody>
      </p:sp>
      <p:sp>
        <p:nvSpPr>
          <p:cNvPr id="4" name="Text 2"/>
          <p:cNvSpPr/>
          <p:nvPr/>
        </p:nvSpPr>
        <p:spPr>
          <a:xfrm>
            <a:off x="731520" y="2103120"/>
            <a:ext cx="7680960" cy="548640"/>
          </a:xfrm>
          <a:prstGeom prst="rect">
            <a:avLst/>
          </a:prstGeom>
          <a:noFill/>
          <a:ln/>
        </p:spPr>
        <p:txBody>
          <a:bodyPr wrap="square" rtlCol="0" anchor="ctr"/>
          <a:lstStyle/>
          <a:p>
            <a:pPr marL="0" indent="0">
              <a:buNone/>
            </a:pPr>
            <a:r>
              <a:rPr lang="en-US" sz="2000" kern="0" spc="800" dirty="0">
                <a:solidFill>
                  <a:srgbClr val="00BCD4"/>
                </a:solidFill>
                <a:latin typeface="Arial" pitchFamily="34" charset="0"/>
                <a:ea typeface="Arial" pitchFamily="34" charset="-122"/>
                <a:cs typeface="Arial" pitchFamily="34" charset="-120"/>
              </a:rPr>
              <a:t>CHEAT SHEET</a:t>
            </a:r>
            <a:endParaRPr lang="en-US" sz="2000" dirty="0"/>
          </a:p>
        </p:txBody>
      </p:sp>
      <p:sp>
        <p:nvSpPr>
          <p:cNvPr id="5" name="Shape 3"/>
          <p:cNvSpPr/>
          <p:nvPr/>
        </p:nvSpPr>
        <p:spPr>
          <a:xfrm>
            <a:off x="731520" y="2834640"/>
            <a:ext cx="2286000" cy="0"/>
          </a:xfrm>
          <a:prstGeom prst="line">
            <a:avLst/>
          </a:prstGeom>
          <a:noFill/>
          <a:ln w="38100">
            <a:solidFill>
              <a:srgbClr val="2196F3"/>
            </a:solidFill>
            <a:prstDash val="solid"/>
          </a:ln>
        </p:spPr>
        <p:txBody>
          <a:bodyPr/>
          <a:lstStyle/>
          <a:p>
            <a:endParaRPr lang="en-US"/>
          </a:p>
        </p:txBody>
      </p:sp>
      <p:sp>
        <p:nvSpPr>
          <p:cNvPr id="6" name="Text 4"/>
          <p:cNvSpPr/>
          <p:nvPr/>
        </p:nvSpPr>
        <p:spPr>
          <a:xfrm>
            <a:off x="731520" y="3108960"/>
            <a:ext cx="7680960" cy="548640"/>
          </a:xfrm>
          <a:prstGeom prst="rect">
            <a:avLst/>
          </a:prstGeom>
          <a:noFill/>
          <a:ln/>
        </p:spPr>
        <p:txBody>
          <a:bodyPr wrap="square" rtlCol="0" anchor="ctr"/>
          <a:lstStyle/>
          <a:p>
            <a:pPr marL="0" indent="0">
              <a:buNone/>
            </a:pPr>
            <a:r>
              <a:rPr lang="en-US" sz="1800" i="1" dirty="0">
                <a:solidFill>
                  <a:srgbClr val="B0BEC5"/>
                </a:solidFill>
                <a:latin typeface="Arial" pitchFamily="34" charset="0"/>
                <a:ea typeface="Arial" pitchFamily="34" charset="-122"/>
                <a:cs typeface="Arial" pitchFamily="34" charset="-120"/>
              </a:rPr>
              <a:t>Edit once. Build once. Deploy everywhere.</a:t>
            </a:r>
            <a:endParaRPr lang="en-US" sz="1800" dirty="0"/>
          </a:p>
        </p:txBody>
      </p:sp>
      <p:sp>
        <p:nvSpPr>
          <p:cNvPr id="7" name="Text 5"/>
          <p:cNvSpPr/>
          <p:nvPr/>
        </p:nvSpPr>
        <p:spPr>
          <a:xfrm>
            <a:off x="731520" y="3657600"/>
            <a:ext cx="7680960" cy="457200"/>
          </a:xfrm>
          <a:prstGeom prst="rect">
            <a:avLst/>
          </a:prstGeom>
          <a:noFill/>
          <a:ln/>
        </p:spPr>
        <p:txBody>
          <a:bodyPr wrap="square" rtlCol="0" anchor="ctr"/>
          <a:lstStyle/>
          <a:p>
            <a:pPr marL="0" indent="0">
              <a:buNone/>
            </a:pPr>
            <a:r>
              <a:rPr lang="en-US" sz="1400" dirty="0">
                <a:solidFill>
                  <a:srgbClr val="B0BEC5"/>
                </a:solidFill>
                <a:latin typeface="Arial" pitchFamily="34" charset="0"/>
                <a:ea typeface="Arial" pitchFamily="34" charset="-122"/>
                <a:cs typeface="Arial" pitchFamily="34" charset="-120"/>
              </a:rPr>
              <a:t>One source of truth for Cowork, Claude Code, and Enterprise Cloud</a:t>
            </a:r>
            <a:endParaRPr lang="en-US" sz="1400" dirty="0"/>
          </a:p>
        </p:txBody>
      </p:sp>
      <p:sp>
        <p:nvSpPr>
          <p:cNvPr id="8" name="Text 6"/>
          <p:cNvSpPr/>
          <p:nvPr/>
        </p:nvSpPr>
        <p:spPr>
          <a:xfrm>
            <a:off x="731520" y="4572000"/>
            <a:ext cx="7680960" cy="365760"/>
          </a:xfrm>
          <a:prstGeom prst="rect">
            <a:avLst/>
          </a:prstGeom>
          <a:noFill/>
          <a:ln/>
        </p:spPr>
        <p:txBody>
          <a:bodyPr wrap="square" rtlCol="0" anchor="ctr"/>
          <a:lstStyle/>
          <a:p>
            <a:pPr marL="0" indent="0">
              <a:buNone/>
            </a:pPr>
            <a:r>
              <a:rPr lang="en-US" sz="1200" dirty="0">
                <a:solidFill>
                  <a:srgbClr val="B0BEC5"/>
                </a:solidFill>
                <a:latin typeface="Arial" pitchFamily="34" charset="0"/>
                <a:ea typeface="Arial" pitchFamily="34" charset="-122"/>
                <a:cs typeface="Arial" pitchFamily="34" charset="-120"/>
              </a:rPr>
              <a:t>March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274320"/>
            <a:ext cx="7680960" cy="54864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The Rule</a:t>
            </a:r>
            <a:endParaRPr lang="en-US" sz="2800" dirty="0"/>
          </a:p>
        </p:txBody>
      </p:sp>
      <p:sp>
        <p:nvSpPr>
          <p:cNvPr id="4" name="Shape 2"/>
          <p:cNvSpPr/>
          <p:nvPr/>
        </p:nvSpPr>
        <p:spPr>
          <a:xfrm>
            <a:off x="457200" y="1097280"/>
            <a:ext cx="3474720" cy="219456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5" name="Shape 3"/>
          <p:cNvSpPr/>
          <p:nvPr/>
        </p:nvSpPr>
        <p:spPr>
          <a:xfrm>
            <a:off x="457200" y="1097280"/>
            <a:ext cx="3474720" cy="54864"/>
          </a:xfrm>
          <a:prstGeom prst="rect">
            <a:avLst/>
          </a:prstGeom>
          <a:solidFill>
            <a:srgbClr val="2196F3"/>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731520" y="1325880"/>
            <a:ext cx="320040" cy="320040"/>
          </a:xfrm>
          <a:prstGeom prst="rect">
            <a:avLst/>
          </a:prstGeom>
        </p:spPr>
      </p:pic>
      <p:sp>
        <p:nvSpPr>
          <p:cNvPr id="7" name="Text 4"/>
          <p:cNvSpPr/>
          <p:nvPr/>
        </p:nvSpPr>
        <p:spPr>
          <a:xfrm>
            <a:off x="1143000" y="1280160"/>
            <a:ext cx="2560320" cy="411480"/>
          </a:xfrm>
          <a:prstGeom prst="rect">
            <a:avLst/>
          </a:prstGeom>
          <a:noFill/>
          <a:ln/>
        </p:spPr>
        <p:txBody>
          <a:bodyPr wrap="square" lIns="0" tIns="0" rIns="0" bIns="0" rtlCol="0" anchor="ctr"/>
          <a:lstStyle/>
          <a:p>
            <a:pPr marL="0" indent="0">
              <a:buNone/>
            </a:pPr>
            <a:r>
              <a:rPr lang="en-US" sz="1600" b="1" dirty="0">
                <a:solidFill>
                  <a:srgbClr val="64B5F6"/>
                </a:solidFill>
                <a:latin typeface="Arial" pitchFamily="34" charset="0"/>
                <a:ea typeface="Arial" pitchFamily="34" charset="-122"/>
                <a:cs typeface="Arial" pitchFamily="34" charset="-120"/>
              </a:rPr>
              <a:t>YOU EDIT</a:t>
            </a:r>
            <a:endParaRPr lang="en-US" sz="1600" dirty="0"/>
          </a:p>
        </p:txBody>
      </p:sp>
      <p:sp>
        <p:nvSpPr>
          <p:cNvPr id="8" name="Text 5"/>
          <p:cNvSpPr/>
          <p:nvPr/>
        </p:nvSpPr>
        <p:spPr>
          <a:xfrm>
            <a:off x="731520" y="1874520"/>
            <a:ext cx="2926080" cy="1280160"/>
          </a:xfrm>
          <a:prstGeom prst="rect">
            <a:avLst/>
          </a:prstGeom>
          <a:noFill/>
          <a:ln/>
        </p:spPr>
        <p:txBody>
          <a:bodyPr wrap="square" rtlCol="0" anchor="ctr"/>
          <a:lstStyle/>
          <a:p>
            <a:pPr marL="0" indent="0">
              <a:buNone/>
            </a:pPr>
            <a:r>
              <a:rPr lang="en-US" sz="1500" b="1" dirty="0">
                <a:solidFill>
                  <a:srgbClr val="00BCD4"/>
                </a:solidFill>
                <a:latin typeface="Consolas" pitchFamily="34" charset="0"/>
                <a:ea typeface="Consolas" pitchFamily="34" charset="-122"/>
                <a:cs typeface="Consolas" pitchFamily="34" charset="-120"/>
              </a:rPr>
              <a:t>context/</a:t>
            </a:r>
            <a:endParaRPr lang="en-US" sz="1500" dirty="0"/>
          </a:p>
          <a:p>
            <a:pPr marL="0" indent="0">
              <a:buNone/>
            </a:pPr>
            <a:r>
              <a:rPr lang="en-US" sz="1200" dirty="0">
                <a:solidFill>
                  <a:srgbClr val="B0BEC5"/>
                </a:solidFill>
                <a:latin typeface="Arial" pitchFamily="34" charset="0"/>
                <a:ea typeface="Arial" pitchFamily="34" charset="-122"/>
                <a:cs typeface="Arial" pitchFamily="34" charset="-120"/>
              </a:rPr>
              <a:t>  All reference documents</a:t>
            </a:r>
            <a:endParaRPr lang="en-US" sz="1500" dirty="0"/>
          </a:p>
          <a:p>
            <a:pPr marL="0" indent="0">
              <a:buNone/>
            </a:pPr>
            <a:endParaRPr lang="en-US" sz="1500" dirty="0"/>
          </a:p>
          <a:p>
            <a:pPr marL="0" indent="0">
              <a:buNone/>
            </a:pPr>
            <a:r>
              <a:rPr lang="en-US" sz="1500" b="1" dirty="0">
                <a:solidFill>
                  <a:srgbClr val="00BCD4"/>
                </a:solidFill>
                <a:latin typeface="Consolas" pitchFamily="34" charset="0"/>
                <a:ea typeface="Consolas" pitchFamily="34" charset="-122"/>
                <a:cs typeface="Consolas" pitchFamily="34" charset="-120"/>
              </a:rPr>
              <a:t>skills/</a:t>
            </a:r>
            <a:endParaRPr lang="en-US" sz="1500" dirty="0"/>
          </a:p>
          <a:p>
            <a:pPr marL="0" indent="0">
              <a:buNone/>
            </a:pPr>
            <a:r>
              <a:rPr lang="en-US" sz="1200" dirty="0">
                <a:solidFill>
                  <a:srgbClr val="B0BEC5"/>
                </a:solidFill>
                <a:latin typeface="Arial" pitchFamily="34" charset="0"/>
                <a:ea typeface="Arial" pitchFamily="34" charset="-122"/>
                <a:cs typeface="Arial" pitchFamily="34" charset="-120"/>
              </a:rPr>
              <a:t>  All skill SKILL.md files</a:t>
            </a:r>
            <a:endParaRPr lang="en-US" sz="1500" dirty="0"/>
          </a:p>
        </p:txBody>
      </p:sp>
      <p:pic>
        <p:nvPicPr>
          <p:cNvPr id="9" name="Image 1" descr="preencoded.png"/>
          <p:cNvPicPr>
            <a:picLocks noChangeAspect="1"/>
          </p:cNvPicPr>
          <p:nvPr/>
        </p:nvPicPr>
        <p:blipFill>
          <a:blip r:embed="rId4"/>
          <a:stretch>
            <a:fillRect/>
          </a:stretch>
        </p:blipFill>
        <p:spPr>
          <a:xfrm>
            <a:off x="4160520" y="2011680"/>
            <a:ext cx="457200" cy="457200"/>
          </a:xfrm>
          <a:prstGeom prst="rect">
            <a:avLst/>
          </a:prstGeom>
        </p:spPr>
      </p:pic>
      <p:sp>
        <p:nvSpPr>
          <p:cNvPr id="10" name="Shape 6"/>
          <p:cNvSpPr/>
          <p:nvPr/>
        </p:nvSpPr>
        <p:spPr>
          <a:xfrm>
            <a:off x="4846320" y="1097280"/>
            <a:ext cx="3931920" cy="219456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1" name="Shape 7"/>
          <p:cNvSpPr/>
          <p:nvPr/>
        </p:nvSpPr>
        <p:spPr>
          <a:xfrm>
            <a:off x="4846320" y="1097280"/>
            <a:ext cx="3931920" cy="54864"/>
          </a:xfrm>
          <a:prstGeom prst="rect">
            <a:avLst/>
          </a:prstGeom>
          <a:solidFill>
            <a:srgbClr val="4CAF50"/>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5120640" y="1325880"/>
            <a:ext cx="320040" cy="320040"/>
          </a:xfrm>
          <a:prstGeom prst="rect">
            <a:avLst/>
          </a:prstGeom>
        </p:spPr>
      </p:pic>
      <p:sp>
        <p:nvSpPr>
          <p:cNvPr id="13" name="Text 8"/>
          <p:cNvSpPr/>
          <p:nvPr/>
        </p:nvSpPr>
        <p:spPr>
          <a:xfrm>
            <a:off x="5532120" y="1280160"/>
            <a:ext cx="2926080" cy="411480"/>
          </a:xfrm>
          <a:prstGeom prst="rect">
            <a:avLst/>
          </a:prstGeom>
          <a:noFill/>
          <a:ln/>
        </p:spPr>
        <p:txBody>
          <a:bodyPr wrap="square" lIns="0" tIns="0" rIns="0" bIns="0" rtlCol="0" anchor="ctr"/>
          <a:lstStyle/>
          <a:p>
            <a:pPr marL="0" indent="0">
              <a:buNone/>
            </a:pPr>
            <a:r>
              <a:rPr lang="en-US" sz="1600" b="1" dirty="0">
                <a:solidFill>
                  <a:srgbClr val="4CAF50"/>
                </a:solidFill>
                <a:latin typeface="Arial" pitchFamily="34" charset="0"/>
                <a:ea typeface="Arial" pitchFamily="34" charset="-122"/>
                <a:cs typeface="Arial" pitchFamily="34" charset="-120"/>
              </a:rPr>
              <a:t>BUILD GENERATES</a:t>
            </a:r>
            <a:endParaRPr lang="en-US" sz="1600" dirty="0"/>
          </a:p>
        </p:txBody>
      </p:sp>
      <p:sp>
        <p:nvSpPr>
          <p:cNvPr id="14" name="Text 9"/>
          <p:cNvSpPr/>
          <p:nvPr/>
        </p:nvSpPr>
        <p:spPr>
          <a:xfrm>
            <a:off x="5120640" y="1828800"/>
            <a:ext cx="3474720" cy="1371600"/>
          </a:xfrm>
          <a:prstGeom prst="rect">
            <a:avLst/>
          </a:prstGeom>
          <a:noFill/>
          <a:ln/>
        </p:spPr>
        <p:txBody>
          <a:bodyPr wrap="square" rtlCol="0" anchor="ctr"/>
          <a:lstStyle/>
          <a:p>
            <a:pPr marL="0" indent="0">
              <a:buNone/>
            </a:pPr>
            <a:r>
              <a:rPr lang="en-US" sz="1300" b="1" dirty="0">
                <a:solidFill>
                  <a:srgbClr val="4CAF50"/>
                </a:solidFill>
                <a:latin typeface="Consolas" pitchFamily="34" charset="0"/>
                <a:ea typeface="Consolas" pitchFamily="34" charset="-122"/>
                <a:cs typeface="Consolas" pitchFamily="34" charset="-120"/>
              </a:rPr>
              <a:t>enterprise/*/upload/</a:t>
            </a:r>
            <a:endParaRPr lang="en-US" sz="1300" dirty="0"/>
          </a:p>
          <a:p>
            <a:pPr marL="0" indent="0">
              <a:buNone/>
            </a:pPr>
            <a:r>
              <a:rPr lang="en-US" sz="1100" dirty="0">
                <a:solidFill>
                  <a:srgbClr val="B0BEC5"/>
                </a:solidFill>
                <a:latin typeface="Arial" pitchFamily="34" charset="0"/>
                <a:ea typeface="Arial" pitchFamily="34" charset="-122"/>
                <a:cs typeface="Arial" pitchFamily="34" charset="-120"/>
              </a:rPr>
              <a:t>  Flat .md files for Cloud Projects</a:t>
            </a:r>
            <a:endParaRPr lang="en-US" sz="1300" dirty="0"/>
          </a:p>
          <a:p>
            <a:pPr marL="0" indent="0">
              <a:buNone/>
            </a:pPr>
            <a:endParaRPr lang="en-US" sz="1300" dirty="0"/>
          </a:p>
          <a:p>
            <a:pPr marL="0" indent="0">
              <a:buNone/>
            </a:pPr>
            <a:r>
              <a:rPr lang="en-US" sz="1300" b="1" dirty="0">
                <a:solidFill>
                  <a:srgbClr val="FF9800"/>
                </a:solidFill>
                <a:latin typeface="Consolas" pitchFamily="34" charset="0"/>
                <a:ea typeface="Consolas" pitchFamily="34" charset="-122"/>
                <a:cs typeface="Consolas" pitchFamily="34" charset="-120"/>
              </a:rPr>
              <a:t>builds/plugins-zipped/</a:t>
            </a:r>
            <a:endParaRPr lang="en-US" sz="1300" dirty="0"/>
          </a:p>
          <a:p>
            <a:pPr marL="0" indent="0">
              <a:buNone/>
            </a:pPr>
            <a:r>
              <a:rPr lang="en-US" sz="1100" dirty="0">
                <a:solidFill>
                  <a:srgbClr val="B0BEC5"/>
                </a:solidFill>
                <a:latin typeface="Arial" pitchFamily="34" charset="0"/>
                <a:ea typeface="Arial" pitchFamily="34" charset="-122"/>
                <a:cs typeface="Arial" pitchFamily="34" charset="-120"/>
              </a:rPr>
              <a:t>  7 plugin zips for Cowork</a:t>
            </a:r>
            <a:endParaRPr lang="en-US" sz="1300" dirty="0"/>
          </a:p>
          <a:p>
            <a:pPr marL="0" indent="0">
              <a:buNone/>
            </a:pPr>
            <a:endParaRPr lang="en-US" sz="1300" dirty="0"/>
          </a:p>
          <a:p>
            <a:pPr marL="0" indent="0">
              <a:buNone/>
            </a:pPr>
            <a:r>
              <a:rPr lang="en-US" sz="1300" b="1" dirty="0">
                <a:solidFill>
                  <a:srgbClr val="64B5F6"/>
                </a:solidFill>
                <a:latin typeface="Consolas" pitchFamily="34" charset="0"/>
                <a:ea typeface="Consolas" pitchFamily="34" charset="-122"/>
                <a:cs typeface="Consolas" pitchFamily="34" charset="-120"/>
              </a:rPr>
              <a:t>builds/skills-zipped/</a:t>
            </a:r>
            <a:endParaRPr lang="en-US" sz="1300" dirty="0"/>
          </a:p>
          <a:p>
            <a:pPr marL="0" indent="0">
              <a:buNone/>
            </a:pPr>
            <a:r>
              <a:rPr lang="en-US" sz="1100" dirty="0">
                <a:solidFill>
                  <a:srgbClr val="B0BEC5"/>
                </a:solidFill>
                <a:latin typeface="Arial" pitchFamily="34" charset="0"/>
                <a:ea typeface="Arial" pitchFamily="34" charset="-122"/>
                <a:cs typeface="Arial" pitchFamily="34" charset="-120"/>
              </a:rPr>
              <a:t>  5 standalone skill zips</a:t>
            </a:r>
            <a:endParaRPr lang="en-US" sz="1300" dirty="0"/>
          </a:p>
        </p:txBody>
      </p:sp>
      <p:sp>
        <p:nvSpPr>
          <p:cNvPr id="15" name="Shape 10"/>
          <p:cNvSpPr/>
          <p:nvPr/>
        </p:nvSpPr>
        <p:spPr>
          <a:xfrm>
            <a:off x="457200" y="3657600"/>
            <a:ext cx="8321040" cy="731520"/>
          </a:xfrm>
          <a:prstGeom prst="rect">
            <a:avLst/>
          </a:prstGeom>
          <a:solidFill>
            <a:srgbClr val="0D47A1"/>
          </a:solidFill>
          <a:ln/>
          <a:effectLst>
            <a:outerShdw blurRad="50800" dist="25400" dir="8100000" algn="bl" rotWithShape="0">
              <a:srgbClr val="000000">
                <a:alpha val="30000"/>
              </a:srgbClr>
            </a:outerShdw>
          </a:effectLst>
        </p:spPr>
        <p:txBody>
          <a:bodyPr/>
          <a:lstStyle/>
          <a:p>
            <a:endParaRPr lang="en-US"/>
          </a:p>
        </p:txBody>
      </p:sp>
      <p:sp>
        <p:nvSpPr>
          <p:cNvPr id="16" name="Text 11"/>
          <p:cNvSpPr/>
          <p:nvPr/>
        </p:nvSpPr>
        <p:spPr>
          <a:xfrm>
            <a:off x="731520" y="3703320"/>
            <a:ext cx="7772400" cy="640080"/>
          </a:xfrm>
          <a:prstGeom prst="rect">
            <a:avLst/>
          </a:prstGeom>
          <a:noFill/>
          <a:ln/>
        </p:spPr>
        <p:txBody>
          <a:bodyPr wrap="square" rtlCol="0" anchor="ctr"/>
          <a:lstStyle/>
          <a:p>
            <a:pPr marL="0" indent="0">
              <a:buNone/>
            </a:pPr>
            <a:r>
              <a:rPr lang="en-US" sz="1600" b="1" dirty="0">
                <a:solidFill>
                  <a:srgbClr val="00BCD4"/>
                </a:solidFill>
                <a:latin typeface="Consolas" pitchFamily="34" charset="0"/>
                <a:ea typeface="Consolas" pitchFamily="34" charset="-122"/>
                <a:cs typeface="Consolas" pitchFamily="34" charset="-120"/>
              </a:rPr>
              <a:t>bash build.sh</a:t>
            </a:r>
            <a:r>
              <a:rPr lang="en-US" sz="1400" dirty="0">
                <a:solidFill>
                  <a:srgbClr val="FFFFFF"/>
                </a:solidFill>
                <a:latin typeface="Arial" pitchFamily="34" charset="0"/>
                <a:ea typeface="Arial" pitchFamily="34" charset="-122"/>
                <a:cs typeface="Arial" pitchFamily="34" charset="-120"/>
              </a:rPr>
              <a:t>  — one command rebuilds everything from source</a:t>
            </a:r>
            <a:endParaRPr lang="en-US" sz="1600" dirty="0"/>
          </a:p>
        </p:txBody>
      </p:sp>
      <p:sp>
        <p:nvSpPr>
          <p:cNvPr id="17" name="Text 12"/>
          <p:cNvSpPr/>
          <p:nvPr/>
        </p:nvSpPr>
        <p:spPr>
          <a:xfrm>
            <a:off x="731520" y="4572000"/>
            <a:ext cx="7680960" cy="365760"/>
          </a:xfrm>
          <a:prstGeom prst="rect">
            <a:avLst/>
          </a:prstGeom>
          <a:noFill/>
          <a:ln/>
        </p:spPr>
        <p:txBody>
          <a:bodyPr wrap="square" rtlCol="0" anchor="ctr"/>
          <a:lstStyle/>
          <a:p>
            <a:pPr marL="0" indent="0">
              <a:buNone/>
            </a:pPr>
            <a:r>
              <a:rPr lang="en-US" sz="1200" i="1" dirty="0">
                <a:solidFill>
                  <a:srgbClr val="B0BEC5"/>
                </a:solidFill>
                <a:latin typeface="Arial" pitchFamily="34" charset="0"/>
                <a:ea typeface="Arial" pitchFamily="34" charset="-122"/>
                <a:cs typeface="Arial" pitchFamily="34" charset="-120"/>
              </a:rPr>
              <a:t>Never edit files in enterprise/*/upload/ or builds/ directly. They are generated output.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274320"/>
            <a:ext cx="7680960" cy="54864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Folder Structure</a:t>
            </a:r>
            <a:endParaRPr lang="en-US" sz="2800" dirty="0"/>
          </a:p>
        </p:txBody>
      </p:sp>
      <p:sp>
        <p:nvSpPr>
          <p:cNvPr id="4" name="Text 2"/>
          <p:cNvSpPr/>
          <p:nvPr/>
        </p:nvSpPr>
        <p:spPr>
          <a:xfrm>
            <a:off x="731520" y="1005840"/>
            <a:ext cx="7498080" cy="320040"/>
          </a:xfrm>
          <a:prstGeom prst="rect">
            <a:avLst/>
          </a:prstGeom>
          <a:noFill/>
          <a:ln/>
        </p:spPr>
        <p:txBody>
          <a:bodyPr wrap="square" lIns="0" tIns="0" rIns="0" bIns="0" rtlCol="0" anchor="ctr"/>
          <a:lstStyle/>
          <a:p>
            <a:pPr marL="0" indent="0">
              <a:buNone/>
            </a:pPr>
            <a:r>
              <a:rPr lang="en-US" sz="1400" b="1" dirty="0">
                <a:solidFill>
                  <a:srgbClr val="FFFFFF"/>
                </a:solidFill>
                <a:latin typeface="Consolas" pitchFamily="34" charset="0"/>
                <a:ea typeface="Consolas" pitchFamily="34" charset="-122"/>
                <a:cs typeface="Consolas" pitchFamily="34" charset="-120"/>
              </a:rPr>
              <a:t>maiaedge-ai/</a:t>
            </a:r>
            <a:endParaRPr lang="en-US" sz="1400" dirty="0"/>
          </a:p>
        </p:txBody>
      </p:sp>
      <p:sp>
        <p:nvSpPr>
          <p:cNvPr id="5" name="Text 3"/>
          <p:cNvSpPr/>
          <p:nvPr/>
        </p:nvSpPr>
        <p:spPr>
          <a:xfrm>
            <a:off x="1097280" y="1325880"/>
            <a:ext cx="7132320" cy="320040"/>
          </a:xfrm>
          <a:prstGeom prst="rect">
            <a:avLst/>
          </a:prstGeom>
          <a:noFill/>
          <a:ln/>
        </p:spPr>
        <p:txBody>
          <a:bodyPr wrap="square" lIns="0" tIns="0" rIns="0" bIns="0" rtlCol="0" anchor="ctr"/>
          <a:lstStyle/>
          <a:p>
            <a:pPr marL="0" indent="0">
              <a:buNone/>
            </a:pPr>
            <a:r>
              <a:rPr lang="en-US" sz="1400" dirty="0">
                <a:solidFill>
                  <a:srgbClr val="00BCD4"/>
                </a:solidFill>
                <a:latin typeface="Consolas" pitchFamily="34" charset="0"/>
                <a:ea typeface="Consolas" pitchFamily="34" charset="-122"/>
                <a:cs typeface="Consolas" pitchFamily="34" charset="-120"/>
              </a:rPr>
              <a:t>├── context/</a:t>
            </a:r>
            <a:r>
              <a:rPr lang="en-US" sz="1100" i="1" dirty="0">
                <a:solidFill>
                  <a:srgbClr val="64B5F6"/>
                </a:solidFill>
                <a:latin typeface="Arial" pitchFamily="34" charset="0"/>
                <a:ea typeface="Arial" pitchFamily="34" charset="-122"/>
                <a:cs typeface="Arial" pitchFamily="34" charset="-120"/>
              </a:rPr>
              <a:t>  EDIT HERE — single source for all knowledge</a:t>
            </a:r>
            <a:endParaRPr lang="en-US" sz="1400" dirty="0"/>
          </a:p>
        </p:txBody>
      </p:sp>
      <p:sp>
        <p:nvSpPr>
          <p:cNvPr id="6" name="Text 4"/>
          <p:cNvSpPr/>
          <p:nvPr/>
        </p:nvSpPr>
        <p:spPr>
          <a:xfrm>
            <a:off x="1097280" y="1645920"/>
            <a:ext cx="7132320" cy="320040"/>
          </a:xfrm>
          <a:prstGeom prst="rect">
            <a:avLst/>
          </a:prstGeom>
          <a:noFill/>
          <a:ln/>
        </p:spPr>
        <p:txBody>
          <a:bodyPr wrap="square" lIns="0" tIns="0" rIns="0" bIns="0" rtlCol="0" anchor="ctr"/>
          <a:lstStyle/>
          <a:p>
            <a:pPr marL="0" indent="0">
              <a:buNone/>
            </a:pPr>
            <a:r>
              <a:rPr lang="en-US" sz="1400" dirty="0">
                <a:solidFill>
                  <a:srgbClr val="00BCD4"/>
                </a:solidFill>
                <a:latin typeface="Consolas" pitchFamily="34" charset="0"/>
                <a:ea typeface="Consolas" pitchFamily="34" charset="-122"/>
                <a:cs typeface="Consolas" pitchFamily="34" charset="-120"/>
              </a:rPr>
              <a:t>├── skills/</a:t>
            </a:r>
            <a:r>
              <a:rPr lang="en-US" sz="1100" i="1" dirty="0">
                <a:solidFill>
                  <a:srgbClr val="64B5F6"/>
                </a:solidFill>
                <a:latin typeface="Arial" pitchFamily="34" charset="0"/>
                <a:ea typeface="Arial" pitchFamily="34" charset="-122"/>
                <a:cs typeface="Arial" pitchFamily="34" charset="-120"/>
              </a:rPr>
              <a:t>  EDIT HERE — single source for all skill logic</a:t>
            </a:r>
            <a:endParaRPr lang="en-US" sz="1400" dirty="0"/>
          </a:p>
        </p:txBody>
      </p:sp>
      <p:sp>
        <p:nvSpPr>
          <p:cNvPr id="7" name="Text 5"/>
          <p:cNvSpPr/>
          <p:nvPr/>
        </p:nvSpPr>
        <p:spPr>
          <a:xfrm>
            <a:off x="1097280" y="1965960"/>
            <a:ext cx="7132320" cy="320040"/>
          </a:xfrm>
          <a:prstGeom prst="rect">
            <a:avLst/>
          </a:prstGeom>
          <a:noFill/>
          <a:ln/>
        </p:spPr>
        <p:txBody>
          <a:bodyPr wrap="square" lIns="0" tIns="0" rIns="0" bIns="0" rtlCol="0" anchor="ctr"/>
          <a:lstStyle/>
          <a:p>
            <a:pPr marL="0" indent="0">
              <a:buNone/>
            </a:pPr>
            <a:r>
              <a:rPr lang="en-US" sz="1400" dirty="0">
                <a:solidFill>
                  <a:srgbClr val="FF9800"/>
                </a:solidFill>
                <a:latin typeface="Consolas" pitchFamily="34" charset="0"/>
                <a:ea typeface="Consolas" pitchFamily="34" charset="-122"/>
                <a:cs typeface="Consolas" pitchFamily="34" charset="-120"/>
              </a:rPr>
              <a:t>├── plugins/</a:t>
            </a:r>
            <a:r>
              <a:rPr lang="en-US" sz="1100" i="1" dirty="0">
                <a:solidFill>
                  <a:srgbClr val="B0BEC5"/>
                </a:solidFill>
                <a:latin typeface="Arial" pitchFamily="34" charset="0"/>
                <a:ea typeface="Arial" pitchFamily="34" charset="-122"/>
                <a:cs typeface="Arial" pitchFamily="34" charset="-120"/>
              </a:rPr>
              <a:t>  Plugin packaging configs (manifests + commands)</a:t>
            </a:r>
            <a:endParaRPr lang="en-US" sz="1400" dirty="0"/>
          </a:p>
        </p:txBody>
      </p:sp>
      <p:sp>
        <p:nvSpPr>
          <p:cNvPr id="8" name="Text 6"/>
          <p:cNvSpPr/>
          <p:nvPr/>
        </p:nvSpPr>
        <p:spPr>
          <a:xfrm>
            <a:off x="1097280" y="2286000"/>
            <a:ext cx="7132320" cy="320040"/>
          </a:xfrm>
          <a:prstGeom prst="rect">
            <a:avLst/>
          </a:prstGeom>
          <a:noFill/>
          <a:ln/>
        </p:spPr>
        <p:txBody>
          <a:bodyPr wrap="square" lIns="0" tIns="0" rIns="0" bIns="0" rtlCol="0" anchor="ctr"/>
          <a:lstStyle/>
          <a:p>
            <a:pPr marL="0" indent="0">
              <a:buNone/>
            </a:pPr>
            <a:r>
              <a:rPr lang="en-US" sz="1400" dirty="0">
                <a:solidFill>
                  <a:srgbClr val="4CAF50"/>
                </a:solidFill>
                <a:latin typeface="Consolas" pitchFamily="34" charset="0"/>
                <a:ea typeface="Consolas" pitchFamily="34" charset="-122"/>
                <a:cs typeface="Consolas" pitchFamily="34" charset="-120"/>
              </a:rPr>
              <a:t>├── enterprise/</a:t>
            </a:r>
            <a:r>
              <a:rPr lang="en-US" sz="1100" i="1" dirty="0">
                <a:solidFill>
                  <a:srgbClr val="B0BEC5"/>
                </a:solidFill>
                <a:latin typeface="Arial" pitchFamily="34" charset="0"/>
                <a:ea typeface="Arial" pitchFamily="34" charset="-122"/>
                <a:cs typeface="Arial" pitchFamily="34" charset="-120"/>
              </a:rPr>
              <a:t>  Generated upload folders for Cloud Projects</a:t>
            </a:r>
            <a:endParaRPr lang="en-US" sz="1400" dirty="0"/>
          </a:p>
        </p:txBody>
      </p:sp>
      <p:sp>
        <p:nvSpPr>
          <p:cNvPr id="9" name="Text 7"/>
          <p:cNvSpPr/>
          <p:nvPr/>
        </p:nvSpPr>
        <p:spPr>
          <a:xfrm>
            <a:off x="1097280" y="2606040"/>
            <a:ext cx="7132320" cy="320040"/>
          </a:xfrm>
          <a:prstGeom prst="rect">
            <a:avLst/>
          </a:prstGeom>
          <a:noFill/>
          <a:ln/>
        </p:spPr>
        <p:txBody>
          <a:bodyPr wrap="square" lIns="0" tIns="0" rIns="0" bIns="0" rtlCol="0" anchor="ctr"/>
          <a:lstStyle/>
          <a:p>
            <a:pPr marL="0" indent="0">
              <a:buNone/>
            </a:pPr>
            <a:r>
              <a:rPr lang="en-US" sz="1400" dirty="0">
                <a:solidFill>
                  <a:srgbClr val="B0BEC5"/>
                </a:solidFill>
                <a:latin typeface="Consolas" pitchFamily="34" charset="0"/>
                <a:ea typeface="Consolas" pitchFamily="34" charset="-122"/>
                <a:cs typeface="Consolas" pitchFamily="34" charset="-120"/>
              </a:rPr>
              <a:t>├── builds/</a:t>
            </a:r>
            <a:r>
              <a:rPr lang="en-US" sz="1100" i="1" dirty="0">
                <a:solidFill>
                  <a:srgbClr val="B0BEC5"/>
                </a:solidFill>
                <a:latin typeface="Arial" pitchFamily="34" charset="0"/>
                <a:ea typeface="Arial" pitchFamily="34" charset="-122"/>
                <a:cs typeface="Arial" pitchFamily="34" charset="-120"/>
              </a:rPr>
              <a:t>  Generated plugin zips + skill zips</a:t>
            </a:r>
            <a:endParaRPr lang="en-US" sz="1400" dirty="0"/>
          </a:p>
        </p:txBody>
      </p:sp>
      <p:sp>
        <p:nvSpPr>
          <p:cNvPr id="10" name="Text 8"/>
          <p:cNvSpPr/>
          <p:nvPr/>
        </p:nvSpPr>
        <p:spPr>
          <a:xfrm>
            <a:off x="1097280" y="2926080"/>
            <a:ext cx="7132320" cy="320040"/>
          </a:xfrm>
          <a:prstGeom prst="rect">
            <a:avLst/>
          </a:prstGeom>
          <a:noFill/>
          <a:ln/>
        </p:spPr>
        <p:txBody>
          <a:bodyPr wrap="square" lIns="0" tIns="0" rIns="0" bIns="0" rtlCol="0" anchor="ctr"/>
          <a:lstStyle/>
          <a:p>
            <a:pPr marL="0" indent="0">
              <a:buNone/>
            </a:pPr>
            <a:r>
              <a:rPr lang="en-US" sz="1400" dirty="0">
                <a:solidFill>
                  <a:srgbClr val="64B5F6"/>
                </a:solidFill>
                <a:latin typeface="Consolas" pitchFamily="34" charset="0"/>
                <a:ea typeface="Consolas" pitchFamily="34" charset="-122"/>
                <a:cs typeface="Consolas" pitchFamily="34" charset="-120"/>
              </a:rPr>
              <a:t>├── build.sh</a:t>
            </a:r>
            <a:r>
              <a:rPr lang="en-US" sz="1100" i="1" dirty="0">
                <a:solidFill>
                  <a:srgbClr val="B0BEC5"/>
                </a:solidFill>
                <a:latin typeface="Arial" pitchFamily="34" charset="0"/>
                <a:ea typeface="Arial" pitchFamily="34" charset="-122"/>
                <a:cs typeface="Arial" pitchFamily="34" charset="-120"/>
              </a:rPr>
              <a:t>  Run this once, get everything</a:t>
            </a:r>
            <a:endParaRPr lang="en-US" sz="1400" dirty="0"/>
          </a:p>
        </p:txBody>
      </p:sp>
      <p:sp>
        <p:nvSpPr>
          <p:cNvPr id="11" name="Text 9"/>
          <p:cNvSpPr/>
          <p:nvPr/>
        </p:nvSpPr>
        <p:spPr>
          <a:xfrm>
            <a:off x="1097280" y="3246120"/>
            <a:ext cx="7132320" cy="320040"/>
          </a:xfrm>
          <a:prstGeom prst="rect">
            <a:avLst/>
          </a:prstGeom>
          <a:noFill/>
          <a:ln/>
        </p:spPr>
        <p:txBody>
          <a:bodyPr wrap="square" lIns="0" tIns="0" rIns="0" bIns="0" rtlCol="0" anchor="ctr"/>
          <a:lstStyle/>
          <a:p>
            <a:pPr marL="0" indent="0">
              <a:buNone/>
            </a:pPr>
            <a:r>
              <a:rPr lang="en-US" sz="1400" dirty="0">
                <a:solidFill>
                  <a:srgbClr val="64B5F6"/>
                </a:solidFill>
                <a:latin typeface="Consolas" pitchFamily="34" charset="0"/>
                <a:ea typeface="Consolas" pitchFamily="34" charset="-122"/>
                <a:cs typeface="Consolas" pitchFamily="34" charset="-120"/>
              </a:rPr>
              <a:t>├── CLAUDE.md</a:t>
            </a:r>
            <a:r>
              <a:rPr lang="en-US" sz="1100" i="1" dirty="0">
                <a:solidFill>
                  <a:srgbClr val="B0BEC5"/>
                </a:solidFill>
                <a:latin typeface="Arial" pitchFamily="34" charset="0"/>
                <a:ea typeface="Arial" pitchFamily="34" charset="-122"/>
                <a:cs typeface="Arial" pitchFamily="34" charset="-120"/>
              </a:rPr>
              <a:t>  Claude Code reads this automatically</a:t>
            </a:r>
            <a:endParaRPr lang="en-US" sz="1400" dirty="0"/>
          </a:p>
        </p:txBody>
      </p:sp>
      <p:sp>
        <p:nvSpPr>
          <p:cNvPr id="12" name="Shape 10"/>
          <p:cNvSpPr/>
          <p:nvPr/>
        </p:nvSpPr>
        <p:spPr>
          <a:xfrm>
            <a:off x="457200" y="3657600"/>
            <a:ext cx="8321040" cy="118872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3" name="Text 11"/>
          <p:cNvSpPr/>
          <p:nvPr/>
        </p:nvSpPr>
        <p:spPr>
          <a:xfrm>
            <a:off x="731520" y="3703320"/>
            <a:ext cx="7772400" cy="320040"/>
          </a:xfrm>
          <a:prstGeom prst="rect">
            <a:avLst/>
          </a:prstGeom>
          <a:noFill/>
          <a:ln/>
        </p:spPr>
        <p:txBody>
          <a:bodyPr wrap="square" rtlCol="0" anchor="ctr"/>
          <a:lstStyle/>
          <a:p>
            <a:pPr marL="0" indent="0">
              <a:buNone/>
            </a:pPr>
            <a:r>
              <a:rPr lang="en-US" sz="1300" b="1" dirty="0">
                <a:solidFill>
                  <a:srgbClr val="4CAF50"/>
                </a:solidFill>
                <a:latin typeface="Arial" pitchFamily="34" charset="0"/>
                <a:ea typeface="Arial" pitchFamily="34" charset="-122"/>
                <a:cs typeface="Arial" pitchFamily="34" charset="-120"/>
              </a:rPr>
              <a:t>Enterprise Upload Folders (generated by build.sh)</a:t>
            </a:r>
            <a:endParaRPr lang="en-US" sz="1300" dirty="0"/>
          </a:p>
        </p:txBody>
      </p:sp>
      <p:sp>
        <p:nvSpPr>
          <p:cNvPr id="14" name="Text 12"/>
          <p:cNvSpPr/>
          <p:nvPr/>
        </p:nvSpPr>
        <p:spPr>
          <a:xfrm>
            <a:off x="914400" y="4069080"/>
            <a:ext cx="7498080" cy="201168"/>
          </a:xfrm>
          <a:prstGeom prst="rect">
            <a:avLst/>
          </a:prstGeom>
          <a:noFill/>
          <a:ln/>
        </p:spPr>
        <p:txBody>
          <a:bodyPr wrap="square" lIns="0" tIns="0" rIns="0" bIns="0" rtlCol="0" anchor="ctr"/>
          <a:lstStyle/>
          <a:p>
            <a:pPr marL="0" indent="0">
              <a:buNone/>
            </a:pPr>
            <a:r>
              <a:rPr lang="en-US" sz="1100" dirty="0">
                <a:solidFill>
                  <a:srgbClr val="00BCD4"/>
                </a:solidFill>
                <a:latin typeface="Consolas" pitchFamily="34" charset="0"/>
                <a:ea typeface="Consolas" pitchFamily="34" charset="-122"/>
                <a:cs typeface="Consolas" pitchFamily="34" charset="-120"/>
              </a:rPr>
              <a:t>sales-outreach/upload/</a:t>
            </a:r>
            <a:r>
              <a:rPr lang="en-US" sz="1100" b="1" dirty="0">
                <a:solidFill>
                  <a:srgbClr val="FFFFFF"/>
                </a:solidFill>
                <a:latin typeface="Arial" pitchFamily="34" charset="0"/>
                <a:ea typeface="Arial" pitchFamily="34" charset="-122"/>
                <a:cs typeface="Arial" pitchFamily="34" charset="-120"/>
              </a:rPr>
              <a:t>  38 files</a:t>
            </a:r>
            <a:r>
              <a:rPr lang="en-US" sz="1100" dirty="0">
                <a:solidFill>
                  <a:srgbClr val="B0BEC5"/>
                </a:solidFill>
                <a:latin typeface="Arial" pitchFamily="34" charset="0"/>
                <a:ea typeface="Arial" pitchFamily="34" charset="-122"/>
                <a:cs typeface="Arial" pitchFamily="34" charset="-120"/>
              </a:rPr>
              <a:t>  — Outreach workflow</a:t>
            </a:r>
            <a:endParaRPr lang="en-US" sz="1100" dirty="0"/>
          </a:p>
        </p:txBody>
      </p:sp>
      <p:sp>
        <p:nvSpPr>
          <p:cNvPr id="15" name="Text 13"/>
          <p:cNvSpPr/>
          <p:nvPr/>
        </p:nvSpPr>
        <p:spPr>
          <a:xfrm>
            <a:off x="914400" y="4270248"/>
            <a:ext cx="7498080" cy="201168"/>
          </a:xfrm>
          <a:prstGeom prst="rect">
            <a:avLst/>
          </a:prstGeom>
          <a:noFill/>
          <a:ln/>
        </p:spPr>
        <p:txBody>
          <a:bodyPr wrap="square" lIns="0" tIns="0" rIns="0" bIns="0" rtlCol="0" anchor="ctr"/>
          <a:lstStyle/>
          <a:p>
            <a:pPr marL="0" indent="0">
              <a:buNone/>
            </a:pPr>
            <a:r>
              <a:rPr lang="en-US" sz="1100" dirty="0">
                <a:solidFill>
                  <a:srgbClr val="00BCD4"/>
                </a:solidFill>
                <a:latin typeface="Consolas" pitchFamily="34" charset="0"/>
                <a:ea typeface="Consolas" pitchFamily="34" charset="-122"/>
                <a:cs typeface="Consolas" pitchFamily="34" charset="-120"/>
              </a:rPr>
              <a:t>founder-outreach/upload/</a:t>
            </a:r>
            <a:r>
              <a:rPr lang="en-US" sz="1100" b="1" dirty="0">
                <a:solidFill>
                  <a:srgbClr val="FFFFFF"/>
                </a:solidFill>
                <a:latin typeface="Arial" pitchFamily="34" charset="0"/>
                <a:ea typeface="Arial" pitchFamily="34" charset="-122"/>
                <a:cs typeface="Arial" pitchFamily="34" charset="-120"/>
              </a:rPr>
              <a:t>  34 files</a:t>
            </a:r>
            <a:r>
              <a:rPr lang="en-US" sz="1100" dirty="0">
                <a:solidFill>
                  <a:srgbClr val="B0BEC5"/>
                </a:solidFill>
                <a:latin typeface="Arial" pitchFamily="34" charset="0"/>
                <a:ea typeface="Arial" pitchFamily="34" charset="-122"/>
                <a:cs typeface="Arial" pitchFamily="34" charset="-120"/>
              </a:rPr>
              <a:t>  — Founder voice</a:t>
            </a:r>
            <a:endParaRPr lang="en-US" sz="1100" dirty="0"/>
          </a:p>
        </p:txBody>
      </p:sp>
      <p:sp>
        <p:nvSpPr>
          <p:cNvPr id="16" name="Text 14"/>
          <p:cNvSpPr/>
          <p:nvPr/>
        </p:nvSpPr>
        <p:spPr>
          <a:xfrm>
            <a:off x="914400" y="4471416"/>
            <a:ext cx="7498080" cy="201168"/>
          </a:xfrm>
          <a:prstGeom prst="rect">
            <a:avLst/>
          </a:prstGeom>
          <a:noFill/>
          <a:ln/>
        </p:spPr>
        <p:txBody>
          <a:bodyPr wrap="square" lIns="0" tIns="0" rIns="0" bIns="0" rtlCol="0" anchor="ctr"/>
          <a:lstStyle/>
          <a:p>
            <a:pPr marL="0" indent="0">
              <a:buNone/>
            </a:pPr>
            <a:r>
              <a:rPr lang="en-US" sz="1100" dirty="0">
                <a:solidFill>
                  <a:srgbClr val="00BCD4"/>
                </a:solidFill>
                <a:latin typeface="Consolas" pitchFamily="34" charset="0"/>
                <a:ea typeface="Consolas" pitchFamily="34" charset="-122"/>
                <a:cs typeface="Consolas" pitchFamily="34" charset="-120"/>
              </a:rPr>
              <a:t>account-intelligence/upload/</a:t>
            </a:r>
            <a:r>
              <a:rPr lang="en-US" sz="1100" b="1" dirty="0">
                <a:solidFill>
                  <a:srgbClr val="FFFFFF"/>
                </a:solidFill>
                <a:latin typeface="Arial" pitchFamily="34" charset="0"/>
                <a:ea typeface="Arial" pitchFamily="34" charset="-122"/>
                <a:cs typeface="Arial" pitchFamily="34" charset="-120"/>
              </a:rPr>
              <a:t>  47 files</a:t>
            </a:r>
            <a:r>
              <a:rPr lang="en-US" sz="1100" dirty="0">
                <a:solidFill>
                  <a:srgbClr val="B0BEC5"/>
                </a:solidFill>
                <a:latin typeface="Arial" pitchFamily="34" charset="0"/>
                <a:ea typeface="Arial" pitchFamily="34" charset="-122"/>
                <a:cs typeface="Arial" pitchFamily="34" charset="-120"/>
              </a:rPr>
              <a:t>  — CRM + enrichment</a:t>
            </a:r>
            <a:endParaRPr lang="en-US" sz="1100" dirty="0"/>
          </a:p>
        </p:txBody>
      </p:sp>
      <p:sp>
        <p:nvSpPr>
          <p:cNvPr id="17" name="Text 15"/>
          <p:cNvSpPr/>
          <p:nvPr/>
        </p:nvSpPr>
        <p:spPr>
          <a:xfrm>
            <a:off x="914400" y="4672584"/>
            <a:ext cx="7498080" cy="201168"/>
          </a:xfrm>
          <a:prstGeom prst="rect">
            <a:avLst/>
          </a:prstGeom>
          <a:noFill/>
          <a:ln/>
        </p:spPr>
        <p:txBody>
          <a:bodyPr wrap="square" lIns="0" tIns="0" rIns="0" bIns="0" rtlCol="0" anchor="ctr"/>
          <a:lstStyle/>
          <a:p>
            <a:pPr marL="0" indent="0">
              <a:buNone/>
            </a:pPr>
            <a:r>
              <a:rPr lang="en-US" sz="1100" dirty="0">
                <a:solidFill>
                  <a:srgbClr val="00BCD4"/>
                </a:solidFill>
                <a:latin typeface="Consolas" pitchFamily="34" charset="0"/>
                <a:ea typeface="Consolas" pitchFamily="34" charset="-122"/>
                <a:cs typeface="Consolas" pitchFamily="34" charset="-120"/>
              </a:rPr>
              <a:t>general-assistant/upload/</a:t>
            </a:r>
            <a:r>
              <a:rPr lang="en-US" sz="1100" b="1" dirty="0">
                <a:solidFill>
                  <a:srgbClr val="FFFFFF"/>
                </a:solidFill>
                <a:latin typeface="Arial" pitchFamily="34" charset="0"/>
                <a:ea typeface="Arial" pitchFamily="34" charset="-122"/>
                <a:cs typeface="Arial" pitchFamily="34" charset="-120"/>
              </a:rPr>
              <a:t>  65 files</a:t>
            </a:r>
            <a:r>
              <a:rPr lang="en-US" sz="1100" dirty="0">
                <a:solidFill>
                  <a:srgbClr val="B0BEC5"/>
                </a:solidFill>
                <a:latin typeface="Arial" pitchFamily="34" charset="0"/>
                <a:ea typeface="Arial" pitchFamily="34" charset="-122"/>
                <a:cs typeface="Arial" pitchFamily="34" charset="-120"/>
              </a:rPr>
              <a:t>  — Everything (catch-all)</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274320"/>
            <a:ext cx="7680960" cy="54864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Daily Workflow</a:t>
            </a:r>
            <a:endParaRPr lang="en-US" sz="2800" dirty="0"/>
          </a:p>
        </p:txBody>
      </p:sp>
      <p:sp>
        <p:nvSpPr>
          <p:cNvPr id="4" name="Shape 2"/>
          <p:cNvSpPr/>
          <p:nvPr/>
        </p:nvSpPr>
        <p:spPr>
          <a:xfrm>
            <a:off x="457200" y="1005840"/>
            <a:ext cx="1828800" cy="29260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5" name="Shape 3"/>
          <p:cNvSpPr/>
          <p:nvPr/>
        </p:nvSpPr>
        <p:spPr>
          <a:xfrm>
            <a:off x="457200" y="1005840"/>
            <a:ext cx="1828800" cy="54864"/>
          </a:xfrm>
          <a:prstGeom prst="rect">
            <a:avLst/>
          </a:prstGeom>
          <a:solidFill>
            <a:srgbClr val="64B5F6"/>
          </a:solidFill>
          <a:ln/>
        </p:spPr>
        <p:txBody>
          <a:bodyPr/>
          <a:lstStyle/>
          <a:p>
            <a:endParaRPr lang="en-US"/>
          </a:p>
        </p:txBody>
      </p:sp>
      <p:sp>
        <p:nvSpPr>
          <p:cNvPr id="6" name="Shape 4"/>
          <p:cNvSpPr/>
          <p:nvPr/>
        </p:nvSpPr>
        <p:spPr>
          <a:xfrm>
            <a:off x="1097280" y="1188720"/>
            <a:ext cx="548640" cy="548640"/>
          </a:xfrm>
          <a:prstGeom prst="ellipse">
            <a:avLst/>
          </a:prstGeom>
          <a:solidFill>
            <a:srgbClr val="64B5F6"/>
          </a:solidFill>
          <a:ln/>
        </p:spPr>
        <p:txBody>
          <a:bodyPr/>
          <a:lstStyle/>
          <a:p>
            <a:endParaRPr lang="en-US"/>
          </a:p>
        </p:txBody>
      </p:sp>
      <p:sp>
        <p:nvSpPr>
          <p:cNvPr id="7" name="Text 5"/>
          <p:cNvSpPr/>
          <p:nvPr/>
        </p:nvSpPr>
        <p:spPr>
          <a:xfrm>
            <a:off x="1097280" y="1188720"/>
            <a:ext cx="548640" cy="548640"/>
          </a:xfrm>
          <a:prstGeom prst="rect">
            <a:avLst/>
          </a:prstGeom>
          <a:noFill/>
          <a:ln/>
        </p:spPr>
        <p:txBody>
          <a:bodyPr wrap="square" rtlCol="0" anchor="ctr"/>
          <a:lstStyle/>
          <a:p>
            <a:pPr marL="0" indent="0" algn="ctr">
              <a:buNone/>
            </a:pPr>
            <a:r>
              <a:rPr lang="en-US" sz="2200" dirty="0">
                <a:solidFill>
                  <a:srgbClr val="0F1B2D"/>
                </a:solidFill>
                <a:latin typeface="Arial Black" pitchFamily="34" charset="0"/>
                <a:ea typeface="Arial Black" pitchFamily="34" charset="-122"/>
                <a:cs typeface="Arial Black" pitchFamily="34" charset="-120"/>
              </a:rPr>
              <a:t>1</a:t>
            </a:r>
            <a:endParaRPr lang="en-US" sz="2200" dirty="0"/>
          </a:p>
        </p:txBody>
      </p:sp>
      <p:sp>
        <p:nvSpPr>
          <p:cNvPr id="8" name="Text 6"/>
          <p:cNvSpPr/>
          <p:nvPr/>
        </p:nvSpPr>
        <p:spPr>
          <a:xfrm>
            <a:off x="548640" y="1874520"/>
            <a:ext cx="1645920" cy="365760"/>
          </a:xfrm>
          <a:prstGeom prst="rect">
            <a:avLst/>
          </a:prstGeom>
          <a:noFill/>
          <a:ln/>
        </p:spPr>
        <p:txBody>
          <a:bodyPr wrap="square" rtlCol="0" anchor="ctr"/>
          <a:lstStyle/>
          <a:p>
            <a:pPr marL="0" indent="0" algn="ctr">
              <a:buNone/>
            </a:pPr>
            <a:r>
              <a:rPr lang="en-US" sz="1600" dirty="0">
                <a:solidFill>
                  <a:srgbClr val="64B5F6"/>
                </a:solidFill>
                <a:latin typeface="Arial Black" pitchFamily="34" charset="0"/>
                <a:ea typeface="Arial Black" pitchFamily="34" charset="-122"/>
                <a:cs typeface="Arial Black" pitchFamily="34" charset="-120"/>
              </a:rPr>
              <a:t>EDIT</a:t>
            </a:r>
            <a:endParaRPr lang="en-US" sz="1600" dirty="0"/>
          </a:p>
        </p:txBody>
      </p:sp>
      <p:sp>
        <p:nvSpPr>
          <p:cNvPr id="9" name="Text 7"/>
          <p:cNvSpPr/>
          <p:nvPr/>
        </p:nvSpPr>
        <p:spPr>
          <a:xfrm>
            <a:off x="594360" y="2240280"/>
            <a:ext cx="1554480" cy="54864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Change a file in context/ or skills/</a:t>
            </a:r>
            <a:endParaRPr lang="en-US" sz="1200" dirty="0"/>
          </a:p>
        </p:txBody>
      </p:sp>
      <p:sp>
        <p:nvSpPr>
          <p:cNvPr id="10" name="Text 8"/>
          <p:cNvSpPr/>
          <p:nvPr/>
        </p:nvSpPr>
        <p:spPr>
          <a:xfrm>
            <a:off x="594360" y="2926080"/>
            <a:ext cx="1554480" cy="731520"/>
          </a:xfrm>
          <a:prstGeom prst="rect">
            <a:avLst/>
          </a:prstGeom>
          <a:noFill/>
          <a:ln/>
        </p:spPr>
        <p:txBody>
          <a:bodyPr wrap="square" rtlCol="0" anchor="ctr"/>
          <a:lstStyle/>
          <a:p>
            <a:pPr marL="0" indent="0" algn="ctr">
              <a:buNone/>
            </a:pPr>
            <a:r>
              <a:rPr lang="en-US" sz="1000" i="1" dirty="0">
                <a:solidFill>
                  <a:srgbClr val="B0BEC5"/>
                </a:solidFill>
                <a:latin typeface="Arial" pitchFamily="34" charset="0"/>
                <a:ea typeface="Arial" pitchFamily="34" charset="-122"/>
                <a:cs typeface="Arial" pitchFamily="34" charset="-120"/>
              </a:rPr>
              <a:t>Update neocloud strategy with Q2 intel</a:t>
            </a:r>
            <a:endParaRPr lang="en-US" sz="1000" dirty="0"/>
          </a:p>
        </p:txBody>
      </p:sp>
      <p:pic>
        <p:nvPicPr>
          <p:cNvPr id="11" name="Image 0" descr="preencoded.png"/>
          <p:cNvPicPr>
            <a:picLocks noChangeAspect="1"/>
          </p:cNvPicPr>
          <p:nvPr/>
        </p:nvPicPr>
        <p:blipFill>
          <a:blip r:embed="rId3"/>
          <a:stretch>
            <a:fillRect/>
          </a:stretch>
        </p:blipFill>
        <p:spPr>
          <a:xfrm>
            <a:off x="2331720" y="2194560"/>
            <a:ext cx="182880" cy="182880"/>
          </a:xfrm>
          <a:prstGeom prst="rect">
            <a:avLst/>
          </a:prstGeom>
        </p:spPr>
      </p:pic>
      <p:sp>
        <p:nvSpPr>
          <p:cNvPr id="12" name="Shape 9"/>
          <p:cNvSpPr/>
          <p:nvPr/>
        </p:nvSpPr>
        <p:spPr>
          <a:xfrm>
            <a:off x="2560320" y="1005840"/>
            <a:ext cx="1828800" cy="29260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3" name="Shape 10"/>
          <p:cNvSpPr/>
          <p:nvPr/>
        </p:nvSpPr>
        <p:spPr>
          <a:xfrm>
            <a:off x="2560320" y="1005840"/>
            <a:ext cx="1828800" cy="54864"/>
          </a:xfrm>
          <a:prstGeom prst="rect">
            <a:avLst/>
          </a:prstGeom>
          <a:solidFill>
            <a:srgbClr val="00BCD4"/>
          </a:solidFill>
          <a:ln/>
        </p:spPr>
        <p:txBody>
          <a:bodyPr/>
          <a:lstStyle/>
          <a:p>
            <a:endParaRPr lang="en-US"/>
          </a:p>
        </p:txBody>
      </p:sp>
      <p:sp>
        <p:nvSpPr>
          <p:cNvPr id="14" name="Shape 11"/>
          <p:cNvSpPr/>
          <p:nvPr/>
        </p:nvSpPr>
        <p:spPr>
          <a:xfrm>
            <a:off x="3200400" y="1188720"/>
            <a:ext cx="548640" cy="548640"/>
          </a:xfrm>
          <a:prstGeom prst="ellipse">
            <a:avLst/>
          </a:prstGeom>
          <a:solidFill>
            <a:srgbClr val="00BCD4"/>
          </a:solidFill>
          <a:ln/>
        </p:spPr>
        <p:txBody>
          <a:bodyPr/>
          <a:lstStyle/>
          <a:p>
            <a:endParaRPr lang="en-US"/>
          </a:p>
        </p:txBody>
      </p:sp>
      <p:sp>
        <p:nvSpPr>
          <p:cNvPr id="15" name="Text 12"/>
          <p:cNvSpPr/>
          <p:nvPr/>
        </p:nvSpPr>
        <p:spPr>
          <a:xfrm>
            <a:off x="3200400" y="1188720"/>
            <a:ext cx="548640" cy="548640"/>
          </a:xfrm>
          <a:prstGeom prst="rect">
            <a:avLst/>
          </a:prstGeom>
          <a:noFill/>
          <a:ln/>
        </p:spPr>
        <p:txBody>
          <a:bodyPr wrap="square" rtlCol="0" anchor="ctr"/>
          <a:lstStyle/>
          <a:p>
            <a:pPr marL="0" indent="0" algn="ctr">
              <a:buNone/>
            </a:pPr>
            <a:r>
              <a:rPr lang="en-US" sz="2200" dirty="0">
                <a:solidFill>
                  <a:srgbClr val="0F1B2D"/>
                </a:solidFill>
                <a:latin typeface="Arial Black" pitchFamily="34" charset="0"/>
                <a:ea typeface="Arial Black" pitchFamily="34" charset="-122"/>
                <a:cs typeface="Arial Black" pitchFamily="34" charset="-120"/>
              </a:rPr>
              <a:t>2</a:t>
            </a:r>
            <a:endParaRPr lang="en-US" sz="2200" dirty="0"/>
          </a:p>
        </p:txBody>
      </p:sp>
      <p:sp>
        <p:nvSpPr>
          <p:cNvPr id="16" name="Text 13"/>
          <p:cNvSpPr/>
          <p:nvPr/>
        </p:nvSpPr>
        <p:spPr>
          <a:xfrm>
            <a:off x="2651760" y="1874520"/>
            <a:ext cx="1645920" cy="365760"/>
          </a:xfrm>
          <a:prstGeom prst="rect">
            <a:avLst/>
          </a:prstGeom>
          <a:noFill/>
          <a:ln/>
        </p:spPr>
        <p:txBody>
          <a:bodyPr wrap="square" rtlCol="0" anchor="ctr"/>
          <a:lstStyle/>
          <a:p>
            <a:pPr marL="0" indent="0" algn="ctr">
              <a:buNone/>
            </a:pPr>
            <a:r>
              <a:rPr lang="en-US" sz="1600" dirty="0">
                <a:solidFill>
                  <a:srgbClr val="00BCD4"/>
                </a:solidFill>
                <a:latin typeface="Arial Black" pitchFamily="34" charset="0"/>
                <a:ea typeface="Arial Black" pitchFamily="34" charset="-122"/>
                <a:cs typeface="Arial Black" pitchFamily="34" charset="-120"/>
              </a:rPr>
              <a:t>BUILD</a:t>
            </a:r>
            <a:endParaRPr lang="en-US" sz="1600" dirty="0"/>
          </a:p>
        </p:txBody>
      </p:sp>
      <p:sp>
        <p:nvSpPr>
          <p:cNvPr id="17" name="Text 14"/>
          <p:cNvSpPr/>
          <p:nvPr/>
        </p:nvSpPr>
        <p:spPr>
          <a:xfrm>
            <a:off x="2697480" y="2240280"/>
            <a:ext cx="1554480" cy="54864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Run bash build.sh</a:t>
            </a:r>
            <a:endParaRPr lang="en-US" sz="1200" dirty="0"/>
          </a:p>
        </p:txBody>
      </p:sp>
      <p:sp>
        <p:nvSpPr>
          <p:cNvPr id="18" name="Text 15"/>
          <p:cNvSpPr/>
          <p:nvPr/>
        </p:nvSpPr>
        <p:spPr>
          <a:xfrm>
            <a:off x="2697480" y="2926080"/>
            <a:ext cx="1554480" cy="731520"/>
          </a:xfrm>
          <a:prstGeom prst="rect">
            <a:avLst/>
          </a:prstGeom>
          <a:noFill/>
          <a:ln/>
        </p:spPr>
        <p:txBody>
          <a:bodyPr wrap="square" rtlCol="0" anchor="ctr"/>
          <a:lstStyle/>
          <a:p>
            <a:pPr marL="0" indent="0" algn="ctr">
              <a:buNone/>
            </a:pPr>
            <a:r>
              <a:rPr lang="en-US" sz="1000" i="1" dirty="0">
                <a:solidFill>
                  <a:srgbClr val="B0BEC5"/>
                </a:solidFill>
                <a:latin typeface="Arial" pitchFamily="34" charset="0"/>
                <a:ea typeface="Arial" pitchFamily="34" charset="-122"/>
                <a:cs typeface="Arial" pitchFamily="34" charset="-120"/>
              </a:rPr>
              <a:t>Or in Claude Code: just ask Claude to rebuild</a:t>
            </a:r>
            <a:endParaRPr lang="en-US" sz="1000" dirty="0"/>
          </a:p>
        </p:txBody>
      </p:sp>
      <p:pic>
        <p:nvPicPr>
          <p:cNvPr id="19" name="Image 1" descr="preencoded.png"/>
          <p:cNvPicPr>
            <a:picLocks noChangeAspect="1"/>
          </p:cNvPicPr>
          <p:nvPr/>
        </p:nvPicPr>
        <p:blipFill>
          <a:blip r:embed="rId3"/>
          <a:stretch>
            <a:fillRect/>
          </a:stretch>
        </p:blipFill>
        <p:spPr>
          <a:xfrm>
            <a:off x="4434840" y="2194560"/>
            <a:ext cx="182880" cy="182880"/>
          </a:xfrm>
          <a:prstGeom prst="rect">
            <a:avLst/>
          </a:prstGeom>
        </p:spPr>
      </p:pic>
      <p:sp>
        <p:nvSpPr>
          <p:cNvPr id="20" name="Shape 16"/>
          <p:cNvSpPr/>
          <p:nvPr/>
        </p:nvSpPr>
        <p:spPr>
          <a:xfrm>
            <a:off x="4663440" y="1005840"/>
            <a:ext cx="1828800" cy="29260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21" name="Shape 17"/>
          <p:cNvSpPr/>
          <p:nvPr/>
        </p:nvSpPr>
        <p:spPr>
          <a:xfrm>
            <a:off x="4663440" y="1005840"/>
            <a:ext cx="1828800" cy="54864"/>
          </a:xfrm>
          <a:prstGeom prst="rect">
            <a:avLst/>
          </a:prstGeom>
          <a:solidFill>
            <a:srgbClr val="FF9800"/>
          </a:solidFill>
          <a:ln/>
        </p:spPr>
        <p:txBody>
          <a:bodyPr/>
          <a:lstStyle/>
          <a:p>
            <a:endParaRPr lang="en-US"/>
          </a:p>
        </p:txBody>
      </p:sp>
      <p:sp>
        <p:nvSpPr>
          <p:cNvPr id="22" name="Shape 18"/>
          <p:cNvSpPr/>
          <p:nvPr/>
        </p:nvSpPr>
        <p:spPr>
          <a:xfrm>
            <a:off x="5303520" y="1188720"/>
            <a:ext cx="548640" cy="548640"/>
          </a:xfrm>
          <a:prstGeom prst="ellipse">
            <a:avLst/>
          </a:prstGeom>
          <a:solidFill>
            <a:srgbClr val="FF9800"/>
          </a:solidFill>
          <a:ln/>
        </p:spPr>
        <p:txBody>
          <a:bodyPr/>
          <a:lstStyle/>
          <a:p>
            <a:endParaRPr lang="en-US"/>
          </a:p>
        </p:txBody>
      </p:sp>
      <p:sp>
        <p:nvSpPr>
          <p:cNvPr id="23" name="Text 19"/>
          <p:cNvSpPr/>
          <p:nvPr/>
        </p:nvSpPr>
        <p:spPr>
          <a:xfrm>
            <a:off x="5303520" y="1188720"/>
            <a:ext cx="548640" cy="548640"/>
          </a:xfrm>
          <a:prstGeom prst="rect">
            <a:avLst/>
          </a:prstGeom>
          <a:noFill/>
          <a:ln/>
        </p:spPr>
        <p:txBody>
          <a:bodyPr wrap="square" rtlCol="0" anchor="ctr"/>
          <a:lstStyle/>
          <a:p>
            <a:pPr marL="0" indent="0" algn="ctr">
              <a:buNone/>
            </a:pPr>
            <a:r>
              <a:rPr lang="en-US" sz="2200" dirty="0">
                <a:solidFill>
                  <a:srgbClr val="0F1B2D"/>
                </a:solidFill>
                <a:latin typeface="Arial Black" pitchFamily="34" charset="0"/>
                <a:ea typeface="Arial Black" pitchFamily="34" charset="-122"/>
                <a:cs typeface="Arial Black" pitchFamily="34" charset="-120"/>
              </a:rPr>
              <a:t>3</a:t>
            </a:r>
            <a:endParaRPr lang="en-US" sz="2200" dirty="0"/>
          </a:p>
        </p:txBody>
      </p:sp>
      <p:sp>
        <p:nvSpPr>
          <p:cNvPr id="24" name="Text 20"/>
          <p:cNvSpPr/>
          <p:nvPr/>
        </p:nvSpPr>
        <p:spPr>
          <a:xfrm>
            <a:off x="4754880" y="1874520"/>
            <a:ext cx="1645920" cy="365760"/>
          </a:xfrm>
          <a:prstGeom prst="rect">
            <a:avLst/>
          </a:prstGeom>
          <a:noFill/>
          <a:ln/>
        </p:spPr>
        <p:txBody>
          <a:bodyPr wrap="square" rtlCol="0" anchor="ctr"/>
          <a:lstStyle/>
          <a:p>
            <a:pPr marL="0" indent="0" algn="ctr">
              <a:buNone/>
            </a:pPr>
            <a:r>
              <a:rPr lang="en-US" sz="1600" dirty="0">
                <a:solidFill>
                  <a:srgbClr val="FF9800"/>
                </a:solidFill>
                <a:latin typeface="Arial Black" pitchFamily="34" charset="0"/>
                <a:ea typeface="Arial Black" pitchFamily="34" charset="-122"/>
                <a:cs typeface="Arial Black" pitchFamily="34" charset="-120"/>
              </a:rPr>
              <a:t>DEPLOY</a:t>
            </a:r>
            <a:endParaRPr lang="en-US" sz="1600" dirty="0"/>
          </a:p>
        </p:txBody>
      </p:sp>
      <p:sp>
        <p:nvSpPr>
          <p:cNvPr id="25" name="Text 21"/>
          <p:cNvSpPr/>
          <p:nvPr/>
        </p:nvSpPr>
        <p:spPr>
          <a:xfrm>
            <a:off x="4800600" y="2240280"/>
            <a:ext cx="1554480" cy="54864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Install zips + upload .md files</a:t>
            </a:r>
            <a:endParaRPr lang="en-US" sz="1200" dirty="0"/>
          </a:p>
        </p:txBody>
      </p:sp>
      <p:sp>
        <p:nvSpPr>
          <p:cNvPr id="26" name="Text 22"/>
          <p:cNvSpPr/>
          <p:nvPr/>
        </p:nvSpPr>
        <p:spPr>
          <a:xfrm>
            <a:off x="4800600" y="2926080"/>
            <a:ext cx="1554480" cy="731520"/>
          </a:xfrm>
          <a:prstGeom prst="rect">
            <a:avLst/>
          </a:prstGeom>
          <a:noFill/>
          <a:ln/>
        </p:spPr>
        <p:txBody>
          <a:bodyPr wrap="square" rtlCol="0" anchor="ctr"/>
          <a:lstStyle/>
          <a:p>
            <a:pPr marL="0" indent="0" algn="ctr">
              <a:buNone/>
            </a:pPr>
            <a:r>
              <a:rPr lang="en-US" sz="1000" i="1" dirty="0">
                <a:solidFill>
                  <a:srgbClr val="B0BEC5"/>
                </a:solidFill>
                <a:latin typeface="Arial" pitchFamily="34" charset="0"/>
                <a:ea typeface="Arial" pitchFamily="34" charset="-122"/>
                <a:cs typeface="Arial" pitchFamily="34" charset="-120"/>
              </a:rPr>
              <a:t>Cowork: drag zip  |  Enterprise: drag .md files</a:t>
            </a:r>
            <a:endParaRPr lang="en-US" sz="1000" dirty="0"/>
          </a:p>
        </p:txBody>
      </p:sp>
      <p:pic>
        <p:nvPicPr>
          <p:cNvPr id="27" name="Image 2" descr="preencoded.png"/>
          <p:cNvPicPr>
            <a:picLocks noChangeAspect="1"/>
          </p:cNvPicPr>
          <p:nvPr/>
        </p:nvPicPr>
        <p:blipFill>
          <a:blip r:embed="rId3"/>
          <a:stretch>
            <a:fillRect/>
          </a:stretch>
        </p:blipFill>
        <p:spPr>
          <a:xfrm>
            <a:off x="6537960" y="2194560"/>
            <a:ext cx="182880" cy="182880"/>
          </a:xfrm>
          <a:prstGeom prst="rect">
            <a:avLst/>
          </a:prstGeom>
        </p:spPr>
      </p:pic>
      <p:sp>
        <p:nvSpPr>
          <p:cNvPr id="28" name="Shape 23"/>
          <p:cNvSpPr/>
          <p:nvPr/>
        </p:nvSpPr>
        <p:spPr>
          <a:xfrm>
            <a:off x="6766560" y="1005840"/>
            <a:ext cx="1828800" cy="29260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29" name="Shape 24"/>
          <p:cNvSpPr/>
          <p:nvPr/>
        </p:nvSpPr>
        <p:spPr>
          <a:xfrm>
            <a:off x="6766560" y="1005840"/>
            <a:ext cx="1828800" cy="54864"/>
          </a:xfrm>
          <a:prstGeom prst="rect">
            <a:avLst/>
          </a:prstGeom>
          <a:solidFill>
            <a:srgbClr val="4CAF50"/>
          </a:solidFill>
          <a:ln/>
        </p:spPr>
        <p:txBody>
          <a:bodyPr/>
          <a:lstStyle/>
          <a:p>
            <a:endParaRPr lang="en-US"/>
          </a:p>
        </p:txBody>
      </p:sp>
      <p:sp>
        <p:nvSpPr>
          <p:cNvPr id="30" name="Shape 25"/>
          <p:cNvSpPr/>
          <p:nvPr/>
        </p:nvSpPr>
        <p:spPr>
          <a:xfrm>
            <a:off x="7406640" y="1188720"/>
            <a:ext cx="548640" cy="548640"/>
          </a:xfrm>
          <a:prstGeom prst="ellipse">
            <a:avLst/>
          </a:prstGeom>
          <a:solidFill>
            <a:srgbClr val="4CAF50"/>
          </a:solidFill>
          <a:ln/>
        </p:spPr>
        <p:txBody>
          <a:bodyPr/>
          <a:lstStyle/>
          <a:p>
            <a:endParaRPr lang="en-US"/>
          </a:p>
        </p:txBody>
      </p:sp>
      <p:sp>
        <p:nvSpPr>
          <p:cNvPr id="31" name="Text 26"/>
          <p:cNvSpPr/>
          <p:nvPr/>
        </p:nvSpPr>
        <p:spPr>
          <a:xfrm>
            <a:off x="7406640" y="1188720"/>
            <a:ext cx="548640" cy="548640"/>
          </a:xfrm>
          <a:prstGeom prst="rect">
            <a:avLst/>
          </a:prstGeom>
          <a:noFill/>
          <a:ln/>
        </p:spPr>
        <p:txBody>
          <a:bodyPr wrap="square" rtlCol="0" anchor="ctr"/>
          <a:lstStyle/>
          <a:p>
            <a:pPr marL="0" indent="0" algn="ctr">
              <a:buNone/>
            </a:pPr>
            <a:r>
              <a:rPr lang="en-US" sz="2200" dirty="0">
                <a:solidFill>
                  <a:srgbClr val="0F1B2D"/>
                </a:solidFill>
                <a:latin typeface="Arial Black" pitchFamily="34" charset="0"/>
                <a:ea typeface="Arial Black" pitchFamily="34" charset="-122"/>
                <a:cs typeface="Arial Black" pitchFamily="34" charset="-120"/>
              </a:rPr>
              <a:t>4</a:t>
            </a:r>
            <a:endParaRPr lang="en-US" sz="2200" dirty="0"/>
          </a:p>
        </p:txBody>
      </p:sp>
      <p:sp>
        <p:nvSpPr>
          <p:cNvPr id="32" name="Text 27"/>
          <p:cNvSpPr/>
          <p:nvPr/>
        </p:nvSpPr>
        <p:spPr>
          <a:xfrm>
            <a:off x="6858000" y="1874520"/>
            <a:ext cx="1645920" cy="365760"/>
          </a:xfrm>
          <a:prstGeom prst="rect">
            <a:avLst/>
          </a:prstGeom>
          <a:noFill/>
          <a:ln/>
        </p:spPr>
        <p:txBody>
          <a:bodyPr wrap="square" rtlCol="0" anchor="ctr"/>
          <a:lstStyle/>
          <a:p>
            <a:pPr marL="0" indent="0" algn="ctr">
              <a:buNone/>
            </a:pPr>
            <a:r>
              <a:rPr lang="en-US" sz="1600" dirty="0">
                <a:solidFill>
                  <a:srgbClr val="4CAF50"/>
                </a:solidFill>
                <a:latin typeface="Arial Black" pitchFamily="34" charset="0"/>
                <a:ea typeface="Arial Black" pitchFamily="34" charset="-122"/>
                <a:cs typeface="Arial Black" pitchFamily="34" charset="-120"/>
              </a:rPr>
              <a:t>COMMIT</a:t>
            </a:r>
            <a:endParaRPr lang="en-US" sz="1600" dirty="0"/>
          </a:p>
        </p:txBody>
      </p:sp>
      <p:sp>
        <p:nvSpPr>
          <p:cNvPr id="33" name="Text 28"/>
          <p:cNvSpPr/>
          <p:nvPr/>
        </p:nvSpPr>
        <p:spPr>
          <a:xfrm>
            <a:off x="6903720" y="2240280"/>
            <a:ext cx="1554480" cy="54864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git add -A &amp;&amp; git commit</a:t>
            </a:r>
            <a:endParaRPr lang="en-US" sz="1200" dirty="0"/>
          </a:p>
        </p:txBody>
      </p:sp>
      <p:sp>
        <p:nvSpPr>
          <p:cNvPr id="34" name="Text 29"/>
          <p:cNvSpPr/>
          <p:nvPr/>
        </p:nvSpPr>
        <p:spPr>
          <a:xfrm>
            <a:off x="6903720" y="2926080"/>
            <a:ext cx="1554480" cy="731520"/>
          </a:xfrm>
          <a:prstGeom prst="rect">
            <a:avLst/>
          </a:prstGeom>
          <a:noFill/>
          <a:ln/>
        </p:spPr>
        <p:txBody>
          <a:bodyPr wrap="square" rtlCol="0" anchor="ctr"/>
          <a:lstStyle/>
          <a:p>
            <a:pPr marL="0" indent="0" algn="ctr">
              <a:buNone/>
            </a:pPr>
            <a:r>
              <a:rPr lang="en-US" sz="1000" i="1" dirty="0">
                <a:solidFill>
                  <a:srgbClr val="B0BEC5"/>
                </a:solidFill>
                <a:latin typeface="Arial" pitchFamily="34" charset="0"/>
                <a:ea typeface="Arial" pitchFamily="34" charset="-122"/>
                <a:cs typeface="Arial" pitchFamily="34" charset="-120"/>
              </a:rPr>
              <a:t>Version history tracks every change</a:t>
            </a:r>
            <a:endParaRPr lang="en-US" sz="1000" dirty="0"/>
          </a:p>
        </p:txBody>
      </p:sp>
      <p:sp>
        <p:nvSpPr>
          <p:cNvPr id="35" name="Shape 30"/>
          <p:cNvSpPr/>
          <p:nvPr/>
        </p:nvSpPr>
        <p:spPr>
          <a:xfrm>
            <a:off x="457200" y="4206240"/>
            <a:ext cx="8321040" cy="731520"/>
          </a:xfrm>
          <a:prstGeom prst="rect">
            <a:avLst/>
          </a:prstGeom>
          <a:solidFill>
            <a:srgbClr val="0D47A1"/>
          </a:solidFill>
          <a:ln/>
          <a:effectLst>
            <a:outerShdw blurRad="50800" dist="25400" dir="8100000" algn="bl" rotWithShape="0">
              <a:srgbClr val="000000">
                <a:alpha val="30000"/>
              </a:srgbClr>
            </a:outerShdw>
          </a:effectLst>
        </p:spPr>
        <p:txBody>
          <a:bodyPr/>
          <a:lstStyle/>
          <a:p>
            <a:endParaRPr lang="en-US"/>
          </a:p>
        </p:txBody>
      </p:sp>
      <p:pic>
        <p:nvPicPr>
          <p:cNvPr id="36" name="Image 3" descr="preencoded.png"/>
          <p:cNvPicPr>
            <a:picLocks noChangeAspect="1"/>
          </p:cNvPicPr>
          <p:nvPr/>
        </p:nvPicPr>
        <p:blipFill>
          <a:blip r:embed="rId4"/>
          <a:stretch>
            <a:fillRect/>
          </a:stretch>
        </p:blipFill>
        <p:spPr>
          <a:xfrm>
            <a:off x="640080" y="4297680"/>
            <a:ext cx="365760" cy="365760"/>
          </a:xfrm>
          <a:prstGeom prst="rect">
            <a:avLst/>
          </a:prstGeom>
        </p:spPr>
      </p:pic>
      <p:sp>
        <p:nvSpPr>
          <p:cNvPr id="37" name="Text 31"/>
          <p:cNvSpPr/>
          <p:nvPr/>
        </p:nvSpPr>
        <p:spPr>
          <a:xfrm>
            <a:off x="1097280" y="4206240"/>
            <a:ext cx="7498080" cy="731520"/>
          </a:xfrm>
          <a:prstGeom prst="rect">
            <a:avLst/>
          </a:prstGeom>
          <a:noFill/>
          <a:ln/>
        </p:spPr>
        <p:txBody>
          <a:bodyPr wrap="square" rtlCol="0" anchor="ctr"/>
          <a:lstStyle/>
          <a:p>
            <a:pPr marL="0" indent="0">
              <a:buNone/>
            </a:pPr>
            <a:r>
              <a:rPr lang="en-US" sz="1300" b="1" dirty="0">
                <a:solidFill>
                  <a:srgbClr val="64B5F6"/>
                </a:solidFill>
                <a:latin typeface="Arial" pitchFamily="34" charset="0"/>
                <a:ea typeface="Arial" pitchFamily="34" charset="-122"/>
                <a:cs typeface="Arial" pitchFamily="34" charset="-120"/>
              </a:rPr>
              <a:t>In Claude Code: </a:t>
            </a:r>
            <a:r>
              <a:rPr lang="en-US" sz="1200" dirty="0">
                <a:solidFill>
                  <a:srgbClr val="FFFFFF"/>
                </a:solidFill>
                <a:latin typeface="Arial" pitchFamily="34" charset="0"/>
                <a:ea typeface="Arial" pitchFamily="34" charset="-122"/>
                <a:cs typeface="Arial" pitchFamily="34" charset="-120"/>
              </a:rPr>
              <a:t>Just tell Claude what to change. It reads CLAUDE.md, edits the source files, runs build.sh, and everything downstream updates automatically.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274320"/>
            <a:ext cx="7680960" cy="54864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What Goes Where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3210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0">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I want to...</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Edit this</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Then...</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extLst>
                  <a:ext uri="{0D108BD9-81ED-4DB2-BD59-A6C34878D82A}">
                    <a16:rowId xmlns:a16="http://schemas.microsoft.com/office/drawing/2014/main" val="10000"/>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Update messaging rules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context/core/messaging-framework.md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bash build.sh → redeploy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1"/>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Update a segment cheatsheet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context/segments/&lt;segment&gt;.md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bash build.sh → redeploy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2"/>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Fix a skill's behavior</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skills/&lt;name&gt;/SKILL.md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bash build.sh → redeploy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3"/>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Add a new context file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Create in context/&lt;category&gt;/</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Add to manifests +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4"/>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Add a new skill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Create skills/&lt;name&gt;/SKILL.md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Add to manifest or standalone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5"/>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Change plugin contents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plugins/&lt;name&gt;/plugin-manifest.json</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bash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6"/>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Change enterprise Project files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Edit project section in build.sh</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bash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274320"/>
            <a:ext cx="7680960" cy="54864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Enterprise Projects</a:t>
            </a:r>
            <a:endParaRPr lang="en-US" sz="2800" dirty="0"/>
          </a:p>
        </p:txBody>
      </p:sp>
      <p:sp>
        <p:nvSpPr>
          <p:cNvPr id="4" name="Shape 2"/>
          <p:cNvSpPr/>
          <p:nvPr/>
        </p:nvSpPr>
        <p:spPr>
          <a:xfrm>
            <a:off x="457200" y="960120"/>
            <a:ext cx="8321040" cy="713232"/>
          </a:xfrm>
          <a:prstGeom prst="rect">
            <a:avLst/>
          </a:prstGeom>
          <a:solidFill>
            <a:srgbClr val="1E2D3D"/>
          </a:solidFill>
          <a:ln/>
        </p:spPr>
        <p:txBody>
          <a:bodyPr/>
          <a:lstStyle/>
          <a:p>
            <a:endParaRPr lang="en-US"/>
          </a:p>
        </p:txBody>
      </p:sp>
      <p:sp>
        <p:nvSpPr>
          <p:cNvPr id="5" name="Shape 3"/>
          <p:cNvSpPr/>
          <p:nvPr/>
        </p:nvSpPr>
        <p:spPr>
          <a:xfrm>
            <a:off x="457200" y="960120"/>
            <a:ext cx="73152" cy="713232"/>
          </a:xfrm>
          <a:prstGeom prst="rect">
            <a:avLst/>
          </a:prstGeom>
          <a:solidFill>
            <a:srgbClr val="2196F3"/>
          </a:solidFill>
          <a:ln/>
        </p:spPr>
        <p:txBody>
          <a:bodyPr/>
          <a:lstStyle/>
          <a:p>
            <a:endParaRPr lang="en-US"/>
          </a:p>
        </p:txBody>
      </p:sp>
      <p:sp>
        <p:nvSpPr>
          <p:cNvPr id="6" name="Text 4"/>
          <p:cNvSpPr/>
          <p:nvPr/>
        </p:nvSpPr>
        <p:spPr>
          <a:xfrm>
            <a:off x="731520" y="978408"/>
            <a:ext cx="2286000" cy="32004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Sales Outreach</a:t>
            </a:r>
            <a:endParaRPr lang="en-US" sz="1400" dirty="0"/>
          </a:p>
        </p:txBody>
      </p:sp>
      <p:sp>
        <p:nvSpPr>
          <p:cNvPr id="7" name="Text 5"/>
          <p:cNvSpPr/>
          <p:nvPr/>
        </p:nvSpPr>
        <p:spPr>
          <a:xfrm>
            <a:off x="731520" y="1280160"/>
            <a:ext cx="2286000" cy="274320"/>
          </a:xfrm>
          <a:prstGeom prst="rect">
            <a:avLst/>
          </a:prstGeom>
          <a:noFill/>
          <a:ln/>
        </p:spPr>
        <p:txBody>
          <a:bodyPr wrap="square" lIns="0" tIns="0" rIns="0" bIns="0" rtlCol="0" anchor="ctr"/>
          <a:lstStyle/>
          <a:p>
            <a:pPr marL="0" indent="0">
              <a:buNone/>
            </a:pPr>
            <a:r>
              <a:rPr lang="en-US" sz="1100" dirty="0">
                <a:solidFill>
                  <a:srgbClr val="2196F3"/>
                </a:solidFill>
                <a:latin typeface="Arial" pitchFamily="34" charset="0"/>
                <a:ea typeface="Arial" pitchFamily="34" charset="-122"/>
                <a:cs typeface="Arial" pitchFamily="34" charset="-120"/>
              </a:rPr>
              <a:t>38 files</a:t>
            </a:r>
            <a:endParaRPr lang="en-US" sz="1100" dirty="0"/>
          </a:p>
        </p:txBody>
      </p:sp>
      <p:sp>
        <p:nvSpPr>
          <p:cNvPr id="8" name="Text 6"/>
          <p:cNvSpPr/>
          <p:nvPr/>
        </p:nvSpPr>
        <p:spPr>
          <a:xfrm>
            <a:off x="3108960" y="978408"/>
            <a:ext cx="4389120" cy="3200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Raw name → enrich → CRM → classify → contacts → emails → briefs</a:t>
            </a:r>
            <a:endParaRPr lang="en-US" sz="1100" dirty="0"/>
          </a:p>
        </p:txBody>
      </p:sp>
      <p:sp>
        <p:nvSpPr>
          <p:cNvPr id="9" name="Text 7"/>
          <p:cNvSpPr/>
          <p:nvPr/>
        </p:nvSpPr>
        <p:spPr>
          <a:xfrm>
            <a:off x="3108960" y="1280160"/>
            <a:ext cx="4389120" cy="2743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Tim L, Ken C, Cooper</a:t>
            </a:r>
            <a:endParaRPr lang="en-US" sz="1100" dirty="0"/>
          </a:p>
        </p:txBody>
      </p:sp>
      <p:sp>
        <p:nvSpPr>
          <p:cNvPr id="10" name="Shape 8"/>
          <p:cNvSpPr/>
          <p:nvPr/>
        </p:nvSpPr>
        <p:spPr>
          <a:xfrm>
            <a:off x="457200" y="1764792"/>
            <a:ext cx="8321040" cy="713232"/>
          </a:xfrm>
          <a:prstGeom prst="rect">
            <a:avLst/>
          </a:prstGeom>
          <a:solidFill>
            <a:srgbClr val="1E2D3D"/>
          </a:solidFill>
          <a:ln/>
        </p:spPr>
        <p:txBody>
          <a:bodyPr/>
          <a:lstStyle/>
          <a:p>
            <a:endParaRPr lang="en-US"/>
          </a:p>
        </p:txBody>
      </p:sp>
      <p:sp>
        <p:nvSpPr>
          <p:cNvPr id="11" name="Shape 9"/>
          <p:cNvSpPr/>
          <p:nvPr/>
        </p:nvSpPr>
        <p:spPr>
          <a:xfrm>
            <a:off x="457200" y="1764792"/>
            <a:ext cx="73152" cy="713232"/>
          </a:xfrm>
          <a:prstGeom prst="rect">
            <a:avLst/>
          </a:prstGeom>
          <a:solidFill>
            <a:srgbClr val="00BCD4"/>
          </a:solidFill>
          <a:ln/>
        </p:spPr>
        <p:txBody>
          <a:bodyPr/>
          <a:lstStyle/>
          <a:p>
            <a:endParaRPr lang="en-US"/>
          </a:p>
        </p:txBody>
      </p:sp>
      <p:sp>
        <p:nvSpPr>
          <p:cNvPr id="12" name="Text 10"/>
          <p:cNvSpPr/>
          <p:nvPr/>
        </p:nvSpPr>
        <p:spPr>
          <a:xfrm>
            <a:off x="731520" y="1783080"/>
            <a:ext cx="2286000" cy="32004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Founder Outreach</a:t>
            </a:r>
            <a:endParaRPr lang="en-US" sz="1400" dirty="0"/>
          </a:p>
        </p:txBody>
      </p:sp>
      <p:sp>
        <p:nvSpPr>
          <p:cNvPr id="13" name="Text 11"/>
          <p:cNvSpPr/>
          <p:nvPr/>
        </p:nvSpPr>
        <p:spPr>
          <a:xfrm>
            <a:off x="731520" y="2084832"/>
            <a:ext cx="2286000" cy="274320"/>
          </a:xfrm>
          <a:prstGeom prst="rect">
            <a:avLst/>
          </a:prstGeom>
          <a:noFill/>
          <a:ln/>
        </p:spPr>
        <p:txBody>
          <a:bodyPr wrap="square" lIns="0" tIns="0" rIns="0" bIns="0" rtlCol="0" anchor="ctr"/>
          <a:lstStyle/>
          <a:p>
            <a:pPr marL="0" indent="0">
              <a:buNone/>
            </a:pPr>
            <a:r>
              <a:rPr lang="en-US" sz="1100" dirty="0">
                <a:solidFill>
                  <a:srgbClr val="00BCD4"/>
                </a:solidFill>
                <a:latin typeface="Arial" pitchFamily="34" charset="0"/>
                <a:ea typeface="Arial" pitchFamily="34" charset="-122"/>
                <a:cs typeface="Arial" pitchFamily="34" charset="-120"/>
              </a:rPr>
              <a:t>34 files</a:t>
            </a:r>
            <a:endParaRPr lang="en-US" sz="1100" dirty="0"/>
          </a:p>
        </p:txBody>
      </p:sp>
      <p:sp>
        <p:nvSpPr>
          <p:cNvPr id="14" name="Text 12"/>
          <p:cNvSpPr/>
          <p:nvPr/>
        </p:nvSpPr>
        <p:spPr>
          <a:xfrm>
            <a:off x="3108960" y="1783080"/>
            <a:ext cx="4389120" cy="3200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Same chain, founder voice (Timothy Z / Abilash M)</a:t>
            </a:r>
            <a:endParaRPr lang="en-US" sz="1100" dirty="0"/>
          </a:p>
        </p:txBody>
      </p:sp>
      <p:sp>
        <p:nvSpPr>
          <p:cNvPr id="15" name="Text 13"/>
          <p:cNvSpPr/>
          <p:nvPr/>
        </p:nvSpPr>
        <p:spPr>
          <a:xfrm>
            <a:off x="3108960" y="2084832"/>
            <a:ext cx="4389120" cy="2743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Timothy, Abilash</a:t>
            </a:r>
            <a:endParaRPr lang="en-US" sz="1100" dirty="0"/>
          </a:p>
        </p:txBody>
      </p:sp>
      <p:sp>
        <p:nvSpPr>
          <p:cNvPr id="16" name="Shape 14"/>
          <p:cNvSpPr/>
          <p:nvPr/>
        </p:nvSpPr>
        <p:spPr>
          <a:xfrm>
            <a:off x="457200" y="2569464"/>
            <a:ext cx="8321040" cy="713232"/>
          </a:xfrm>
          <a:prstGeom prst="rect">
            <a:avLst/>
          </a:prstGeom>
          <a:solidFill>
            <a:srgbClr val="1E2D3D"/>
          </a:solidFill>
          <a:ln/>
        </p:spPr>
        <p:txBody>
          <a:bodyPr/>
          <a:lstStyle/>
          <a:p>
            <a:endParaRPr lang="en-US"/>
          </a:p>
        </p:txBody>
      </p:sp>
      <p:sp>
        <p:nvSpPr>
          <p:cNvPr id="17" name="Shape 15"/>
          <p:cNvSpPr/>
          <p:nvPr/>
        </p:nvSpPr>
        <p:spPr>
          <a:xfrm>
            <a:off x="457200" y="2569464"/>
            <a:ext cx="73152" cy="713232"/>
          </a:xfrm>
          <a:prstGeom prst="rect">
            <a:avLst/>
          </a:prstGeom>
          <a:solidFill>
            <a:srgbClr val="FF9800"/>
          </a:solidFill>
          <a:ln/>
        </p:spPr>
        <p:txBody>
          <a:bodyPr/>
          <a:lstStyle/>
          <a:p>
            <a:endParaRPr lang="en-US"/>
          </a:p>
        </p:txBody>
      </p:sp>
      <p:sp>
        <p:nvSpPr>
          <p:cNvPr id="18" name="Text 16"/>
          <p:cNvSpPr/>
          <p:nvPr/>
        </p:nvSpPr>
        <p:spPr>
          <a:xfrm>
            <a:off x="731520" y="2587752"/>
            <a:ext cx="2286000" cy="32004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Account Intelligence</a:t>
            </a:r>
            <a:endParaRPr lang="en-US" sz="1400" dirty="0"/>
          </a:p>
        </p:txBody>
      </p:sp>
      <p:sp>
        <p:nvSpPr>
          <p:cNvPr id="19" name="Text 17"/>
          <p:cNvSpPr/>
          <p:nvPr/>
        </p:nvSpPr>
        <p:spPr>
          <a:xfrm>
            <a:off x="731520" y="2889504"/>
            <a:ext cx="2286000" cy="274320"/>
          </a:xfrm>
          <a:prstGeom prst="rect">
            <a:avLst/>
          </a:prstGeom>
          <a:noFill/>
          <a:ln/>
        </p:spPr>
        <p:txBody>
          <a:bodyPr wrap="square" lIns="0" tIns="0" rIns="0" bIns="0" rtlCol="0" anchor="ctr"/>
          <a:lstStyle/>
          <a:p>
            <a:pPr marL="0" indent="0">
              <a:buNone/>
            </a:pPr>
            <a:r>
              <a:rPr lang="en-US" sz="1100" dirty="0">
                <a:solidFill>
                  <a:srgbClr val="FF9800"/>
                </a:solidFill>
                <a:latin typeface="Arial" pitchFamily="34" charset="0"/>
                <a:ea typeface="Arial" pitchFamily="34" charset="-122"/>
                <a:cs typeface="Arial" pitchFamily="34" charset="-120"/>
              </a:rPr>
              <a:t>47 files</a:t>
            </a:r>
            <a:endParaRPr lang="en-US" sz="1100" dirty="0"/>
          </a:p>
        </p:txBody>
      </p:sp>
      <p:sp>
        <p:nvSpPr>
          <p:cNvPr id="20" name="Text 18"/>
          <p:cNvSpPr/>
          <p:nvPr/>
        </p:nvSpPr>
        <p:spPr>
          <a:xfrm>
            <a:off x="3108960" y="2587752"/>
            <a:ext cx="4389120" cy="3200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CRM queries → lists → coverage → pipeline → territory → imports</a:t>
            </a:r>
            <a:endParaRPr lang="en-US" sz="1100" dirty="0"/>
          </a:p>
        </p:txBody>
      </p:sp>
      <p:sp>
        <p:nvSpPr>
          <p:cNvPr id="21" name="Text 19"/>
          <p:cNvSpPr/>
          <p:nvPr/>
        </p:nvSpPr>
        <p:spPr>
          <a:xfrm>
            <a:off x="3108960" y="2889504"/>
            <a:ext cx="4389120" cy="2743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Cooper, team</a:t>
            </a:r>
            <a:endParaRPr lang="en-US" sz="1100" dirty="0"/>
          </a:p>
        </p:txBody>
      </p:sp>
      <p:sp>
        <p:nvSpPr>
          <p:cNvPr id="22" name="Shape 20"/>
          <p:cNvSpPr/>
          <p:nvPr/>
        </p:nvSpPr>
        <p:spPr>
          <a:xfrm>
            <a:off x="457200" y="3374136"/>
            <a:ext cx="8321040" cy="713232"/>
          </a:xfrm>
          <a:prstGeom prst="rect">
            <a:avLst/>
          </a:prstGeom>
          <a:solidFill>
            <a:srgbClr val="1E2D3D"/>
          </a:solidFill>
          <a:ln/>
        </p:spPr>
        <p:txBody>
          <a:bodyPr/>
          <a:lstStyle/>
          <a:p>
            <a:endParaRPr lang="en-US"/>
          </a:p>
        </p:txBody>
      </p:sp>
      <p:sp>
        <p:nvSpPr>
          <p:cNvPr id="23" name="Shape 21"/>
          <p:cNvSpPr/>
          <p:nvPr/>
        </p:nvSpPr>
        <p:spPr>
          <a:xfrm>
            <a:off x="457200" y="3374136"/>
            <a:ext cx="73152" cy="713232"/>
          </a:xfrm>
          <a:prstGeom prst="rect">
            <a:avLst/>
          </a:prstGeom>
          <a:solidFill>
            <a:srgbClr val="4CAF50"/>
          </a:solidFill>
          <a:ln/>
        </p:spPr>
        <p:txBody>
          <a:bodyPr/>
          <a:lstStyle/>
          <a:p>
            <a:endParaRPr lang="en-US"/>
          </a:p>
        </p:txBody>
      </p:sp>
      <p:sp>
        <p:nvSpPr>
          <p:cNvPr id="24" name="Text 22"/>
          <p:cNvSpPr/>
          <p:nvPr/>
        </p:nvSpPr>
        <p:spPr>
          <a:xfrm>
            <a:off x="731520" y="3392424"/>
            <a:ext cx="2286000" cy="32004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General Assistant</a:t>
            </a:r>
            <a:endParaRPr lang="en-US" sz="1400" dirty="0"/>
          </a:p>
        </p:txBody>
      </p:sp>
      <p:sp>
        <p:nvSpPr>
          <p:cNvPr id="25" name="Text 23"/>
          <p:cNvSpPr/>
          <p:nvPr/>
        </p:nvSpPr>
        <p:spPr>
          <a:xfrm>
            <a:off x="731520" y="3694176"/>
            <a:ext cx="2286000" cy="274320"/>
          </a:xfrm>
          <a:prstGeom prst="rect">
            <a:avLst/>
          </a:prstGeom>
          <a:noFill/>
          <a:ln/>
        </p:spPr>
        <p:txBody>
          <a:bodyPr wrap="square" lIns="0" tIns="0" rIns="0" bIns="0" rtlCol="0" anchor="ctr"/>
          <a:lstStyle/>
          <a:p>
            <a:pPr marL="0" indent="0">
              <a:buNone/>
            </a:pPr>
            <a:r>
              <a:rPr lang="en-US" sz="1100" dirty="0">
                <a:solidFill>
                  <a:srgbClr val="4CAF50"/>
                </a:solidFill>
                <a:latin typeface="Arial" pitchFamily="34" charset="0"/>
                <a:ea typeface="Arial" pitchFamily="34" charset="-122"/>
                <a:cs typeface="Arial" pitchFamily="34" charset="-120"/>
              </a:rPr>
              <a:t>65 files</a:t>
            </a:r>
            <a:endParaRPr lang="en-US" sz="1100" dirty="0"/>
          </a:p>
        </p:txBody>
      </p:sp>
      <p:sp>
        <p:nvSpPr>
          <p:cNvPr id="26" name="Text 24"/>
          <p:cNvSpPr/>
          <p:nvPr/>
        </p:nvSpPr>
        <p:spPr>
          <a:xfrm>
            <a:off x="3108960" y="3392424"/>
            <a:ext cx="4389120" cy="3200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Catch-all: strategy, GTM, pricing, partnerships, anything</a:t>
            </a:r>
            <a:endParaRPr lang="en-US" sz="1100" dirty="0"/>
          </a:p>
        </p:txBody>
      </p:sp>
      <p:sp>
        <p:nvSpPr>
          <p:cNvPr id="27" name="Text 25"/>
          <p:cNvSpPr/>
          <p:nvPr/>
        </p:nvSpPr>
        <p:spPr>
          <a:xfrm>
            <a:off x="3108960" y="3694176"/>
            <a:ext cx="4389120" cy="2743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Everyone</a:t>
            </a:r>
            <a:endParaRPr lang="en-US" sz="1100" dirty="0"/>
          </a:p>
        </p:txBody>
      </p:sp>
      <p:sp>
        <p:nvSpPr>
          <p:cNvPr id="28" name="Shape 26"/>
          <p:cNvSpPr/>
          <p:nvPr/>
        </p:nvSpPr>
        <p:spPr>
          <a:xfrm>
            <a:off x="457200" y="4178808"/>
            <a:ext cx="8321040" cy="713232"/>
          </a:xfrm>
          <a:prstGeom prst="rect">
            <a:avLst/>
          </a:prstGeom>
          <a:solidFill>
            <a:srgbClr val="1E2D3D"/>
          </a:solidFill>
          <a:ln/>
        </p:spPr>
        <p:txBody>
          <a:bodyPr/>
          <a:lstStyle/>
          <a:p>
            <a:endParaRPr lang="en-US"/>
          </a:p>
        </p:txBody>
      </p:sp>
      <p:sp>
        <p:nvSpPr>
          <p:cNvPr id="29" name="Shape 27"/>
          <p:cNvSpPr/>
          <p:nvPr/>
        </p:nvSpPr>
        <p:spPr>
          <a:xfrm>
            <a:off x="457200" y="4178808"/>
            <a:ext cx="73152" cy="713232"/>
          </a:xfrm>
          <a:prstGeom prst="rect">
            <a:avLst/>
          </a:prstGeom>
          <a:solidFill>
            <a:srgbClr val="B0BEC5"/>
          </a:solidFill>
          <a:ln/>
        </p:spPr>
        <p:txBody>
          <a:bodyPr/>
          <a:lstStyle/>
          <a:p>
            <a:endParaRPr lang="en-US"/>
          </a:p>
        </p:txBody>
      </p:sp>
      <p:sp>
        <p:nvSpPr>
          <p:cNvPr id="30" name="Text 28"/>
          <p:cNvSpPr/>
          <p:nvPr/>
        </p:nvSpPr>
        <p:spPr>
          <a:xfrm>
            <a:off x="731520" y="4197096"/>
            <a:ext cx="2286000" cy="32004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Sales Docs</a:t>
            </a:r>
            <a:endParaRPr lang="en-US" sz="1400" dirty="0"/>
          </a:p>
        </p:txBody>
      </p:sp>
      <p:sp>
        <p:nvSpPr>
          <p:cNvPr id="31" name="Text 29"/>
          <p:cNvSpPr/>
          <p:nvPr/>
        </p:nvSpPr>
        <p:spPr>
          <a:xfrm>
            <a:off x="731520" y="4498848"/>
            <a:ext cx="2286000" cy="27432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Self-contained files</a:t>
            </a:r>
            <a:endParaRPr lang="en-US" sz="1100" dirty="0"/>
          </a:p>
        </p:txBody>
      </p:sp>
      <p:sp>
        <p:nvSpPr>
          <p:cNvPr id="32" name="Text 30"/>
          <p:cNvSpPr/>
          <p:nvPr/>
        </p:nvSpPr>
        <p:spPr>
          <a:xfrm>
            <a:off x="3108960" y="4197096"/>
            <a:ext cx="4389120" cy="3200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Order Forms, MSAs, POCs, NDAs — no local maintenance</a:t>
            </a:r>
            <a:endParaRPr lang="en-US" sz="1100" dirty="0"/>
          </a:p>
        </p:txBody>
      </p:sp>
      <p:sp>
        <p:nvSpPr>
          <p:cNvPr id="33" name="Text 31"/>
          <p:cNvSpPr/>
          <p:nvPr/>
        </p:nvSpPr>
        <p:spPr>
          <a:xfrm>
            <a:off x="3108960" y="4498848"/>
            <a:ext cx="4389120" cy="2743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Tim L, Ken C</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182880"/>
            <a:ext cx="7680960" cy="457200"/>
          </a:xfrm>
          <a:prstGeom prst="rect">
            <a:avLst/>
          </a:prstGeom>
          <a:noFill/>
          <a:ln/>
        </p:spPr>
        <p:txBody>
          <a:bodyPr wrap="square" rtlCol="0" anchor="ctr"/>
          <a:lstStyle/>
          <a:p>
            <a:pPr marL="0" indent="0">
              <a:buNone/>
            </a:pPr>
            <a:r>
              <a:rPr lang="en-US" sz="2400" b="1" dirty="0">
                <a:solidFill>
                  <a:srgbClr val="FFFFFF"/>
                </a:solidFill>
                <a:latin typeface="Arial Black" pitchFamily="34" charset="0"/>
                <a:ea typeface="Arial Black" pitchFamily="34" charset="-122"/>
                <a:cs typeface="Arial Black" pitchFamily="34" charset="-120"/>
              </a:rPr>
              <a:t>21 Skills — Complete Catalog</a:t>
            </a:r>
            <a:endParaRPr lang="en-US" sz="2400" dirty="0"/>
          </a:p>
        </p:txBody>
      </p:sp>
      <p:pic>
        <p:nvPicPr>
          <p:cNvPr id="4" name="Image 0" descr="preencoded.png"/>
          <p:cNvPicPr>
            <a:picLocks noChangeAspect="1"/>
          </p:cNvPicPr>
          <p:nvPr/>
        </p:nvPicPr>
        <p:blipFill>
          <a:blip r:embed="rId3"/>
          <a:stretch>
            <a:fillRect/>
          </a:stretch>
        </p:blipFill>
        <p:spPr>
          <a:xfrm>
            <a:off x="457200" y="795528"/>
            <a:ext cx="228600" cy="228600"/>
          </a:xfrm>
          <a:prstGeom prst="rect">
            <a:avLst/>
          </a:prstGeom>
        </p:spPr>
      </p:pic>
      <p:sp>
        <p:nvSpPr>
          <p:cNvPr id="5" name="Text 2"/>
          <p:cNvSpPr/>
          <p:nvPr/>
        </p:nvSpPr>
        <p:spPr>
          <a:xfrm>
            <a:off x="777240" y="777240"/>
            <a:ext cx="1371600" cy="274320"/>
          </a:xfrm>
          <a:prstGeom prst="rect">
            <a:avLst/>
          </a:prstGeom>
          <a:noFill/>
          <a:ln/>
        </p:spPr>
        <p:txBody>
          <a:bodyPr wrap="square" lIns="0" tIns="0" rIns="0" bIns="0" rtlCol="0" anchor="ctr"/>
          <a:lstStyle/>
          <a:p>
            <a:pPr marL="0" indent="0">
              <a:buNone/>
            </a:pPr>
            <a:r>
              <a:rPr lang="en-US" sz="1100" b="1" dirty="0">
                <a:solidFill>
                  <a:srgbClr val="2196F3"/>
                </a:solidFill>
                <a:latin typeface="Arial" pitchFamily="34" charset="0"/>
                <a:ea typeface="Arial" pitchFamily="34" charset="-122"/>
                <a:cs typeface="Arial" pitchFamily="34" charset="-120"/>
              </a:rPr>
              <a:t>ENRICHMENT</a:t>
            </a:r>
            <a:endParaRPr lang="en-US" sz="1100" dirty="0"/>
          </a:p>
        </p:txBody>
      </p:sp>
      <p:sp>
        <p:nvSpPr>
          <p:cNvPr id="6" name="Shape 3"/>
          <p:cNvSpPr/>
          <p:nvPr/>
        </p:nvSpPr>
        <p:spPr>
          <a:xfrm>
            <a:off x="2011680" y="795528"/>
            <a:ext cx="1444752" cy="256032"/>
          </a:xfrm>
          <a:prstGeom prst="rect">
            <a:avLst/>
          </a:prstGeom>
          <a:solidFill>
            <a:srgbClr val="1E2D3D"/>
          </a:solidFill>
          <a:ln w="6350">
            <a:solidFill>
              <a:srgbClr val="2196F3"/>
            </a:solidFill>
            <a:prstDash val="solid"/>
          </a:ln>
        </p:spPr>
        <p:txBody>
          <a:bodyPr/>
          <a:lstStyle/>
          <a:p>
            <a:endParaRPr lang="en-US"/>
          </a:p>
        </p:txBody>
      </p:sp>
      <p:sp>
        <p:nvSpPr>
          <p:cNvPr id="7" name="Text 4"/>
          <p:cNvSpPr/>
          <p:nvPr/>
        </p:nvSpPr>
        <p:spPr>
          <a:xfrm>
            <a:off x="2011680" y="795528"/>
            <a:ext cx="1444752"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account-sourcing</a:t>
            </a:r>
            <a:endParaRPr lang="en-US" sz="900" dirty="0"/>
          </a:p>
        </p:txBody>
      </p:sp>
      <p:sp>
        <p:nvSpPr>
          <p:cNvPr id="8" name="Shape 5"/>
          <p:cNvSpPr/>
          <p:nvPr/>
        </p:nvSpPr>
        <p:spPr>
          <a:xfrm>
            <a:off x="3547872" y="795528"/>
            <a:ext cx="1591056" cy="256032"/>
          </a:xfrm>
          <a:prstGeom prst="rect">
            <a:avLst/>
          </a:prstGeom>
          <a:solidFill>
            <a:srgbClr val="1E2D3D"/>
          </a:solidFill>
          <a:ln w="6350">
            <a:solidFill>
              <a:srgbClr val="2196F3"/>
            </a:solidFill>
            <a:prstDash val="solid"/>
          </a:ln>
        </p:spPr>
        <p:txBody>
          <a:bodyPr/>
          <a:lstStyle/>
          <a:p>
            <a:endParaRPr lang="en-US"/>
          </a:p>
        </p:txBody>
      </p:sp>
      <p:sp>
        <p:nvSpPr>
          <p:cNvPr id="9" name="Text 6"/>
          <p:cNvSpPr/>
          <p:nvPr/>
        </p:nvSpPr>
        <p:spPr>
          <a:xfrm>
            <a:off x="3547872" y="795528"/>
            <a:ext cx="1591056"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company-enrichment</a:t>
            </a:r>
            <a:endParaRPr lang="en-US" sz="900" dirty="0"/>
          </a:p>
        </p:txBody>
      </p:sp>
      <p:sp>
        <p:nvSpPr>
          <p:cNvPr id="10" name="Shape 7"/>
          <p:cNvSpPr/>
          <p:nvPr/>
        </p:nvSpPr>
        <p:spPr>
          <a:xfrm>
            <a:off x="5230368" y="795528"/>
            <a:ext cx="1444752" cy="256032"/>
          </a:xfrm>
          <a:prstGeom prst="rect">
            <a:avLst/>
          </a:prstGeom>
          <a:solidFill>
            <a:srgbClr val="1E2D3D"/>
          </a:solidFill>
          <a:ln w="6350">
            <a:solidFill>
              <a:srgbClr val="2196F3"/>
            </a:solidFill>
            <a:prstDash val="solid"/>
          </a:ln>
        </p:spPr>
        <p:txBody>
          <a:bodyPr/>
          <a:lstStyle/>
          <a:p>
            <a:endParaRPr lang="en-US"/>
          </a:p>
        </p:txBody>
      </p:sp>
      <p:sp>
        <p:nvSpPr>
          <p:cNvPr id="11" name="Text 8"/>
          <p:cNvSpPr/>
          <p:nvPr/>
        </p:nvSpPr>
        <p:spPr>
          <a:xfrm>
            <a:off x="5230368" y="795528"/>
            <a:ext cx="1444752"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import-processor</a:t>
            </a:r>
            <a:endParaRPr lang="en-US" sz="900" dirty="0"/>
          </a:p>
        </p:txBody>
      </p:sp>
      <p:sp>
        <p:nvSpPr>
          <p:cNvPr id="12" name="Shape 9"/>
          <p:cNvSpPr/>
          <p:nvPr/>
        </p:nvSpPr>
        <p:spPr>
          <a:xfrm>
            <a:off x="6766560" y="795528"/>
            <a:ext cx="1737360" cy="256032"/>
          </a:xfrm>
          <a:prstGeom prst="rect">
            <a:avLst/>
          </a:prstGeom>
          <a:solidFill>
            <a:srgbClr val="1E2D3D"/>
          </a:solidFill>
          <a:ln w="6350">
            <a:solidFill>
              <a:srgbClr val="2196F3"/>
            </a:solidFill>
            <a:prstDash val="solid"/>
          </a:ln>
        </p:spPr>
        <p:txBody>
          <a:bodyPr/>
          <a:lstStyle/>
          <a:p>
            <a:endParaRPr lang="en-US"/>
          </a:p>
        </p:txBody>
      </p:sp>
      <p:sp>
        <p:nvSpPr>
          <p:cNvPr id="13" name="Text 10"/>
          <p:cNvSpPr/>
          <p:nvPr/>
        </p:nvSpPr>
        <p:spPr>
          <a:xfrm>
            <a:off x="6766560" y="795528"/>
            <a:ext cx="1737360"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edge-case-researcher</a:t>
            </a:r>
            <a:endParaRPr lang="en-US" sz="900" dirty="0"/>
          </a:p>
        </p:txBody>
      </p:sp>
      <p:pic>
        <p:nvPicPr>
          <p:cNvPr id="14" name="Image 1" descr="preencoded.png"/>
          <p:cNvPicPr>
            <a:picLocks noChangeAspect="1"/>
          </p:cNvPicPr>
          <p:nvPr/>
        </p:nvPicPr>
        <p:blipFill>
          <a:blip r:embed="rId4"/>
          <a:stretch>
            <a:fillRect/>
          </a:stretch>
        </p:blipFill>
        <p:spPr>
          <a:xfrm>
            <a:off x="457200" y="1179576"/>
            <a:ext cx="228600" cy="228600"/>
          </a:xfrm>
          <a:prstGeom prst="rect">
            <a:avLst/>
          </a:prstGeom>
        </p:spPr>
      </p:pic>
      <p:sp>
        <p:nvSpPr>
          <p:cNvPr id="15" name="Text 11"/>
          <p:cNvSpPr/>
          <p:nvPr/>
        </p:nvSpPr>
        <p:spPr>
          <a:xfrm>
            <a:off x="777240" y="1161288"/>
            <a:ext cx="1371600" cy="274320"/>
          </a:xfrm>
          <a:prstGeom prst="rect">
            <a:avLst/>
          </a:prstGeom>
          <a:noFill/>
          <a:ln/>
        </p:spPr>
        <p:txBody>
          <a:bodyPr wrap="square" lIns="0" tIns="0" rIns="0" bIns="0" rtlCol="0" anchor="ctr"/>
          <a:lstStyle/>
          <a:p>
            <a:pPr marL="0" indent="0">
              <a:buNone/>
            </a:pPr>
            <a:r>
              <a:rPr lang="en-US" sz="1100" b="1" dirty="0">
                <a:solidFill>
                  <a:srgbClr val="FF9800"/>
                </a:solidFill>
                <a:latin typeface="Arial" pitchFamily="34" charset="0"/>
                <a:ea typeface="Arial" pitchFamily="34" charset="-122"/>
                <a:cs typeface="Arial" pitchFamily="34" charset="-120"/>
              </a:rPr>
              <a:t>OUTREACH</a:t>
            </a:r>
            <a:endParaRPr lang="en-US" sz="1100" dirty="0"/>
          </a:p>
        </p:txBody>
      </p:sp>
      <p:sp>
        <p:nvSpPr>
          <p:cNvPr id="16" name="Shape 12"/>
          <p:cNvSpPr/>
          <p:nvPr/>
        </p:nvSpPr>
        <p:spPr>
          <a:xfrm>
            <a:off x="2011680" y="1179576"/>
            <a:ext cx="1005840" cy="256032"/>
          </a:xfrm>
          <a:prstGeom prst="rect">
            <a:avLst/>
          </a:prstGeom>
          <a:solidFill>
            <a:srgbClr val="1E2D3D"/>
          </a:solidFill>
          <a:ln w="6350">
            <a:solidFill>
              <a:srgbClr val="FF9800"/>
            </a:solidFill>
            <a:prstDash val="solid"/>
          </a:ln>
        </p:spPr>
        <p:txBody>
          <a:bodyPr/>
          <a:lstStyle/>
          <a:p>
            <a:endParaRPr lang="en-US"/>
          </a:p>
        </p:txBody>
      </p:sp>
      <p:sp>
        <p:nvSpPr>
          <p:cNvPr id="17" name="Text 13"/>
          <p:cNvSpPr/>
          <p:nvPr/>
        </p:nvSpPr>
        <p:spPr>
          <a:xfrm>
            <a:off x="2011680" y="1179576"/>
            <a:ext cx="1005840"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cold-email</a:t>
            </a:r>
            <a:endParaRPr lang="en-US" sz="900" dirty="0"/>
          </a:p>
        </p:txBody>
      </p:sp>
      <p:sp>
        <p:nvSpPr>
          <p:cNvPr id="18" name="Shape 14"/>
          <p:cNvSpPr/>
          <p:nvPr/>
        </p:nvSpPr>
        <p:spPr>
          <a:xfrm>
            <a:off x="3108960" y="1179576"/>
            <a:ext cx="1517904" cy="256032"/>
          </a:xfrm>
          <a:prstGeom prst="rect">
            <a:avLst/>
          </a:prstGeom>
          <a:solidFill>
            <a:srgbClr val="1E2D3D"/>
          </a:solidFill>
          <a:ln w="6350">
            <a:solidFill>
              <a:srgbClr val="FF9800"/>
            </a:solidFill>
            <a:prstDash val="solid"/>
          </a:ln>
        </p:spPr>
        <p:txBody>
          <a:bodyPr/>
          <a:lstStyle/>
          <a:p>
            <a:endParaRPr lang="en-US"/>
          </a:p>
        </p:txBody>
      </p:sp>
      <p:sp>
        <p:nvSpPr>
          <p:cNvPr id="19" name="Text 15"/>
          <p:cNvSpPr/>
          <p:nvPr/>
        </p:nvSpPr>
        <p:spPr>
          <a:xfrm>
            <a:off x="3108960" y="1179576"/>
            <a:ext cx="1517904"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linkedin-outreach</a:t>
            </a:r>
            <a:endParaRPr lang="en-US" sz="900" dirty="0"/>
          </a:p>
        </p:txBody>
      </p:sp>
      <p:sp>
        <p:nvSpPr>
          <p:cNvPr id="20" name="Shape 16"/>
          <p:cNvSpPr/>
          <p:nvPr/>
        </p:nvSpPr>
        <p:spPr>
          <a:xfrm>
            <a:off x="4718304" y="1179576"/>
            <a:ext cx="1517904" cy="256032"/>
          </a:xfrm>
          <a:prstGeom prst="rect">
            <a:avLst/>
          </a:prstGeom>
          <a:solidFill>
            <a:srgbClr val="1E2D3D"/>
          </a:solidFill>
          <a:ln w="6350">
            <a:solidFill>
              <a:srgbClr val="FF9800"/>
            </a:solidFill>
            <a:prstDash val="solid"/>
          </a:ln>
        </p:spPr>
        <p:txBody>
          <a:bodyPr/>
          <a:lstStyle/>
          <a:p>
            <a:endParaRPr lang="en-US"/>
          </a:p>
        </p:txBody>
      </p:sp>
      <p:sp>
        <p:nvSpPr>
          <p:cNvPr id="21" name="Text 17"/>
          <p:cNvSpPr/>
          <p:nvPr/>
        </p:nvSpPr>
        <p:spPr>
          <a:xfrm>
            <a:off x="4718304" y="1179576"/>
            <a:ext cx="1517904"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prospect-research</a:t>
            </a:r>
            <a:endParaRPr lang="en-US" sz="900" dirty="0"/>
          </a:p>
        </p:txBody>
      </p:sp>
      <p:sp>
        <p:nvSpPr>
          <p:cNvPr id="22" name="Shape 18"/>
          <p:cNvSpPr/>
          <p:nvPr/>
        </p:nvSpPr>
        <p:spPr>
          <a:xfrm>
            <a:off x="6327648" y="1179576"/>
            <a:ext cx="1883664" cy="256032"/>
          </a:xfrm>
          <a:prstGeom prst="rect">
            <a:avLst/>
          </a:prstGeom>
          <a:solidFill>
            <a:srgbClr val="1E2D3D"/>
          </a:solidFill>
          <a:ln w="6350">
            <a:solidFill>
              <a:srgbClr val="FF9800"/>
            </a:solidFill>
            <a:prstDash val="solid"/>
          </a:ln>
        </p:spPr>
        <p:txBody>
          <a:bodyPr/>
          <a:lstStyle/>
          <a:p>
            <a:endParaRPr lang="en-US"/>
          </a:p>
        </p:txBody>
      </p:sp>
      <p:sp>
        <p:nvSpPr>
          <p:cNvPr id="23" name="Text 19"/>
          <p:cNvSpPr/>
          <p:nvPr/>
        </p:nvSpPr>
        <p:spPr>
          <a:xfrm>
            <a:off x="6327648" y="1179576"/>
            <a:ext cx="1883664"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segment-classification</a:t>
            </a:r>
            <a:endParaRPr lang="en-US" sz="900" dirty="0"/>
          </a:p>
        </p:txBody>
      </p:sp>
      <p:sp>
        <p:nvSpPr>
          <p:cNvPr id="24" name="Shape 20"/>
          <p:cNvSpPr/>
          <p:nvPr/>
        </p:nvSpPr>
        <p:spPr>
          <a:xfrm>
            <a:off x="2011680" y="1490472"/>
            <a:ext cx="1152144" cy="256032"/>
          </a:xfrm>
          <a:prstGeom prst="rect">
            <a:avLst/>
          </a:prstGeom>
          <a:solidFill>
            <a:srgbClr val="1E2D3D"/>
          </a:solidFill>
          <a:ln w="6350">
            <a:solidFill>
              <a:srgbClr val="FF9800"/>
            </a:solidFill>
            <a:prstDash val="solid"/>
          </a:ln>
        </p:spPr>
        <p:txBody>
          <a:bodyPr/>
          <a:lstStyle/>
          <a:p>
            <a:endParaRPr lang="en-US"/>
          </a:p>
        </p:txBody>
      </p:sp>
      <p:sp>
        <p:nvSpPr>
          <p:cNvPr id="25" name="Text 21"/>
          <p:cNvSpPr/>
          <p:nvPr/>
        </p:nvSpPr>
        <p:spPr>
          <a:xfrm>
            <a:off x="2011680" y="1490472"/>
            <a:ext cx="1152144"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sdr-pipeline</a:t>
            </a:r>
            <a:endParaRPr lang="en-US" sz="900" dirty="0"/>
          </a:p>
        </p:txBody>
      </p:sp>
      <p:sp>
        <p:nvSpPr>
          <p:cNvPr id="26" name="Shape 22"/>
          <p:cNvSpPr/>
          <p:nvPr/>
        </p:nvSpPr>
        <p:spPr>
          <a:xfrm>
            <a:off x="3255264" y="1490472"/>
            <a:ext cx="1225296" cy="256032"/>
          </a:xfrm>
          <a:prstGeom prst="rect">
            <a:avLst/>
          </a:prstGeom>
          <a:solidFill>
            <a:srgbClr val="1E2D3D"/>
          </a:solidFill>
          <a:ln w="6350">
            <a:solidFill>
              <a:srgbClr val="FF9800"/>
            </a:solidFill>
            <a:prstDash val="solid"/>
          </a:ln>
        </p:spPr>
        <p:txBody>
          <a:bodyPr/>
          <a:lstStyle/>
          <a:p>
            <a:endParaRPr lang="en-US"/>
          </a:p>
        </p:txBody>
      </p:sp>
      <p:sp>
        <p:nvSpPr>
          <p:cNvPr id="27" name="Text 23"/>
          <p:cNvSpPr/>
          <p:nvPr/>
        </p:nvSpPr>
        <p:spPr>
          <a:xfrm>
            <a:off x="3255264" y="1490472"/>
            <a:ext cx="1225296"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account-brief</a:t>
            </a:r>
            <a:endParaRPr lang="en-US" sz="900" dirty="0"/>
          </a:p>
        </p:txBody>
      </p:sp>
      <p:sp>
        <p:nvSpPr>
          <p:cNvPr id="28" name="Shape 24"/>
          <p:cNvSpPr/>
          <p:nvPr/>
        </p:nvSpPr>
        <p:spPr>
          <a:xfrm>
            <a:off x="4572000" y="1490472"/>
            <a:ext cx="1371600" cy="256032"/>
          </a:xfrm>
          <a:prstGeom prst="rect">
            <a:avLst/>
          </a:prstGeom>
          <a:solidFill>
            <a:srgbClr val="1E2D3D"/>
          </a:solidFill>
          <a:ln w="6350">
            <a:solidFill>
              <a:srgbClr val="FF9800"/>
            </a:solidFill>
            <a:prstDash val="solid"/>
          </a:ln>
        </p:spPr>
        <p:txBody>
          <a:bodyPr/>
          <a:lstStyle/>
          <a:p>
            <a:endParaRPr lang="en-US"/>
          </a:p>
        </p:txBody>
      </p:sp>
      <p:sp>
        <p:nvSpPr>
          <p:cNvPr id="29" name="Text 25"/>
          <p:cNvSpPr/>
          <p:nvPr/>
        </p:nvSpPr>
        <p:spPr>
          <a:xfrm>
            <a:off x="4572000" y="1490472"/>
            <a:ext cx="1371600"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copy-strategist</a:t>
            </a:r>
            <a:endParaRPr lang="en-US" sz="900" dirty="0"/>
          </a:p>
        </p:txBody>
      </p:sp>
      <p:pic>
        <p:nvPicPr>
          <p:cNvPr id="30" name="Image 2" descr="preencoded.png"/>
          <p:cNvPicPr>
            <a:picLocks noChangeAspect="1"/>
          </p:cNvPicPr>
          <p:nvPr/>
        </p:nvPicPr>
        <p:blipFill>
          <a:blip r:embed="rId5"/>
          <a:stretch>
            <a:fillRect/>
          </a:stretch>
        </p:blipFill>
        <p:spPr>
          <a:xfrm>
            <a:off x="457200" y="1865376"/>
            <a:ext cx="228600" cy="228600"/>
          </a:xfrm>
          <a:prstGeom prst="rect">
            <a:avLst/>
          </a:prstGeom>
        </p:spPr>
      </p:pic>
      <p:sp>
        <p:nvSpPr>
          <p:cNvPr id="31" name="Text 26"/>
          <p:cNvSpPr/>
          <p:nvPr/>
        </p:nvSpPr>
        <p:spPr>
          <a:xfrm>
            <a:off x="777240" y="1847088"/>
            <a:ext cx="1371600" cy="274320"/>
          </a:xfrm>
          <a:prstGeom prst="rect">
            <a:avLst/>
          </a:prstGeom>
          <a:noFill/>
          <a:ln/>
        </p:spPr>
        <p:txBody>
          <a:bodyPr wrap="square" lIns="0" tIns="0" rIns="0" bIns="0" rtlCol="0" anchor="ctr"/>
          <a:lstStyle/>
          <a:p>
            <a:pPr marL="0" indent="0">
              <a:buNone/>
            </a:pPr>
            <a:r>
              <a:rPr lang="en-US" sz="1100" b="1" dirty="0">
                <a:solidFill>
                  <a:srgbClr val="00BCD4"/>
                </a:solidFill>
                <a:latin typeface="Arial" pitchFamily="34" charset="0"/>
                <a:ea typeface="Arial" pitchFamily="34" charset="-122"/>
                <a:cs typeface="Arial" pitchFamily="34" charset="-120"/>
              </a:rPr>
              <a:t>REVOPS</a:t>
            </a:r>
            <a:endParaRPr lang="en-US" sz="1100" dirty="0"/>
          </a:p>
        </p:txBody>
      </p:sp>
      <p:sp>
        <p:nvSpPr>
          <p:cNvPr id="32" name="Shape 27"/>
          <p:cNvSpPr/>
          <p:nvPr/>
        </p:nvSpPr>
        <p:spPr>
          <a:xfrm>
            <a:off x="2011680" y="1865376"/>
            <a:ext cx="1517904" cy="256032"/>
          </a:xfrm>
          <a:prstGeom prst="rect">
            <a:avLst/>
          </a:prstGeom>
          <a:solidFill>
            <a:srgbClr val="1E2D3D"/>
          </a:solidFill>
          <a:ln w="6350">
            <a:solidFill>
              <a:srgbClr val="00BCD4"/>
            </a:solidFill>
            <a:prstDash val="solid"/>
          </a:ln>
        </p:spPr>
        <p:txBody>
          <a:bodyPr/>
          <a:lstStyle/>
          <a:p>
            <a:endParaRPr lang="en-US"/>
          </a:p>
        </p:txBody>
      </p:sp>
      <p:sp>
        <p:nvSpPr>
          <p:cNvPr id="33" name="Text 28"/>
          <p:cNvSpPr/>
          <p:nvPr/>
        </p:nvSpPr>
        <p:spPr>
          <a:xfrm>
            <a:off x="2011680" y="1865376"/>
            <a:ext cx="1517904"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contact-discovery</a:t>
            </a:r>
            <a:endParaRPr lang="en-US" sz="900" dirty="0"/>
          </a:p>
        </p:txBody>
      </p:sp>
      <p:sp>
        <p:nvSpPr>
          <p:cNvPr id="34" name="Shape 29"/>
          <p:cNvSpPr/>
          <p:nvPr/>
        </p:nvSpPr>
        <p:spPr>
          <a:xfrm>
            <a:off x="3621024" y="1865376"/>
            <a:ext cx="1078992" cy="256032"/>
          </a:xfrm>
          <a:prstGeom prst="rect">
            <a:avLst/>
          </a:prstGeom>
          <a:solidFill>
            <a:srgbClr val="1E2D3D"/>
          </a:solidFill>
          <a:ln w="6350">
            <a:solidFill>
              <a:srgbClr val="00BCD4"/>
            </a:solidFill>
            <a:prstDash val="solid"/>
          </a:ln>
        </p:spPr>
        <p:txBody>
          <a:bodyPr/>
          <a:lstStyle/>
          <a:p>
            <a:endParaRPr lang="en-US"/>
          </a:p>
        </p:txBody>
      </p:sp>
      <p:sp>
        <p:nvSpPr>
          <p:cNvPr id="35" name="Text 30"/>
          <p:cNvSpPr/>
          <p:nvPr/>
        </p:nvSpPr>
        <p:spPr>
          <a:xfrm>
            <a:off x="3621024" y="1865376"/>
            <a:ext cx="1078992"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crm-hygiene</a:t>
            </a:r>
            <a:endParaRPr lang="en-US" sz="900" dirty="0"/>
          </a:p>
        </p:txBody>
      </p:sp>
      <p:sp>
        <p:nvSpPr>
          <p:cNvPr id="36" name="Shape 31"/>
          <p:cNvSpPr/>
          <p:nvPr/>
        </p:nvSpPr>
        <p:spPr>
          <a:xfrm>
            <a:off x="4791456" y="1865376"/>
            <a:ext cx="1591056" cy="256032"/>
          </a:xfrm>
          <a:prstGeom prst="rect">
            <a:avLst/>
          </a:prstGeom>
          <a:solidFill>
            <a:srgbClr val="1E2D3D"/>
          </a:solidFill>
          <a:ln w="6350">
            <a:solidFill>
              <a:srgbClr val="00BCD4"/>
            </a:solidFill>
            <a:prstDash val="solid"/>
          </a:ln>
        </p:spPr>
        <p:txBody>
          <a:bodyPr/>
          <a:lstStyle/>
          <a:p>
            <a:endParaRPr lang="en-US"/>
          </a:p>
        </p:txBody>
      </p:sp>
      <p:sp>
        <p:nvSpPr>
          <p:cNvPr id="37" name="Text 32"/>
          <p:cNvSpPr/>
          <p:nvPr/>
        </p:nvSpPr>
        <p:spPr>
          <a:xfrm>
            <a:off x="4791456" y="1865376"/>
            <a:ext cx="1591056"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pipeline-analytics</a:t>
            </a:r>
            <a:endParaRPr lang="en-US" sz="900" dirty="0"/>
          </a:p>
        </p:txBody>
      </p:sp>
      <p:sp>
        <p:nvSpPr>
          <p:cNvPr id="38" name="Shape 33"/>
          <p:cNvSpPr/>
          <p:nvPr/>
        </p:nvSpPr>
        <p:spPr>
          <a:xfrm>
            <a:off x="6473952" y="1865376"/>
            <a:ext cx="1517904" cy="256032"/>
          </a:xfrm>
          <a:prstGeom prst="rect">
            <a:avLst/>
          </a:prstGeom>
          <a:solidFill>
            <a:srgbClr val="1E2D3D"/>
          </a:solidFill>
          <a:ln w="6350">
            <a:solidFill>
              <a:srgbClr val="00BCD4"/>
            </a:solidFill>
            <a:prstDash val="solid"/>
          </a:ln>
        </p:spPr>
        <p:txBody>
          <a:bodyPr/>
          <a:lstStyle/>
          <a:p>
            <a:endParaRPr lang="en-US"/>
          </a:p>
        </p:txBody>
      </p:sp>
      <p:sp>
        <p:nvSpPr>
          <p:cNvPr id="39" name="Text 34"/>
          <p:cNvSpPr/>
          <p:nvPr/>
        </p:nvSpPr>
        <p:spPr>
          <a:xfrm>
            <a:off x="6473952" y="1865376"/>
            <a:ext cx="1517904"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territory-manager</a:t>
            </a:r>
            <a:endParaRPr lang="en-US" sz="900" dirty="0"/>
          </a:p>
        </p:txBody>
      </p:sp>
      <p:pic>
        <p:nvPicPr>
          <p:cNvPr id="40" name="Image 3" descr="preencoded.png"/>
          <p:cNvPicPr>
            <a:picLocks noChangeAspect="1"/>
          </p:cNvPicPr>
          <p:nvPr/>
        </p:nvPicPr>
        <p:blipFill>
          <a:blip r:embed="rId6"/>
          <a:stretch>
            <a:fillRect/>
          </a:stretch>
        </p:blipFill>
        <p:spPr>
          <a:xfrm>
            <a:off x="457200" y="2249424"/>
            <a:ext cx="228600" cy="228600"/>
          </a:xfrm>
          <a:prstGeom prst="rect">
            <a:avLst/>
          </a:prstGeom>
        </p:spPr>
      </p:pic>
      <p:sp>
        <p:nvSpPr>
          <p:cNvPr id="41" name="Text 35"/>
          <p:cNvSpPr/>
          <p:nvPr/>
        </p:nvSpPr>
        <p:spPr>
          <a:xfrm>
            <a:off x="777240" y="2231136"/>
            <a:ext cx="1371600" cy="274320"/>
          </a:xfrm>
          <a:prstGeom prst="rect">
            <a:avLst/>
          </a:prstGeom>
          <a:noFill/>
          <a:ln/>
        </p:spPr>
        <p:txBody>
          <a:bodyPr wrap="square" lIns="0" tIns="0" rIns="0" bIns="0" rtlCol="0" anchor="ctr"/>
          <a:lstStyle/>
          <a:p>
            <a:pPr marL="0" indent="0">
              <a:buNone/>
            </a:pPr>
            <a:r>
              <a:rPr lang="en-US" sz="1100" b="1" dirty="0">
                <a:solidFill>
                  <a:srgbClr val="4CAF50"/>
                </a:solidFill>
                <a:latin typeface="Arial" pitchFamily="34" charset="0"/>
                <a:ea typeface="Arial" pitchFamily="34" charset="-122"/>
                <a:cs typeface="Arial" pitchFamily="34" charset="-120"/>
              </a:rPr>
              <a:t>SALES</a:t>
            </a:r>
            <a:endParaRPr lang="en-US" sz="1100" dirty="0"/>
          </a:p>
        </p:txBody>
      </p:sp>
      <p:sp>
        <p:nvSpPr>
          <p:cNvPr id="42" name="Shape 36"/>
          <p:cNvSpPr/>
          <p:nvPr/>
        </p:nvSpPr>
        <p:spPr>
          <a:xfrm>
            <a:off x="2011680" y="2249424"/>
            <a:ext cx="1005840" cy="256032"/>
          </a:xfrm>
          <a:prstGeom prst="rect">
            <a:avLst/>
          </a:prstGeom>
          <a:solidFill>
            <a:srgbClr val="1E2D3D"/>
          </a:solidFill>
          <a:ln w="6350">
            <a:solidFill>
              <a:srgbClr val="4CAF50"/>
            </a:solidFill>
            <a:prstDash val="solid"/>
          </a:ln>
        </p:spPr>
        <p:txBody>
          <a:bodyPr/>
          <a:lstStyle/>
          <a:p>
            <a:endParaRPr lang="en-US"/>
          </a:p>
        </p:txBody>
      </p:sp>
      <p:sp>
        <p:nvSpPr>
          <p:cNvPr id="43" name="Text 37"/>
          <p:cNvSpPr/>
          <p:nvPr/>
        </p:nvSpPr>
        <p:spPr>
          <a:xfrm>
            <a:off x="2011680" y="2249424"/>
            <a:ext cx="1005840"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sales-docs</a:t>
            </a:r>
            <a:endParaRPr lang="en-US" sz="900" dirty="0"/>
          </a:p>
        </p:txBody>
      </p:sp>
      <p:sp>
        <p:nvSpPr>
          <p:cNvPr id="44" name="Shape 38"/>
          <p:cNvSpPr/>
          <p:nvPr/>
        </p:nvSpPr>
        <p:spPr>
          <a:xfrm>
            <a:off x="3108960" y="2249424"/>
            <a:ext cx="1444752" cy="256032"/>
          </a:xfrm>
          <a:prstGeom prst="rect">
            <a:avLst/>
          </a:prstGeom>
          <a:solidFill>
            <a:srgbClr val="1E2D3D"/>
          </a:solidFill>
          <a:ln w="6350">
            <a:solidFill>
              <a:srgbClr val="4CAF50"/>
            </a:solidFill>
            <a:prstDash val="solid"/>
          </a:ln>
        </p:spPr>
        <p:txBody>
          <a:bodyPr/>
          <a:lstStyle/>
          <a:p>
            <a:endParaRPr lang="en-US"/>
          </a:p>
        </p:txBody>
      </p:sp>
      <p:sp>
        <p:nvSpPr>
          <p:cNvPr id="45" name="Text 39"/>
          <p:cNvSpPr/>
          <p:nvPr/>
        </p:nvSpPr>
        <p:spPr>
          <a:xfrm>
            <a:off x="3108960" y="2249424"/>
            <a:ext cx="1444752"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sales-enablement</a:t>
            </a:r>
            <a:endParaRPr lang="en-US" sz="900" dirty="0"/>
          </a:p>
        </p:txBody>
      </p:sp>
      <p:sp>
        <p:nvSpPr>
          <p:cNvPr id="46" name="Shape 40"/>
          <p:cNvSpPr/>
          <p:nvPr/>
        </p:nvSpPr>
        <p:spPr>
          <a:xfrm>
            <a:off x="4645152" y="2249424"/>
            <a:ext cx="932688" cy="256032"/>
          </a:xfrm>
          <a:prstGeom prst="rect">
            <a:avLst/>
          </a:prstGeom>
          <a:solidFill>
            <a:srgbClr val="1E2D3D"/>
          </a:solidFill>
          <a:ln w="6350">
            <a:solidFill>
              <a:srgbClr val="4CAF50"/>
            </a:solidFill>
            <a:prstDash val="solid"/>
          </a:ln>
        </p:spPr>
        <p:txBody>
          <a:bodyPr/>
          <a:lstStyle/>
          <a:p>
            <a:endParaRPr lang="en-US"/>
          </a:p>
        </p:txBody>
      </p:sp>
      <p:sp>
        <p:nvSpPr>
          <p:cNvPr id="47" name="Text 41"/>
          <p:cNvSpPr/>
          <p:nvPr/>
        </p:nvSpPr>
        <p:spPr>
          <a:xfrm>
            <a:off x="4645152" y="2249424"/>
            <a:ext cx="932688"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call-prep</a:t>
            </a:r>
            <a:endParaRPr lang="en-US" sz="900" dirty="0"/>
          </a:p>
        </p:txBody>
      </p:sp>
      <p:sp>
        <p:nvSpPr>
          <p:cNvPr id="48" name="Shape 42"/>
          <p:cNvSpPr/>
          <p:nvPr/>
        </p:nvSpPr>
        <p:spPr>
          <a:xfrm>
            <a:off x="5669280" y="2249424"/>
            <a:ext cx="1517904" cy="256032"/>
          </a:xfrm>
          <a:prstGeom prst="rect">
            <a:avLst/>
          </a:prstGeom>
          <a:solidFill>
            <a:srgbClr val="1E2D3D"/>
          </a:solidFill>
          <a:ln w="6350">
            <a:solidFill>
              <a:srgbClr val="4CAF50"/>
            </a:solidFill>
            <a:prstDash val="solid"/>
          </a:ln>
        </p:spPr>
        <p:txBody>
          <a:bodyPr/>
          <a:lstStyle/>
          <a:p>
            <a:endParaRPr lang="en-US"/>
          </a:p>
        </p:txBody>
      </p:sp>
      <p:sp>
        <p:nvSpPr>
          <p:cNvPr id="49" name="Text 43"/>
          <p:cNvSpPr/>
          <p:nvPr/>
        </p:nvSpPr>
        <p:spPr>
          <a:xfrm>
            <a:off x="5669280" y="2249424"/>
            <a:ext cx="1517904"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competitive-intel</a:t>
            </a:r>
            <a:endParaRPr lang="en-US" sz="900" dirty="0"/>
          </a:p>
        </p:txBody>
      </p:sp>
      <p:pic>
        <p:nvPicPr>
          <p:cNvPr id="50" name="Image 4" descr="preencoded.png"/>
          <p:cNvPicPr>
            <a:picLocks noChangeAspect="1"/>
          </p:cNvPicPr>
          <p:nvPr/>
        </p:nvPicPr>
        <p:blipFill>
          <a:blip r:embed="rId7"/>
          <a:stretch>
            <a:fillRect/>
          </a:stretch>
        </p:blipFill>
        <p:spPr>
          <a:xfrm>
            <a:off x="457200" y="2633472"/>
            <a:ext cx="228600" cy="228600"/>
          </a:xfrm>
          <a:prstGeom prst="rect">
            <a:avLst/>
          </a:prstGeom>
        </p:spPr>
      </p:pic>
      <p:sp>
        <p:nvSpPr>
          <p:cNvPr id="51" name="Text 44"/>
          <p:cNvSpPr/>
          <p:nvPr/>
        </p:nvSpPr>
        <p:spPr>
          <a:xfrm>
            <a:off x="777240" y="2615184"/>
            <a:ext cx="1371600" cy="274320"/>
          </a:xfrm>
          <a:prstGeom prst="rect">
            <a:avLst/>
          </a:prstGeom>
          <a:noFill/>
          <a:ln/>
        </p:spPr>
        <p:txBody>
          <a:bodyPr wrap="square" lIns="0" tIns="0" rIns="0" bIns="0" rtlCol="0" anchor="ctr"/>
          <a:lstStyle/>
          <a:p>
            <a:pPr marL="0" indent="0">
              <a:buNone/>
            </a:pPr>
            <a:r>
              <a:rPr lang="en-US" sz="1100" b="1" dirty="0">
                <a:solidFill>
                  <a:srgbClr val="64B5F6"/>
                </a:solidFill>
                <a:latin typeface="Arial" pitchFamily="34" charset="0"/>
                <a:ea typeface="Arial" pitchFamily="34" charset="-122"/>
                <a:cs typeface="Arial" pitchFamily="34" charset="-120"/>
              </a:rPr>
              <a:t>EVENTS</a:t>
            </a:r>
            <a:endParaRPr lang="en-US" sz="1100" dirty="0"/>
          </a:p>
        </p:txBody>
      </p:sp>
      <p:sp>
        <p:nvSpPr>
          <p:cNvPr id="52" name="Shape 45"/>
          <p:cNvSpPr/>
          <p:nvPr/>
        </p:nvSpPr>
        <p:spPr>
          <a:xfrm>
            <a:off x="2011680" y="2633472"/>
            <a:ext cx="1591056" cy="256032"/>
          </a:xfrm>
          <a:prstGeom prst="rect">
            <a:avLst/>
          </a:prstGeom>
          <a:solidFill>
            <a:srgbClr val="1E2D3D"/>
          </a:solidFill>
          <a:ln w="6350">
            <a:solidFill>
              <a:srgbClr val="64B5F6"/>
            </a:solidFill>
            <a:prstDash val="solid"/>
          </a:ln>
        </p:spPr>
        <p:txBody>
          <a:bodyPr/>
          <a:lstStyle/>
          <a:p>
            <a:endParaRPr lang="en-US"/>
          </a:p>
        </p:txBody>
      </p:sp>
      <p:sp>
        <p:nvSpPr>
          <p:cNvPr id="53" name="Text 46"/>
          <p:cNvSpPr/>
          <p:nvPr/>
        </p:nvSpPr>
        <p:spPr>
          <a:xfrm>
            <a:off x="2011680" y="2633472"/>
            <a:ext cx="1591056"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event-intelligence</a:t>
            </a:r>
            <a:endParaRPr lang="en-US" sz="900" dirty="0"/>
          </a:p>
        </p:txBody>
      </p:sp>
      <p:sp>
        <p:nvSpPr>
          <p:cNvPr id="54" name="Shape 47"/>
          <p:cNvSpPr/>
          <p:nvPr/>
        </p:nvSpPr>
        <p:spPr>
          <a:xfrm>
            <a:off x="3694176" y="2633472"/>
            <a:ext cx="1298448" cy="256032"/>
          </a:xfrm>
          <a:prstGeom prst="rect">
            <a:avLst/>
          </a:prstGeom>
          <a:solidFill>
            <a:srgbClr val="1E2D3D"/>
          </a:solidFill>
          <a:ln w="6350">
            <a:solidFill>
              <a:srgbClr val="64B5F6"/>
            </a:solidFill>
            <a:prstDash val="solid"/>
          </a:ln>
        </p:spPr>
        <p:txBody>
          <a:bodyPr/>
          <a:lstStyle/>
          <a:p>
            <a:endParaRPr lang="en-US"/>
          </a:p>
        </p:txBody>
      </p:sp>
      <p:sp>
        <p:nvSpPr>
          <p:cNvPr id="55" name="Text 48"/>
          <p:cNvSpPr/>
          <p:nvPr/>
        </p:nvSpPr>
        <p:spPr>
          <a:xfrm>
            <a:off x="3694176" y="2633472"/>
            <a:ext cx="1298448" cy="256032"/>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icp-networking</a:t>
            </a:r>
            <a:endParaRPr lang="en-US" sz="900" dirty="0"/>
          </a:p>
        </p:txBody>
      </p:sp>
      <p:sp>
        <p:nvSpPr>
          <p:cNvPr id="56" name="Shape 49"/>
          <p:cNvSpPr/>
          <p:nvPr/>
        </p:nvSpPr>
        <p:spPr>
          <a:xfrm>
            <a:off x="457200" y="3136392"/>
            <a:ext cx="8321040" cy="0"/>
          </a:xfrm>
          <a:prstGeom prst="line">
            <a:avLst/>
          </a:prstGeom>
          <a:noFill/>
          <a:ln w="12700">
            <a:solidFill>
              <a:srgbClr val="2A3F52"/>
            </a:solidFill>
            <a:prstDash val="solid"/>
          </a:ln>
        </p:spPr>
        <p:txBody>
          <a:bodyPr/>
          <a:lstStyle/>
          <a:p>
            <a:endParaRPr lang="en-US"/>
          </a:p>
        </p:txBody>
      </p:sp>
      <p:sp>
        <p:nvSpPr>
          <p:cNvPr id="57" name="Text 50"/>
          <p:cNvSpPr/>
          <p:nvPr/>
        </p:nvSpPr>
        <p:spPr>
          <a:xfrm>
            <a:off x="457200" y="3319272"/>
            <a:ext cx="8321040" cy="274320"/>
          </a:xfrm>
          <a:prstGeom prst="rect">
            <a:avLst/>
          </a:prstGeom>
          <a:noFill/>
          <a:ln/>
        </p:spPr>
        <p:txBody>
          <a:bodyPr wrap="square" rtlCol="0" anchor="ctr"/>
          <a:lstStyle/>
          <a:p>
            <a:pPr marL="0" indent="0">
              <a:buNone/>
            </a:pPr>
            <a:r>
              <a:rPr lang="en-US" sz="1300" b="1" dirty="0">
                <a:solidFill>
                  <a:srgbClr val="FFFFFF"/>
                </a:solidFill>
                <a:latin typeface="Arial" pitchFamily="34" charset="0"/>
                <a:ea typeface="Arial" pitchFamily="34" charset="-122"/>
                <a:cs typeface="Arial" pitchFamily="34" charset="-120"/>
              </a:rPr>
              <a:t>Deployment</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502152"/>
          <a:ext cx="83210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0">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Category</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Plugin (Cowork)</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Standalone Skills</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Enterprise</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extLst>
                  <a:ext uri="{0D108BD9-81ED-4DB2-BD59-A6C34878D82A}">
                    <a16:rowId xmlns:a16="http://schemas.microsoft.com/office/drawing/2014/main" val="10000"/>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Enrichment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enrichment-pipeline.zip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Account Intel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1"/>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Outreach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outreach.zip + sdr-pipeline.zip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account-brief, copy-strategist</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Sales + Founder</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2"/>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RevOps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revops.zip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Account Intel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3"/>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Sales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sales-docs.zip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call-prep, competitive-intel, enablement</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General Asst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4"/>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Events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00BCD4"/>
                          </a:solidFill>
                          <a:latin typeface="Consolas" pitchFamily="34" charset="0"/>
                          <a:ea typeface="Consolas" pitchFamily="34" charset="-122"/>
                          <a:cs typeface="Consolas" pitchFamily="34" charset="-120"/>
                        </a:rPr>
                        <a:t>events.zip + linkedin.zip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B0BEC5"/>
                          </a:solidFill>
                          <a:latin typeface="Arial" pitchFamily="34" charset="0"/>
                          <a:ea typeface="Arial" pitchFamily="34" charset="-122"/>
                          <a:cs typeface="Arial" pitchFamily="34" charset="-120"/>
                        </a:rPr>
                        <a:t>Account Intel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274320"/>
            <a:ext cx="7680960" cy="54864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How Git + GitHub Fits In</a:t>
            </a:r>
            <a:endParaRPr lang="en-US" sz="2800" dirty="0"/>
          </a:p>
        </p:txBody>
      </p:sp>
      <p:sp>
        <p:nvSpPr>
          <p:cNvPr id="4" name="Shape 2"/>
          <p:cNvSpPr/>
          <p:nvPr/>
        </p:nvSpPr>
        <p:spPr>
          <a:xfrm>
            <a:off x="457200" y="1005840"/>
            <a:ext cx="2560320" cy="310896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5" name="Shape 3"/>
          <p:cNvSpPr/>
          <p:nvPr/>
        </p:nvSpPr>
        <p:spPr>
          <a:xfrm>
            <a:off x="457200" y="1005840"/>
            <a:ext cx="2560320" cy="54864"/>
          </a:xfrm>
          <a:prstGeom prst="rect">
            <a:avLst/>
          </a:prstGeom>
          <a:solidFill>
            <a:srgbClr val="64B5F6"/>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640080" y="1188720"/>
            <a:ext cx="274320" cy="274320"/>
          </a:xfrm>
          <a:prstGeom prst="rect">
            <a:avLst/>
          </a:prstGeom>
        </p:spPr>
      </p:pic>
      <p:sp>
        <p:nvSpPr>
          <p:cNvPr id="7" name="Text 4"/>
          <p:cNvSpPr/>
          <p:nvPr/>
        </p:nvSpPr>
        <p:spPr>
          <a:xfrm>
            <a:off x="1005840" y="1143000"/>
            <a:ext cx="1828800" cy="365760"/>
          </a:xfrm>
          <a:prstGeom prst="rect">
            <a:avLst/>
          </a:prstGeom>
          <a:noFill/>
          <a:ln/>
        </p:spPr>
        <p:txBody>
          <a:bodyPr wrap="square" lIns="0" tIns="0" rIns="0" bIns="0" rtlCol="0" anchor="ctr"/>
          <a:lstStyle/>
          <a:p>
            <a:pPr marL="0" indent="0">
              <a:buNone/>
            </a:pPr>
            <a:r>
              <a:rPr lang="en-US" sz="1400" b="1" dirty="0">
                <a:solidFill>
                  <a:srgbClr val="64B5F6"/>
                </a:solidFill>
                <a:latin typeface="Arial" pitchFamily="34" charset="0"/>
                <a:ea typeface="Arial" pitchFamily="34" charset="-122"/>
                <a:cs typeface="Arial" pitchFamily="34" charset="-120"/>
              </a:rPr>
              <a:t>YOUR COMPUTER</a:t>
            </a:r>
            <a:endParaRPr lang="en-US" sz="1400" dirty="0"/>
          </a:p>
        </p:txBody>
      </p:sp>
      <p:sp>
        <p:nvSpPr>
          <p:cNvPr id="8" name="Text 5"/>
          <p:cNvSpPr/>
          <p:nvPr/>
        </p:nvSpPr>
        <p:spPr>
          <a:xfrm>
            <a:off x="640080" y="1554480"/>
            <a:ext cx="2194560" cy="2377440"/>
          </a:xfrm>
          <a:prstGeom prst="rect">
            <a:avLst/>
          </a:prstGeom>
          <a:noFill/>
          <a:ln/>
        </p:spPr>
        <p:txBody>
          <a:bodyPr wrap="square" rtlCol="0" anchor="ctr"/>
          <a:lstStyle/>
          <a:p>
            <a:pPr marL="0" indent="0">
              <a:buNone/>
            </a:pPr>
            <a:r>
              <a:rPr lang="en-US" sz="1000" dirty="0">
                <a:solidFill>
                  <a:srgbClr val="00BCD4"/>
                </a:solidFill>
                <a:latin typeface="Consolas" pitchFamily="34" charset="0"/>
                <a:ea typeface="Consolas" pitchFamily="34" charset="-122"/>
                <a:cs typeface="Consolas" pitchFamily="34" charset="-120"/>
              </a:rPr>
              <a:t>~/Documents/Claude/maiaedge-ai/</a:t>
            </a:r>
            <a:endParaRPr lang="en-US" sz="1000" dirty="0"/>
          </a:p>
          <a:p>
            <a:pPr marL="0" indent="0">
              <a:buNone/>
            </a:pPr>
            <a:endParaRPr lang="en-US" sz="1000" dirty="0"/>
          </a:p>
          <a:p>
            <a:pPr marL="0" indent="0">
              <a:buNone/>
            </a:pPr>
            <a:r>
              <a:rPr lang="en-US" sz="1200" b="1" dirty="0">
                <a:solidFill>
                  <a:srgbClr val="FFFFFF"/>
                </a:solidFill>
                <a:latin typeface="Arial" pitchFamily="34" charset="0"/>
                <a:ea typeface="Arial" pitchFamily="34" charset="-122"/>
                <a:cs typeface="Arial" pitchFamily="34" charset="-120"/>
              </a:rPr>
              <a:t>This IS the repo.</a:t>
            </a:r>
            <a:endParaRPr lang="en-US" sz="1000" dirty="0"/>
          </a:p>
          <a:p>
            <a:pPr marL="0" indent="0">
              <a:buNone/>
            </a:pP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You edit files here.</a:t>
            </a: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You run build.sh here.</a:t>
            </a: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Cowork reads from here.</a:t>
            </a: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Claude Code works in here.</a:t>
            </a:r>
            <a:endParaRPr lang="en-US" sz="1000" dirty="0"/>
          </a:p>
          <a:p>
            <a:pPr marL="0" indent="0">
              <a:buNone/>
            </a:pPr>
            <a:endParaRPr lang="en-US" sz="1000" dirty="0"/>
          </a:p>
          <a:p>
            <a:pPr marL="0" indent="0">
              <a:buNone/>
            </a:pPr>
            <a:r>
              <a:rPr lang="en-US" sz="1100" b="1" dirty="0">
                <a:solidFill>
                  <a:srgbClr val="4CAF50"/>
                </a:solidFill>
                <a:latin typeface="Arial" pitchFamily="34" charset="0"/>
                <a:ea typeface="Arial" pitchFamily="34" charset="-122"/>
                <a:cs typeface="Arial" pitchFamily="34" charset="-120"/>
              </a:rPr>
              <a:t>Always has the latest version.</a:t>
            </a:r>
            <a:endParaRPr lang="en-US" sz="1000" dirty="0"/>
          </a:p>
        </p:txBody>
      </p:sp>
      <p:pic>
        <p:nvPicPr>
          <p:cNvPr id="9" name="Image 1" descr="preencoded.png"/>
          <p:cNvPicPr>
            <a:picLocks noChangeAspect="1"/>
          </p:cNvPicPr>
          <p:nvPr/>
        </p:nvPicPr>
        <p:blipFill>
          <a:blip r:embed="rId4"/>
          <a:stretch>
            <a:fillRect/>
          </a:stretch>
        </p:blipFill>
        <p:spPr>
          <a:xfrm>
            <a:off x="3154680" y="2286000"/>
            <a:ext cx="274320" cy="274320"/>
          </a:xfrm>
          <a:prstGeom prst="rect">
            <a:avLst/>
          </a:prstGeom>
        </p:spPr>
      </p:pic>
      <p:sp>
        <p:nvSpPr>
          <p:cNvPr id="10" name="Shape 6"/>
          <p:cNvSpPr/>
          <p:nvPr/>
        </p:nvSpPr>
        <p:spPr>
          <a:xfrm>
            <a:off x="3566160" y="1005840"/>
            <a:ext cx="2560320" cy="310896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1" name="Shape 7"/>
          <p:cNvSpPr/>
          <p:nvPr/>
        </p:nvSpPr>
        <p:spPr>
          <a:xfrm>
            <a:off x="3566160" y="1005840"/>
            <a:ext cx="2560320" cy="54864"/>
          </a:xfrm>
          <a:prstGeom prst="rect">
            <a:avLst/>
          </a:prstGeom>
          <a:solidFill>
            <a:srgbClr val="FF9800"/>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3749040" y="1188720"/>
            <a:ext cx="274320" cy="274320"/>
          </a:xfrm>
          <a:prstGeom prst="rect">
            <a:avLst/>
          </a:prstGeom>
        </p:spPr>
      </p:pic>
      <p:sp>
        <p:nvSpPr>
          <p:cNvPr id="13" name="Text 8"/>
          <p:cNvSpPr/>
          <p:nvPr/>
        </p:nvSpPr>
        <p:spPr>
          <a:xfrm>
            <a:off x="4114800" y="1143000"/>
            <a:ext cx="1828800" cy="365760"/>
          </a:xfrm>
          <a:prstGeom prst="rect">
            <a:avLst/>
          </a:prstGeom>
          <a:noFill/>
          <a:ln/>
        </p:spPr>
        <p:txBody>
          <a:bodyPr wrap="square" lIns="0" tIns="0" rIns="0" bIns="0" rtlCol="0" anchor="ctr"/>
          <a:lstStyle/>
          <a:p>
            <a:pPr marL="0" indent="0">
              <a:buNone/>
            </a:pPr>
            <a:r>
              <a:rPr lang="en-US" sz="1400" b="1" dirty="0">
                <a:solidFill>
                  <a:srgbClr val="FF9800"/>
                </a:solidFill>
                <a:latin typeface="Arial" pitchFamily="34" charset="0"/>
                <a:ea typeface="Arial" pitchFamily="34" charset="-122"/>
                <a:cs typeface="Arial" pitchFamily="34" charset="-120"/>
              </a:rPr>
              <a:t>GIT (version control)</a:t>
            </a:r>
            <a:endParaRPr lang="en-US" sz="1400" dirty="0"/>
          </a:p>
        </p:txBody>
      </p:sp>
      <p:sp>
        <p:nvSpPr>
          <p:cNvPr id="14" name="Text 9"/>
          <p:cNvSpPr/>
          <p:nvPr/>
        </p:nvSpPr>
        <p:spPr>
          <a:xfrm>
            <a:off x="3749040" y="1554480"/>
            <a:ext cx="2194560" cy="2377440"/>
          </a:xfrm>
          <a:prstGeom prst="rect">
            <a:avLst/>
          </a:prstGeom>
          <a:noFill/>
          <a:ln/>
        </p:spPr>
        <p:txBody>
          <a:bodyPr wrap="square" rtlCol="0" anchor="ctr"/>
          <a:lstStyle/>
          <a:p>
            <a:pPr marL="0" indent="0">
              <a:buNone/>
            </a:pPr>
            <a:r>
              <a:rPr lang="en-US" sz="1000" dirty="0">
                <a:solidFill>
                  <a:srgbClr val="00BCD4"/>
                </a:solidFill>
                <a:latin typeface="Consolas" pitchFamily="34" charset="0"/>
                <a:ea typeface="Consolas" pitchFamily="34" charset="-122"/>
                <a:cs typeface="Consolas" pitchFamily="34" charset="-120"/>
              </a:rPr>
              <a:t>Lives inside maiaedge-ai/.git/</a:t>
            </a:r>
            <a:endParaRPr lang="en-US" sz="1000" dirty="0"/>
          </a:p>
          <a:p>
            <a:pPr marL="0" indent="0">
              <a:buNone/>
            </a:pPr>
            <a:endParaRPr lang="en-US" sz="1000" dirty="0"/>
          </a:p>
          <a:p>
            <a:pPr marL="0" indent="0">
              <a:buNone/>
            </a:pPr>
            <a:r>
              <a:rPr lang="en-US" sz="1200" b="1" dirty="0">
                <a:solidFill>
                  <a:srgbClr val="FFFFFF"/>
                </a:solidFill>
                <a:latin typeface="Arial" pitchFamily="34" charset="0"/>
                <a:ea typeface="Arial" pitchFamily="34" charset="-122"/>
                <a:cs typeface="Arial" pitchFamily="34" charset="-120"/>
              </a:rPr>
              <a:t>Keeps every past version.</a:t>
            </a:r>
            <a:endParaRPr lang="en-US" sz="1000" dirty="0"/>
          </a:p>
          <a:p>
            <a:pPr marL="0" indent="0">
              <a:buNone/>
            </a:pP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git commit = save a snapshot</a:t>
            </a: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git log = see all snapshots</a:t>
            </a: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git diff = see what changed</a:t>
            </a:r>
            <a:endParaRPr lang="en-US" sz="1000" dirty="0"/>
          </a:p>
          <a:p>
            <a:pPr marL="0" indent="0">
              <a:buNone/>
            </a:pP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Your local folder only has</a:t>
            </a: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the current version. Git has</a:t>
            </a:r>
            <a:endParaRPr lang="en-US" sz="1000" dirty="0"/>
          </a:p>
          <a:p>
            <a:pPr marL="0" indent="0">
              <a:buNone/>
            </a:pPr>
            <a:r>
              <a:rPr lang="en-US" sz="1100" b="1" dirty="0">
                <a:solidFill>
                  <a:srgbClr val="4CAF50"/>
                </a:solidFill>
                <a:latin typeface="Arial" pitchFamily="34" charset="0"/>
                <a:ea typeface="Arial" pitchFamily="34" charset="-122"/>
                <a:cs typeface="Arial" pitchFamily="34" charset="-120"/>
              </a:rPr>
              <a:t>the full timeline.</a:t>
            </a:r>
            <a:endParaRPr lang="en-US" sz="1000" dirty="0"/>
          </a:p>
        </p:txBody>
      </p:sp>
      <p:pic>
        <p:nvPicPr>
          <p:cNvPr id="15" name="Image 3" descr="preencoded.png"/>
          <p:cNvPicPr>
            <a:picLocks noChangeAspect="1"/>
          </p:cNvPicPr>
          <p:nvPr/>
        </p:nvPicPr>
        <p:blipFill>
          <a:blip r:embed="rId4"/>
          <a:stretch>
            <a:fillRect/>
          </a:stretch>
        </p:blipFill>
        <p:spPr>
          <a:xfrm>
            <a:off x="6263640" y="2286000"/>
            <a:ext cx="274320" cy="274320"/>
          </a:xfrm>
          <a:prstGeom prst="rect">
            <a:avLst/>
          </a:prstGeom>
        </p:spPr>
      </p:pic>
      <p:sp>
        <p:nvSpPr>
          <p:cNvPr id="16" name="Shape 10"/>
          <p:cNvSpPr/>
          <p:nvPr/>
        </p:nvSpPr>
        <p:spPr>
          <a:xfrm>
            <a:off x="6675120" y="1005840"/>
            <a:ext cx="2286000" cy="310896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7" name="Shape 11"/>
          <p:cNvSpPr/>
          <p:nvPr/>
        </p:nvSpPr>
        <p:spPr>
          <a:xfrm>
            <a:off x="6675120" y="1005840"/>
            <a:ext cx="2286000" cy="54864"/>
          </a:xfrm>
          <a:prstGeom prst="rect">
            <a:avLst/>
          </a:prstGeom>
          <a:solidFill>
            <a:srgbClr val="4CAF50"/>
          </a:solidFill>
          <a:ln/>
        </p:spPr>
        <p:txBody>
          <a:bodyPr/>
          <a:lstStyle/>
          <a:p>
            <a:endParaRPr lang="en-US"/>
          </a:p>
        </p:txBody>
      </p:sp>
      <p:pic>
        <p:nvPicPr>
          <p:cNvPr id="18" name="Image 4" descr="preencoded.png"/>
          <p:cNvPicPr>
            <a:picLocks noChangeAspect="1"/>
          </p:cNvPicPr>
          <p:nvPr/>
        </p:nvPicPr>
        <p:blipFill>
          <a:blip r:embed="rId6"/>
          <a:stretch>
            <a:fillRect/>
          </a:stretch>
        </p:blipFill>
        <p:spPr>
          <a:xfrm>
            <a:off x="6858000" y="1188720"/>
            <a:ext cx="274320" cy="274320"/>
          </a:xfrm>
          <a:prstGeom prst="rect">
            <a:avLst/>
          </a:prstGeom>
        </p:spPr>
      </p:pic>
      <p:sp>
        <p:nvSpPr>
          <p:cNvPr id="19" name="Text 12"/>
          <p:cNvSpPr/>
          <p:nvPr/>
        </p:nvSpPr>
        <p:spPr>
          <a:xfrm>
            <a:off x="7223760" y="1143000"/>
            <a:ext cx="1645920" cy="365760"/>
          </a:xfrm>
          <a:prstGeom prst="rect">
            <a:avLst/>
          </a:prstGeom>
          <a:noFill/>
          <a:ln/>
        </p:spPr>
        <p:txBody>
          <a:bodyPr wrap="square" lIns="0" tIns="0" rIns="0" bIns="0" rtlCol="0" anchor="ctr"/>
          <a:lstStyle/>
          <a:p>
            <a:pPr marL="0" indent="0">
              <a:buNone/>
            </a:pPr>
            <a:r>
              <a:rPr lang="en-US" sz="1400" b="1" dirty="0">
                <a:solidFill>
                  <a:srgbClr val="4CAF50"/>
                </a:solidFill>
                <a:latin typeface="Arial" pitchFamily="34" charset="0"/>
                <a:ea typeface="Arial" pitchFamily="34" charset="-122"/>
                <a:cs typeface="Arial" pitchFamily="34" charset="-120"/>
              </a:rPr>
              <a:t>GITHUB (backup)</a:t>
            </a:r>
            <a:endParaRPr lang="en-US" sz="1400" dirty="0"/>
          </a:p>
        </p:txBody>
      </p:sp>
      <p:sp>
        <p:nvSpPr>
          <p:cNvPr id="20" name="Text 13"/>
          <p:cNvSpPr/>
          <p:nvPr/>
        </p:nvSpPr>
        <p:spPr>
          <a:xfrm>
            <a:off x="6858000" y="1554480"/>
            <a:ext cx="2011680" cy="2377440"/>
          </a:xfrm>
          <a:prstGeom prst="rect">
            <a:avLst/>
          </a:prstGeom>
          <a:noFill/>
          <a:ln/>
        </p:spPr>
        <p:txBody>
          <a:bodyPr wrap="square" rtlCol="0" anchor="ctr"/>
          <a:lstStyle/>
          <a:p>
            <a:pPr marL="0" indent="0">
              <a:buNone/>
            </a:pPr>
            <a:r>
              <a:rPr lang="en-US" sz="1000" dirty="0">
                <a:solidFill>
                  <a:srgbClr val="00BCD4"/>
                </a:solidFill>
                <a:latin typeface="Consolas" pitchFamily="34" charset="0"/>
                <a:ea typeface="Consolas" pitchFamily="34" charset="-122"/>
                <a:cs typeface="Consolas" pitchFamily="34" charset="-120"/>
              </a:rPr>
              <a:t>github.com/you/maiaedge-ai</a:t>
            </a:r>
            <a:endParaRPr lang="en-US" sz="1000" dirty="0"/>
          </a:p>
          <a:p>
            <a:pPr marL="0" indent="0">
              <a:buNone/>
            </a:pPr>
            <a:endParaRPr lang="en-US" sz="1000" dirty="0"/>
          </a:p>
          <a:p>
            <a:pPr marL="0" indent="0">
              <a:buNone/>
            </a:pPr>
            <a:r>
              <a:rPr lang="en-US" sz="1200" b="1" dirty="0">
                <a:solidFill>
                  <a:srgbClr val="FFFFFF"/>
                </a:solidFill>
                <a:latin typeface="Arial" pitchFamily="34" charset="0"/>
                <a:ea typeface="Arial" pitchFamily="34" charset="-122"/>
                <a:cs typeface="Arial" pitchFamily="34" charset="-120"/>
              </a:rPr>
              <a:t>Cloud backup of the repo.</a:t>
            </a:r>
            <a:endParaRPr lang="en-US" sz="1000" dirty="0"/>
          </a:p>
          <a:p>
            <a:pPr marL="0" indent="0">
              <a:buNone/>
            </a:pP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git push = upload to GitHub</a:t>
            </a: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git pull = download from GitHub</a:t>
            </a:r>
            <a:endParaRPr lang="en-US" sz="1000" dirty="0"/>
          </a:p>
          <a:p>
            <a:pPr marL="0" indent="0">
              <a:buNone/>
            </a:pPr>
            <a:endParaRPr lang="en-US" sz="1000" dirty="0"/>
          </a:p>
          <a:p>
            <a:pPr marL="0" indent="0">
              <a:buNone/>
            </a:pPr>
            <a:r>
              <a:rPr lang="en-US" sz="1100" dirty="0">
                <a:solidFill>
                  <a:srgbClr val="B0BEC5"/>
                </a:solidFill>
                <a:latin typeface="Arial" pitchFamily="34" charset="0"/>
                <a:ea typeface="Arial" pitchFamily="34" charset="-122"/>
                <a:cs typeface="Arial" pitchFamily="34" charset="-120"/>
              </a:rPr>
              <a:t>If your laptop dies, clone</a:t>
            </a:r>
            <a:endParaRPr lang="en-US" sz="1000" dirty="0"/>
          </a:p>
          <a:p>
            <a:pPr marL="0" indent="0">
              <a:buNone/>
            </a:pPr>
            <a:r>
              <a:rPr lang="en-US" sz="1100" b="1" dirty="0">
                <a:solidFill>
                  <a:srgbClr val="4CAF50"/>
                </a:solidFill>
                <a:latin typeface="Arial" pitchFamily="34" charset="0"/>
                <a:ea typeface="Arial" pitchFamily="34" charset="-122"/>
                <a:cs typeface="Arial" pitchFamily="34" charset="-120"/>
              </a:rPr>
              <a:t>the repo and you're back.</a:t>
            </a:r>
            <a:endParaRPr lang="en-US" sz="1000" dirty="0"/>
          </a:p>
        </p:txBody>
      </p:sp>
      <p:sp>
        <p:nvSpPr>
          <p:cNvPr id="21" name="Shape 14"/>
          <p:cNvSpPr/>
          <p:nvPr/>
        </p:nvSpPr>
        <p:spPr>
          <a:xfrm>
            <a:off x="457200" y="4297680"/>
            <a:ext cx="8321040" cy="685800"/>
          </a:xfrm>
          <a:prstGeom prst="rect">
            <a:avLst/>
          </a:prstGeom>
          <a:solidFill>
            <a:srgbClr val="0D47A1"/>
          </a:solidFill>
          <a:ln/>
          <a:effectLst>
            <a:outerShdw blurRad="50800" dist="25400" dir="8100000" algn="bl" rotWithShape="0">
              <a:srgbClr val="000000">
                <a:alpha val="30000"/>
              </a:srgbClr>
            </a:outerShdw>
          </a:effectLst>
        </p:spPr>
        <p:txBody>
          <a:bodyPr/>
          <a:lstStyle/>
          <a:p>
            <a:endParaRPr lang="en-US"/>
          </a:p>
        </p:txBody>
      </p:sp>
      <p:sp>
        <p:nvSpPr>
          <p:cNvPr id="22" name="Text 15"/>
          <p:cNvSpPr/>
          <p:nvPr/>
        </p:nvSpPr>
        <p:spPr>
          <a:xfrm>
            <a:off x="731520" y="4315968"/>
            <a:ext cx="7772400" cy="640080"/>
          </a:xfrm>
          <a:prstGeom prst="rect">
            <a:avLst/>
          </a:prstGeom>
          <a:noFill/>
          <a:ln/>
        </p:spPr>
        <p:txBody>
          <a:bodyPr wrap="square" rtlCol="0" anchor="ctr"/>
          <a:lstStyle/>
          <a:p>
            <a:pPr marL="0" indent="0">
              <a:buNone/>
            </a:pPr>
            <a:r>
              <a:rPr lang="en-US" sz="1200" dirty="0">
                <a:solidFill>
                  <a:srgbClr val="00BCD4"/>
                </a:solidFill>
                <a:latin typeface="Consolas" pitchFamily="34" charset="0"/>
                <a:ea typeface="Consolas" pitchFamily="34" charset="-122"/>
                <a:cs typeface="Consolas" pitchFamily="34" charset="-120"/>
              </a:rPr>
              <a:t>git add -A &amp;&amp; git commit -m "what changed"</a:t>
            </a:r>
            <a:endParaRPr lang="en-US" sz="1200" dirty="0"/>
          </a:p>
          <a:p>
            <a:pPr marL="0" indent="0">
              <a:buNone/>
            </a:pPr>
            <a:r>
              <a:rPr lang="en-US" sz="1200" dirty="0">
                <a:solidFill>
                  <a:srgbClr val="4CAF50"/>
                </a:solidFill>
                <a:latin typeface="Consolas" pitchFamily="34" charset="0"/>
                <a:ea typeface="Consolas" pitchFamily="34" charset="-122"/>
                <a:cs typeface="Consolas" pitchFamily="34" charset="-120"/>
              </a:rPr>
              <a:t>git push</a:t>
            </a:r>
            <a:r>
              <a:rPr lang="en-US" sz="1100" dirty="0">
                <a:solidFill>
                  <a:srgbClr val="B0BEC5"/>
                </a:solidFill>
                <a:latin typeface="Arial" pitchFamily="34" charset="0"/>
                <a:ea typeface="Arial" pitchFamily="34" charset="-122"/>
                <a:cs typeface="Arial" pitchFamily="34" charset="-120"/>
              </a:rPr>
              <a:t>   ← saves locally + uploads to GitHub</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182880"/>
            <a:ext cx="7680960" cy="45720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The Full Picture</a:t>
            </a:r>
            <a:endParaRPr lang="en-US" sz="2800" dirty="0"/>
          </a:p>
        </p:txBody>
      </p:sp>
      <p:sp>
        <p:nvSpPr>
          <p:cNvPr id="4" name="Text 2"/>
          <p:cNvSpPr/>
          <p:nvPr/>
        </p:nvSpPr>
        <p:spPr>
          <a:xfrm>
            <a:off x="731520" y="548640"/>
            <a:ext cx="7680960" cy="320040"/>
          </a:xfrm>
          <a:prstGeom prst="rect">
            <a:avLst/>
          </a:prstGeom>
          <a:noFill/>
          <a:ln/>
        </p:spPr>
        <p:txBody>
          <a:bodyPr wrap="square" rtlCol="0" anchor="ctr"/>
          <a:lstStyle/>
          <a:p>
            <a:pPr marL="0" indent="0">
              <a:buNone/>
            </a:pPr>
            <a:r>
              <a:rPr lang="en-US" sz="1400" i="1" dirty="0">
                <a:solidFill>
                  <a:srgbClr val="B0BEC5"/>
                </a:solidFill>
                <a:latin typeface="Arial" pitchFamily="34" charset="0"/>
                <a:ea typeface="Arial" pitchFamily="34" charset="-122"/>
                <a:cs typeface="Arial" pitchFamily="34" charset="-120"/>
              </a:rPr>
              <a:t>What happens when you update a file</a:t>
            </a:r>
            <a:endParaRPr lang="en-US" sz="1400" dirty="0"/>
          </a:p>
        </p:txBody>
      </p:sp>
      <p:sp>
        <p:nvSpPr>
          <p:cNvPr id="5" name="Shape 3"/>
          <p:cNvSpPr/>
          <p:nvPr/>
        </p:nvSpPr>
        <p:spPr>
          <a:xfrm>
            <a:off x="457200" y="1097280"/>
            <a:ext cx="2468880" cy="10972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6" name="Shape 4"/>
          <p:cNvSpPr/>
          <p:nvPr/>
        </p:nvSpPr>
        <p:spPr>
          <a:xfrm>
            <a:off x="457200" y="1097280"/>
            <a:ext cx="54864" cy="1097280"/>
          </a:xfrm>
          <a:prstGeom prst="rect">
            <a:avLst/>
          </a:prstGeom>
          <a:solidFill>
            <a:srgbClr val="64B5F6"/>
          </a:solidFill>
          <a:ln/>
        </p:spPr>
        <p:txBody>
          <a:bodyPr/>
          <a:lstStyle/>
          <a:p>
            <a:endParaRPr lang="en-US"/>
          </a:p>
        </p:txBody>
      </p:sp>
      <p:sp>
        <p:nvSpPr>
          <p:cNvPr id="7" name="Shape 5"/>
          <p:cNvSpPr/>
          <p:nvPr/>
        </p:nvSpPr>
        <p:spPr>
          <a:xfrm>
            <a:off x="640080" y="1234440"/>
            <a:ext cx="365760" cy="365760"/>
          </a:xfrm>
          <a:prstGeom prst="ellipse">
            <a:avLst/>
          </a:prstGeom>
          <a:solidFill>
            <a:srgbClr val="64B5F6"/>
          </a:solidFill>
          <a:ln/>
        </p:spPr>
        <p:txBody>
          <a:bodyPr/>
          <a:lstStyle/>
          <a:p>
            <a:endParaRPr lang="en-US"/>
          </a:p>
        </p:txBody>
      </p:sp>
      <p:sp>
        <p:nvSpPr>
          <p:cNvPr id="8" name="Text 6"/>
          <p:cNvSpPr/>
          <p:nvPr/>
        </p:nvSpPr>
        <p:spPr>
          <a:xfrm>
            <a:off x="640080" y="1234440"/>
            <a:ext cx="365760" cy="365760"/>
          </a:xfrm>
          <a:prstGeom prst="rect">
            <a:avLst/>
          </a:prstGeom>
          <a:noFill/>
          <a:ln/>
        </p:spPr>
        <p:txBody>
          <a:bodyPr wrap="square" rtlCol="0" anchor="ctr"/>
          <a:lstStyle/>
          <a:p>
            <a:pPr marL="0" indent="0" algn="ctr">
              <a:buNone/>
            </a:pPr>
            <a:r>
              <a:rPr lang="en-US" sz="1400" dirty="0">
                <a:solidFill>
                  <a:srgbClr val="0F1B2D"/>
                </a:solidFill>
                <a:latin typeface="Arial Black" pitchFamily="34" charset="0"/>
                <a:ea typeface="Arial Black" pitchFamily="34" charset="-122"/>
                <a:cs typeface="Arial Black" pitchFamily="34" charset="-120"/>
              </a:rPr>
              <a:t>1</a:t>
            </a:r>
            <a:endParaRPr lang="en-US" sz="1400" dirty="0"/>
          </a:p>
        </p:txBody>
      </p:sp>
      <p:sp>
        <p:nvSpPr>
          <p:cNvPr id="9" name="Text 7"/>
          <p:cNvSpPr/>
          <p:nvPr/>
        </p:nvSpPr>
        <p:spPr>
          <a:xfrm>
            <a:off x="1097280" y="1188720"/>
            <a:ext cx="164592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Edit source file</a:t>
            </a:r>
            <a:endParaRPr lang="en-US" sz="1300" dirty="0"/>
          </a:p>
        </p:txBody>
      </p:sp>
      <p:sp>
        <p:nvSpPr>
          <p:cNvPr id="10" name="Text 8"/>
          <p:cNvSpPr/>
          <p:nvPr/>
        </p:nvSpPr>
        <p:spPr>
          <a:xfrm>
            <a:off x="1097280" y="1554480"/>
            <a:ext cx="1645920" cy="50292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context/ or skills/</a:t>
            </a:r>
            <a:endParaRPr lang="en-US" sz="1100" dirty="0"/>
          </a:p>
        </p:txBody>
      </p:sp>
      <p:sp>
        <p:nvSpPr>
          <p:cNvPr id="11" name="Shape 9"/>
          <p:cNvSpPr/>
          <p:nvPr/>
        </p:nvSpPr>
        <p:spPr>
          <a:xfrm>
            <a:off x="3200400" y="1097280"/>
            <a:ext cx="2468880" cy="10972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2" name="Shape 10"/>
          <p:cNvSpPr/>
          <p:nvPr/>
        </p:nvSpPr>
        <p:spPr>
          <a:xfrm>
            <a:off x="3200400" y="1097280"/>
            <a:ext cx="54864" cy="1097280"/>
          </a:xfrm>
          <a:prstGeom prst="rect">
            <a:avLst/>
          </a:prstGeom>
          <a:solidFill>
            <a:srgbClr val="00BCD4"/>
          </a:solidFill>
          <a:ln/>
        </p:spPr>
        <p:txBody>
          <a:bodyPr/>
          <a:lstStyle/>
          <a:p>
            <a:endParaRPr lang="en-US"/>
          </a:p>
        </p:txBody>
      </p:sp>
      <p:sp>
        <p:nvSpPr>
          <p:cNvPr id="13" name="Shape 11"/>
          <p:cNvSpPr/>
          <p:nvPr/>
        </p:nvSpPr>
        <p:spPr>
          <a:xfrm>
            <a:off x="3383280" y="1234440"/>
            <a:ext cx="365760" cy="365760"/>
          </a:xfrm>
          <a:prstGeom prst="ellipse">
            <a:avLst/>
          </a:prstGeom>
          <a:solidFill>
            <a:srgbClr val="00BCD4"/>
          </a:solidFill>
          <a:ln/>
        </p:spPr>
        <p:txBody>
          <a:bodyPr/>
          <a:lstStyle/>
          <a:p>
            <a:endParaRPr lang="en-US"/>
          </a:p>
        </p:txBody>
      </p:sp>
      <p:sp>
        <p:nvSpPr>
          <p:cNvPr id="14" name="Text 12"/>
          <p:cNvSpPr/>
          <p:nvPr/>
        </p:nvSpPr>
        <p:spPr>
          <a:xfrm>
            <a:off x="3383280" y="1234440"/>
            <a:ext cx="365760" cy="365760"/>
          </a:xfrm>
          <a:prstGeom prst="rect">
            <a:avLst/>
          </a:prstGeom>
          <a:noFill/>
          <a:ln/>
        </p:spPr>
        <p:txBody>
          <a:bodyPr wrap="square" rtlCol="0" anchor="ctr"/>
          <a:lstStyle/>
          <a:p>
            <a:pPr marL="0" indent="0" algn="ctr">
              <a:buNone/>
            </a:pPr>
            <a:r>
              <a:rPr lang="en-US" sz="1400" dirty="0">
                <a:solidFill>
                  <a:srgbClr val="0F1B2D"/>
                </a:solidFill>
                <a:latin typeface="Arial Black" pitchFamily="34" charset="0"/>
                <a:ea typeface="Arial Black" pitchFamily="34" charset="-122"/>
                <a:cs typeface="Arial Black" pitchFamily="34" charset="-120"/>
              </a:rPr>
              <a:t>2</a:t>
            </a:r>
            <a:endParaRPr lang="en-US" sz="1400" dirty="0"/>
          </a:p>
        </p:txBody>
      </p:sp>
      <p:sp>
        <p:nvSpPr>
          <p:cNvPr id="15" name="Text 13"/>
          <p:cNvSpPr/>
          <p:nvPr/>
        </p:nvSpPr>
        <p:spPr>
          <a:xfrm>
            <a:off x="3840480" y="1188720"/>
            <a:ext cx="164592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Run build.sh</a:t>
            </a:r>
            <a:endParaRPr lang="en-US" sz="1300" dirty="0"/>
          </a:p>
        </p:txBody>
      </p:sp>
      <p:sp>
        <p:nvSpPr>
          <p:cNvPr id="16" name="Text 14"/>
          <p:cNvSpPr/>
          <p:nvPr/>
        </p:nvSpPr>
        <p:spPr>
          <a:xfrm>
            <a:off x="3840480" y="1554480"/>
            <a:ext cx="1645920" cy="50292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Generates zips + upload folders</a:t>
            </a:r>
            <a:endParaRPr lang="en-US" sz="1100" dirty="0"/>
          </a:p>
        </p:txBody>
      </p:sp>
      <p:sp>
        <p:nvSpPr>
          <p:cNvPr id="17" name="Shape 15"/>
          <p:cNvSpPr/>
          <p:nvPr/>
        </p:nvSpPr>
        <p:spPr>
          <a:xfrm>
            <a:off x="5943600" y="1097280"/>
            <a:ext cx="2468880" cy="10972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8" name="Shape 16"/>
          <p:cNvSpPr/>
          <p:nvPr/>
        </p:nvSpPr>
        <p:spPr>
          <a:xfrm>
            <a:off x="5943600" y="1097280"/>
            <a:ext cx="54864" cy="1097280"/>
          </a:xfrm>
          <a:prstGeom prst="rect">
            <a:avLst/>
          </a:prstGeom>
          <a:solidFill>
            <a:srgbClr val="FF9800"/>
          </a:solidFill>
          <a:ln/>
        </p:spPr>
        <p:txBody>
          <a:bodyPr/>
          <a:lstStyle/>
          <a:p>
            <a:endParaRPr lang="en-US"/>
          </a:p>
        </p:txBody>
      </p:sp>
      <p:sp>
        <p:nvSpPr>
          <p:cNvPr id="19" name="Shape 17"/>
          <p:cNvSpPr/>
          <p:nvPr/>
        </p:nvSpPr>
        <p:spPr>
          <a:xfrm>
            <a:off x="6126480" y="1234440"/>
            <a:ext cx="365760" cy="365760"/>
          </a:xfrm>
          <a:prstGeom prst="ellipse">
            <a:avLst/>
          </a:prstGeom>
          <a:solidFill>
            <a:srgbClr val="FF9800"/>
          </a:solidFill>
          <a:ln/>
        </p:spPr>
        <p:txBody>
          <a:bodyPr/>
          <a:lstStyle/>
          <a:p>
            <a:endParaRPr lang="en-US"/>
          </a:p>
        </p:txBody>
      </p:sp>
      <p:sp>
        <p:nvSpPr>
          <p:cNvPr id="20" name="Text 18"/>
          <p:cNvSpPr/>
          <p:nvPr/>
        </p:nvSpPr>
        <p:spPr>
          <a:xfrm>
            <a:off x="6126480" y="1234440"/>
            <a:ext cx="365760" cy="365760"/>
          </a:xfrm>
          <a:prstGeom prst="rect">
            <a:avLst/>
          </a:prstGeom>
          <a:noFill/>
          <a:ln/>
        </p:spPr>
        <p:txBody>
          <a:bodyPr wrap="square" rtlCol="0" anchor="ctr"/>
          <a:lstStyle/>
          <a:p>
            <a:pPr marL="0" indent="0" algn="ctr">
              <a:buNone/>
            </a:pPr>
            <a:r>
              <a:rPr lang="en-US" sz="1400" dirty="0">
                <a:solidFill>
                  <a:srgbClr val="0F1B2D"/>
                </a:solidFill>
                <a:latin typeface="Arial Black" pitchFamily="34" charset="0"/>
                <a:ea typeface="Arial Black" pitchFamily="34" charset="-122"/>
                <a:cs typeface="Arial Black" pitchFamily="34" charset="-120"/>
              </a:rPr>
              <a:t>3</a:t>
            </a:r>
            <a:endParaRPr lang="en-US" sz="1400" dirty="0"/>
          </a:p>
        </p:txBody>
      </p:sp>
      <p:sp>
        <p:nvSpPr>
          <p:cNvPr id="21" name="Text 19"/>
          <p:cNvSpPr/>
          <p:nvPr/>
        </p:nvSpPr>
        <p:spPr>
          <a:xfrm>
            <a:off x="6583680" y="1188720"/>
            <a:ext cx="164592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git commit</a:t>
            </a:r>
            <a:endParaRPr lang="en-US" sz="1300" dirty="0"/>
          </a:p>
        </p:txBody>
      </p:sp>
      <p:sp>
        <p:nvSpPr>
          <p:cNvPr id="22" name="Text 20"/>
          <p:cNvSpPr/>
          <p:nvPr/>
        </p:nvSpPr>
        <p:spPr>
          <a:xfrm>
            <a:off x="6583680" y="1554480"/>
            <a:ext cx="1645920" cy="50292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Saves snapshot locally</a:t>
            </a:r>
            <a:endParaRPr lang="en-US" sz="1100" dirty="0"/>
          </a:p>
        </p:txBody>
      </p:sp>
      <p:sp>
        <p:nvSpPr>
          <p:cNvPr id="23" name="Shape 21"/>
          <p:cNvSpPr/>
          <p:nvPr/>
        </p:nvSpPr>
        <p:spPr>
          <a:xfrm>
            <a:off x="5943600" y="2560320"/>
            <a:ext cx="2468880" cy="10972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24" name="Shape 22"/>
          <p:cNvSpPr/>
          <p:nvPr/>
        </p:nvSpPr>
        <p:spPr>
          <a:xfrm>
            <a:off x="5943600" y="2560320"/>
            <a:ext cx="54864" cy="1097280"/>
          </a:xfrm>
          <a:prstGeom prst="rect">
            <a:avLst/>
          </a:prstGeom>
          <a:solidFill>
            <a:srgbClr val="4CAF50"/>
          </a:solidFill>
          <a:ln/>
        </p:spPr>
        <p:txBody>
          <a:bodyPr/>
          <a:lstStyle/>
          <a:p>
            <a:endParaRPr lang="en-US"/>
          </a:p>
        </p:txBody>
      </p:sp>
      <p:sp>
        <p:nvSpPr>
          <p:cNvPr id="25" name="Shape 23"/>
          <p:cNvSpPr/>
          <p:nvPr/>
        </p:nvSpPr>
        <p:spPr>
          <a:xfrm>
            <a:off x="6126480" y="2697480"/>
            <a:ext cx="365760" cy="365760"/>
          </a:xfrm>
          <a:prstGeom prst="ellipse">
            <a:avLst/>
          </a:prstGeom>
          <a:solidFill>
            <a:srgbClr val="4CAF50"/>
          </a:solidFill>
          <a:ln/>
        </p:spPr>
        <p:txBody>
          <a:bodyPr/>
          <a:lstStyle/>
          <a:p>
            <a:endParaRPr lang="en-US"/>
          </a:p>
        </p:txBody>
      </p:sp>
      <p:sp>
        <p:nvSpPr>
          <p:cNvPr id="26" name="Text 24"/>
          <p:cNvSpPr/>
          <p:nvPr/>
        </p:nvSpPr>
        <p:spPr>
          <a:xfrm>
            <a:off x="6126480" y="2697480"/>
            <a:ext cx="365760" cy="365760"/>
          </a:xfrm>
          <a:prstGeom prst="rect">
            <a:avLst/>
          </a:prstGeom>
          <a:noFill/>
          <a:ln/>
        </p:spPr>
        <p:txBody>
          <a:bodyPr wrap="square" rtlCol="0" anchor="ctr"/>
          <a:lstStyle/>
          <a:p>
            <a:pPr marL="0" indent="0" algn="ctr">
              <a:buNone/>
            </a:pPr>
            <a:r>
              <a:rPr lang="en-US" sz="1400" dirty="0">
                <a:solidFill>
                  <a:srgbClr val="0F1B2D"/>
                </a:solidFill>
                <a:latin typeface="Arial Black" pitchFamily="34" charset="0"/>
                <a:ea typeface="Arial Black" pitchFamily="34" charset="-122"/>
                <a:cs typeface="Arial Black" pitchFamily="34" charset="-120"/>
              </a:rPr>
              <a:t>4</a:t>
            </a:r>
            <a:endParaRPr lang="en-US" sz="1400" dirty="0"/>
          </a:p>
        </p:txBody>
      </p:sp>
      <p:sp>
        <p:nvSpPr>
          <p:cNvPr id="27" name="Text 25"/>
          <p:cNvSpPr/>
          <p:nvPr/>
        </p:nvSpPr>
        <p:spPr>
          <a:xfrm>
            <a:off x="6583680" y="2651760"/>
            <a:ext cx="164592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git push</a:t>
            </a:r>
            <a:endParaRPr lang="en-US" sz="1300" dirty="0"/>
          </a:p>
        </p:txBody>
      </p:sp>
      <p:sp>
        <p:nvSpPr>
          <p:cNvPr id="28" name="Text 26"/>
          <p:cNvSpPr/>
          <p:nvPr/>
        </p:nvSpPr>
        <p:spPr>
          <a:xfrm>
            <a:off x="6583680" y="3017520"/>
            <a:ext cx="1645920" cy="50292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Backs up to GitHub</a:t>
            </a:r>
            <a:endParaRPr lang="en-US" sz="1100" dirty="0"/>
          </a:p>
        </p:txBody>
      </p:sp>
      <p:sp>
        <p:nvSpPr>
          <p:cNvPr id="29" name="Shape 27"/>
          <p:cNvSpPr/>
          <p:nvPr/>
        </p:nvSpPr>
        <p:spPr>
          <a:xfrm>
            <a:off x="3200400" y="2560320"/>
            <a:ext cx="2468880" cy="10972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30" name="Shape 28"/>
          <p:cNvSpPr/>
          <p:nvPr/>
        </p:nvSpPr>
        <p:spPr>
          <a:xfrm>
            <a:off x="3200400" y="2560320"/>
            <a:ext cx="54864" cy="1097280"/>
          </a:xfrm>
          <a:prstGeom prst="rect">
            <a:avLst/>
          </a:prstGeom>
          <a:solidFill>
            <a:srgbClr val="2196F3"/>
          </a:solidFill>
          <a:ln/>
        </p:spPr>
        <p:txBody>
          <a:bodyPr/>
          <a:lstStyle/>
          <a:p>
            <a:endParaRPr lang="en-US"/>
          </a:p>
        </p:txBody>
      </p:sp>
      <p:sp>
        <p:nvSpPr>
          <p:cNvPr id="31" name="Shape 29"/>
          <p:cNvSpPr/>
          <p:nvPr/>
        </p:nvSpPr>
        <p:spPr>
          <a:xfrm>
            <a:off x="3383280" y="2697480"/>
            <a:ext cx="365760" cy="365760"/>
          </a:xfrm>
          <a:prstGeom prst="ellipse">
            <a:avLst/>
          </a:prstGeom>
          <a:solidFill>
            <a:srgbClr val="2196F3"/>
          </a:solidFill>
          <a:ln/>
        </p:spPr>
        <p:txBody>
          <a:bodyPr/>
          <a:lstStyle/>
          <a:p>
            <a:endParaRPr lang="en-US"/>
          </a:p>
        </p:txBody>
      </p:sp>
      <p:sp>
        <p:nvSpPr>
          <p:cNvPr id="32" name="Text 30"/>
          <p:cNvSpPr/>
          <p:nvPr/>
        </p:nvSpPr>
        <p:spPr>
          <a:xfrm>
            <a:off x="3383280" y="2697480"/>
            <a:ext cx="365760" cy="365760"/>
          </a:xfrm>
          <a:prstGeom prst="rect">
            <a:avLst/>
          </a:prstGeom>
          <a:noFill/>
          <a:ln/>
        </p:spPr>
        <p:txBody>
          <a:bodyPr wrap="square" rtlCol="0" anchor="ctr"/>
          <a:lstStyle/>
          <a:p>
            <a:pPr marL="0" indent="0" algn="ctr">
              <a:buNone/>
            </a:pPr>
            <a:r>
              <a:rPr lang="en-US" sz="1400" dirty="0">
                <a:solidFill>
                  <a:srgbClr val="0F1B2D"/>
                </a:solidFill>
                <a:latin typeface="Arial Black" pitchFamily="34" charset="0"/>
                <a:ea typeface="Arial Black" pitchFamily="34" charset="-122"/>
                <a:cs typeface="Arial Black" pitchFamily="34" charset="-120"/>
              </a:rPr>
              <a:t>5a</a:t>
            </a:r>
            <a:endParaRPr lang="en-US" sz="1400" dirty="0"/>
          </a:p>
        </p:txBody>
      </p:sp>
      <p:sp>
        <p:nvSpPr>
          <p:cNvPr id="33" name="Text 31"/>
          <p:cNvSpPr/>
          <p:nvPr/>
        </p:nvSpPr>
        <p:spPr>
          <a:xfrm>
            <a:off x="3840480" y="2651760"/>
            <a:ext cx="164592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Deploy to Cowork</a:t>
            </a:r>
            <a:endParaRPr lang="en-US" sz="1300" dirty="0"/>
          </a:p>
        </p:txBody>
      </p:sp>
      <p:sp>
        <p:nvSpPr>
          <p:cNvPr id="34" name="Text 32"/>
          <p:cNvSpPr/>
          <p:nvPr/>
        </p:nvSpPr>
        <p:spPr>
          <a:xfrm>
            <a:off x="3840480" y="3017520"/>
            <a:ext cx="1645920" cy="50292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Drag plugin zip from builds/</a:t>
            </a:r>
            <a:endParaRPr lang="en-US" sz="1100" dirty="0"/>
          </a:p>
        </p:txBody>
      </p:sp>
      <p:sp>
        <p:nvSpPr>
          <p:cNvPr id="35" name="Shape 33"/>
          <p:cNvSpPr/>
          <p:nvPr/>
        </p:nvSpPr>
        <p:spPr>
          <a:xfrm>
            <a:off x="457200" y="2560320"/>
            <a:ext cx="2468880" cy="109728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36" name="Shape 34"/>
          <p:cNvSpPr/>
          <p:nvPr/>
        </p:nvSpPr>
        <p:spPr>
          <a:xfrm>
            <a:off x="457200" y="2560320"/>
            <a:ext cx="54864" cy="1097280"/>
          </a:xfrm>
          <a:prstGeom prst="rect">
            <a:avLst/>
          </a:prstGeom>
          <a:solidFill>
            <a:srgbClr val="FF9800"/>
          </a:solidFill>
          <a:ln/>
        </p:spPr>
        <p:txBody>
          <a:bodyPr/>
          <a:lstStyle/>
          <a:p>
            <a:endParaRPr lang="en-US"/>
          </a:p>
        </p:txBody>
      </p:sp>
      <p:sp>
        <p:nvSpPr>
          <p:cNvPr id="37" name="Shape 35"/>
          <p:cNvSpPr/>
          <p:nvPr/>
        </p:nvSpPr>
        <p:spPr>
          <a:xfrm>
            <a:off x="640080" y="2697480"/>
            <a:ext cx="365760" cy="365760"/>
          </a:xfrm>
          <a:prstGeom prst="ellipse">
            <a:avLst/>
          </a:prstGeom>
          <a:solidFill>
            <a:srgbClr val="FF9800"/>
          </a:solidFill>
          <a:ln/>
        </p:spPr>
        <p:txBody>
          <a:bodyPr/>
          <a:lstStyle/>
          <a:p>
            <a:endParaRPr lang="en-US"/>
          </a:p>
        </p:txBody>
      </p:sp>
      <p:sp>
        <p:nvSpPr>
          <p:cNvPr id="38" name="Text 36"/>
          <p:cNvSpPr/>
          <p:nvPr/>
        </p:nvSpPr>
        <p:spPr>
          <a:xfrm>
            <a:off x="640080" y="2697480"/>
            <a:ext cx="365760" cy="365760"/>
          </a:xfrm>
          <a:prstGeom prst="rect">
            <a:avLst/>
          </a:prstGeom>
          <a:noFill/>
          <a:ln/>
        </p:spPr>
        <p:txBody>
          <a:bodyPr wrap="square" rtlCol="0" anchor="ctr"/>
          <a:lstStyle/>
          <a:p>
            <a:pPr marL="0" indent="0" algn="ctr">
              <a:buNone/>
            </a:pPr>
            <a:r>
              <a:rPr lang="en-US" sz="1400" dirty="0">
                <a:solidFill>
                  <a:srgbClr val="0F1B2D"/>
                </a:solidFill>
                <a:latin typeface="Arial Black" pitchFamily="34" charset="0"/>
                <a:ea typeface="Arial Black" pitchFamily="34" charset="-122"/>
                <a:cs typeface="Arial Black" pitchFamily="34" charset="-120"/>
              </a:rPr>
              <a:t>5b</a:t>
            </a:r>
            <a:endParaRPr lang="en-US" sz="1400" dirty="0"/>
          </a:p>
        </p:txBody>
      </p:sp>
      <p:sp>
        <p:nvSpPr>
          <p:cNvPr id="39" name="Text 37"/>
          <p:cNvSpPr/>
          <p:nvPr/>
        </p:nvSpPr>
        <p:spPr>
          <a:xfrm>
            <a:off x="1097280" y="2651760"/>
            <a:ext cx="164592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Deploy to Enterprise</a:t>
            </a:r>
            <a:endParaRPr lang="en-US" sz="1300" dirty="0"/>
          </a:p>
        </p:txBody>
      </p:sp>
      <p:sp>
        <p:nvSpPr>
          <p:cNvPr id="40" name="Text 38"/>
          <p:cNvSpPr/>
          <p:nvPr/>
        </p:nvSpPr>
        <p:spPr>
          <a:xfrm>
            <a:off x="1097280" y="3017520"/>
            <a:ext cx="1645920" cy="50292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Drag .md from enterprise/upload/</a:t>
            </a:r>
            <a:endParaRPr lang="en-US" sz="1100" dirty="0"/>
          </a:p>
        </p:txBody>
      </p:sp>
      <p:pic>
        <p:nvPicPr>
          <p:cNvPr id="41" name="Image 0" descr="preencoded.png"/>
          <p:cNvPicPr>
            <a:picLocks noChangeAspect="1"/>
          </p:cNvPicPr>
          <p:nvPr/>
        </p:nvPicPr>
        <p:blipFill>
          <a:blip r:embed="rId3"/>
          <a:stretch>
            <a:fillRect/>
          </a:stretch>
        </p:blipFill>
        <p:spPr>
          <a:xfrm>
            <a:off x="2880360" y="1463040"/>
            <a:ext cx="228600" cy="228600"/>
          </a:xfrm>
          <a:prstGeom prst="rect">
            <a:avLst/>
          </a:prstGeom>
        </p:spPr>
      </p:pic>
      <p:pic>
        <p:nvPicPr>
          <p:cNvPr id="42" name="Image 1" descr="preencoded.png"/>
          <p:cNvPicPr>
            <a:picLocks noChangeAspect="1"/>
          </p:cNvPicPr>
          <p:nvPr/>
        </p:nvPicPr>
        <p:blipFill>
          <a:blip r:embed="rId3"/>
          <a:stretch>
            <a:fillRect/>
          </a:stretch>
        </p:blipFill>
        <p:spPr>
          <a:xfrm>
            <a:off x="5623560" y="1463040"/>
            <a:ext cx="228600" cy="228600"/>
          </a:xfrm>
          <a:prstGeom prst="rect">
            <a:avLst/>
          </a:prstGeom>
        </p:spPr>
      </p:pic>
      <p:sp>
        <p:nvSpPr>
          <p:cNvPr id="43" name="Shape 39"/>
          <p:cNvSpPr/>
          <p:nvPr/>
        </p:nvSpPr>
        <p:spPr>
          <a:xfrm>
            <a:off x="457200" y="3931920"/>
            <a:ext cx="8321040" cy="914400"/>
          </a:xfrm>
          <a:prstGeom prst="rect">
            <a:avLst/>
          </a:prstGeom>
          <a:solidFill>
            <a:srgbClr val="0D47A1"/>
          </a:solidFill>
          <a:ln/>
          <a:effectLst>
            <a:outerShdw blurRad="50800" dist="25400" dir="8100000" algn="bl" rotWithShape="0">
              <a:srgbClr val="000000">
                <a:alpha val="30000"/>
              </a:srgbClr>
            </a:outerShdw>
          </a:effectLst>
        </p:spPr>
        <p:txBody>
          <a:bodyPr/>
          <a:lstStyle/>
          <a:p>
            <a:endParaRPr lang="en-US"/>
          </a:p>
        </p:txBody>
      </p:sp>
      <p:sp>
        <p:nvSpPr>
          <p:cNvPr id="44" name="Text 40"/>
          <p:cNvSpPr/>
          <p:nvPr/>
        </p:nvSpPr>
        <p:spPr>
          <a:xfrm>
            <a:off x="731520" y="3977640"/>
            <a:ext cx="7772400" cy="822960"/>
          </a:xfrm>
          <a:prstGeom prst="rect">
            <a:avLst/>
          </a:prstGeom>
          <a:noFill/>
          <a:ln/>
        </p:spPr>
        <p:txBody>
          <a:bodyPr wrap="square" rtlCol="0" anchor="ctr"/>
          <a:lstStyle/>
          <a:p>
            <a:pPr marL="0" indent="0">
              <a:buNone/>
            </a:pPr>
            <a:r>
              <a:rPr lang="en-US" sz="1400" b="1" dirty="0">
                <a:solidFill>
                  <a:srgbClr val="00BCD4"/>
                </a:solidFill>
                <a:latin typeface="Arial" pitchFamily="34" charset="0"/>
                <a:ea typeface="Arial" pitchFamily="34" charset="-122"/>
                <a:cs typeface="Arial" pitchFamily="34" charset="-120"/>
              </a:rPr>
              <a:t>Key: </a:t>
            </a:r>
            <a:r>
              <a:rPr lang="en-US" sz="1300" dirty="0">
                <a:solidFill>
                  <a:srgbClr val="FFFFFF"/>
                </a:solidFill>
                <a:latin typeface="Arial" pitchFamily="34" charset="0"/>
                <a:ea typeface="Arial" pitchFamily="34" charset="-122"/>
                <a:cs typeface="Arial" pitchFamily="34" charset="-120"/>
              </a:rPr>
              <a:t>Your local folder always has just the current version of every file. build.sh overwrites the old generated output with new output. Git keeps the history. GitHub keeps the backup. Nothing piles up.</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182880"/>
            <a:ext cx="7680960" cy="45720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Using the Repo in Cowork</a:t>
            </a:r>
            <a:endParaRPr lang="en-US" sz="2800" dirty="0"/>
          </a:p>
        </p:txBody>
      </p:sp>
      <p:sp>
        <p:nvSpPr>
          <p:cNvPr id="4" name="Text 2"/>
          <p:cNvSpPr/>
          <p:nvPr/>
        </p:nvSpPr>
        <p:spPr>
          <a:xfrm>
            <a:off x="731520" y="640080"/>
            <a:ext cx="7680960" cy="457200"/>
          </a:xfrm>
          <a:prstGeom prst="rect">
            <a:avLst/>
          </a:prstGeom>
          <a:noFill/>
          <a:ln/>
        </p:spPr>
        <p:txBody>
          <a:bodyPr wrap="square" rtlCol="0" anchor="ctr"/>
          <a:lstStyle/>
          <a:p>
            <a:pPr marL="0" indent="0">
              <a:buNone/>
            </a:pPr>
            <a:r>
              <a:rPr lang="en-US" sz="1200" i="1" dirty="0">
                <a:solidFill>
                  <a:srgbClr val="B0BEC5"/>
                </a:solidFill>
                <a:latin typeface="Arial" pitchFamily="34" charset="0"/>
                <a:ea typeface="Arial" pitchFamily="34" charset="-122"/>
                <a:cs typeface="Arial" pitchFamily="34" charset="-120"/>
              </a:rPr>
              <a:t>Cowork reads plugins and standalone skills from your installed .skills/ and .local-plugins/ folders. The repo is where you maintain and build them.</a:t>
            </a:r>
            <a:endParaRPr lang="en-US" sz="1200" dirty="0"/>
          </a:p>
        </p:txBody>
      </p:sp>
      <p:sp>
        <p:nvSpPr>
          <p:cNvPr id="5" name="Shape 3"/>
          <p:cNvSpPr/>
          <p:nvPr/>
        </p:nvSpPr>
        <p:spPr>
          <a:xfrm>
            <a:off x="457200" y="1188720"/>
            <a:ext cx="8321040" cy="868680"/>
          </a:xfrm>
          <a:prstGeom prst="rect">
            <a:avLst/>
          </a:prstGeom>
          <a:solidFill>
            <a:srgbClr val="1E2D3D"/>
          </a:solidFill>
          <a:ln/>
        </p:spPr>
        <p:txBody>
          <a:bodyPr/>
          <a:lstStyle/>
          <a:p>
            <a:endParaRPr lang="en-US"/>
          </a:p>
        </p:txBody>
      </p:sp>
      <p:sp>
        <p:nvSpPr>
          <p:cNvPr id="6" name="Shape 4"/>
          <p:cNvSpPr/>
          <p:nvPr/>
        </p:nvSpPr>
        <p:spPr>
          <a:xfrm>
            <a:off x="457200" y="1188720"/>
            <a:ext cx="54864" cy="868680"/>
          </a:xfrm>
          <a:prstGeom prst="rect">
            <a:avLst/>
          </a:prstGeom>
          <a:solidFill>
            <a:srgbClr val="2196F3"/>
          </a:solidFill>
          <a:ln/>
        </p:spPr>
        <p:txBody>
          <a:bodyPr/>
          <a:lstStyle/>
          <a:p>
            <a:endParaRPr lang="en-US"/>
          </a:p>
        </p:txBody>
      </p:sp>
      <p:sp>
        <p:nvSpPr>
          <p:cNvPr id="7" name="Text 5"/>
          <p:cNvSpPr/>
          <p:nvPr/>
        </p:nvSpPr>
        <p:spPr>
          <a:xfrm>
            <a:off x="685800" y="1234440"/>
            <a:ext cx="2103120" cy="32004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 outreach for a prospect</a:t>
            </a:r>
            <a:endParaRPr lang="en-US" sz="1200" dirty="0"/>
          </a:p>
        </p:txBody>
      </p:sp>
      <p:sp>
        <p:nvSpPr>
          <p:cNvPr id="8" name="Text 6"/>
          <p:cNvSpPr/>
          <p:nvPr/>
        </p:nvSpPr>
        <p:spPr>
          <a:xfrm>
            <a:off x="685800" y="1554480"/>
            <a:ext cx="2103120" cy="411480"/>
          </a:xfrm>
          <a:prstGeom prst="rect">
            <a:avLst/>
          </a:prstGeom>
          <a:noFill/>
          <a:ln/>
        </p:spPr>
        <p:txBody>
          <a:bodyPr wrap="square" lIns="0" tIns="0" rIns="0" bIns="0" rtlCol="0" anchor="ctr"/>
          <a:lstStyle/>
          <a:p>
            <a:pPr marL="0" indent="0">
              <a:buNone/>
            </a:pPr>
            <a:r>
              <a:rPr lang="en-US" sz="900" dirty="0">
                <a:solidFill>
                  <a:srgbClr val="2196F3"/>
                </a:solidFill>
                <a:latin typeface="Arial" pitchFamily="34" charset="0"/>
                <a:ea typeface="Arial" pitchFamily="34" charset="-122"/>
                <a:cs typeface="Arial" pitchFamily="34" charset="-120"/>
              </a:rPr>
              <a:t>No repo interaction needed</a:t>
            </a:r>
            <a:endParaRPr lang="en-US" sz="900" dirty="0"/>
          </a:p>
        </p:txBody>
      </p:sp>
      <p:sp>
        <p:nvSpPr>
          <p:cNvPr id="9" name="Text 7"/>
          <p:cNvSpPr/>
          <p:nvPr/>
        </p:nvSpPr>
        <p:spPr>
          <a:xfrm>
            <a:off x="2926080" y="123444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Just use Cowork normally. The plugin is already installed with the latest context from your last build.</a:t>
            </a:r>
            <a:endParaRPr lang="en-US" sz="1100" dirty="0"/>
          </a:p>
        </p:txBody>
      </p:sp>
      <p:sp>
        <p:nvSpPr>
          <p:cNvPr id="10" name="Shape 8"/>
          <p:cNvSpPr/>
          <p:nvPr/>
        </p:nvSpPr>
        <p:spPr>
          <a:xfrm>
            <a:off x="457200" y="2148840"/>
            <a:ext cx="8321040" cy="868680"/>
          </a:xfrm>
          <a:prstGeom prst="rect">
            <a:avLst/>
          </a:prstGeom>
          <a:solidFill>
            <a:srgbClr val="1E2D3D"/>
          </a:solidFill>
          <a:ln/>
        </p:spPr>
        <p:txBody>
          <a:bodyPr/>
          <a:lstStyle/>
          <a:p>
            <a:endParaRPr lang="en-US"/>
          </a:p>
        </p:txBody>
      </p:sp>
      <p:sp>
        <p:nvSpPr>
          <p:cNvPr id="11" name="Shape 9"/>
          <p:cNvSpPr/>
          <p:nvPr/>
        </p:nvSpPr>
        <p:spPr>
          <a:xfrm>
            <a:off x="457200" y="2148840"/>
            <a:ext cx="54864" cy="868680"/>
          </a:xfrm>
          <a:prstGeom prst="rect">
            <a:avLst/>
          </a:prstGeom>
          <a:solidFill>
            <a:srgbClr val="FF9800"/>
          </a:solidFill>
          <a:ln/>
        </p:spPr>
        <p:txBody>
          <a:bodyPr/>
          <a:lstStyle/>
          <a:p>
            <a:endParaRPr lang="en-US"/>
          </a:p>
        </p:txBody>
      </p:sp>
      <p:sp>
        <p:nvSpPr>
          <p:cNvPr id="12" name="Text 10"/>
          <p:cNvSpPr/>
          <p:nvPr/>
        </p:nvSpPr>
        <p:spPr>
          <a:xfrm>
            <a:off x="685800" y="2194560"/>
            <a:ext cx="2103120" cy="32004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Fix a skill that's producing bad output</a:t>
            </a:r>
            <a:endParaRPr lang="en-US" sz="1200" dirty="0"/>
          </a:p>
        </p:txBody>
      </p:sp>
      <p:sp>
        <p:nvSpPr>
          <p:cNvPr id="13" name="Text 11"/>
          <p:cNvSpPr/>
          <p:nvPr/>
        </p:nvSpPr>
        <p:spPr>
          <a:xfrm>
            <a:off x="685800" y="2514600"/>
            <a:ext cx="2103120" cy="411480"/>
          </a:xfrm>
          <a:prstGeom prst="rect">
            <a:avLst/>
          </a:prstGeom>
          <a:noFill/>
          <a:ln/>
        </p:spPr>
        <p:txBody>
          <a:bodyPr wrap="square" lIns="0" tIns="0" rIns="0" bIns="0" rtlCol="0" anchor="ctr"/>
          <a:lstStyle/>
          <a:p>
            <a:pPr marL="0" indent="0">
              <a:buNone/>
            </a:pPr>
            <a:r>
              <a:rPr lang="en-US" sz="900" dirty="0">
                <a:solidFill>
                  <a:srgbClr val="FF9800"/>
                </a:solidFill>
                <a:latin typeface="Arial" pitchFamily="34" charset="0"/>
                <a:ea typeface="Arial" pitchFamily="34" charset="-122"/>
                <a:cs typeface="Arial" pitchFamily="34" charset="-120"/>
              </a:rPr>
              <a:t>skills/ → build.sh → builds/plugins-zipped/ → Cowork</a:t>
            </a:r>
            <a:endParaRPr lang="en-US" sz="900" dirty="0"/>
          </a:p>
        </p:txBody>
      </p:sp>
      <p:sp>
        <p:nvSpPr>
          <p:cNvPr id="14" name="Text 12"/>
          <p:cNvSpPr/>
          <p:nvPr/>
        </p:nvSpPr>
        <p:spPr>
          <a:xfrm>
            <a:off x="2926080" y="219456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Edit skills/&lt;name&gt;/SKILL.md in the repo, run bash build.sh, reinstall the plugin zip in Cowork.</a:t>
            </a:r>
            <a:endParaRPr lang="en-US" sz="1100" dirty="0"/>
          </a:p>
        </p:txBody>
      </p:sp>
      <p:sp>
        <p:nvSpPr>
          <p:cNvPr id="15" name="Shape 13"/>
          <p:cNvSpPr/>
          <p:nvPr/>
        </p:nvSpPr>
        <p:spPr>
          <a:xfrm>
            <a:off x="457200" y="3108960"/>
            <a:ext cx="8321040" cy="868680"/>
          </a:xfrm>
          <a:prstGeom prst="rect">
            <a:avLst/>
          </a:prstGeom>
          <a:solidFill>
            <a:srgbClr val="1E2D3D"/>
          </a:solidFill>
          <a:ln/>
        </p:spPr>
        <p:txBody>
          <a:bodyPr/>
          <a:lstStyle/>
          <a:p>
            <a:endParaRPr lang="en-US"/>
          </a:p>
        </p:txBody>
      </p:sp>
      <p:sp>
        <p:nvSpPr>
          <p:cNvPr id="16" name="Shape 14"/>
          <p:cNvSpPr/>
          <p:nvPr/>
        </p:nvSpPr>
        <p:spPr>
          <a:xfrm>
            <a:off x="457200" y="3108960"/>
            <a:ext cx="54864" cy="868680"/>
          </a:xfrm>
          <a:prstGeom prst="rect">
            <a:avLst/>
          </a:prstGeom>
          <a:solidFill>
            <a:srgbClr val="00BCD4"/>
          </a:solidFill>
          <a:ln/>
        </p:spPr>
        <p:txBody>
          <a:bodyPr/>
          <a:lstStyle/>
          <a:p>
            <a:endParaRPr lang="en-US"/>
          </a:p>
        </p:txBody>
      </p:sp>
      <p:sp>
        <p:nvSpPr>
          <p:cNvPr id="17" name="Text 15"/>
          <p:cNvSpPr/>
          <p:nvPr/>
        </p:nvSpPr>
        <p:spPr>
          <a:xfrm>
            <a:off x="685800" y="3154680"/>
            <a:ext cx="2103120" cy="32004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Add new competitive intel to context</a:t>
            </a:r>
            <a:endParaRPr lang="en-US" sz="1200" dirty="0"/>
          </a:p>
        </p:txBody>
      </p:sp>
      <p:sp>
        <p:nvSpPr>
          <p:cNvPr id="18" name="Text 16"/>
          <p:cNvSpPr/>
          <p:nvPr/>
        </p:nvSpPr>
        <p:spPr>
          <a:xfrm>
            <a:off x="685800" y="3474720"/>
            <a:ext cx="2103120" cy="411480"/>
          </a:xfrm>
          <a:prstGeom prst="rect">
            <a:avLst/>
          </a:prstGeom>
          <a:noFill/>
          <a:ln/>
        </p:spPr>
        <p:txBody>
          <a:bodyPr wrap="square" lIns="0" tIns="0" rIns="0" bIns="0" rtlCol="0" anchor="ctr"/>
          <a:lstStyle/>
          <a:p>
            <a:pPr marL="0" indent="0">
              <a:buNone/>
            </a:pPr>
            <a:r>
              <a:rPr lang="en-US" sz="900" dirty="0">
                <a:solidFill>
                  <a:srgbClr val="00BCD4"/>
                </a:solidFill>
                <a:latin typeface="Arial" pitchFamily="34" charset="0"/>
                <a:ea typeface="Arial" pitchFamily="34" charset="-122"/>
                <a:cs typeface="Arial" pitchFamily="34" charset="-120"/>
              </a:rPr>
              <a:t>context/ → build.sh → everything updates</a:t>
            </a:r>
            <a:endParaRPr lang="en-US" sz="900" dirty="0"/>
          </a:p>
        </p:txBody>
      </p:sp>
      <p:sp>
        <p:nvSpPr>
          <p:cNvPr id="19" name="Text 17"/>
          <p:cNvSpPr/>
          <p:nvPr/>
        </p:nvSpPr>
        <p:spPr>
          <a:xfrm>
            <a:off x="2926080" y="315468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Edit context/core/competitive-positioning.md, run bash build.sh. All plugins and enterprise folders regenerate with the new content.</a:t>
            </a:r>
            <a:endParaRPr lang="en-US" sz="1100" dirty="0"/>
          </a:p>
        </p:txBody>
      </p:sp>
      <p:sp>
        <p:nvSpPr>
          <p:cNvPr id="20" name="Shape 18"/>
          <p:cNvSpPr/>
          <p:nvPr/>
        </p:nvSpPr>
        <p:spPr>
          <a:xfrm>
            <a:off x="457200" y="4069080"/>
            <a:ext cx="8321040" cy="868680"/>
          </a:xfrm>
          <a:prstGeom prst="rect">
            <a:avLst/>
          </a:prstGeom>
          <a:solidFill>
            <a:srgbClr val="1E2D3D"/>
          </a:solidFill>
          <a:ln/>
        </p:spPr>
        <p:txBody>
          <a:bodyPr/>
          <a:lstStyle/>
          <a:p>
            <a:endParaRPr lang="en-US"/>
          </a:p>
        </p:txBody>
      </p:sp>
      <p:sp>
        <p:nvSpPr>
          <p:cNvPr id="21" name="Shape 19"/>
          <p:cNvSpPr/>
          <p:nvPr/>
        </p:nvSpPr>
        <p:spPr>
          <a:xfrm>
            <a:off x="457200" y="4069080"/>
            <a:ext cx="54864" cy="868680"/>
          </a:xfrm>
          <a:prstGeom prst="rect">
            <a:avLst/>
          </a:prstGeom>
          <a:solidFill>
            <a:srgbClr val="4CAF50"/>
          </a:solidFill>
          <a:ln/>
        </p:spPr>
        <p:txBody>
          <a:bodyPr/>
          <a:lstStyle/>
          <a:p>
            <a:endParaRPr lang="en-US"/>
          </a:p>
        </p:txBody>
      </p:sp>
      <p:sp>
        <p:nvSpPr>
          <p:cNvPr id="22" name="Text 20"/>
          <p:cNvSpPr/>
          <p:nvPr/>
        </p:nvSpPr>
        <p:spPr>
          <a:xfrm>
            <a:off x="685800" y="4114800"/>
            <a:ext cx="2103120" cy="32004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Install a brand new skill</a:t>
            </a:r>
            <a:endParaRPr lang="en-US" sz="1200" dirty="0"/>
          </a:p>
        </p:txBody>
      </p:sp>
      <p:sp>
        <p:nvSpPr>
          <p:cNvPr id="23" name="Text 21"/>
          <p:cNvSpPr/>
          <p:nvPr/>
        </p:nvSpPr>
        <p:spPr>
          <a:xfrm>
            <a:off x="685800" y="4434840"/>
            <a:ext cx="2103120" cy="411480"/>
          </a:xfrm>
          <a:prstGeom prst="rect">
            <a:avLst/>
          </a:prstGeom>
          <a:noFill/>
          <a:ln/>
        </p:spPr>
        <p:txBody>
          <a:bodyPr wrap="square" lIns="0" tIns="0" rIns="0" bIns="0" rtlCol="0" anchor="ctr"/>
          <a:lstStyle/>
          <a:p>
            <a:pPr marL="0" indent="0">
              <a:buNone/>
            </a:pPr>
            <a:r>
              <a:rPr lang="en-US" sz="900" dirty="0">
                <a:solidFill>
                  <a:srgbClr val="4CAF50"/>
                </a:solidFill>
                <a:latin typeface="Arial" pitchFamily="34" charset="0"/>
                <a:ea typeface="Arial" pitchFamily="34" charset="-122"/>
                <a:cs typeface="Arial" pitchFamily="34" charset="-120"/>
              </a:rPr>
              <a:t>skills/ + plugins/ → build.sh → builds/</a:t>
            </a:r>
            <a:endParaRPr lang="en-US" sz="900" dirty="0"/>
          </a:p>
        </p:txBody>
      </p:sp>
      <p:sp>
        <p:nvSpPr>
          <p:cNvPr id="24" name="Text 22"/>
          <p:cNvSpPr/>
          <p:nvPr/>
        </p:nvSpPr>
        <p:spPr>
          <a:xfrm>
            <a:off x="2926080" y="411480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Create skills/&lt;name&gt;/SKILL.md. If standalone: add to build.sh standalone list. If plugin: add to the plugin's plugin-manifest.json. Run build.sh, install zip.</a:t>
            </a:r>
            <a:endParaRPr lang="en-US" sz="1100" dirty="0"/>
          </a:p>
        </p:txBody>
      </p:sp>
      <p:sp>
        <p:nvSpPr>
          <p:cNvPr id="25" name="Shape 23"/>
          <p:cNvSpPr/>
          <p:nvPr/>
        </p:nvSpPr>
        <p:spPr>
          <a:xfrm>
            <a:off x="457200" y="4572000"/>
            <a:ext cx="8321040" cy="411480"/>
          </a:xfrm>
          <a:prstGeom prst="rect">
            <a:avLst/>
          </a:prstGeom>
          <a:solidFill>
            <a:srgbClr val="0D47A1"/>
          </a:solidFill>
          <a:ln/>
        </p:spPr>
        <p:txBody>
          <a:bodyPr/>
          <a:lstStyle/>
          <a:p>
            <a:endParaRPr lang="en-US"/>
          </a:p>
        </p:txBody>
      </p:sp>
      <p:sp>
        <p:nvSpPr>
          <p:cNvPr id="26" name="Text 24"/>
          <p:cNvSpPr/>
          <p:nvPr/>
        </p:nvSpPr>
        <p:spPr>
          <a:xfrm>
            <a:off x="731520" y="4590288"/>
            <a:ext cx="7772400" cy="365760"/>
          </a:xfrm>
          <a:prstGeom prst="rect">
            <a:avLst/>
          </a:prstGeom>
          <a:noFill/>
          <a:ln/>
        </p:spPr>
        <p:txBody>
          <a:bodyPr wrap="square" rtlCol="0" anchor="ctr"/>
          <a:lstStyle/>
          <a:p>
            <a:pPr marL="0" indent="0">
              <a:buNone/>
            </a:pPr>
            <a:r>
              <a:rPr lang="en-US" sz="1200" b="1" dirty="0">
                <a:solidFill>
                  <a:srgbClr val="00BCD4"/>
                </a:solidFill>
                <a:latin typeface="Arial" pitchFamily="34" charset="0"/>
                <a:ea typeface="Arial" pitchFamily="34" charset="-122"/>
                <a:cs typeface="Arial" pitchFamily="34" charset="-120"/>
              </a:rPr>
              <a:t>Rule: </a:t>
            </a:r>
            <a:r>
              <a:rPr lang="en-US" sz="1100" dirty="0">
                <a:solidFill>
                  <a:srgbClr val="FFFFFF"/>
                </a:solidFill>
                <a:latin typeface="Arial" pitchFamily="34" charset="0"/>
                <a:ea typeface="Arial" pitchFamily="34" charset="-122"/>
                <a:cs typeface="Arial" pitchFamily="34" charset="-120"/>
              </a:rPr>
              <a:t>You never edit installed plugins directly. Always edit the source in the repo, rebuild, and reinstall.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182880"/>
            <a:ext cx="7680960" cy="45720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Using the Repo in Claude Code</a:t>
            </a:r>
            <a:endParaRPr lang="en-US" sz="2800" dirty="0"/>
          </a:p>
        </p:txBody>
      </p:sp>
      <p:sp>
        <p:nvSpPr>
          <p:cNvPr id="4" name="Text 2"/>
          <p:cNvSpPr/>
          <p:nvPr/>
        </p:nvSpPr>
        <p:spPr>
          <a:xfrm>
            <a:off x="731520" y="640080"/>
            <a:ext cx="7680960" cy="457200"/>
          </a:xfrm>
          <a:prstGeom prst="rect">
            <a:avLst/>
          </a:prstGeom>
          <a:noFill/>
          <a:ln/>
        </p:spPr>
        <p:txBody>
          <a:bodyPr wrap="square" rtlCol="0" anchor="ctr"/>
          <a:lstStyle/>
          <a:p>
            <a:pPr marL="0" indent="0">
              <a:buNone/>
            </a:pPr>
            <a:r>
              <a:rPr lang="en-US" sz="1200" i="1" dirty="0">
                <a:solidFill>
                  <a:srgbClr val="B0BEC5"/>
                </a:solidFill>
                <a:latin typeface="Arial" pitchFamily="34" charset="0"/>
                <a:ea typeface="Arial" pitchFamily="34" charset="-122"/>
                <a:cs typeface="Arial" pitchFamily="34" charset="-120"/>
              </a:rPr>
              <a:t>Claude Code reads CLAUDE.md at startup, then reads skills and context files on demand directly from the repo. No plugin system needed.</a:t>
            </a:r>
            <a:endParaRPr lang="en-US" sz="1200" dirty="0"/>
          </a:p>
        </p:txBody>
      </p:sp>
      <p:sp>
        <p:nvSpPr>
          <p:cNvPr id="5" name="Shape 3"/>
          <p:cNvSpPr/>
          <p:nvPr/>
        </p:nvSpPr>
        <p:spPr>
          <a:xfrm>
            <a:off x="457200" y="1188720"/>
            <a:ext cx="8321040" cy="868680"/>
          </a:xfrm>
          <a:prstGeom prst="rect">
            <a:avLst/>
          </a:prstGeom>
          <a:solidFill>
            <a:srgbClr val="1E2D3D"/>
          </a:solidFill>
          <a:ln/>
        </p:spPr>
        <p:txBody>
          <a:bodyPr/>
          <a:lstStyle/>
          <a:p>
            <a:endParaRPr lang="en-US"/>
          </a:p>
        </p:txBody>
      </p:sp>
      <p:sp>
        <p:nvSpPr>
          <p:cNvPr id="6" name="Shape 4"/>
          <p:cNvSpPr/>
          <p:nvPr/>
        </p:nvSpPr>
        <p:spPr>
          <a:xfrm>
            <a:off x="457200" y="1188720"/>
            <a:ext cx="54864" cy="868680"/>
          </a:xfrm>
          <a:prstGeom prst="rect">
            <a:avLst/>
          </a:prstGeom>
          <a:solidFill>
            <a:srgbClr val="2196F3"/>
          </a:solidFill>
          <a:ln/>
        </p:spPr>
        <p:txBody>
          <a:bodyPr/>
          <a:lstStyle/>
          <a:p>
            <a:endParaRPr lang="en-US"/>
          </a:p>
        </p:txBody>
      </p:sp>
      <p:sp>
        <p:nvSpPr>
          <p:cNvPr id="7" name="Text 5"/>
          <p:cNvSpPr/>
          <p:nvPr/>
        </p:nvSpPr>
        <p:spPr>
          <a:xfrm>
            <a:off x="685800" y="1207008"/>
            <a:ext cx="2103120" cy="256032"/>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 outreach for a prospect</a:t>
            </a:r>
            <a:endParaRPr lang="en-US" sz="1200" dirty="0"/>
          </a:p>
        </p:txBody>
      </p:sp>
      <p:sp>
        <p:nvSpPr>
          <p:cNvPr id="8" name="Text 6"/>
          <p:cNvSpPr/>
          <p:nvPr/>
        </p:nvSpPr>
        <p:spPr>
          <a:xfrm>
            <a:off x="685800" y="1463040"/>
            <a:ext cx="2103120" cy="274320"/>
          </a:xfrm>
          <a:prstGeom prst="rect">
            <a:avLst/>
          </a:prstGeom>
          <a:noFill/>
          <a:ln/>
        </p:spPr>
        <p:txBody>
          <a:bodyPr wrap="square" lIns="0" tIns="0" rIns="0" bIns="0" rtlCol="0" anchor="ctr"/>
          <a:lstStyle/>
          <a:p>
            <a:pPr marL="0" indent="0">
              <a:buNone/>
            </a:pPr>
            <a:r>
              <a:rPr lang="en-US" sz="900" i="1" dirty="0">
                <a:solidFill>
                  <a:srgbClr val="2196F3"/>
                </a:solidFill>
                <a:latin typeface="Arial" pitchFamily="34" charset="0"/>
                <a:ea typeface="Arial" pitchFamily="34" charset="-122"/>
                <a:cs typeface="Arial" pitchFamily="34" charset="-120"/>
              </a:rPr>
              <a:t>Write a cold email for John Smith at Flexential</a:t>
            </a:r>
            <a:endParaRPr lang="en-US" sz="900" dirty="0"/>
          </a:p>
        </p:txBody>
      </p:sp>
      <p:sp>
        <p:nvSpPr>
          <p:cNvPr id="9" name="Text 7"/>
          <p:cNvSpPr/>
          <p:nvPr/>
        </p:nvSpPr>
        <p:spPr>
          <a:xfrm>
            <a:off x="685800" y="1737360"/>
            <a:ext cx="2103120" cy="274320"/>
          </a:xfrm>
          <a:prstGeom prst="rect">
            <a:avLst/>
          </a:prstGeom>
          <a:noFill/>
          <a:ln/>
        </p:spPr>
        <p:txBody>
          <a:bodyPr wrap="square" lIns="0" tIns="0" rIns="0" bIns="0" rtlCol="0" anchor="ctr"/>
          <a:lstStyle/>
          <a:p>
            <a:pPr marL="0" indent="0">
              <a:buNone/>
            </a:pPr>
            <a:r>
              <a:rPr lang="en-US" sz="800" dirty="0">
                <a:solidFill>
                  <a:srgbClr val="B0BEC5"/>
                </a:solidFill>
                <a:latin typeface="Arial" pitchFamily="34" charset="0"/>
                <a:ea typeface="Arial" pitchFamily="34" charset="-122"/>
                <a:cs typeface="Arial" pitchFamily="34" charset="-120"/>
              </a:rPr>
              <a:t>skills/ + context/ (read directly, no build needed)</a:t>
            </a:r>
            <a:endParaRPr lang="en-US" sz="800" dirty="0"/>
          </a:p>
        </p:txBody>
      </p:sp>
      <p:sp>
        <p:nvSpPr>
          <p:cNvPr id="10" name="Text 8"/>
          <p:cNvSpPr/>
          <p:nvPr/>
        </p:nvSpPr>
        <p:spPr>
          <a:xfrm>
            <a:off x="2926080" y="123444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Claude reads skills/cold-email/SKILL.md, then reads context/segments/colocation.md and context/outreach/email-writing-rules.md as the skill references them.</a:t>
            </a:r>
            <a:endParaRPr lang="en-US" sz="1100" dirty="0"/>
          </a:p>
        </p:txBody>
      </p:sp>
      <p:sp>
        <p:nvSpPr>
          <p:cNvPr id="11" name="Shape 9"/>
          <p:cNvSpPr/>
          <p:nvPr/>
        </p:nvSpPr>
        <p:spPr>
          <a:xfrm>
            <a:off x="457200" y="2148840"/>
            <a:ext cx="8321040" cy="868680"/>
          </a:xfrm>
          <a:prstGeom prst="rect">
            <a:avLst/>
          </a:prstGeom>
          <a:solidFill>
            <a:srgbClr val="1E2D3D"/>
          </a:solidFill>
          <a:ln/>
        </p:spPr>
        <p:txBody>
          <a:bodyPr/>
          <a:lstStyle/>
          <a:p>
            <a:endParaRPr lang="en-US"/>
          </a:p>
        </p:txBody>
      </p:sp>
      <p:sp>
        <p:nvSpPr>
          <p:cNvPr id="12" name="Shape 10"/>
          <p:cNvSpPr/>
          <p:nvPr/>
        </p:nvSpPr>
        <p:spPr>
          <a:xfrm>
            <a:off x="457200" y="2148840"/>
            <a:ext cx="54864" cy="868680"/>
          </a:xfrm>
          <a:prstGeom prst="rect">
            <a:avLst/>
          </a:prstGeom>
          <a:solidFill>
            <a:srgbClr val="FF9800"/>
          </a:solidFill>
          <a:ln/>
        </p:spPr>
        <p:txBody>
          <a:bodyPr/>
          <a:lstStyle/>
          <a:p>
            <a:endParaRPr lang="en-US"/>
          </a:p>
        </p:txBody>
      </p:sp>
      <p:sp>
        <p:nvSpPr>
          <p:cNvPr id="13" name="Text 11"/>
          <p:cNvSpPr/>
          <p:nvPr/>
        </p:nvSpPr>
        <p:spPr>
          <a:xfrm>
            <a:off x="685800" y="2167128"/>
            <a:ext cx="2103120" cy="256032"/>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Fix a skill that's producing bad output</a:t>
            </a:r>
            <a:endParaRPr lang="en-US" sz="1200" dirty="0"/>
          </a:p>
        </p:txBody>
      </p:sp>
      <p:sp>
        <p:nvSpPr>
          <p:cNvPr id="14" name="Text 12"/>
          <p:cNvSpPr/>
          <p:nvPr/>
        </p:nvSpPr>
        <p:spPr>
          <a:xfrm>
            <a:off x="685800" y="2423160"/>
            <a:ext cx="2103120" cy="274320"/>
          </a:xfrm>
          <a:prstGeom prst="rect">
            <a:avLst/>
          </a:prstGeom>
          <a:noFill/>
          <a:ln/>
        </p:spPr>
        <p:txBody>
          <a:bodyPr wrap="square" lIns="0" tIns="0" rIns="0" bIns="0" rtlCol="0" anchor="ctr"/>
          <a:lstStyle/>
          <a:p>
            <a:pPr marL="0" indent="0">
              <a:buNone/>
            </a:pPr>
            <a:r>
              <a:rPr lang="en-US" sz="900" i="1" dirty="0">
                <a:solidFill>
                  <a:srgbClr val="FF9800"/>
                </a:solidFill>
                <a:latin typeface="Arial" pitchFamily="34" charset="0"/>
                <a:ea typeface="Arial" pitchFamily="34" charset="-122"/>
                <a:cs typeface="Arial" pitchFamily="34" charset="-120"/>
              </a:rPr>
              <a:t>The SDR pipeline is using too many credibility anchors. Fix it.</a:t>
            </a:r>
            <a:endParaRPr lang="en-US" sz="900" dirty="0"/>
          </a:p>
        </p:txBody>
      </p:sp>
      <p:sp>
        <p:nvSpPr>
          <p:cNvPr id="15" name="Text 13"/>
          <p:cNvSpPr/>
          <p:nvPr/>
        </p:nvSpPr>
        <p:spPr>
          <a:xfrm>
            <a:off x="685800" y="2697480"/>
            <a:ext cx="2103120" cy="274320"/>
          </a:xfrm>
          <a:prstGeom prst="rect">
            <a:avLst/>
          </a:prstGeom>
          <a:noFill/>
          <a:ln/>
        </p:spPr>
        <p:txBody>
          <a:bodyPr wrap="square" lIns="0" tIns="0" rIns="0" bIns="0" rtlCol="0" anchor="ctr"/>
          <a:lstStyle/>
          <a:p>
            <a:pPr marL="0" indent="0">
              <a:buNone/>
            </a:pPr>
            <a:r>
              <a:rPr lang="en-US" sz="800" dirty="0">
                <a:solidFill>
                  <a:srgbClr val="B0BEC5"/>
                </a:solidFill>
                <a:latin typeface="Arial" pitchFamily="34" charset="0"/>
                <a:ea typeface="Arial" pitchFamily="34" charset="-122"/>
                <a:cs typeface="Arial" pitchFamily="34" charset="-120"/>
              </a:rPr>
              <a:t>skills/ (edit in place, instant effect)</a:t>
            </a:r>
            <a:endParaRPr lang="en-US" sz="800" dirty="0"/>
          </a:p>
        </p:txBody>
      </p:sp>
      <p:sp>
        <p:nvSpPr>
          <p:cNvPr id="16" name="Text 14"/>
          <p:cNvSpPr/>
          <p:nvPr/>
        </p:nvSpPr>
        <p:spPr>
          <a:xfrm>
            <a:off x="2926080" y="219456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Claude reads skills/sdr-pipeline/SKILL.md, identifies the issue, edits the file in place, and can test it immediately.</a:t>
            </a:r>
            <a:endParaRPr lang="en-US" sz="1100" dirty="0"/>
          </a:p>
        </p:txBody>
      </p:sp>
      <p:sp>
        <p:nvSpPr>
          <p:cNvPr id="17" name="Shape 15"/>
          <p:cNvSpPr/>
          <p:nvPr/>
        </p:nvSpPr>
        <p:spPr>
          <a:xfrm>
            <a:off x="457200" y="3108960"/>
            <a:ext cx="8321040" cy="868680"/>
          </a:xfrm>
          <a:prstGeom prst="rect">
            <a:avLst/>
          </a:prstGeom>
          <a:solidFill>
            <a:srgbClr val="1E2D3D"/>
          </a:solidFill>
          <a:ln/>
        </p:spPr>
        <p:txBody>
          <a:bodyPr/>
          <a:lstStyle/>
          <a:p>
            <a:endParaRPr lang="en-US"/>
          </a:p>
        </p:txBody>
      </p:sp>
      <p:sp>
        <p:nvSpPr>
          <p:cNvPr id="18" name="Shape 16"/>
          <p:cNvSpPr/>
          <p:nvPr/>
        </p:nvSpPr>
        <p:spPr>
          <a:xfrm>
            <a:off x="457200" y="3108960"/>
            <a:ext cx="54864" cy="868680"/>
          </a:xfrm>
          <a:prstGeom prst="rect">
            <a:avLst/>
          </a:prstGeom>
          <a:solidFill>
            <a:srgbClr val="00BCD4"/>
          </a:solidFill>
          <a:ln/>
        </p:spPr>
        <p:txBody>
          <a:bodyPr/>
          <a:lstStyle/>
          <a:p>
            <a:endParaRPr lang="en-US"/>
          </a:p>
        </p:txBody>
      </p:sp>
      <p:sp>
        <p:nvSpPr>
          <p:cNvPr id="19" name="Text 17"/>
          <p:cNvSpPr/>
          <p:nvPr/>
        </p:nvSpPr>
        <p:spPr>
          <a:xfrm>
            <a:off x="685800" y="3127248"/>
            <a:ext cx="2103120" cy="256032"/>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Update context + rebuild + push</a:t>
            </a:r>
            <a:endParaRPr lang="en-US" sz="1200" dirty="0"/>
          </a:p>
        </p:txBody>
      </p:sp>
      <p:sp>
        <p:nvSpPr>
          <p:cNvPr id="20" name="Text 18"/>
          <p:cNvSpPr/>
          <p:nvPr/>
        </p:nvSpPr>
        <p:spPr>
          <a:xfrm>
            <a:off x="685800" y="3383280"/>
            <a:ext cx="2103120" cy="274320"/>
          </a:xfrm>
          <a:prstGeom prst="rect">
            <a:avLst/>
          </a:prstGeom>
          <a:noFill/>
          <a:ln/>
        </p:spPr>
        <p:txBody>
          <a:bodyPr wrap="square" lIns="0" tIns="0" rIns="0" bIns="0" rtlCol="0" anchor="ctr"/>
          <a:lstStyle/>
          <a:p>
            <a:pPr marL="0" indent="0">
              <a:buNone/>
            </a:pPr>
            <a:r>
              <a:rPr lang="en-US" sz="900" i="1" dirty="0">
                <a:solidFill>
                  <a:srgbClr val="00BCD4"/>
                </a:solidFill>
                <a:latin typeface="Arial" pitchFamily="34" charset="0"/>
                <a:ea typeface="Arial" pitchFamily="34" charset="-122"/>
                <a:cs typeface="Arial" pitchFamily="34" charset="-120"/>
              </a:rPr>
              <a:t>Add this CoreWeave intel to the neocloud strategy and rebuild everything.</a:t>
            </a:r>
            <a:endParaRPr lang="en-US" sz="900" dirty="0"/>
          </a:p>
        </p:txBody>
      </p:sp>
      <p:sp>
        <p:nvSpPr>
          <p:cNvPr id="21" name="Text 19"/>
          <p:cNvSpPr/>
          <p:nvPr/>
        </p:nvSpPr>
        <p:spPr>
          <a:xfrm>
            <a:off x="685800" y="3657600"/>
            <a:ext cx="2103120" cy="274320"/>
          </a:xfrm>
          <a:prstGeom prst="rect">
            <a:avLst/>
          </a:prstGeom>
          <a:noFill/>
          <a:ln/>
        </p:spPr>
        <p:txBody>
          <a:bodyPr wrap="square" lIns="0" tIns="0" rIns="0" bIns="0" rtlCol="0" anchor="ctr"/>
          <a:lstStyle/>
          <a:p>
            <a:pPr marL="0" indent="0">
              <a:buNone/>
            </a:pPr>
            <a:r>
              <a:rPr lang="en-US" sz="800" dirty="0">
                <a:solidFill>
                  <a:srgbClr val="B0BEC5"/>
                </a:solidFill>
                <a:latin typeface="Arial" pitchFamily="34" charset="0"/>
                <a:ea typeface="Arial" pitchFamily="34" charset="-122"/>
                <a:cs typeface="Arial" pitchFamily="34" charset="-120"/>
              </a:rPr>
              <a:t>context/ → build.sh → builds/ + enterprise/ → git push</a:t>
            </a:r>
            <a:endParaRPr lang="en-US" sz="800" dirty="0"/>
          </a:p>
        </p:txBody>
      </p:sp>
      <p:sp>
        <p:nvSpPr>
          <p:cNvPr id="22" name="Text 20"/>
          <p:cNvSpPr/>
          <p:nvPr/>
        </p:nvSpPr>
        <p:spPr>
          <a:xfrm>
            <a:off x="2926080" y="315468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Claude edits context/sales/neocloud-strategy-brief.md, runs bash build.sh (regenerates all plugin zips + enterprise folders), then runs git commit + push.</a:t>
            </a:r>
            <a:endParaRPr lang="en-US" sz="1100" dirty="0"/>
          </a:p>
        </p:txBody>
      </p:sp>
      <p:sp>
        <p:nvSpPr>
          <p:cNvPr id="23" name="Shape 21"/>
          <p:cNvSpPr/>
          <p:nvPr/>
        </p:nvSpPr>
        <p:spPr>
          <a:xfrm>
            <a:off x="457200" y="4069080"/>
            <a:ext cx="8321040" cy="868680"/>
          </a:xfrm>
          <a:prstGeom prst="rect">
            <a:avLst/>
          </a:prstGeom>
          <a:solidFill>
            <a:srgbClr val="1E2D3D"/>
          </a:solidFill>
          <a:ln/>
        </p:spPr>
        <p:txBody>
          <a:bodyPr/>
          <a:lstStyle/>
          <a:p>
            <a:endParaRPr lang="en-US"/>
          </a:p>
        </p:txBody>
      </p:sp>
      <p:sp>
        <p:nvSpPr>
          <p:cNvPr id="24" name="Shape 22"/>
          <p:cNvSpPr/>
          <p:nvPr/>
        </p:nvSpPr>
        <p:spPr>
          <a:xfrm>
            <a:off x="457200" y="4069080"/>
            <a:ext cx="54864" cy="868680"/>
          </a:xfrm>
          <a:prstGeom prst="rect">
            <a:avLst/>
          </a:prstGeom>
          <a:solidFill>
            <a:srgbClr val="4CAF50"/>
          </a:solidFill>
          <a:ln/>
        </p:spPr>
        <p:txBody>
          <a:bodyPr/>
          <a:lstStyle/>
          <a:p>
            <a:endParaRPr lang="en-US"/>
          </a:p>
        </p:txBody>
      </p:sp>
      <p:sp>
        <p:nvSpPr>
          <p:cNvPr id="25" name="Text 23"/>
          <p:cNvSpPr/>
          <p:nvPr/>
        </p:nvSpPr>
        <p:spPr>
          <a:xfrm>
            <a:off x="685800" y="4087368"/>
            <a:ext cx="2103120" cy="256032"/>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Create a new skill from scratch</a:t>
            </a:r>
            <a:endParaRPr lang="en-US" sz="1200" dirty="0"/>
          </a:p>
        </p:txBody>
      </p:sp>
      <p:sp>
        <p:nvSpPr>
          <p:cNvPr id="26" name="Text 24"/>
          <p:cNvSpPr/>
          <p:nvPr/>
        </p:nvSpPr>
        <p:spPr>
          <a:xfrm>
            <a:off x="685800" y="4343400"/>
            <a:ext cx="2103120" cy="274320"/>
          </a:xfrm>
          <a:prstGeom prst="rect">
            <a:avLst/>
          </a:prstGeom>
          <a:noFill/>
          <a:ln/>
        </p:spPr>
        <p:txBody>
          <a:bodyPr wrap="square" lIns="0" tIns="0" rIns="0" bIns="0" rtlCol="0" anchor="ctr"/>
          <a:lstStyle/>
          <a:p>
            <a:pPr marL="0" indent="0">
              <a:buNone/>
            </a:pPr>
            <a:r>
              <a:rPr lang="en-US" sz="900" i="1" dirty="0">
                <a:solidFill>
                  <a:srgbClr val="4CAF50"/>
                </a:solidFill>
                <a:latin typeface="Arial" pitchFamily="34" charset="0"/>
                <a:ea typeface="Arial" pitchFamily="34" charset="-122"/>
                <a:cs typeface="Arial" pitchFamily="34" charset="-120"/>
              </a:rPr>
              <a:t>Create a deal-review skill that analyzes a specific deal.</a:t>
            </a:r>
            <a:endParaRPr lang="en-US" sz="900" dirty="0"/>
          </a:p>
        </p:txBody>
      </p:sp>
      <p:sp>
        <p:nvSpPr>
          <p:cNvPr id="27" name="Text 25"/>
          <p:cNvSpPr/>
          <p:nvPr/>
        </p:nvSpPr>
        <p:spPr>
          <a:xfrm>
            <a:off x="685800" y="4617720"/>
            <a:ext cx="2103120" cy="274320"/>
          </a:xfrm>
          <a:prstGeom prst="rect">
            <a:avLst/>
          </a:prstGeom>
          <a:noFill/>
          <a:ln/>
        </p:spPr>
        <p:txBody>
          <a:bodyPr wrap="square" lIns="0" tIns="0" rIns="0" bIns="0" rtlCol="0" anchor="ctr"/>
          <a:lstStyle/>
          <a:p>
            <a:pPr marL="0" indent="0">
              <a:buNone/>
            </a:pPr>
            <a:r>
              <a:rPr lang="en-US" sz="800" dirty="0">
                <a:solidFill>
                  <a:srgbClr val="B0BEC5"/>
                </a:solidFill>
                <a:latin typeface="Arial" pitchFamily="34" charset="0"/>
                <a:ea typeface="Arial" pitchFamily="34" charset="-122"/>
                <a:cs typeface="Arial" pitchFamily="34" charset="-120"/>
              </a:rPr>
              <a:t>skills/ + CLAUDE.md + build.sh</a:t>
            </a:r>
            <a:endParaRPr lang="en-US" sz="800" dirty="0"/>
          </a:p>
        </p:txBody>
      </p:sp>
      <p:sp>
        <p:nvSpPr>
          <p:cNvPr id="28" name="Text 26"/>
          <p:cNvSpPr/>
          <p:nvPr/>
        </p:nvSpPr>
        <p:spPr>
          <a:xfrm>
            <a:off x="2926080" y="4114800"/>
            <a:ext cx="5669280" cy="777240"/>
          </a:xfrm>
          <a:prstGeom prst="rect">
            <a:avLst/>
          </a:prstGeom>
          <a:noFill/>
          <a:ln/>
        </p:spPr>
        <p:txBody>
          <a:bodyPr wrap="square" lIns="0" tIns="0" rIns="0" bIns="0" rtlCol="0" anchor="ctr"/>
          <a:lstStyle/>
          <a:p>
            <a:pPr marL="0" indent="0">
              <a:buNone/>
            </a:pPr>
            <a:r>
              <a:rPr lang="en-US" sz="1100" dirty="0">
                <a:solidFill>
                  <a:srgbClr val="B0BEC5"/>
                </a:solidFill>
                <a:latin typeface="Arial" pitchFamily="34" charset="0"/>
                <a:ea typeface="Arial" pitchFamily="34" charset="-122"/>
                <a:cs typeface="Arial" pitchFamily="34" charset="-120"/>
              </a:rPr>
              <a:t>Claude creates skills/deal-review/SKILL.md, adds it to CLAUDE.md catalog, adds it to plugin manifests or standalone list in build.sh, rebuilds.</a:t>
            </a:r>
            <a:endParaRPr lang="en-US" sz="1100" dirty="0"/>
          </a:p>
        </p:txBody>
      </p:sp>
      <p:sp>
        <p:nvSpPr>
          <p:cNvPr id="29" name="Shape 27"/>
          <p:cNvSpPr/>
          <p:nvPr/>
        </p:nvSpPr>
        <p:spPr>
          <a:xfrm>
            <a:off x="457200" y="4572000"/>
            <a:ext cx="8321040" cy="411480"/>
          </a:xfrm>
          <a:prstGeom prst="rect">
            <a:avLst/>
          </a:prstGeom>
          <a:solidFill>
            <a:srgbClr val="0D47A1"/>
          </a:solidFill>
          <a:ln/>
        </p:spPr>
        <p:txBody>
          <a:bodyPr/>
          <a:lstStyle/>
          <a:p>
            <a:endParaRPr lang="en-US"/>
          </a:p>
        </p:txBody>
      </p:sp>
      <p:sp>
        <p:nvSpPr>
          <p:cNvPr id="30" name="Text 28"/>
          <p:cNvSpPr/>
          <p:nvPr/>
        </p:nvSpPr>
        <p:spPr>
          <a:xfrm>
            <a:off x="731520" y="4590288"/>
            <a:ext cx="7772400" cy="365760"/>
          </a:xfrm>
          <a:prstGeom prst="rect">
            <a:avLst/>
          </a:prstGeom>
          <a:noFill/>
          <a:ln/>
        </p:spPr>
        <p:txBody>
          <a:bodyPr wrap="square" rtlCol="0" anchor="ctr"/>
          <a:lstStyle/>
          <a:p>
            <a:pPr marL="0" indent="0">
              <a:buNone/>
            </a:pPr>
            <a:r>
              <a:rPr lang="en-US" sz="1200" b="1" dirty="0">
                <a:solidFill>
                  <a:srgbClr val="00BCD4"/>
                </a:solidFill>
                <a:latin typeface="Arial" pitchFamily="34" charset="0"/>
                <a:ea typeface="Arial" pitchFamily="34" charset="-122"/>
                <a:cs typeface="Arial" pitchFamily="34" charset="-120"/>
              </a:rPr>
              <a:t>Key difference from Cowork: </a:t>
            </a:r>
            <a:r>
              <a:rPr lang="en-US" sz="1100" dirty="0">
                <a:solidFill>
                  <a:srgbClr val="FFFFFF"/>
                </a:solidFill>
                <a:latin typeface="Arial" pitchFamily="34" charset="0"/>
                <a:ea typeface="Arial" pitchFamily="34" charset="-122"/>
                <a:cs typeface="Arial" pitchFamily="34" charset="-120"/>
              </a:rPr>
              <a:t>Claude Code reads source files directly. Changes take effect immediately. No reinstall step.</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txBody>
          <a:bodyPr/>
          <a:lstStyle/>
          <a:p>
            <a:endParaRPr lang="en-US"/>
          </a:p>
        </p:txBody>
      </p:sp>
      <p:sp>
        <p:nvSpPr>
          <p:cNvPr id="3" name="Text 1"/>
          <p:cNvSpPr/>
          <p:nvPr/>
        </p:nvSpPr>
        <p:spPr>
          <a:xfrm>
            <a:off x="731520" y="182880"/>
            <a:ext cx="7680960" cy="45720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Cowork vs Claude Code</a:t>
            </a:r>
            <a:endParaRPr lang="en-US" sz="2800" dirty="0"/>
          </a:p>
        </p:txBody>
      </p:sp>
      <p:sp>
        <p:nvSpPr>
          <p:cNvPr id="4" name="Text 2"/>
          <p:cNvSpPr/>
          <p:nvPr/>
        </p:nvSpPr>
        <p:spPr>
          <a:xfrm>
            <a:off x="731520" y="594360"/>
            <a:ext cx="7680960" cy="320040"/>
          </a:xfrm>
          <a:prstGeom prst="rect">
            <a:avLst/>
          </a:prstGeom>
          <a:noFill/>
          <a:ln/>
        </p:spPr>
        <p:txBody>
          <a:bodyPr wrap="square" rtlCol="0" anchor="ctr"/>
          <a:lstStyle/>
          <a:p>
            <a:pPr marL="0" indent="0">
              <a:buNone/>
            </a:pPr>
            <a:r>
              <a:rPr lang="en-US" sz="1300" i="1" dirty="0">
                <a:solidFill>
                  <a:srgbClr val="B0BEC5"/>
                </a:solidFill>
                <a:latin typeface="Arial" pitchFamily="34" charset="0"/>
                <a:ea typeface="Arial" pitchFamily="34" charset="-122"/>
                <a:cs typeface="Arial" pitchFamily="34" charset="-120"/>
              </a:rPr>
              <a:t>Both use the same repo. The difference is how they access it.</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3210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0">
                <a:tc>
                  <a:txBody>
                    <a:bodyPr/>
                    <a:lstStyle/>
                    <a:p>
                      <a:pPr marL="0" indent="0" algn="l">
                        <a:buNone/>
                      </a:pP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Cowork</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2196F3"/>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Claude Code</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0BCD4"/>
                    </a:solidFill>
                  </a:tcPr>
                </a:tc>
                <a:extLst>
                  <a:ext uri="{0D108BD9-81ED-4DB2-BD59-A6C34878D82A}">
                    <a16:rowId xmlns:a16="http://schemas.microsoft.com/office/drawing/2014/main" val="10000"/>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How it reads skills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From installed plugins/skills (.zip files)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Directly from skills/ in the repo</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1"/>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How it reads context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Bundled inside plugin references/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Directly from context/ in the repo</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2"/>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After you edit a file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Run build.sh → reinstall plugin zip</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Instant — reads the file directly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3"/>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After you edit a skill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Run build.sh → reinstall plugin zip</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Instant — just re-read the SKILL.md</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4"/>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Running outreach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Plugin triggers automatically from chat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Tell Claude: "write email for X at 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5"/>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Building plugins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Run build.sh in terminal separately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Tell Claude: "run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6"/>
                  </a:ext>
                </a:extLst>
              </a:tr>
              <a:tr h="0">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Git commit + push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Run in terminal separately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marL="0" indent="0" algn="l">
                        <a:buNone/>
                      </a:pPr>
                      <a:r>
                        <a:rPr lang="en-US" sz="1000" dirty="0">
                          <a:solidFill>
                            <a:srgbClr val="FFFFFF"/>
                          </a:solidFill>
                          <a:latin typeface="Arial" pitchFamily="34" charset="0"/>
                          <a:ea typeface="Arial" pitchFamily="34" charset="-122"/>
                          <a:cs typeface="Arial" pitchFamily="34" charset="-120"/>
                        </a:rPr>
                        <a:t>Tell Claude: "commit and push"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extLst>
                  <a:ext uri="{0D108BD9-81ED-4DB2-BD59-A6C34878D82A}">
                    <a16:rowId xmlns:a16="http://schemas.microsoft.com/office/drawing/2014/main" val="10007"/>
                  </a:ext>
                </a:extLst>
              </a:tr>
              <a:tr h="0">
                <a:tc>
                  <a:txBody>
                    <a:bodyPr/>
                    <a:lstStyle/>
                    <a:p>
                      <a:pPr marL="0" indent="0" algn="l">
                        <a:buNone/>
                      </a:pPr>
                      <a:r>
                        <a:rPr lang="en-US" sz="1000" b="1" dirty="0">
                          <a:solidFill>
                            <a:srgbClr val="FFFFFF"/>
                          </a:solidFill>
                          <a:latin typeface="Arial" pitchFamily="34" charset="0"/>
                          <a:ea typeface="Arial" pitchFamily="34" charset="-122"/>
                          <a:cs typeface="Arial" pitchFamily="34" charset="-120"/>
                        </a:rPr>
                        <a:t>Best for</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64B5F6"/>
                          </a:solidFill>
                          <a:latin typeface="Arial" pitchFamily="34" charset="0"/>
                          <a:ea typeface="Arial" pitchFamily="34" charset="-122"/>
                          <a:cs typeface="Arial" pitchFamily="34" charset="-120"/>
                        </a:rPr>
                        <a:t>Day-to-day sales tasks (emails, briefs, CRM, docs)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marL="0" indent="0" algn="l">
                        <a:buNone/>
                      </a:pPr>
                      <a:r>
                        <a:rPr lang="en-US" sz="1000" dirty="0">
                          <a:solidFill>
                            <a:srgbClr val="00BCD4"/>
                          </a:solidFill>
                          <a:latin typeface="Arial" pitchFamily="34" charset="0"/>
                          <a:ea typeface="Arial" pitchFamily="34" charset="-122"/>
                          <a:cs typeface="Arial" pitchFamily="34" charset="-120"/>
                        </a:rPr>
                        <a:t>Building, testing, maintaining skills + batch ops at scale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extLst>
                  <a:ext uri="{0D108BD9-81ED-4DB2-BD59-A6C34878D82A}">
                    <a16:rowId xmlns:a16="http://schemas.microsoft.com/office/drawing/2014/main" val="10008"/>
                  </a:ext>
                </a:extLst>
              </a:tr>
            </a:tbl>
          </a:graphicData>
        </a:graphic>
      </p:graphicFrame>
      <p:sp>
        <p:nvSpPr>
          <p:cNvPr id="6" name="Shape 3"/>
          <p:cNvSpPr/>
          <p:nvPr/>
        </p:nvSpPr>
        <p:spPr>
          <a:xfrm>
            <a:off x="457200" y="4251960"/>
            <a:ext cx="3977640" cy="73152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7" name="Shape 4"/>
          <p:cNvSpPr/>
          <p:nvPr/>
        </p:nvSpPr>
        <p:spPr>
          <a:xfrm>
            <a:off x="457200" y="4251960"/>
            <a:ext cx="3977640" cy="54864"/>
          </a:xfrm>
          <a:prstGeom prst="rect">
            <a:avLst/>
          </a:prstGeom>
          <a:solidFill>
            <a:srgbClr val="2196F3"/>
          </a:solidFill>
          <a:ln/>
        </p:spPr>
        <p:txBody>
          <a:bodyPr/>
          <a:lstStyle/>
          <a:p>
            <a:endParaRPr lang="en-US"/>
          </a:p>
        </p:txBody>
      </p:sp>
      <p:sp>
        <p:nvSpPr>
          <p:cNvPr id="8" name="Text 5"/>
          <p:cNvSpPr/>
          <p:nvPr/>
        </p:nvSpPr>
        <p:spPr>
          <a:xfrm>
            <a:off x="640080" y="4343400"/>
            <a:ext cx="3657600" cy="548640"/>
          </a:xfrm>
          <a:prstGeom prst="rect">
            <a:avLst/>
          </a:prstGeom>
          <a:noFill/>
          <a:ln/>
        </p:spPr>
        <p:txBody>
          <a:bodyPr wrap="square" rtlCol="0" anchor="ctr"/>
          <a:lstStyle/>
          <a:p>
            <a:pPr marL="0" indent="0">
              <a:buNone/>
            </a:pPr>
            <a:r>
              <a:rPr lang="en-US" sz="1100" b="1" dirty="0">
                <a:solidFill>
                  <a:srgbClr val="64B5F6"/>
                </a:solidFill>
                <a:latin typeface="Arial" pitchFamily="34" charset="0"/>
                <a:ea typeface="Arial" pitchFamily="34" charset="-122"/>
                <a:cs typeface="Arial" pitchFamily="34" charset="-120"/>
              </a:rPr>
              <a:t>Cowork workflow:</a:t>
            </a:r>
            <a:endParaRPr lang="en-US" sz="1100" dirty="0"/>
          </a:p>
          <a:p>
            <a:pPr marL="0" indent="0">
              <a:buNone/>
            </a:pPr>
            <a:r>
              <a:rPr lang="en-US" sz="1100" dirty="0">
                <a:solidFill>
                  <a:srgbClr val="FFFFFF"/>
                </a:solidFill>
                <a:latin typeface="Arial" pitchFamily="34" charset="0"/>
                <a:ea typeface="Arial" pitchFamily="34" charset="-122"/>
                <a:cs typeface="Arial" pitchFamily="34" charset="-120"/>
              </a:rPr>
              <a:t>Edit source → build.sh → reinstall zip → use</a:t>
            </a:r>
            <a:endParaRPr lang="en-US" sz="1100" dirty="0"/>
          </a:p>
        </p:txBody>
      </p:sp>
      <p:sp>
        <p:nvSpPr>
          <p:cNvPr id="9" name="Shape 6"/>
          <p:cNvSpPr/>
          <p:nvPr/>
        </p:nvSpPr>
        <p:spPr>
          <a:xfrm>
            <a:off x="4709160" y="4251960"/>
            <a:ext cx="4069080" cy="731520"/>
          </a:xfrm>
          <a:prstGeom prst="rect">
            <a:avLst/>
          </a:prstGeom>
          <a:solidFill>
            <a:srgbClr val="1E2D3D"/>
          </a:solidFill>
          <a:ln/>
          <a:effectLst>
            <a:outerShdw blurRad="50800" dist="25400" dir="8100000" algn="bl" rotWithShape="0">
              <a:srgbClr val="000000">
                <a:alpha val="30000"/>
              </a:srgbClr>
            </a:outerShdw>
          </a:effectLst>
        </p:spPr>
        <p:txBody>
          <a:bodyPr/>
          <a:lstStyle/>
          <a:p>
            <a:endParaRPr lang="en-US"/>
          </a:p>
        </p:txBody>
      </p:sp>
      <p:sp>
        <p:nvSpPr>
          <p:cNvPr id="10" name="Shape 7"/>
          <p:cNvSpPr/>
          <p:nvPr/>
        </p:nvSpPr>
        <p:spPr>
          <a:xfrm>
            <a:off x="4709160" y="4251960"/>
            <a:ext cx="4069080" cy="54864"/>
          </a:xfrm>
          <a:prstGeom prst="rect">
            <a:avLst/>
          </a:prstGeom>
          <a:solidFill>
            <a:srgbClr val="00BCD4"/>
          </a:solidFill>
          <a:ln/>
        </p:spPr>
        <p:txBody>
          <a:bodyPr/>
          <a:lstStyle/>
          <a:p>
            <a:endParaRPr lang="en-US"/>
          </a:p>
        </p:txBody>
      </p:sp>
      <p:sp>
        <p:nvSpPr>
          <p:cNvPr id="11" name="Text 8"/>
          <p:cNvSpPr/>
          <p:nvPr/>
        </p:nvSpPr>
        <p:spPr>
          <a:xfrm>
            <a:off x="4892040" y="4343400"/>
            <a:ext cx="3749040" cy="548640"/>
          </a:xfrm>
          <a:prstGeom prst="rect">
            <a:avLst/>
          </a:prstGeom>
          <a:noFill/>
          <a:ln/>
        </p:spPr>
        <p:txBody>
          <a:bodyPr wrap="square" rtlCol="0" anchor="ctr"/>
          <a:lstStyle/>
          <a:p>
            <a:pPr marL="0" indent="0">
              <a:buNone/>
            </a:pPr>
            <a:r>
              <a:rPr lang="en-US" sz="1100" b="1" dirty="0">
                <a:solidFill>
                  <a:srgbClr val="00BCD4"/>
                </a:solidFill>
                <a:latin typeface="Arial" pitchFamily="34" charset="0"/>
                <a:ea typeface="Arial" pitchFamily="34" charset="-122"/>
                <a:cs typeface="Arial" pitchFamily="34" charset="-120"/>
              </a:rPr>
              <a:t>Claude Code workflow:</a:t>
            </a:r>
            <a:endParaRPr lang="en-US" sz="1100" dirty="0"/>
          </a:p>
          <a:p>
            <a:pPr marL="0" indent="0">
              <a:buNone/>
            </a:pPr>
            <a:r>
              <a:rPr lang="en-US" sz="1100" dirty="0">
                <a:solidFill>
                  <a:srgbClr val="FFFFFF"/>
                </a:solidFill>
                <a:latin typeface="Arial" pitchFamily="34" charset="0"/>
                <a:ea typeface="Arial" pitchFamily="34" charset="-122"/>
                <a:cs typeface="Arial" pitchFamily="34" charset="-120"/>
              </a:rPr>
              <a:t>Edit source → instant (build only for Cowork/Enterprise deploy)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1655</Words>
  <Application>Microsoft Office PowerPoint</Application>
  <PresentationFormat>On-screen Show (16:9)</PresentationFormat>
  <Paragraphs>288</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Arial Black</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MaiaEdge AI Toolkit Cheat Sheet</dc:title>
  <dc:subject>PptxGenJS Presentation</dc:subject>
  <dc:creator>Cooper Kennedy</dc:creator>
  <cp:lastModifiedBy>Cooper  Kennedy</cp:lastModifiedBy>
  <cp:revision>1</cp:revision>
  <dcterms:created xsi:type="dcterms:W3CDTF">2026-03-18T02:20:44Z</dcterms:created>
  <dcterms:modified xsi:type="dcterms:W3CDTF">2026-03-18T02:23:24Z</dcterms:modified>
</cp:coreProperties>
</file>